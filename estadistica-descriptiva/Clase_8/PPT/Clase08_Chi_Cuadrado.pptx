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Empieza con la tabla en pantalla y la pregunta: 'de 200 solicitudes, agencia rechazó 40 y app rechazó 20. ¿Ustedes qué dirían, el canal tiene algo que ver?'. Deja que respondan a ojo. Casi todos dirán que sí. Perfecto: hoy vamos a ver cómo se demuestra eso, y también cómo se mide si esa relación es fuerte o apenas visible. Aviso de formato: hoy calculamos a mano en la pizarra antes de tocar el Colab.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tabla se lee de arriba abajo en 60 segundos. El punto es que hoy NO es más difícil: es otra cosa. La tarjeta oscura es la que engancha: si trabajan en riesgo, la mitad de sus variables son categóricas.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Anuncia el formato: 60 minutos de pizarra y 45 de Colab, al revés de lo habitual. Y anuncia las tres ideas: si al final de la clase se llevan esas tres, la sesión funcionó. Todo lo demás es detalle.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Escribe la tabla en la pizarra tú mismo, no la proyectes solamente. Que la copien. Pregunta al aire: '¿el canal tiene que ver?'. Van a decir que sí por el 40 contra 20. Perfecto: la intuición es correcta y hoy aprendemos a demostrarla. El detalle importante es que los dos canales tienen 100 solicitudes cada uno, lo que hace la comparación fácil de 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un error de lectura, no de cálculo, y por eso nadie lo detecta. Haz la pregunta al grupo antes de mostrar: '¿el 67 % de los rechazos son de agencia significa que agencia rechaza más?'. No necesariamente. Solo si los dos canales tienen el mismo volumen, que aquí sí, pero en la vida real casi nunca.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slide de la clase y hay que darla despacio, construyéndola en la pizarra. Guion: '¿cuánto se rechaza en total? 60 de 200, o sea el 30 %. Ahora imaginen un mundo donde el canal da igual. En ese mundo, ¿cuántos rechazos esperarían en agencia? El 30 % de sus 100, o sea 30. ¿Y en app? También 30.' Deja que ellos digan los números. La tabla esperada la construyen ellos, no tú. Y remata: 'la tabla esperada reparte los MISMOS 200 casos; solo cambia cómo'.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Calcula las cuatro celdas en la pizarra con ellos. Que hagan la multiplicación. La comprobación de los totales es un truco práctico que agradecen: si los márgenes no cuadran, se equivocaron. Y aclara lo de los decimales antes de que pregunten: en el laboratorio les van a salir esperados como 30.8.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Calcula las cuatro filas en la pizarra, una por una, con ellos. Es aritmética simple y les da confianza. Señala que las dos celdas de RECHAZADA aportan más (3.33 contra 1.43): es donde la diferencia pesa más en relación a lo esperado. Las dos preguntas de abajo salen siempre; contéstalas antes de que las hagan.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truco de la casilla que determina el resto es lo que hace entender los grados de libertad sin fórmulas. Hazlo en vivo: tapa tres casillas y muestra que con una sola y los totales se reconstruye todo. Sobre el 3.84: es el valor de la tabla de χ² con gl=1 y 5 %. No hay que memorizarlo — scipy da el p directamente — pero verlo ayuda a entender que 9.52 no es un número suelto, sino que se compara con algo.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primero es el que abre la slide siguiente. El tercero es el que hay que decir mirando al grupo: correlación no es causalidad, y con categóricas es igual de cierto que con números. Ejemplo concreto para el tercero: si por agencia atienden a clientes sin historial crediticio, el canal no causa el rechazo — es un marcador de otra cosa.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ANTES de mostrar la tabla de resultados: '¿qué creen que le pasa al chi cuadrado?'. Algunos dirán que no cambia, porque los porcentajes son los mismos. Es la respuesta intuitiva y es incorrecta. Después muestra: se multiplicó por 100. Y ahí introduces la última columna: hay algo que sí se mantuvo igual, y es lo que de verdad querías medir.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punto que hay que dejar clarísimo: V va de 0 a 1 siempre, sin importar el tamaño de la tabla ni el de la muestra. Eso la hace comparable entre estudios, cosa que el chi cuadrado no permite. La frase de la tarjeta oscura es la que quiero que copien: chi cuadrado con sus gl y su p, y a continuación la V. Siempre juntos, nunca el p solo.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minutos. Es una historia corta y simpática que fija la idea central de la clase. El punto no es la anécdota: es que Fisher no preguntó '¿acertó?' sino '¿qué pasaría si estuviera adivinando?'. Esa inversión es exactamente la tabla esperada. Si alguien pregunta si la señora acertó: acertó las ocho. Pero lo relevante para la clase es el método, no el resultado.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Anuncia 'slide para fotografiar' y da 20 segundos de silencio. El aviso de correction=False es el que más agradecen después, porque si no lo saben pierden media hora intentando entender por qué su cálculo manual no coincide con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bloque 1 es de confianza: ven que Python da lo mismo que su lápiz. El bloque 3 es el que vale la sesión. Recorre el aula durante el bloque 2: ahí es donde se traban con crosstab y con la dirección de los porcentajes.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 el checklist y pide pulgares en cada punto. El punto crítico es el segundo: si no entienden 'esperado', el resto es mecánica sin sentido. Si hay dudas ahí, vuelve 3 minutos a la slide 6. El reto tiene la gracia de que las dos preguntas pueden dar respuestas opuestas: significativa pero débil es el caso más común cuando hay muchos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59"/>
        </a:solidFill>
      </p:bgPr>
    </p:bg>
    <p:spTree>
      <p:nvGrpSpPr>
        <p:cNvPr id="1" name=""/>
        <p:cNvGrpSpPr/>
        <p:nvPr/>
      </p:nvGrpSpPr>
      <p:grpSpPr>
        <a:xfrm>
          <a:off x="0" y="0"/>
          <a:ext cx="0" cy="0"/>
          <a:chOff x="0" y="0"/>
          <a:chExt cx="0" cy="0"/>
        </a:xfrm>
      </p:grpSpPr>
      <p:sp>
        <p:nvSpPr>
          <p:cNvPr id="2" name="Shape 0"/>
          <p:cNvSpPr/>
          <p:nvPr/>
        </p:nvSpPr>
        <p:spPr>
          <a:xfrm>
            <a:off x="7680960" y="2286000"/>
            <a:ext cx="1691640" cy="868680"/>
          </a:xfrm>
          <a:prstGeom prst="roundRect">
            <a:avLst>
              <a:gd name="adj" fmla="val 7368"/>
            </a:avLst>
          </a:prstGeom>
          <a:solidFill>
            <a:srgbClr val="E6115E"/>
          </a:solidFill>
          <a:ln w="12700">
            <a:solidFill>
              <a:srgbClr val="333333"/>
            </a:solidFill>
            <a:prstDash val="solid"/>
          </a:ln>
        </p:spPr>
      </p:sp>
      <p:sp>
        <p:nvSpPr>
          <p:cNvPr id="3" name="Text 1"/>
          <p:cNvSpPr/>
          <p:nvPr/>
        </p:nvSpPr>
        <p:spPr>
          <a:xfrm>
            <a:off x="7680960" y="2286000"/>
            <a:ext cx="1691640" cy="86868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40</a:t>
            </a:r>
            <a:endParaRPr lang="en-US" sz="3000" dirty="0"/>
          </a:p>
        </p:txBody>
      </p:sp>
      <p:sp>
        <p:nvSpPr>
          <p:cNvPr id="4" name="Shape 2"/>
          <p:cNvSpPr/>
          <p:nvPr/>
        </p:nvSpPr>
        <p:spPr>
          <a:xfrm>
            <a:off x="9518904" y="2286000"/>
            <a:ext cx="1691640" cy="868680"/>
          </a:xfrm>
          <a:prstGeom prst="roundRect">
            <a:avLst>
              <a:gd name="adj" fmla="val 7368"/>
            </a:avLst>
          </a:prstGeom>
          <a:solidFill>
            <a:srgbClr val="1E4380"/>
          </a:solidFill>
          <a:ln w="12700">
            <a:solidFill>
              <a:srgbClr val="333333"/>
            </a:solidFill>
            <a:prstDash val="solid"/>
          </a:ln>
        </p:spPr>
      </p:sp>
      <p:sp>
        <p:nvSpPr>
          <p:cNvPr id="5" name="Text 3"/>
          <p:cNvSpPr/>
          <p:nvPr/>
        </p:nvSpPr>
        <p:spPr>
          <a:xfrm>
            <a:off x="9518904" y="2286000"/>
            <a:ext cx="1691640" cy="86868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60</a:t>
            </a:r>
            <a:endParaRPr lang="en-US" sz="3000" dirty="0"/>
          </a:p>
        </p:txBody>
      </p:sp>
      <p:sp>
        <p:nvSpPr>
          <p:cNvPr id="6" name="Shape 4"/>
          <p:cNvSpPr/>
          <p:nvPr/>
        </p:nvSpPr>
        <p:spPr>
          <a:xfrm>
            <a:off x="7680960" y="3300984"/>
            <a:ext cx="1691640" cy="868680"/>
          </a:xfrm>
          <a:prstGeom prst="roundRect">
            <a:avLst>
              <a:gd name="adj" fmla="val 7368"/>
            </a:avLst>
          </a:prstGeom>
          <a:solidFill>
            <a:srgbClr val="E6115E"/>
          </a:solidFill>
          <a:ln w="12700">
            <a:solidFill>
              <a:srgbClr val="333333"/>
            </a:solidFill>
            <a:prstDash val="solid"/>
          </a:ln>
        </p:spPr>
      </p:sp>
      <p:sp>
        <p:nvSpPr>
          <p:cNvPr id="7" name="Text 5"/>
          <p:cNvSpPr/>
          <p:nvPr/>
        </p:nvSpPr>
        <p:spPr>
          <a:xfrm>
            <a:off x="7680960" y="3300984"/>
            <a:ext cx="1691640" cy="86868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20</a:t>
            </a:r>
            <a:endParaRPr lang="en-US" sz="3000" dirty="0"/>
          </a:p>
        </p:txBody>
      </p:sp>
      <p:sp>
        <p:nvSpPr>
          <p:cNvPr id="8" name="Shape 6"/>
          <p:cNvSpPr/>
          <p:nvPr/>
        </p:nvSpPr>
        <p:spPr>
          <a:xfrm>
            <a:off x="9518904" y="3300984"/>
            <a:ext cx="1691640" cy="868680"/>
          </a:xfrm>
          <a:prstGeom prst="roundRect">
            <a:avLst>
              <a:gd name="adj" fmla="val 7368"/>
            </a:avLst>
          </a:prstGeom>
          <a:solidFill>
            <a:srgbClr val="1E4380"/>
          </a:solidFill>
          <a:ln w="12700">
            <a:solidFill>
              <a:srgbClr val="333333"/>
            </a:solidFill>
            <a:prstDash val="solid"/>
          </a:ln>
        </p:spPr>
      </p:sp>
      <p:sp>
        <p:nvSpPr>
          <p:cNvPr id="9" name="Text 7"/>
          <p:cNvSpPr/>
          <p:nvPr/>
        </p:nvSpPr>
        <p:spPr>
          <a:xfrm>
            <a:off x="9518904" y="3300984"/>
            <a:ext cx="1691640" cy="86868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80</a:t>
            </a:r>
            <a:endParaRPr lang="en-US" sz="3000" dirty="0"/>
          </a:p>
        </p:txBody>
      </p:sp>
      <p:sp>
        <p:nvSpPr>
          <p:cNvPr id="10" name="Text 8"/>
          <p:cNvSpPr/>
          <p:nvPr/>
        </p:nvSpPr>
        <p:spPr>
          <a:xfrm>
            <a:off x="7680960" y="4389120"/>
            <a:ext cx="3529584" cy="274320"/>
          </a:xfrm>
          <a:prstGeom prst="rect">
            <a:avLst/>
          </a:prstGeom>
          <a:noFill/>
          <a:ln/>
        </p:spPr>
        <p:txBody>
          <a:bodyPr wrap="square" lIns="0" tIns="0" rIns="0" bIns="0" rtlCol="0" anchor="ctr"/>
          <a:lstStyle/>
          <a:p>
            <a:pPr algn="ctr" indent="0" marL="0">
              <a:buNone/>
            </a:pPr>
            <a:r>
              <a:rPr lang="en-US" sz="1100" i="1" dirty="0">
                <a:solidFill>
                  <a:srgbClr val="8FA6D4"/>
                </a:solidFill>
                <a:latin typeface="Calibri" pitchFamily="34" charset="0"/>
                <a:ea typeface="Calibri" pitchFamily="34" charset="-122"/>
                <a:cs typeface="Calibri" pitchFamily="34" charset="-120"/>
              </a:rPr>
              <a:t>200 solicitudes de crédito</a:t>
            </a:r>
            <a:endParaRPr lang="en-US" sz="1100" dirty="0"/>
          </a:p>
        </p:txBody>
      </p:sp>
      <p:sp>
        <p:nvSpPr>
          <p:cNvPr id="11" name="Shape 9"/>
          <p:cNvSpPr/>
          <p:nvPr/>
        </p:nvSpPr>
        <p:spPr>
          <a:xfrm>
            <a:off x="685800" y="1234440"/>
            <a:ext cx="2743200" cy="347472"/>
          </a:xfrm>
          <a:prstGeom prst="roundRect">
            <a:avLst>
              <a:gd name="adj" fmla="val 50000"/>
            </a:avLst>
          </a:prstGeom>
          <a:solidFill>
            <a:srgbClr val="E6115E"/>
          </a:solidFill>
          <a:ln w="12700">
            <a:solidFill>
              <a:srgbClr val="E6115E"/>
            </a:solidFill>
            <a:prstDash val="solid"/>
          </a:ln>
        </p:spPr>
      </p:sp>
      <p:sp>
        <p:nvSpPr>
          <p:cNvPr id="12" name="Text 10"/>
          <p:cNvSpPr/>
          <p:nvPr/>
        </p:nvSpPr>
        <p:spPr>
          <a:xfrm>
            <a:off x="685800" y="1234440"/>
            <a:ext cx="274320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MÓDULO 3 · CLASE 8</a:t>
            </a:r>
            <a:endParaRPr lang="en-US" sz="1150" dirty="0"/>
          </a:p>
        </p:txBody>
      </p:sp>
      <p:sp>
        <p:nvSpPr>
          <p:cNvPr id="13" name="Text 11"/>
          <p:cNvSpPr/>
          <p:nvPr/>
        </p:nvSpPr>
        <p:spPr>
          <a:xfrm>
            <a:off x="685800" y="1783080"/>
            <a:ext cx="6583680" cy="1737360"/>
          </a:xfrm>
          <a:prstGeom prst="rect">
            <a:avLst/>
          </a:prstGeom>
          <a:noFill/>
          <a:ln/>
        </p:spPr>
        <p:txBody>
          <a:bodyPr wrap="square" lIns="0" tIns="0" rIns="0" bIns="0" rtlCol="0" anchor="t"/>
          <a:lstStyle/>
          <a:p>
            <a:pPr indent="0" marL="0">
              <a:lnSpc>
                <a:spcPct val="98000"/>
              </a:lnSpc>
              <a:buNone/>
            </a:pPr>
            <a:r>
              <a:rPr lang="en-US" sz="4000" b="1" dirty="0">
                <a:solidFill>
                  <a:srgbClr val="FFFFFF"/>
                </a:solidFill>
                <a:latin typeface="Calibri" pitchFamily="34" charset="0"/>
                <a:ea typeface="Calibri" pitchFamily="34" charset="-122"/>
                <a:cs typeface="Calibri" pitchFamily="34" charset="-120"/>
              </a:rPr>
              <a:t>¿Tiene algo que ver</a:t>
            </a:r>
            <a:endParaRPr lang="en-US" sz="4000" dirty="0"/>
          </a:p>
          <a:p>
            <a:pPr indent="0" marL="0">
              <a:lnSpc>
                <a:spcPct val="98000"/>
              </a:lnSpc>
              <a:buNone/>
            </a:pPr>
            <a:r>
              <a:rPr lang="en-US" sz="4000" b="1" dirty="0">
                <a:solidFill>
                  <a:srgbClr val="FFFFFF"/>
                </a:solidFill>
                <a:latin typeface="Calibri" pitchFamily="34" charset="0"/>
                <a:ea typeface="Calibri" pitchFamily="34" charset="-122"/>
                <a:cs typeface="Calibri" pitchFamily="34" charset="-120"/>
              </a:rPr>
              <a:t>una cosa con la otra?</a:t>
            </a:r>
            <a:endParaRPr lang="en-US" sz="4000" dirty="0"/>
          </a:p>
        </p:txBody>
      </p:sp>
      <p:sp>
        <p:nvSpPr>
          <p:cNvPr id="14" name="Text 12"/>
          <p:cNvSpPr/>
          <p:nvPr/>
        </p:nvSpPr>
        <p:spPr>
          <a:xfrm>
            <a:off x="713232" y="3611880"/>
            <a:ext cx="6400800" cy="777240"/>
          </a:xfrm>
          <a:prstGeom prst="rect">
            <a:avLst/>
          </a:prstGeom>
          <a:noFill/>
          <a:ln/>
        </p:spPr>
        <p:txBody>
          <a:bodyPr wrap="square" lIns="0" tIns="0" rIns="0" bIns="0" rtlCol="0" anchor="t"/>
          <a:lstStyle/>
          <a:p>
            <a:pPr algn="l" indent="0" marL="0">
              <a:lnSpc>
                <a:spcPct val="120000"/>
              </a:lnSpc>
              <a:buNone/>
            </a:pPr>
            <a:r>
              <a:rPr lang="en-US" sz="1500" dirty="0">
                <a:solidFill>
                  <a:srgbClr val="C9D6F2"/>
                </a:solidFill>
                <a:latin typeface="Calibri" pitchFamily="34" charset="0"/>
                <a:ea typeface="Calibri" pitchFamily="34" charset="-122"/>
                <a:cs typeface="Calibri" pitchFamily="34" charset="-120"/>
              </a:rPr>
              <a:t>Variables categóricas, tablas de contingencia</a:t>
            </a:r>
            <a:endParaRPr lang="en-US" sz="1500" dirty="0"/>
          </a:p>
          <a:p>
            <a:pPr algn="l" indent="0" marL="0">
              <a:lnSpc>
                <a:spcPct val="120000"/>
              </a:lnSpc>
              <a:buNone/>
            </a:pPr>
            <a:r>
              <a:rPr lang="en-US" sz="1500" dirty="0">
                <a:solidFill>
                  <a:srgbClr val="C9D6F2"/>
                </a:solidFill>
                <a:latin typeface="Calibri" pitchFamily="34" charset="0"/>
                <a:ea typeface="Calibri" pitchFamily="34" charset="-122"/>
                <a:cs typeface="Calibri" pitchFamily="34" charset="-120"/>
              </a:rPr>
              <a:t>y la prueba chi cuadrado (χ²).</a:t>
            </a:r>
            <a:endParaRPr lang="en-US" sz="1500" dirty="0"/>
          </a:p>
        </p:txBody>
      </p:sp>
      <p:sp>
        <p:nvSpPr>
          <p:cNvPr id="15" name="Text 13"/>
          <p:cNvSpPr/>
          <p:nvPr/>
        </p:nvSpPr>
        <p:spPr>
          <a:xfrm>
            <a:off x="713232" y="5029200"/>
            <a:ext cx="2194560" cy="365760"/>
          </a:xfrm>
          <a:prstGeom prst="rect">
            <a:avLst/>
          </a:prstGeom>
          <a:noFill/>
          <a:ln/>
        </p:spPr>
        <p:txBody>
          <a:bodyPr wrap="square" lIns="0" tIns="0" rIns="0" bIns="0" rtlCol="0" anchor="ctr"/>
          <a:lstStyle/>
          <a:p>
            <a:pPr indent="0" marL="0">
              <a:buNone/>
            </a:pPr>
            <a:r>
              <a:rPr lang="en-US" sz="1800" b="1" dirty="0">
                <a:solidFill>
                  <a:srgbClr val="4A82FF"/>
                </a:solidFill>
                <a:latin typeface="Calibri" pitchFamily="34" charset="0"/>
                <a:ea typeface="Calibri" pitchFamily="34" charset="-122"/>
                <a:cs typeface="Calibri" pitchFamily="34" charset="-120"/>
              </a:rPr>
              <a:t>120 min</a:t>
            </a:r>
            <a:endParaRPr lang="en-US" sz="1800" dirty="0"/>
          </a:p>
        </p:txBody>
      </p:sp>
      <p:sp>
        <p:nvSpPr>
          <p:cNvPr id="16" name="Text 14"/>
          <p:cNvSpPr/>
          <p:nvPr/>
        </p:nvSpPr>
        <p:spPr>
          <a:xfrm>
            <a:off x="713232" y="5394960"/>
            <a:ext cx="2194560" cy="457200"/>
          </a:xfrm>
          <a:prstGeom prst="rect">
            <a:avLst/>
          </a:prstGeom>
          <a:noFill/>
          <a:ln/>
        </p:spPr>
        <p:txBody>
          <a:bodyPr wrap="square" lIns="0" tIns="0" rIns="0" bIns="0" rtlCol="0" anchor="t"/>
          <a:lstStyle/>
          <a:p>
            <a:pPr indent="0" marL="0">
              <a:buNone/>
            </a:pPr>
            <a:r>
              <a:rPr lang="en-US" sz="1150" dirty="0">
                <a:solidFill>
                  <a:srgbClr val="8FA6D4"/>
                </a:solidFill>
                <a:latin typeface="Calibri" pitchFamily="34" charset="0"/>
                <a:ea typeface="Calibri" pitchFamily="34" charset="-122"/>
                <a:cs typeface="Calibri" pitchFamily="34" charset="-120"/>
              </a:rPr>
              <a:t>1 sesión</a:t>
            </a:r>
            <a:endParaRPr lang="en-US" sz="1150" dirty="0"/>
          </a:p>
        </p:txBody>
      </p:sp>
      <p:sp>
        <p:nvSpPr>
          <p:cNvPr id="17" name="Text 15"/>
          <p:cNvSpPr/>
          <p:nvPr/>
        </p:nvSpPr>
        <p:spPr>
          <a:xfrm>
            <a:off x="3044952" y="5029200"/>
            <a:ext cx="2194560" cy="365760"/>
          </a:xfrm>
          <a:prstGeom prst="rect">
            <a:avLst/>
          </a:prstGeom>
          <a:noFill/>
          <a:ln/>
        </p:spPr>
        <p:txBody>
          <a:bodyPr wrap="square" lIns="0" tIns="0" rIns="0" bIns="0" rtlCol="0" anchor="ctr"/>
          <a:lstStyle/>
          <a:p>
            <a:pPr indent="0" marL="0">
              <a:buNone/>
            </a:pPr>
            <a:r>
              <a:rPr lang="en-US" sz="1800" b="1" dirty="0">
                <a:solidFill>
                  <a:srgbClr val="4A82FF"/>
                </a:solidFill>
                <a:latin typeface="Calibri" pitchFamily="34" charset="0"/>
                <a:ea typeface="Calibri" pitchFamily="34" charset="-122"/>
                <a:cs typeface="Calibri" pitchFamily="34" charset="-120"/>
              </a:rPr>
              <a:t>1 sola tabla</a:t>
            </a:r>
            <a:endParaRPr lang="en-US" sz="1800" dirty="0"/>
          </a:p>
        </p:txBody>
      </p:sp>
      <p:sp>
        <p:nvSpPr>
          <p:cNvPr id="18" name="Text 16"/>
          <p:cNvSpPr/>
          <p:nvPr/>
        </p:nvSpPr>
        <p:spPr>
          <a:xfrm>
            <a:off x="3044952" y="5394960"/>
            <a:ext cx="2194560" cy="457200"/>
          </a:xfrm>
          <a:prstGeom prst="rect">
            <a:avLst/>
          </a:prstGeom>
          <a:noFill/>
          <a:ln/>
        </p:spPr>
        <p:txBody>
          <a:bodyPr wrap="square" lIns="0" tIns="0" rIns="0" bIns="0" rtlCol="0" anchor="t"/>
          <a:lstStyle/>
          <a:p>
            <a:pPr indent="0" marL="0">
              <a:buNone/>
            </a:pPr>
            <a:r>
              <a:rPr lang="en-US" sz="1150" dirty="0">
                <a:solidFill>
                  <a:srgbClr val="8FA6D4"/>
                </a:solidFill>
                <a:latin typeface="Calibri" pitchFamily="34" charset="0"/>
                <a:ea typeface="Calibri" pitchFamily="34" charset="-122"/>
                <a:cs typeface="Calibri" pitchFamily="34" charset="-120"/>
              </a:rPr>
              <a:t>toda la clase</a:t>
            </a:r>
            <a:endParaRPr lang="en-US" sz="1150" dirty="0"/>
          </a:p>
        </p:txBody>
      </p:sp>
      <p:sp>
        <p:nvSpPr>
          <p:cNvPr id="19" name="Text 17"/>
          <p:cNvSpPr/>
          <p:nvPr/>
        </p:nvSpPr>
        <p:spPr>
          <a:xfrm>
            <a:off x="5376672" y="5029200"/>
            <a:ext cx="2194560" cy="365760"/>
          </a:xfrm>
          <a:prstGeom prst="rect">
            <a:avLst/>
          </a:prstGeom>
          <a:noFill/>
          <a:ln/>
        </p:spPr>
        <p:txBody>
          <a:bodyPr wrap="square" lIns="0" tIns="0" rIns="0" bIns="0" rtlCol="0" anchor="ctr"/>
          <a:lstStyle/>
          <a:p>
            <a:pPr indent="0" marL="0">
              <a:buNone/>
            </a:pPr>
            <a:r>
              <a:rPr lang="en-US" sz="1800" b="1" dirty="0">
                <a:solidFill>
                  <a:srgbClr val="4A82FF"/>
                </a:solidFill>
                <a:latin typeface="Calibri" pitchFamily="34" charset="0"/>
                <a:ea typeface="Calibri" pitchFamily="34" charset="-122"/>
                <a:cs typeface="Calibri" pitchFamily="34" charset="-120"/>
              </a:rPr>
              <a:t>a mano</a:t>
            </a:r>
            <a:endParaRPr lang="en-US" sz="1800" dirty="0"/>
          </a:p>
        </p:txBody>
      </p:sp>
      <p:sp>
        <p:nvSpPr>
          <p:cNvPr id="20" name="Text 18"/>
          <p:cNvSpPr/>
          <p:nvPr/>
        </p:nvSpPr>
        <p:spPr>
          <a:xfrm>
            <a:off x="5376672" y="5394960"/>
            <a:ext cx="2194560" cy="457200"/>
          </a:xfrm>
          <a:prstGeom prst="rect">
            <a:avLst/>
          </a:prstGeom>
          <a:noFill/>
          <a:ln/>
        </p:spPr>
        <p:txBody>
          <a:bodyPr wrap="square" lIns="0" tIns="0" rIns="0" bIns="0" rtlCol="0" anchor="t"/>
          <a:lstStyle/>
          <a:p>
            <a:pPr indent="0" marL="0">
              <a:buNone/>
            </a:pPr>
            <a:r>
              <a:rPr lang="en-US" sz="1150" dirty="0">
                <a:solidFill>
                  <a:srgbClr val="8FA6D4"/>
                </a:solidFill>
                <a:latin typeface="Calibri" pitchFamily="34" charset="0"/>
                <a:ea typeface="Calibri" pitchFamily="34" charset="-122"/>
                <a:cs typeface="Calibri" pitchFamily="34" charset="-120"/>
              </a:rPr>
              <a:t>antes que con código</a:t>
            </a:r>
            <a:endParaRPr lang="en-US" sz="1150" dirty="0"/>
          </a:p>
        </p:txBody>
      </p:sp>
      <p:sp>
        <p:nvSpPr>
          <p:cNvPr id="21" name="Text 19"/>
          <p:cNvSpPr/>
          <p:nvPr/>
        </p:nvSpPr>
        <p:spPr>
          <a:xfrm>
            <a:off x="713232" y="6172200"/>
            <a:ext cx="8229600" cy="320040"/>
          </a:xfrm>
          <a:prstGeom prst="rect">
            <a:avLst/>
          </a:prstGeom>
          <a:noFill/>
          <a:ln/>
        </p:spPr>
        <p:txBody>
          <a:bodyPr wrap="square" lIns="0" tIns="0" rIns="0" bIns="0" rtlCol="0" anchor="ctr"/>
          <a:lstStyle/>
          <a:p>
            <a:pPr indent="0" marL="0">
              <a:buNone/>
            </a:pPr>
            <a:r>
              <a:rPr lang="en-US" sz="1100" i="1" dirty="0">
                <a:solidFill>
                  <a:srgbClr val="7C93C4"/>
                </a:solidFill>
                <a:latin typeface="Calibri" pitchFamily="34" charset="0"/>
                <a:ea typeface="Calibri" pitchFamily="34" charset="-122"/>
                <a:cs typeface="Calibri" pitchFamily="34" charset="-120"/>
              </a:rPr>
              <a:t>Estadística Descriptiva e Inferencial · 37 horas académicas · 14 sesiones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DÓNDE ESTAMOS</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Hasta ahora comparábamos números. Hoy comparamos etiquetas.</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No se puede calcular el promedio de «agencia». Por eso hace falta otra herramienta.</a:t>
            </a:r>
            <a:endParaRPr lang="en-US" sz="1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2057400"/>
          <a:ext cx="11091672" cy="914400"/>
        </p:xfrm>
        <a:graphic>
          <a:graphicData uri="http://schemas.openxmlformats.org/drawingml/2006/table">
            <a:tbl>
              <a:tblPr/>
              <a:tblGrid>
                <a:gridCol w="2651760"/>
                <a:gridCol w="4023360"/>
                <a:gridCol w="4416552"/>
              </a:tblGrid>
              <a:tr h="502920">
                <a:tc>
                  <a:txBody>
                    <a:bodyPr/>
                    <a:lstStyle/>
                    <a:p>
                      <a:pPr indent="0" marL="0">
                        <a:buNone/>
                      </a:pP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Clases 4 a 6</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Clase 8 — hoy</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r>
              <a:tr h="502920">
                <a:tc>
                  <a:txBody>
                    <a:bodyPr/>
                    <a:lstStyle/>
                    <a:p>
                      <a:pPr indent="0" marL="0">
                        <a:buNone/>
                      </a:pPr>
                      <a:r>
                        <a:rPr lang="en-US" sz="1150" b="1" dirty="0">
                          <a:solidFill>
                            <a:srgbClr val="2C3A55"/>
                          </a:solidFill>
                          <a:latin typeface="Calibri" pitchFamily="34" charset="0"/>
                          <a:ea typeface="Calibri" pitchFamily="34" charset="-122"/>
                          <a:cs typeface="Calibri" pitchFamily="34" charset="-120"/>
                        </a:rPr>
                        <a:t>Los datos son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números: montos, tiempos, gastos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indent="0" marL="0">
                        <a:buNone/>
                      </a:pPr>
                      <a:r>
                        <a:rPr lang="en-US" sz="1150" b="1" dirty="0">
                          <a:solidFill>
                            <a:srgbClr val="E6115E"/>
                          </a:solidFill>
                          <a:latin typeface="Calibri" pitchFamily="34" charset="0"/>
                          <a:ea typeface="Calibri" pitchFamily="34" charset="-122"/>
                          <a:cs typeface="Calibri" pitchFamily="34" charset="-120"/>
                        </a:rPr>
                        <a:t>categorías: aprobado / rechazado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r>
              <a:tr h="502920">
                <a:tc>
                  <a:txBody>
                    <a:bodyPr/>
                    <a:lstStyle/>
                    <a:p>
                      <a:pPr indent="0" marL="0">
                        <a:buNone/>
                      </a:pPr>
                      <a:r>
                        <a:rPr lang="en-US" sz="1150" b="1" dirty="0">
                          <a:solidFill>
                            <a:srgbClr val="2C3A55"/>
                          </a:solidFill>
                          <a:latin typeface="Calibri" pitchFamily="34" charset="0"/>
                          <a:ea typeface="Calibri" pitchFamily="34" charset="-122"/>
                          <a:cs typeface="Calibri" pitchFamily="34" charset="-120"/>
                        </a:rPr>
                        <a:t>Los resumíamos con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media, desviación estándar</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indent="0" marL="0">
                        <a:buNone/>
                      </a:pPr>
                      <a:r>
                        <a:rPr lang="en-US" sz="1150" b="1" dirty="0">
                          <a:solidFill>
                            <a:srgbClr val="E6115E"/>
                          </a:solidFill>
                          <a:latin typeface="Calibri" pitchFamily="34" charset="0"/>
                          <a:ea typeface="Calibri" pitchFamily="34" charset="-122"/>
                          <a:cs typeface="Calibri" pitchFamily="34" charset="-120"/>
                        </a:rPr>
                        <a:t>conteos: cuántos hay de cada tipo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r>
              <a:tr h="502920">
                <a:tc>
                  <a:txBody>
                    <a:bodyPr/>
                    <a:lstStyle/>
                    <a:p>
                      <a:pPr indent="0" marL="0">
                        <a:buNone/>
                      </a:pPr>
                      <a:r>
                        <a:rPr lang="en-US" sz="1150" b="1" dirty="0">
                          <a:solidFill>
                            <a:srgbClr val="2C3A55"/>
                          </a:solidFill>
                          <a:latin typeface="Calibri" pitchFamily="34" charset="0"/>
                          <a:ea typeface="Calibri" pitchFamily="34" charset="-122"/>
                          <a:cs typeface="Calibri" pitchFamily="34" charset="-120"/>
                        </a:rPr>
                        <a:t>Los comparábamos con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t de Welch, ANOVA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indent="0" marL="0">
                        <a:buNone/>
                      </a:pPr>
                      <a:r>
                        <a:rPr lang="en-US" sz="1150" b="1" dirty="0">
                          <a:solidFill>
                            <a:srgbClr val="E6115E"/>
                          </a:solidFill>
                          <a:latin typeface="Calibri" pitchFamily="34" charset="0"/>
                          <a:ea typeface="Calibri" pitchFamily="34" charset="-122"/>
                          <a:cs typeface="Calibri" pitchFamily="34" charset="-120"/>
                        </a:rPr>
                        <a:t>chi cuadrado (χ²)</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r>
              <a:tr h="502920">
                <a:tc>
                  <a:txBody>
                    <a:bodyPr/>
                    <a:lstStyle/>
                    <a:p>
                      <a:pPr indent="0" marL="0">
                        <a:buNone/>
                      </a:pPr>
                      <a:r>
                        <a:rPr lang="en-US" sz="1150" b="1" dirty="0">
                          <a:solidFill>
                            <a:srgbClr val="2C3A55"/>
                          </a:solidFill>
                          <a:latin typeface="Calibri" pitchFamily="34" charset="0"/>
                          <a:ea typeface="Calibri" pitchFamily="34" charset="-122"/>
                          <a:cs typeface="Calibri" pitchFamily="34" charset="-120"/>
                        </a:rPr>
                        <a:t>La pregunta era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«¿son distintos los promedios?»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indent="0" marL="0">
                        <a:buNone/>
                      </a:pPr>
                      <a:r>
                        <a:rPr lang="en-US" sz="1150" b="1" dirty="0">
                          <a:solidFill>
                            <a:srgbClr val="E6115E"/>
                          </a:solidFill>
                          <a:latin typeface="Calibri" pitchFamily="34" charset="0"/>
                          <a:ea typeface="Calibri" pitchFamily="34" charset="-122"/>
                          <a:cs typeface="Calibri" pitchFamily="34" charset="-120"/>
                        </a:rPr>
                        <a:t>«¿tiene que ver una cosa con la otra?»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4892040"/>
            <a:ext cx="11091672" cy="1298448"/>
          </a:xfrm>
          <a:prstGeom prst="roundRect">
            <a:avLst>
              <a:gd name="adj" fmla="val 4225"/>
            </a:avLst>
          </a:prstGeom>
          <a:solidFill>
            <a:srgbClr val="0A2559"/>
          </a:solidFill>
          <a:ln w="12700">
            <a:solidFill>
              <a:srgbClr val="0A2559"/>
            </a:solidFill>
            <a:prstDash val="solid"/>
          </a:ln>
        </p:spPr>
      </p:sp>
      <p:sp>
        <p:nvSpPr>
          <p:cNvPr id="8" name="Shape 5"/>
          <p:cNvSpPr/>
          <p:nvPr/>
        </p:nvSpPr>
        <p:spPr>
          <a:xfrm>
            <a:off x="822960" y="5157216"/>
            <a:ext cx="118872" cy="118872"/>
          </a:xfrm>
          <a:prstGeom prst="roundRect">
            <a:avLst>
              <a:gd name="adj" fmla="val 30769"/>
            </a:avLst>
          </a:prstGeom>
          <a:solidFill>
            <a:srgbClr val="E6115E"/>
          </a:solidFill>
          <a:ln w="12700">
            <a:solidFill>
              <a:srgbClr val="E6115E"/>
            </a:solidFill>
            <a:prstDash val="solid"/>
          </a:ln>
        </p:spPr>
      </p:sp>
      <p:sp>
        <p:nvSpPr>
          <p:cNvPr id="9" name="Text 6"/>
          <p:cNvSpPr/>
          <p:nvPr/>
        </p:nvSpPr>
        <p:spPr>
          <a:xfrm>
            <a:off x="1060704" y="5056632"/>
            <a:ext cx="7077456"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Por qué esto importa en tu trabajo</a:t>
            </a:r>
            <a:endParaRPr lang="en-US" sz="1500" dirty="0"/>
          </a:p>
        </p:txBody>
      </p:sp>
      <p:sp>
        <p:nvSpPr>
          <p:cNvPr id="10" name="Text 7"/>
          <p:cNvSpPr/>
          <p:nvPr/>
        </p:nvSpPr>
        <p:spPr>
          <a:xfrm>
            <a:off x="822960" y="5422392"/>
            <a:ext cx="10515600" cy="658368"/>
          </a:xfrm>
          <a:prstGeom prst="rect">
            <a:avLst/>
          </a:prstGeom>
          <a:noFill/>
          <a:ln/>
        </p:spPr>
        <p:txBody>
          <a:bodyPr wrap="square" lIns="0" tIns="0" rIns="0" bIns="0" rtlCol="0" anchor="t"/>
          <a:lstStyle/>
          <a:p>
            <a:pPr algn="l" indent="0" marL="0">
              <a:lnSpc>
                <a:spcPct val="112000"/>
              </a:lnSpc>
              <a:buNone/>
            </a:pPr>
            <a:r>
              <a:rPr lang="en-US" sz="1250" dirty="0">
                <a:solidFill>
                  <a:srgbClr val="C9D6F2"/>
                </a:solidFill>
                <a:latin typeface="Calibri" pitchFamily="34" charset="0"/>
                <a:ea typeface="Calibri" pitchFamily="34" charset="-122"/>
                <a:cs typeface="Calibri" pitchFamily="34" charset="-120"/>
              </a:rPr>
              <a:t>Buena parte de lo que se mide en riesgo y fraude es categórico: aprobado o rechazado, alerta o no alerta, incumple o no incumple, canal de ingreso, segmento del cliente, región.</a:t>
            </a:r>
            <a:endParaRPr lang="en-US" sz="1250" dirty="0"/>
          </a:p>
          <a:p>
            <a:pPr algn="l" indent="0" marL="0">
              <a:lnSpc>
                <a:spcPct val="112000"/>
              </a:lnSpc>
              <a:buNone/>
            </a:pPr>
            <a:endParaRPr lang="en-US" sz="1250" dirty="0"/>
          </a:p>
          <a:p>
            <a:pPr algn="l" indent="0" marL="0">
              <a:lnSpc>
                <a:spcPct val="112000"/>
              </a:lnSpc>
              <a:buNone/>
            </a:pPr>
            <a:r>
              <a:rPr lang="en-US" sz="1250" dirty="0">
                <a:solidFill>
                  <a:srgbClr val="C9D6F2"/>
                </a:solidFill>
                <a:latin typeface="Calibri" pitchFamily="34" charset="0"/>
                <a:ea typeface="Calibri" pitchFamily="34" charset="-122"/>
                <a:cs typeface="Calibri" pitchFamily="34" charset="-120"/>
              </a:rPr>
              <a:t>Nada de eso tiene promedio. Todo eso se analiza con lo de hoy.</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AGENDA</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Cómo repartimos los 120 minutos</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Hoy hay más pizarra que de costumbre: el χ² se calcula a mano antes de tocar el código.</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7223760" cy="914400"/>
        </p:xfrm>
        <a:graphic>
          <a:graphicData uri="http://schemas.openxmlformats.org/drawingml/2006/table">
            <a:tbl>
              <a:tblPr/>
              <a:tblGrid>
                <a:gridCol w="731520"/>
                <a:gridCol w="4114800"/>
                <a:gridCol w="731520"/>
                <a:gridCol w="1645920"/>
              </a:tblGrid>
              <a:tr h="34747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Bloque</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Contenido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Min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Dónde</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r>
              <a:tr h="347472">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La pregunta y la tabla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Pizarra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347472">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Tablas de contingencia: cómo se leen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12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Pizarra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347472">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b="1" dirty="0">
                          <a:solidFill>
                            <a:srgbClr val="2C3A55"/>
                          </a:solidFill>
                          <a:latin typeface="Calibri" pitchFamily="34" charset="0"/>
                          <a:ea typeface="Calibri" pitchFamily="34" charset="-122"/>
                          <a:cs typeface="Calibri" pitchFamily="34" charset="-120"/>
                        </a:rPr>
                        <a:t>La idea clave: la tabla ESPERADA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C3A55"/>
                          </a:solidFill>
                          <a:latin typeface="Calibri" pitchFamily="34" charset="0"/>
                          <a:ea typeface="Calibri" pitchFamily="34" charset="-122"/>
                          <a:cs typeface="Calibri" pitchFamily="34" charset="-120"/>
                        </a:rPr>
                        <a:t>15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b="1" dirty="0">
                          <a:solidFill>
                            <a:srgbClr val="2C3A55"/>
                          </a:solidFill>
                          <a:latin typeface="Calibri" pitchFamily="34" charset="0"/>
                          <a:ea typeface="Calibri" pitchFamily="34" charset="-122"/>
                          <a:cs typeface="Calibri" pitchFamily="34" charset="-120"/>
                        </a:rPr>
                        <a:t>Pizarra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347472">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b="1" dirty="0">
                          <a:solidFill>
                            <a:srgbClr val="2C3A55"/>
                          </a:solidFill>
                          <a:latin typeface="Calibri" pitchFamily="34" charset="0"/>
                          <a:ea typeface="Calibri" pitchFamily="34" charset="-122"/>
                          <a:cs typeface="Calibri" pitchFamily="34" charset="-120"/>
                        </a:rPr>
                        <a:t>El χ², paso a paso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C3A55"/>
                          </a:solidFill>
                          <a:latin typeface="Calibri" pitchFamily="34" charset="0"/>
                          <a:ea typeface="Calibri" pitchFamily="34" charset="-122"/>
                          <a:cs typeface="Calibri" pitchFamily="34" charset="-120"/>
                        </a:rPr>
                        <a:t>18</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b="1" dirty="0">
                          <a:solidFill>
                            <a:srgbClr val="2C3A55"/>
                          </a:solidFill>
                          <a:latin typeface="Calibri" pitchFamily="34" charset="0"/>
                          <a:ea typeface="Calibri" pitchFamily="34" charset="-122"/>
                          <a:cs typeface="Calibri" pitchFamily="34" charset="-120"/>
                        </a:rPr>
                        <a:t>Pizarra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347472">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Grados de libertad y la decisión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Pizarra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347472">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Cramér's V: ¿cuánta relación hay?</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12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Pizarra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347472">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Laboratorio en Colab</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45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Código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347472">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Cierre</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bl>
          </a:graphicData>
        </a:graphic>
      </p:graphicFrame>
      <p:sp>
        <p:nvSpPr>
          <p:cNvPr id="7" name="Shape 4"/>
          <p:cNvSpPr/>
          <p:nvPr/>
        </p:nvSpPr>
        <p:spPr>
          <a:xfrm>
            <a:off x="8001000" y="2011680"/>
            <a:ext cx="3639312" cy="2148840"/>
          </a:xfrm>
          <a:prstGeom prst="roundRect">
            <a:avLst>
              <a:gd name="adj" fmla="val 2553"/>
            </a:avLst>
          </a:prstGeom>
          <a:solidFill>
            <a:srgbClr val="E9EEF8"/>
          </a:solidFill>
          <a:ln w="12700">
            <a:solidFill>
              <a:srgbClr val="D2DBEC"/>
            </a:solidFill>
            <a:prstDash val="solid"/>
          </a:ln>
        </p:spPr>
      </p:sp>
      <p:sp>
        <p:nvSpPr>
          <p:cNvPr id="8" name="Shape 5"/>
          <p:cNvSpPr/>
          <p:nvPr/>
        </p:nvSpPr>
        <p:spPr>
          <a:xfrm>
            <a:off x="8247888" y="2313432"/>
            <a:ext cx="118872" cy="118872"/>
          </a:xfrm>
          <a:prstGeom prst="roundRect">
            <a:avLst>
              <a:gd name="adj" fmla="val 30769"/>
            </a:avLst>
          </a:prstGeom>
          <a:solidFill>
            <a:srgbClr val="E6115E"/>
          </a:solidFill>
          <a:ln w="12700">
            <a:solidFill>
              <a:srgbClr val="E6115E"/>
            </a:solidFill>
            <a:prstDash val="solid"/>
          </a:ln>
        </p:spPr>
      </p:sp>
      <p:sp>
        <p:nvSpPr>
          <p:cNvPr id="9" name="Text 6"/>
          <p:cNvSpPr/>
          <p:nvPr/>
        </p:nvSpPr>
        <p:spPr>
          <a:xfrm>
            <a:off x="8485632" y="2212848"/>
            <a:ext cx="296265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Qué te llevas hoy</a:t>
            </a:r>
            <a:endParaRPr lang="en-US" sz="1400" dirty="0"/>
          </a:p>
        </p:txBody>
      </p:sp>
      <p:sp>
        <p:nvSpPr>
          <p:cNvPr id="10" name="Text 7"/>
          <p:cNvSpPr/>
          <p:nvPr/>
        </p:nvSpPr>
        <p:spPr>
          <a:xfrm>
            <a:off x="8247888" y="2606040"/>
            <a:ext cx="3154680" cy="146304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2C3A55"/>
                </a:solidFill>
                <a:latin typeface="Calibri" pitchFamily="34" charset="0"/>
                <a:ea typeface="Calibri" pitchFamily="34" charset="-122"/>
                <a:cs typeface="Calibri" pitchFamily="34" charset="-120"/>
              </a:rPr>
              <a:t>Construir una tabla de contingencia.</a:t>
            </a:r>
            <a:endParaRPr lang="en-US" sz="1150" dirty="0"/>
          </a:p>
          <a:p>
            <a:pPr marL="342900" indent="-342900">
              <a:spcAft>
                <a:spcPts val="600"/>
              </a:spcAft>
              <a:buSzPct val="100000"/>
              <a:buChar char="•"/>
            </a:pPr>
            <a:r>
              <a:rPr lang="en-US" sz="1150" dirty="0">
                <a:solidFill>
                  <a:srgbClr val="2C3A55"/>
                </a:solidFill>
                <a:latin typeface="Calibri" pitchFamily="34" charset="0"/>
                <a:ea typeface="Calibri" pitchFamily="34" charset="-122"/>
                <a:cs typeface="Calibri" pitchFamily="34" charset="-120"/>
              </a:rPr>
              <a:t>Calcular un χ² con lápiz y papel.</a:t>
            </a:r>
            <a:endParaRPr lang="en-US" sz="1150" dirty="0"/>
          </a:p>
          <a:p>
            <a:pPr marL="342900" indent="-342900">
              <a:spcAft>
                <a:spcPts val="600"/>
              </a:spcAft>
              <a:buSzPct val="100000"/>
              <a:buChar char="•"/>
            </a:pPr>
            <a:r>
              <a:rPr lang="en-US" sz="1150" dirty="0">
                <a:solidFill>
                  <a:srgbClr val="2C3A55"/>
                </a:solidFill>
                <a:latin typeface="Calibri" pitchFamily="34" charset="0"/>
                <a:ea typeface="Calibri" pitchFamily="34" charset="-122"/>
                <a:cs typeface="Calibri" pitchFamily="34" charset="-120"/>
              </a:rPr>
              <a:t>Saber qué NO te dice el χ².</a:t>
            </a:r>
            <a:endParaRPr lang="en-US" sz="1150" dirty="0"/>
          </a:p>
          <a:p>
            <a:pPr marL="342900" indent="-342900">
              <a:spcAft>
                <a:spcPts val="600"/>
              </a:spcAft>
              <a:buSzPct val="100000"/>
              <a:buChar char="•"/>
            </a:pPr>
            <a:r>
              <a:rPr lang="en-US" sz="1150" dirty="0">
                <a:solidFill>
                  <a:srgbClr val="2C3A55"/>
                </a:solidFill>
                <a:latin typeface="Calibri" pitchFamily="34" charset="0"/>
                <a:ea typeface="Calibri" pitchFamily="34" charset="-122"/>
                <a:cs typeface="Calibri" pitchFamily="34" charset="-120"/>
              </a:rPr>
              <a:t>Medir la fuerza de la relación.</a:t>
            </a:r>
            <a:endParaRPr lang="en-US" sz="1150" dirty="0"/>
          </a:p>
        </p:txBody>
      </p:sp>
      <p:sp>
        <p:nvSpPr>
          <p:cNvPr id="11" name="Shape 8"/>
          <p:cNvSpPr/>
          <p:nvPr/>
        </p:nvSpPr>
        <p:spPr>
          <a:xfrm>
            <a:off x="8001000" y="4315968"/>
            <a:ext cx="3639312" cy="1874520"/>
          </a:xfrm>
          <a:prstGeom prst="roundRect">
            <a:avLst>
              <a:gd name="adj" fmla="val 2927"/>
            </a:avLst>
          </a:prstGeom>
          <a:solidFill>
            <a:srgbClr val="0A2559"/>
          </a:solidFill>
          <a:ln w="12700">
            <a:solidFill>
              <a:srgbClr val="0A2559"/>
            </a:solidFill>
            <a:prstDash val="solid"/>
          </a:ln>
        </p:spPr>
      </p:sp>
      <p:sp>
        <p:nvSpPr>
          <p:cNvPr id="12" name="Shape 9"/>
          <p:cNvSpPr/>
          <p:nvPr/>
        </p:nvSpPr>
        <p:spPr>
          <a:xfrm>
            <a:off x="8247888" y="4581144"/>
            <a:ext cx="118872" cy="118872"/>
          </a:xfrm>
          <a:prstGeom prst="roundRect">
            <a:avLst>
              <a:gd name="adj" fmla="val 30769"/>
            </a:avLst>
          </a:prstGeom>
          <a:solidFill>
            <a:srgbClr val="E6115E"/>
          </a:solidFill>
          <a:ln w="12700">
            <a:solidFill>
              <a:srgbClr val="E6115E"/>
            </a:solidFill>
            <a:prstDash val="solid"/>
          </a:ln>
        </p:spPr>
      </p:sp>
      <p:sp>
        <p:nvSpPr>
          <p:cNvPr id="13" name="Text 10"/>
          <p:cNvSpPr/>
          <p:nvPr/>
        </p:nvSpPr>
        <p:spPr>
          <a:xfrm>
            <a:off x="8485632" y="4480560"/>
            <a:ext cx="296265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Solo tres ideas</a:t>
            </a:r>
            <a:endParaRPr lang="en-US" sz="1400" dirty="0"/>
          </a:p>
        </p:txBody>
      </p:sp>
      <p:sp>
        <p:nvSpPr>
          <p:cNvPr id="14" name="Text 11"/>
          <p:cNvSpPr/>
          <p:nvPr/>
        </p:nvSpPr>
        <p:spPr>
          <a:xfrm>
            <a:off x="8247888" y="4828032"/>
            <a:ext cx="3154680" cy="1188720"/>
          </a:xfrm>
          <a:prstGeom prst="rect">
            <a:avLst/>
          </a:prstGeom>
          <a:noFill/>
          <a:ln/>
        </p:spPr>
        <p:txBody>
          <a:bodyPr wrap="square" lIns="0" tIns="0" rIns="0" bIns="0" rtlCol="0" anchor="t"/>
          <a:lstStyle/>
          <a:p>
            <a:pPr algn="l" indent="0" marL="0">
              <a:lnSpc>
                <a:spcPct val="115000"/>
              </a:lnSpc>
              <a:buNone/>
            </a:pPr>
            <a:r>
              <a:rPr lang="en-US" sz="1200" dirty="0">
                <a:solidFill>
                  <a:srgbClr val="C9D6F2"/>
                </a:solidFill>
                <a:latin typeface="Calibri" pitchFamily="34" charset="0"/>
                <a:ea typeface="Calibri" pitchFamily="34" charset="-122"/>
                <a:cs typeface="Calibri" pitchFamily="34" charset="-120"/>
              </a:rPr>
              <a:t>1 · Qué significa «esperado»</a:t>
            </a:r>
            <a:endParaRPr lang="en-US" sz="1200" dirty="0"/>
          </a:p>
          <a:p>
            <a:pPr algn="l" indent="0" marL="0">
              <a:lnSpc>
                <a:spcPct val="115000"/>
              </a:lnSpc>
              <a:buNone/>
            </a:pPr>
            <a:endParaRPr lang="en-US" sz="1200" dirty="0"/>
          </a:p>
          <a:p>
            <a:pPr algn="l" indent="0" marL="0">
              <a:lnSpc>
                <a:spcPct val="115000"/>
              </a:lnSpc>
              <a:buNone/>
            </a:pPr>
            <a:r>
              <a:rPr lang="en-US" sz="1200" dirty="0">
                <a:solidFill>
                  <a:srgbClr val="C9D6F2"/>
                </a:solidFill>
                <a:latin typeface="Calibri" pitchFamily="34" charset="0"/>
                <a:ea typeface="Calibri" pitchFamily="34" charset="-122"/>
                <a:cs typeface="Calibri" pitchFamily="34" charset="-120"/>
              </a:rPr>
              <a:t>2 · El χ² mide distancia, no fuerza</a:t>
            </a:r>
            <a:endParaRPr lang="en-US" sz="1200" dirty="0"/>
          </a:p>
          <a:p>
            <a:pPr algn="l" indent="0" marL="0">
              <a:lnSpc>
                <a:spcPct val="115000"/>
              </a:lnSpc>
              <a:buNone/>
            </a:pPr>
            <a:endParaRPr lang="en-US" sz="1200" dirty="0"/>
          </a:p>
          <a:p>
            <a:pPr algn="l" indent="0" marL="0">
              <a:lnSpc>
                <a:spcPct val="115000"/>
              </a:lnSpc>
              <a:buNone/>
            </a:pPr>
            <a:r>
              <a:rPr lang="en-US" sz="1200" dirty="0">
                <a:solidFill>
                  <a:srgbClr val="C9D6F2"/>
                </a:solidFill>
                <a:latin typeface="Calibri" pitchFamily="34" charset="0"/>
                <a:ea typeface="Calibri" pitchFamily="34" charset="-122"/>
                <a:cs typeface="Calibri" pitchFamily="34" charset="-120"/>
              </a:rPr>
              <a:t>3 · Con muchos datos, todo sale significativo</a:t>
            </a:r>
            <a:endParaRPr lang="en-US" sz="1200" dirty="0"/>
          </a:p>
        </p:txBody>
      </p:sp>
      <p:sp>
        <p:nvSpPr>
          <p:cNvPr id="15" name="Text 12"/>
          <p:cNvSpPr/>
          <p:nvPr/>
        </p:nvSpPr>
        <p:spPr>
          <a:xfrm>
            <a:off x="548640" y="6345936"/>
            <a:ext cx="11064240" cy="292608"/>
          </a:xfrm>
          <a:prstGeom prst="rect">
            <a:avLst/>
          </a:prstGeom>
          <a:noFill/>
          <a:ln/>
        </p:spPr>
        <p:txBody>
          <a:bodyPr wrap="square" lIns="0" tIns="0" rIns="0" bIns="0" rtlCol="0" anchor="ctr"/>
          <a:lstStyle/>
          <a:p>
            <a:pPr indent="0" marL="0">
              <a:buNone/>
            </a:pPr>
            <a:r>
              <a:rPr lang="en-US" sz="1050" i="1" dirty="0">
                <a:solidFill>
                  <a:srgbClr val="5B6B87"/>
                </a:solidFill>
                <a:latin typeface="Calibri" pitchFamily="34" charset="0"/>
                <a:ea typeface="Calibri" pitchFamily="34" charset="-122"/>
                <a:cs typeface="Calibri" pitchFamily="34" charset="-120"/>
              </a:rPr>
              <a:t>Fisher exacto, residuos y la paradoja de Simpson se nombran hoy y se desarrollan en la Clase 9.</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BLOQUE 0</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La tabla de la que va a salir todo</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200 solicitudes de crédito. Unas entraron por agencia, otras por la app. Unas se aprobaron, otras no.</a:t>
            </a:r>
            <a:endParaRPr lang="en-US" sz="1400" dirty="0"/>
          </a:p>
        </p:txBody>
      </p:sp>
      <p:sp>
        <p:nvSpPr>
          <p:cNvPr id="6" name="Shape 4"/>
          <p:cNvSpPr/>
          <p:nvPr/>
        </p:nvSpPr>
        <p:spPr>
          <a:xfrm>
            <a:off x="2240280" y="2148840"/>
            <a:ext cx="1371600" cy="512064"/>
          </a:xfrm>
          <a:prstGeom prst="rect">
            <a:avLst/>
          </a:prstGeom>
          <a:solidFill>
            <a:srgbClr val="0A2559"/>
          </a:solidFill>
          <a:ln w="12700">
            <a:solidFill>
              <a:srgbClr val="0A2559"/>
            </a:solidFill>
            <a:prstDash val="solid"/>
          </a:ln>
        </p:spPr>
      </p:sp>
      <p:sp>
        <p:nvSpPr>
          <p:cNvPr id="7" name="Text 5"/>
          <p:cNvSpPr/>
          <p:nvPr/>
        </p:nvSpPr>
        <p:spPr>
          <a:xfrm>
            <a:off x="2240280" y="2148840"/>
            <a:ext cx="1371600" cy="51206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Rechazada</a:t>
            </a:r>
            <a:endParaRPr lang="en-US" sz="1100" dirty="0"/>
          </a:p>
        </p:txBody>
      </p:sp>
      <p:sp>
        <p:nvSpPr>
          <p:cNvPr id="8" name="Shape 6"/>
          <p:cNvSpPr/>
          <p:nvPr/>
        </p:nvSpPr>
        <p:spPr>
          <a:xfrm>
            <a:off x="3611880" y="2148840"/>
            <a:ext cx="1371600" cy="512064"/>
          </a:xfrm>
          <a:prstGeom prst="rect">
            <a:avLst/>
          </a:prstGeom>
          <a:solidFill>
            <a:srgbClr val="0A2559"/>
          </a:solidFill>
          <a:ln w="12700">
            <a:solidFill>
              <a:srgbClr val="0A2559"/>
            </a:solidFill>
            <a:prstDash val="solid"/>
          </a:ln>
        </p:spPr>
      </p:sp>
      <p:sp>
        <p:nvSpPr>
          <p:cNvPr id="9" name="Text 7"/>
          <p:cNvSpPr/>
          <p:nvPr/>
        </p:nvSpPr>
        <p:spPr>
          <a:xfrm>
            <a:off x="3611880" y="2148840"/>
            <a:ext cx="1371600" cy="51206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Aprobada</a:t>
            </a:r>
            <a:endParaRPr lang="en-US" sz="1100" dirty="0"/>
          </a:p>
        </p:txBody>
      </p:sp>
      <p:sp>
        <p:nvSpPr>
          <p:cNvPr id="10" name="Shape 8"/>
          <p:cNvSpPr/>
          <p:nvPr/>
        </p:nvSpPr>
        <p:spPr>
          <a:xfrm>
            <a:off x="4983480" y="2148840"/>
            <a:ext cx="1371600" cy="512064"/>
          </a:xfrm>
          <a:prstGeom prst="rect">
            <a:avLst/>
          </a:prstGeom>
          <a:solidFill>
            <a:srgbClr val="061834"/>
          </a:solidFill>
          <a:ln w="12700">
            <a:solidFill>
              <a:srgbClr val="061834"/>
            </a:solidFill>
            <a:prstDash val="solid"/>
          </a:ln>
        </p:spPr>
      </p:sp>
      <p:sp>
        <p:nvSpPr>
          <p:cNvPr id="11" name="Text 9"/>
          <p:cNvSpPr/>
          <p:nvPr/>
        </p:nvSpPr>
        <p:spPr>
          <a:xfrm>
            <a:off x="4983480" y="2148840"/>
            <a:ext cx="1371600" cy="51206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Total</a:t>
            </a:r>
            <a:endParaRPr lang="en-US" sz="1100" dirty="0"/>
          </a:p>
        </p:txBody>
      </p:sp>
      <p:sp>
        <p:nvSpPr>
          <p:cNvPr id="12" name="Shape 10"/>
          <p:cNvSpPr/>
          <p:nvPr/>
        </p:nvSpPr>
        <p:spPr>
          <a:xfrm>
            <a:off x="685800" y="2660904"/>
            <a:ext cx="1554480" cy="512064"/>
          </a:xfrm>
          <a:prstGeom prst="rect">
            <a:avLst/>
          </a:prstGeom>
          <a:solidFill>
            <a:srgbClr val="0A2559"/>
          </a:solidFill>
          <a:ln w="12700">
            <a:solidFill>
              <a:srgbClr val="0A2559"/>
            </a:solidFill>
            <a:prstDash val="solid"/>
          </a:ln>
        </p:spPr>
      </p:sp>
      <p:sp>
        <p:nvSpPr>
          <p:cNvPr id="13" name="Text 11"/>
          <p:cNvSpPr/>
          <p:nvPr/>
        </p:nvSpPr>
        <p:spPr>
          <a:xfrm>
            <a:off x="685800" y="2660904"/>
            <a:ext cx="1554480" cy="512064"/>
          </a:xfrm>
          <a:prstGeom prst="rect">
            <a:avLst/>
          </a:prstGeom>
          <a:noFill/>
          <a:ln/>
        </p:spPr>
        <p:txBody>
          <a:bodyPr wrap="square" lIns="1270" tIns="1270" rIns="1270" bIns="127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Agencia</a:t>
            </a:r>
            <a:endParaRPr lang="en-US" sz="1100" dirty="0"/>
          </a:p>
        </p:txBody>
      </p:sp>
      <p:sp>
        <p:nvSpPr>
          <p:cNvPr id="14" name="Shape 12"/>
          <p:cNvSpPr/>
          <p:nvPr/>
        </p:nvSpPr>
        <p:spPr>
          <a:xfrm>
            <a:off x="2240280" y="2660904"/>
            <a:ext cx="1371600" cy="512064"/>
          </a:xfrm>
          <a:prstGeom prst="rect">
            <a:avLst/>
          </a:prstGeom>
          <a:solidFill>
            <a:srgbClr val="FFFFFF"/>
          </a:solidFill>
          <a:ln w="12700">
            <a:solidFill>
              <a:srgbClr val="D2DBEC"/>
            </a:solidFill>
            <a:prstDash val="solid"/>
          </a:ln>
        </p:spPr>
      </p:sp>
      <p:sp>
        <p:nvSpPr>
          <p:cNvPr id="15" name="Text 13"/>
          <p:cNvSpPr/>
          <p:nvPr/>
        </p:nvSpPr>
        <p:spPr>
          <a:xfrm>
            <a:off x="2240280" y="2660904"/>
            <a:ext cx="1371600" cy="512064"/>
          </a:xfrm>
          <a:prstGeom prst="rect">
            <a:avLst/>
          </a:prstGeom>
          <a:noFill/>
          <a:ln/>
        </p:spPr>
        <p:txBody>
          <a:bodyPr wrap="square" lIns="0" tIns="0" rIns="0" bIns="0" rtlCol="0" anchor="ctr"/>
          <a:lstStyle/>
          <a:p>
            <a:pPr algn="ctr" indent="0" marL="0">
              <a:buNone/>
            </a:pPr>
            <a:r>
              <a:rPr lang="en-US" sz="1900" b="1" dirty="0">
                <a:solidFill>
                  <a:srgbClr val="0A2559"/>
                </a:solidFill>
                <a:latin typeface="Calibri" pitchFamily="34" charset="0"/>
                <a:ea typeface="Calibri" pitchFamily="34" charset="-122"/>
                <a:cs typeface="Calibri" pitchFamily="34" charset="-120"/>
              </a:rPr>
              <a:t>40</a:t>
            </a:r>
            <a:endParaRPr lang="en-US" sz="1900" dirty="0"/>
          </a:p>
        </p:txBody>
      </p:sp>
      <p:sp>
        <p:nvSpPr>
          <p:cNvPr id="16" name="Shape 14"/>
          <p:cNvSpPr/>
          <p:nvPr/>
        </p:nvSpPr>
        <p:spPr>
          <a:xfrm>
            <a:off x="3611880" y="2660904"/>
            <a:ext cx="1371600" cy="512064"/>
          </a:xfrm>
          <a:prstGeom prst="rect">
            <a:avLst/>
          </a:prstGeom>
          <a:solidFill>
            <a:srgbClr val="FFFFFF"/>
          </a:solidFill>
          <a:ln w="12700">
            <a:solidFill>
              <a:srgbClr val="D2DBEC"/>
            </a:solidFill>
            <a:prstDash val="solid"/>
          </a:ln>
        </p:spPr>
      </p:sp>
      <p:sp>
        <p:nvSpPr>
          <p:cNvPr id="17" name="Text 15"/>
          <p:cNvSpPr/>
          <p:nvPr/>
        </p:nvSpPr>
        <p:spPr>
          <a:xfrm>
            <a:off x="3611880" y="2660904"/>
            <a:ext cx="1371600" cy="512064"/>
          </a:xfrm>
          <a:prstGeom prst="rect">
            <a:avLst/>
          </a:prstGeom>
          <a:noFill/>
          <a:ln/>
        </p:spPr>
        <p:txBody>
          <a:bodyPr wrap="square" lIns="0" tIns="0" rIns="0" bIns="0" rtlCol="0" anchor="ctr"/>
          <a:lstStyle/>
          <a:p>
            <a:pPr algn="ctr" indent="0" marL="0">
              <a:buNone/>
            </a:pPr>
            <a:r>
              <a:rPr lang="en-US" sz="1900" b="1" dirty="0">
                <a:solidFill>
                  <a:srgbClr val="0A2559"/>
                </a:solidFill>
                <a:latin typeface="Calibri" pitchFamily="34" charset="0"/>
                <a:ea typeface="Calibri" pitchFamily="34" charset="-122"/>
                <a:cs typeface="Calibri" pitchFamily="34" charset="-120"/>
              </a:rPr>
              <a:t>60</a:t>
            </a:r>
            <a:endParaRPr lang="en-US" sz="1900" dirty="0"/>
          </a:p>
        </p:txBody>
      </p:sp>
      <p:sp>
        <p:nvSpPr>
          <p:cNvPr id="18" name="Shape 16"/>
          <p:cNvSpPr/>
          <p:nvPr/>
        </p:nvSpPr>
        <p:spPr>
          <a:xfrm>
            <a:off x="4983480" y="2660904"/>
            <a:ext cx="1371600" cy="512064"/>
          </a:xfrm>
          <a:prstGeom prst="rect">
            <a:avLst/>
          </a:prstGeom>
          <a:solidFill>
            <a:srgbClr val="E9EEF8"/>
          </a:solidFill>
          <a:ln w="12700">
            <a:solidFill>
              <a:srgbClr val="D2DBEC"/>
            </a:solidFill>
            <a:prstDash val="solid"/>
          </a:ln>
        </p:spPr>
      </p:sp>
      <p:sp>
        <p:nvSpPr>
          <p:cNvPr id="19" name="Text 17"/>
          <p:cNvSpPr/>
          <p:nvPr/>
        </p:nvSpPr>
        <p:spPr>
          <a:xfrm>
            <a:off x="4983480" y="2660904"/>
            <a:ext cx="1371600" cy="512064"/>
          </a:xfrm>
          <a:prstGeom prst="rect">
            <a:avLst/>
          </a:prstGeom>
          <a:noFill/>
          <a:ln/>
        </p:spPr>
        <p:txBody>
          <a:bodyPr wrap="square" lIns="0" tIns="0" rIns="0" bIns="0" rtlCol="0" anchor="ctr"/>
          <a:lstStyle/>
          <a:p>
            <a:pPr algn="ctr" indent="0" marL="0">
              <a:buNone/>
            </a:pPr>
            <a:r>
              <a:rPr lang="en-US" sz="1900" b="1" dirty="0">
                <a:solidFill>
                  <a:srgbClr val="1A56E8"/>
                </a:solidFill>
                <a:latin typeface="Calibri" pitchFamily="34" charset="0"/>
                <a:ea typeface="Calibri" pitchFamily="34" charset="-122"/>
                <a:cs typeface="Calibri" pitchFamily="34" charset="-120"/>
              </a:rPr>
              <a:t>100</a:t>
            </a:r>
            <a:endParaRPr lang="en-US" sz="1900" dirty="0"/>
          </a:p>
        </p:txBody>
      </p:sp>
      <p:sp>
        <p:nvSpPr>
          <p:cNvPr id="20" name="Shape 18"/>
          <p:cNvSpPr/>
          <p:nvPr/>
        </p:nvSpPr>
        <p:spPr>
          <a:xfrm>
            <a:off x="685800" y="3172968"/>
            <a:ext cx="1554480" cy="512064"/>
          </a:xfrm>
          <a:prstGeom prst="rect">
            <a:avLst/>
          </a:prstGeom>
          <a:solidFill>
            <a:srgbClr val="0A2559"/>
          </a:solidFill>
          <a:ln w="12700">
            <a:solidFill>
              <a:srgbClr val="0A2559"/>
            </a:solidFill>
            <a:prstDash val="solid"/>
          </a:ln>
        </p:spPr>
      </p:sp>
      <p:sp>
        <p:nvSpPr>
          <p:cNvPr id="21" name="Text 19"/>
          <p:cNvSpPr/>
          <p:nvPr/>
        </p:nvSpPr>
        <p:spPr>
          <a:xfrm>
            <a:off x="685800" y="3172968"/>
            <a:ext cx="1554480" cy="512064"/>
          </a:xfrm>
          <a:prstGeom prst="rect">
            <a:avLst/>
          </a:prstGeom>
          <a:noFill/>
          <a:ln/>
        </p:spPr>
        <p:txBody>
          <a:bodyPr wrap="square" lIns="1270" tIns="1270" rIns="1270" bIns="127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App</a:t>
            </a:r>
            <a:endParaRPr lang="en-US" sz="1100" dirty="0"/>
          </a:p>
        </p:txBody>
      </p:sp>
      <p:sp>
        <p:nvSpPr>
          <p:cNvPr id="22" name="Shape 20"/>
          <p:cNvSpPr/>
          <p:nvPr/>
        </p:nvSpPr>
        <p:spPr>
          <a:xfrm>
            <a:off x="2240280" y="3172968"/>
            <a:ext cx="1371600" cy="512064"/>
          </a:xfrm>
          <a:prstGeom prst="rect">
            <a:avLst/>
          </a:prstGeom>
          <a:solidFill>
            <a:srgbClr val="FFFFFF"/>
          </a:solidFill>
          <a:ln w="12700">
            <a:solidFill>
              <a:srgbClr val="D2DBEC"/>
            </a:solidFill>
            <a:prstDash val="solid"/>
          </a:ln>
        </p:spPr>
      </p:sp>
      <p:sp>
        <p:nvSpPr>
          <p:cNvPr id="23" name="Text 21"/>
          <p:cNvSpPr/>
          <p:nvPr/>
        </p:nvSpPr>
        <p:spPr>
          <a:xfrm>
            <a:off x="2240280" y="3172968"/>
            <a:ext cx="1371600" cy="512064"/>
          </a:xfrm>
          <a:prstGeom prst="rect">
            <a:avLst/>
          </a:prstGeom>
          <a:noFill/>
          <a:ln/>
        </p:spPr>
        <p:txBody>
          <a:bodyPr wrap="square" lIns="0" tIns="0" rIns="0" bIns="0" rtlCol="0" anchor="ctr"/>
          <a:lstStyle/>
          <a:p>
            <a:pPr algn="ctr" indent="0" marL="0">
              <a:buNone/>
            </a:pPr>
            <a:r>
              <a:rPr lang="en-US" sz="1900" b="1" dirty="0">
                <a:solidFill>
                  <a:srgbClr val="0A2559"/>
                </a:solidFill>
                <a:latin typeface="Calibri" pitchFamily="34" charset="0"/>
                <a:ea typeface="Calibri" pitchFamily="34" charset="-122"/>
                <a:cs typeface="Calibri" pitchFamily="34" charset="-120"/>
              </a:rPr>
              <a:t>20</a:t>
            </a:r>
            <a:endParaRPr lang="en-US" sz="1900" dirty="0"/>
          </a:p>
        </p:txBody>
      </p:sp>
      <p:sp>
        <p:nvSpPr>
          <p:cNvPr id="24" name="Shape 22"/>
          <p:cNvSpPr/>
          <p:nvPr/>
        </p:nvSpPr>
        <p:spPr>
          <a:xfrm>
            <a:off x="3611880" y="3172968"/>
            <a:ext cx="1371600" cy="512064"/>
          </a:xfrm>
          <a:prstGeom prst="rect">
            <a:avLst/>
          </a:prstGeom>
          <a:solidFill>
            <a:srgbClr val="FFFFFF"/>
          </a:solidFill>
          <a:ln w="12700">
            <a:solidFill>
              <a:srgbClr val="D2DBEC"/>
            </a:solidFill>
            <a:prstDash val="solid"/>
          </a:ln>
        </p:spPr>
      </p:sp>
      <p:sp>
        <p:nvSpPr>
          <p:cNvPr id="25" name="Text 23"/>
          <p:cNvSpPr/>
          <p:nvPr/>
        </p:nvSpPr>
        <p:spPr>
          <a:xfrm>
            <a:off x="3611880" y="3172968"/>
            <a:ext cx="1371600" cy="512064"/>
          </a:xfrm>
          <a:prstGeom prst="rect">
            <a:avLst/>
          </a:prstGeom>
          <a:noFill/>
          <a:ln/>
        </p:spPr>
        <p:txBody>
          <a:bodyPr wrap="square" lIns="0" tIns="0" rIns="0" bIns="0" rtlCol="0" anchor="ctr"/>
          <a:lstStyle/>
          <a:p>
            <a:pPr algn="ctr" indent="0" marL="0">
              <a:buNone/>
            </a:pPr>
            <a:r>
              <a:rPr lang="en-US" sz="1900" b="1" dirty="0">
                <a:solidFill>
                  <a:srgbClr val="0A2559"/>
                </a:solidFill>
                <a:latin typeface="Calibri" pitchFamily="34" charset="0"/>
                <a:ea typeface="Calibri" pitchFamily="34" charset="-122"/>
                <a:cs typeface="Calibri" pitchFamily="34" charset="-120"/>
              </a:rPr>
              <a:t>80</a:t>
            </a:r>
            <a:endParaRPr lang="en-US" sz="1900" dirty="0"/>
          </a:p>
        </p:txBody>
      </p:sp>
      <p:sp>
        <p:nvSpPr>
          <p:cNvPr id="26" name="Shape 24"/>
          <p:cNvSpPr/>
          <p:nvPr/>
        </p:nvSpPr>
        <p:spPr>
          <a:xfrm>
            <a:off x="4983480" y="3172968"/>
            <a:ext cx="1371600" cy="512064"/>
          </a:xfrm>
          <a:prstGeom prst="rect">
            <a:avLst/>
          </a:prstGeom>
          <a:solidFill>
            <a:srgbClr val="E9EEF8"/>
          </a:solidFill>
          <a:ln w="12700">
            <a:solidFill>
              <a:srgbClr val="D2DBEC"/>
            </a:solidFill>
            <a:prstDash val="solid"/>
          </a:ln>
        </p:spPr>
      </p:sp>
      <p:sp>
        <p:nvSpPr>
          <p:cNvPr id="27" name="Text 25"/>
          <p:cNvSpPr/>
          <p:nvPr/>
        </p:nvSpPr>
        <p:spPr>
          <a:xfrm>
            <a:off x="4983480" y="3172968"/>
            <a:ext cx="1371600" cy="512064"/>
          </a:xfrm>
          <a:prstGeom prst="rect">
            <a:avLst/>
          </a:prstGeom>
          <a:noFill/>
          <a:ln/>
        </p:spPr>
        <p:txBody>
          <a:bodyPr wrap="square" lIns="0" tIns="0" rIns="0" bIns="0" rtlCol="0" anchor="ctr"/>
          <a:lstStyle/>
          <a:p>
            <a:pPr algn="ctr" indent="0" marL="0">
              <a:buNone/>
            </a:pPr>
            <a:r>
              <a:rPr lang="en-US" sz="1900" b="1" dirty="0">
                <a:solidFill>
                  <a:srgbClr val="1A56E8"/>
                </a:solidFill>
                <a:latin typeface="Calibri" pitchFamily="34" charset="0"/>
                <a:ea typeface="Calibri" pitchFamily="34" charset="-122"/>
                <a:cs typeface="Calibri" pitchFamily="34" charset="-120"/>
              </a:rPr>
              <a:t>100</a:t>
            </a:r>
            <a:endParaRPr lang="en-US" sz="1900" dirty="0"/>
          </a:p>
        </p:txBody>
      </p:sp>
      <p:sp>
        <p:nvSpPr>
          <p:cNvPr id="28" name="Shape 26"/>
          <p:cNvSpPr/>
          <p:nvPr/>
        </p:nvSpPr>
        <p:spPr>
          <a:xfrm>
            <a:off x="685800" y="3685032"/>
            <a:ext cx="1554480" cy="512064"/>
          </a:xfrm>
          <a:prstGeom prst="rect">
            <a:avLst/>
          </a:prstGeom>
          <a:solidFill>
            <a:srgbClr val="061834"/>
          </a:solidFill>
          <a:ln w="12700">
            <a:solidFill>
              <a:srgbClr val="061834"/>
            </a:solidFill>
            <a:prstDash val="solid"/>
          </a:ln>
        </p:spPr>
      </p:sp>
      <p:sp>
        <p:nvSpPr>
          <p:cNvPr id="29" name="Text 27"/>
          <p:cNvSpPr/>
          <p:nvPr/>
        </p:nvSpPr>
        <p:spPr>
          <a:xfrm>
            <a:off x="685800" y="3685032"/>
            <a:ext cx="1554480" cy="512064"/>
          </a:xfrm>
          <a:prstGeom prst="rect">
            <a:avLst/>
          </a:prstGeom>
          <a:noFill/>
          <a:ln/>
        </p:spPr>
        <p:txBody>
          <a:bodyPr wrap="square" lIns="1270" tIns="1270" rIns="1270" bIns="127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Total</a:t>
            </a:r>
            <a:endParaRPr lang="en-US" sz="1100" dirty="0"/>
          </a:p>
        </p:txBody>
      </p:sp>
      <p:sp>
        <p:nvSpPr>
          <p:cNvPr id="30" name="Shape 28"/>
          <p:cNvSpPr/>
          <p:nvPr/>
        </p:nvSpPr>
        <p:spPr>
          <a:xfrm>
            <a:off x="2240280" y="3685032"/>
            <a:ext cx="1371600" cy="512064"/>
          </a:xfrm>
          <a:prstGeom prst="rect">
            <a:avLst/>
          </a:prstGeom>
          <a:solidFill>
            <a:srgbClr val="E9EEF8"/>
          </a:solidFill>
          <a:ln w="12700">
            <a:solidFill>
              <a:srgbClr val="D2DBEC"/>
            </a:solidFill>
            <a:prstDash val="solid"/>
          </a:ln>
        </p:spPr>
      </p:sp>
      <p:sp>
        <p:nvSpPr>
          <p:cNvPr id="31" name="Text 29"/>
          <p:cNvSpPr/>
          <p:nvPr/>
        </p:nvSpPr>
        <p:spPr>
          <a:xfrm>
            <a:off x="2240280" y="3685032"/>
            <a:ext cx="1371600" cy="512064"/>
          </a:xfrm>
          <a:prstGeom prst="rect">
            <a:avLst/>
          </a:prstGeom>
          <a:noFill/>
          <a:ln/>
        </p:spPr>
        <p:txBody>
          <a:bodyPr wrap="square" lIns="0" tIns="0" rIns="0" bIns="0" rtlCol="0" anchor="ctr"/>
          <a:lstStyle/>
          <a:p>
            <a:pPr algn="ctr" indent="0" marL="0">
              <a:buNone/>
            </a:pPr>
            <a:r>
              <a:rPr lang="en-US" sz="1900" b="1" dirty="0">
                <a:solidFill>
                  <a:srgbClr val="1A56E8"/>
                </a:solidFill>
                <a:latin typeface="Calibri" pitchFamily="34" charset="0"/>
                <a:ea typeface="Calibri" pitchFamily="34" charset="-122"/>
                <a:cs typeface="Calibri" pitchFamily="34" charset="-120"/>
              </a:rPr>
              <a:t>60</a:t>
            </a:r>
            <a:endParaRPr lang="en-US" sz="1900" dirty="0"/>
          </a:p>
        </p:txBody>
      </p:sp>
      <p:sp>
        <p:nvSpPr>
          <p:cNvPr id="32" name="Shape 30"/>
          <p:cNvSpPr/>
          <p:nvPr/>
        </p:nvSpPr>
        <p:spPr>
          <a:xfrm>
            <a:off x="3611880" y="3685032"/>
            <a:ext cx="1371600" cy="512064"/>
          </a:xfrm>
          <a:prstGeom prst="rect">
            <a:avLst/>
          </a:prstGeom>
          <a:solidFill>
            <a:srgbClr val="E9EEF8"/>
          </a:solidFill>
          <a:ln w="12700">
            <a:solidFill>
              <a:srgbClr val="D2DBEC"/>
            </a:solidFill>
            <a:prstDash val="solid"/>
          </a:ln>
        </p:spPr>
      </p:sp>
      <p:sp>
        <p:nvSpPr>
          <p:cNvPr id="33" name="Text 31"/>
          <p:cNvSpPr/>
          <p:nvPr/>
        </p:nvSpPr>
        <p:spPr>
          <a:xfrm>
            <a:off x="3611880" y="3685032"/>
            <a:ext cx="1371600" cy="512064"/>
          </a:xfrm>
          <a:prstGeom prst="rect">
            <a:avLst/>
          </a:prstGeom>
          <a:noFill/>
          <a:ln/>
        </p:spPr>
        <p:txBody>
          <a:bodyPr wrap="square" lIns="0" tIns="0" rIns="0" bIns="0" rtlCol="0" anchor="ctr"/>
          <a:lstStyle/>
          <a:p>
            <a:pPr algn="ctr" indent="0" marL="0">
              <a:buNone/>
            </a:pPr>
            <a:r>
              <a:rPr lang="en-US" sz="1900" b="1" dirty="0">
                <a:solidFill>
                  <a:srgbClr val="1A56E8"/>
                </a:solidFill>
                <a:latin typeface="Calibri" pitchFamily="34" charset="0"/>
                <a:ea typeface="Calibri" pitchFamily="34" charset="-122"/>
                <a:cs typeface="Calibri" pitchFamily="34" charset="-120"/>
              </a:rPr>
              <a:t>140</a:t>
            </a:r>
            <a:endParaRPr lang="en-US" sz="1900" dirty="0"/>
          </a:p>
        </p:txBody>
      </p:sp>
      <p:sp>
        <p:nvSpPr>
          <p:cNvPr id="34" name="Shape 32"/>
          <p:cNvSpPr/>
          <p:nvPr/>
        </p:nvSpPr>
        <p:spPr>
          <a:xfrm>
            <a:off x="4983480" y="3685032"/>
            <a:ext cx="1371600" cy="512064"/>
          </a:xfrm>
          <a:prstGeom prst="rect">
            <a:avLst/>
          </a:prstGeom>
          <a:solidFill>
            <a:srgbClr val="061834"/>
          </a:solidFill>
          <a:ln w="12700">
            <a:solidFill>
              <a:srgbClr val="061834"/>
            </a:solidFill>
            <a:prstDash val="solid"/>
          </a:ln>
        </p:spPr>
      </p:sp>
      <p:sp>
        <p:nvSpPr>
          <p:cNvPr id="35" name="Text 33"/>
          <p:cNvSpPr/>
          <p:nvPr/>
        </p:nvSpPr>
        <p:spPr>
          <a:xfrm>
            <a:off x="4983480" y="3685032"/>
            <a:ext cx="1371600" cy="512064"/>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200</a:t>
            </a:r>
            <a:endParaRPr lang="en-US" sz="1900" dirty="0"/>
          </a:p>
        </p:txBody>
      </p:sp>
      <p:sp>
        <p:nvSpPr>
          <p:cNvPr id="36" name="Shape 34"/>
          <p:cNvSpPr/>
          <p:nvPr/>
        </p:nvSpPr>
        <p:spPr>
          <a:xfrm>
            <a:off x="6355080" y="2148840"/>
            <a:ext cx="5285232" cy="1371600"/>
          </a:xfrm>
          <a:prstGeom prst="roundRect">
            <a:avLst>
              <a:gd name="adj" fmla="val 4000"/>
            </a:avLst>
          </a:prstGeom>
          <a:solidFill>
            <a:srgbClr val="0A2559"/>
          </a:solidFill>
          <a:ln w="12700">
            <a:solidFill>
              <a:srgbClr val="0A2559"/>
            </a:solidFill>
            <a:prstDash val="solid"/>
          </a:ln>
        </p:spPr>
      </p:sp>
      <p:sp>
        <p:nvSpPr>
          <p:cNvPr id="37" name="Shape 35"/>
          <p:cNvSpPr/>
          <p:nvPr/>
        </p:nvSpPr>
        <p:spPr>
          <a:xfrm>
            <a:off x="6601968" y="2414016"/>
            <a:ext cx="118872" cy="118872"/>
          </a:xfrm>
          <a:prstGeom prst="roundRect">
            <a:avLst>
              <a:gd name="adj" fmla="val 30769"/>
            </a:avLst>
          </a:prstGeom>
          <a:solidFill>
            <a:srgbClr val="E6115E"/>
          </a:solidFill>
          <a:ln w="12700">
            <a:solidFill>
              <a:srgbClr val="E6115E"/>
            </a:solidFill>
            <a:prstDash val="solid"/>
          </a:ln>
        </p:spPr>
      </p:sp>
      <p:sp>
        <p:nvSpPr>
          <p:cNvPr id="38" name="Text 36"/>
          <p:cNvSpPr/>
          <p:nvPr/>
        </p:nvSpPr>
        <p:spPr>
          <a:xfrm>
            <a:off x="6839712" y="2313432"/>
            <a:ext cx="460857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Cómo se lee esta tabla</a:t>
            </a:r>
            <a:endParaRPr lang="en-US" sz="1400" dirty="0"/>
          </a:p>
        </p:txBody>
      </p:sp>
      <p:sp>
        <p:nvSpPr>
          <p:cNvPr id="39" name="Text 37"/>
          <p:cNvSpPr/>
          <p:nvPr/>
        </p:nvSpPr>
        <p:spPr>
          <a:xfrm>
            <a:off x="6601968" y="2679192"/>
            <a:ext cx="4800600" cy="731520"/>
          </a:xfrm>
          <a:prstGeom prst="rect">
            <a:avLst/>
          </a:prstGeom>
          <a:noFill/>
          <a:ln/>
        </p:spPr>
        <p:txBody>
          <a:bodyPr wrap="square" lIns="0" tIns="0" rIns="0" bIns="0" rtlCol="0" anchor="t"/>
          <a:lstStyle/>
          <a:p>
            <a:pPr algn="l" indent="0" marL="0">
              <a:lnSpc>
                <a:spcPct val="110000"/>
              </a:lnSpc>
              <a:buNone/>
            </a:pPr>
            <a:r>
              <a:rPr lang="en-US" sz="1200" dirty="0">
                <a:solidFill>
                  <a:srgbClr val="C9D6F2"/>
                </a:solidFill>
                <a:latin typeface="Calibri" pitchFamily="34" charset="0"/>
                <a:ea typeface="Calibri" pitchFamily="34" charset="-122"/>
                <a:cs typeface="Calibri" pitchFamily="34" charset="-120"/>
              </a:rPr>
              <a:t>Cada solicitud cae en exactamente UNA de las cuatro casillas. Por ejemplo, 40 solicitudes entraron por agencia Y fueron rechazadas.</a:t>
            </a:r>
            <a:endParaRPr lang="en-US" sz="1200" dirty="0"/>
          </a:p>
        </p:txBody>
      </p:sp>
      <p:sp>
        <p:nvSpPr>
          <p:cNvPr id="40" name="Shape 38"/>
          <p:cNvSpPr/>
          <p:nvPr/>
        </p:nvSpPr>
        <p:spPr>
          <a:xfrm>
            <a:off x="6355080" y="3657600"/>
            <a:ext cx="5285232" cy="1463040"/>
          </a:xfrm>
          <a:prstGeom prst="roundRect">
            <a:avLst>
              <a:gd name="adj" fmla="val 3750"/>
            </a:avLst>
          </a:prstGeom>
          <a:solidFill>
            <a:srgbClr val="E9EEF8"/>
          </a:solidFill>
          <a:ln w="12700">
            <a:solidFill>
              <a:srgbClr val="D2DBEC"/>
            </a:solidFill>
            <a:prstDash val="solid"/>
          </a:ln>
        </p:spPr>
      </p:sp>
      <p:sp>
        <p:nvSpPr>
          <p:cNvPr id="41" name="Shape 39"/>
          <p:cNvSpPr/>
          <p:nvPr/>
        </p:nvSpPr>
        <p:spPr>
          <a:xfrm>
            <a:off x="6601968" y="3922776"/>
            <a:ext cx="118872" cy="118872"/>
          </a:xfrm>
          <a:prstGeom prst="roundRect">
            <a:avLst>
              <a:gd name="adj" fmla="val 30769"/>
            </a:avLst>
          </a:prstGeom>
          <a:solidFill>
            <a:srgbClr val="E6115E"/>
          </a:solidFill>
          <a:ln w="12700">
            <a:solidFill>
              <a:srgbClr val="E6115E"/>
            </a:solidFill>
            <a:prstDash val="solid"/>
          </a:ln>
        </p:spPr>
      </p:sp>
      <p:sp>
        <p:nvSpPr>
          <p:cNvPr id="42" name="Text 40"/>
          <p:cNvSpPr/>
          <p:nvPr/>
        </p:nvSpPr>
        <p:spPr>
          <a:xfrm>
            <a:off x="6839712" y="3822192"/>
            <a:ext cx="460857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El dato que salta a la vista</a:t>
            </a:r>
            <a:endParaRPr lang="en-US" sz="1400" dirty="0"/>
          </a:p>
        </p:txBody>
      </p:sp>
      <p:sp>
        <p:nvSpPr>
          <p:cNvPr id="43" name="Text 41"/>
          <p:cNvSpPr/>
          <p:nvPr/>
        </p:nvSpPr>
        <p:spPr>
          <a:xfrm>
            <a:off x="6601968" y="4187952"/>
            <a:ext cx="4800600" cy="822960"/>
          </a:xfrm>
          <a:prstGeom prst="rect">
            <a:avLst/>
          </a:prstGeom>
          <a:noFill/>
          <a:ln/>
        </p:spPr>
        <p:txBody>
          <a:bodyPr wrap="square" lIns="0" tIns="0" rIns="0" bIns="0" rtlCol="0" anchor="t"/>
          <a:lstStyle/>
          <a:p>
            <a:pPr algn="l" indent="0" marL="0">
              <a:lnSpc>
                <a:spcPct val="120000"/>
              </a:lnSpc>
              <a:buNone/>
            </a:pPr>
            <a:r>
              <a:rPr lang="en-US" sz="1250" dirty="0">
                <a:solidFill>
                  <a:srgbClr val="2C3A55"/>
                </a:solidFill>
                <a:latin typeface="Calibri" pitchFamily="34" charset="0"/>
                <a:ea typeface="Calibri" pitchFamily="34" charset="-122"/>
                <a:cs typeface="Calibri" pitchFamily="34" charset="-120"/>
              </a:rPr>
              <a:t>Agencia rechaza 40 de 100  →  40 %</a:t>
            </a:r>
            <a:endParaRPr lang="en-US" sz="1250" dirty="0"/>
          </a:p>
          <a:p>
            <a:pPr algn="l" indent="0" marL="0">
              <a:lnSpc>
                <a:spcPct val="120000"/>
              </a:lnSpc>
              <a:buNone/>
            </a:pPr>
            <a:r>
              <a:rPr lang="en-US" sz="1250" dirty="0">
                <a:solidFill>
                  <a:srgbClr val="2C3A55"/>
                </a:solidFill>
                <a:latin typeface="Calibri" pitchFamily="34" charset="0"/>
                <a:ea typeface="Calibri" pitchFamily="34" charset="-122"/>
                <a:cs typeface="Calibri" pitchFamily="34" charset="-120"/>
              </a:rPr>
              <a:t>App rechaza 20 de 100  →  20 %</a:t>
            </a:r>
            <a:endParaRPr lang="en-US" sz="1250" dirty="0"/>
          </a:p>
          <a:p>
            <a:pPr algn="l" indent="0" marL="0">
              <a:lnSpc>
                <a:spcPct val="120000"/>
              </a:lnSpc>
              <a:buNone/>
            </a:pPr>
            <a:endParaRPr lang="en-US" sz="1250" dirty="0"/>
          </a:p>
          <a:p>
            <a:pPr algn="l" indent="0" marL="0">
              <a:lnSpc>
                <a:spcPct val="120000"/>
              </a:lnSpc>
              <a:buNone/>
            </a:pPr>
            <a:r>
              <a:rPr lang="en-US" sz="1250" dirty="0">
                <a:solidFill>
                  <a:srgbClr val="2C3A55"/>
                </a:solidFill>
                <a:latin typeface="Calibri" pitchFamily="34" charset="0"/>
                <a:ea typeface="Calibri" pitchFamily="34" charset="-122"/>
                <a:cs typeface="Calibri" pitchFamily="34" charset="-120"/>
              </a:rPr>
              <a:t>El doble. ¿Es casualidad?</a:t>
            </a:r>
            <a:endParaRPr lang="en-US" sz="1250" dirty="0"/>
          </a:p>
        </p:txBody>
      </p:sp>
      <p:sp>
        <p:nvSpPr>
          <p:cNvPr id="44" name="Shape 42"/>
          <p:cNvSpPr/>
          <p:nvPr/>
        </p:nvSpPr>
        <p:spPr>
          <a:xfrm>
            <a:off x="548640" y="4983480"/>
            <a:ext cx="5577840" cy="1298448"/>
          </a:xfrm>
          <a:prstGeom prst="roundRect">
            <a:avLst>
              <a:gd name="adj" fmla="val 4225"/>
            </a:avLst>
          </a:prstGeom>
          <a:solidFill>
            <a:srgbClr val="FFFFFF"/>
          </a:solidFill>
          <a:ln w="12700">
            <a:solidFill>
              <a:srgbClr val="D2DBEC"/>
            </a:solidFill>
            <a:prstDash val="solid"/>
          </a:ln>
        </p:spPr>
      </p:sp>
      <p:sp>
        <p:nvSpPr>
          <p:cNvPr id="45" name="Shape 43"/>
          <p:cNvSpPr/>
          <p:nvPr/>
        </p:nvSpPr>
        <p:spPr>
          <a:xfrm>
            <a:off x="777240" y="5230368"/>
            <a:ext cx="118872" cy="118872"/>
          </a:xfrm>
          <a:prstGeom prst="roundRect">
            <a:avLst>
              <a:gd name="adj" fmla="val 30769"/>
            </a:avLst>
          </a:prstGeom>
          <a:solidFill>
            <a:srgbClr val="E6115E"/>
          </a:solidFill>
          <a:ln w="12700">
            <a:solidFill>
              <a:srgbClr val="E6115E"/>
            </a:solidFill>
            <a:prstDash val="solid"/>
          </a:ln>
        </p:spPr>
      </p:sp>
      <p:sp>
        <p:nvSpPr>
          <p:cNvPr id="46" name="Text 44"/>
          <p:cNvSpPr/>
          <p:nvPr/>
        </p:nvSpPr>
        <p:spPr>
          <a:xfrm>
            <a:off x="1014984" y="5129784"/>
            <a:ext cx="488289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Antes de calcular nada</a:t>
            </a:r>
            <a:endParaRPr lang="en-US" sz="1400" dirty="0"/>
          </a:p>
        </p:txBody>
      </p:sp>
      <p:sp>
        <p:nvSpPr>
          <p:cNvPr id="47" name="Text 45"/>
          <p:cNvSpPr/>
          <p:nvPr/>
        </p:nvSpPr>
        <p:spPr>
          <a:xfrm>
            <a:off x="777240" y="5477256"/>
            <a:ext cx="5120640" cy="731520"/>
          </a:xfrm>
          <a:prstGeom prst="rect">
            <a:avLst/>
          </a:prstGeom>
          <a:noFill/>
          <a:ln/>
        </p:spPr>
        <p:txBody>
          <a:bodyPr wrap="square" lIns="0" tIns="0" rIns="0" bIns="0" rtlCol="0" anchor="t"/>
          <a:lstStyle/>
          <a:p>
            <a:pPr algn="l" indent="0" marL="0">
              <a:lnSpc>
                <a:spcPct val="108000"/>
              </a:lnSpc>
              <a:buNone/>
            </a:pPr>
            <a:r>
              <a:rPr lang="en-US" sz="1150" dirty="0">
                <a:solidFill>
                  <a:srgbClr val="2C3A55"/>
                </a:solidFill>
                <a:latin typeface="Calibri" pitchFamily="34" charset="0"/>
                <a:ea typeface="Calibri" pitchFamily="34" charset="-122"/>
                <a:cs typeface="Calibri" pitchFamily="34" charset="-120"/>
              </a:rPr>
              <a:t>Los porcentajes ya sugieren que hay relación. Pero con 200 casos, ¿podría esa diferencia venir del puro azar?</a:t>
            </a:r>
            <a:endParaRPr lang="en-US" sz="1150" dirty="0"/>
          </a:p>
          <a:p>
            <a:pPr algn="l" indent="0" marL="0">
              <a:lnSpc>
                <a:spcPct val="108000"/>
              </a:lnSpc>
              <a:buNone/>
            </a:pPr>
            <a:endParaRPr lang="en-US" sz="1150" dirty="0"/>
          </a:p>
          <a:p>
            <a:pPr algn="l" indent="0" marL="0">
              <a:lnSpc>
                <a:spcPct val="108000"/>
              </a:lnSpc>
              <a:buNone/>
            </a:pPr>
            <a:r>
              <a:rPr lang="en-US" sz="1150" dirty="0">
                <a:solidFill>
                  <a:srgbClr val="2C3A55"/>
                </a:solidFill>
                <a:latin typeface="Calibri" pitchFamily="34" charset="0"/>
                <a:ea typeface="Calibri" pitchFamily="34" charset="-122"/>
                <a:cs typeface="Calibri" pitchFamily="34" charset="-120"/>
              </a:rPr>
              <a:t>Eso es exactamente lo que responde el χ².</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BLOQUE 1</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Dos porcentajes distintos, dos preguntas distintas</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El error más común al leer una tabla: dividir en la dirección equivocada.</a:t>
            </a:r>
            <a:endParaRPr lang="en-US" sz="1400" dirty="0"/>
          </a:p>
        </p:txBody>
      </p:sp>
      <p:sp>
        <p:nvSpPr>
          <p:cNvPr id="6" name="Shape 4"/>
          <p:cNvSpPr/>
          <p:nvPr/>
        </p:nvSpPr>
        <p:spPr>
          <a:xfrm>
            <a:off x="548640" y="2011680"/>
            <a:ext cx="5468112" cy="2240280"/>
          </a:xfrm>
          <a:prstGeom prst="roundRect">
            <a:avLst>
              <a:gd name="adj" fmla="val 2449"/>
            </a:avLst>
          </a:prstGeom>
          <a:solidFill>
            <a:srgbClr val="FFFFFF"/>
          </a:solidFill>
          <a:ln w="12700">
            <a:solidFill>
              <a:srgbClr val="D2DBEC"/>
            </a:solidFill>
            <a:prstDash val="solid"/>
          </a:ln>
        </p:spPr>
      </p:sp>
      <p:sp>
        <p:nvSpPr>
          <p:cNvPr id="7" name="Shape 5"/>
          <p:cNvSpPr/>
          <p:nvPr/>
        </p:nvSpPr>
        <p:spPr>
          <a:xfrm>
            <a:off x="804672" y="2276856"/>
            <a:ext cx="118872" cy="118872"/>
          </a:xfrm>
          <a:prstGeom prst="roundRect">
            <a:avLst>
              <a:gd name="adj" fmla="val 30769"/>
            </a:avLst>
          </a:prstGeom>
          <a:solidFill>
            <a:srgbClr val="E6115E"/>
          </a:solidFill>
          <a:ln w="12700">
            <a:solidFill>
              <a:srgbClr val="E6115E"/>
            </a:solidFill>
            <a:prstDash val="solid"/>
          </a:ln>
        </p:spPr>
      </p:sp>
      <p:sp>
        <p:nvSpPr>
          <p:cNvPr id="8" name="Text 6"/>
          <p:cNvSpPr/>
          <p:nvPr/>
        </p:nvSpPr>
        <p:spPr>
          <a:xfrm>
            <a:off x="1042416" y="2176272"/>
            <a:ext cx="479145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Por FILA — casi siempre lo correcto</a:t>
            </a:r>
            <a:endParaRPr lang="en-US" sz="1400" dirty="0"/>
          </a:p>
        </p:txBody>
      </p:sp>
      <p:sp>
        <p:nvSpPr>
          <p:cNvPr id="9" name="Text 7"/>
          <p:cNvSpPr/>
          <p:nvPr/>
        </p:nvSpPr>
        <p:spPr>
          <a:xfrm>
            <a:off x="804672" y="2542032"/>
            <a:ext cx="4983480" cy="274320"/>
          </a:xfrm>
          <a:prstGeom prst="rect">
            <a:avLst/>
          </a:prstGeom>
          <a:noFill/>
          <a:ln/>
        </p:spPr>
        <p:txBody>
          <a:bodyPr wrap="square" lIns="0" tIns="0" rIns="0" bIns="0" rtlCol="0" anchor="t"/>
          <a:lstStyle/>
          <a:p>
            <a:pPr algn="l" indent="0" marL="0">
              <a:lnSpc>
                <a:spcPct val="108000"/>
              </a:lnSpc>
              <a:buNone/>
            </a:pPr>
            <a:r>
              <a:rPr lang="en-US" sz="1200" i="1" dirty="0">
                <a:solidFill>
                  <a:srgbClr val="5B6B87"/>
                </a:solidFill>
                <a:latin typeface="Calibri" pitchFamily="34" charset="0"/>
                <a:ea typeface="Calibri" pitchFamily="34" charset="-122"/>
                <a:cs typeface="Calibri" pitchFamily="34" charset="-120"/>
              </a:rPr>
              <a:t>«¿Qué porcentaje de CADA CANAL se rechaza?»</a:t>
            </a:r>
            <a:endParaRPr lang="en-US" sz="1200" dirty="0"/>
          </a:p>
        </p:txBody>
      </p:sp>
      <p:sp>
        <p:nvSpPr>
          <p:cNvPr id="10" name="Text 8"/>
          <p:cNvSpPr/>
          <p:nvPr/>
        </p:nvSpPr>
        <p:spPr>
          <a:xfrm>
            <a:off x="804672" y="2816352"/>
            <a:ext cx="4983480" cy="896112"/>
          </a:xfrm>
          <a:prstGeom prst="rect">
            <a:avLst/>
          </a:prstGeom>
          <a:noFill/>
          <a:ln/>
        </p:spPr>
        <p:txBody>
          <a:bodyPr wrap="square" lIns="0" tIns="0" rIns="0" bIns="0" rtlCol="0" anchor="t"/>
          <a:lstStyle/>
          <a:p>
            <a:pPr algn="l" indent="0" marL="0">
              <a:lnSpc>
                <a:spcPct val="125000"/>
              </a:lnSpc>
              <a:buNone/>
            </a:pPr>
            <a:r>
              <a:rPr lang="en-US" sz="1300" b="1" dirty="0">
                <a:solidFill>
                  <a:srgbClr val="0A2559"/>
                </a:solidFill>
                <a:latin typeface="Calibri" pitchFamily="34" charset="0"/>
                <a:ea typeface="Calibri" pitchFamily="34" charset="-122"/>
                <a:cs typeface="Calibri" pitchFamily="34" charset="-120"/>
              </a:rPr>
              <a:t>De las 200 solicitudes:</a:t>
            </a:r>
            <a:endParaRPr lang="en-US" sz="1300" dirty="0"/>
          </a:p>
          <a:p>
            <a:pPr algn="l" indent="0" marL="0">
              <a:lnSpc>
                <a:spcPct val="125000"/>
              </a:lnSpc>
              <a:buNone/>
            </a:pPr>
            <a:r>
              <a:rPr lang="en-US" sz="1300" b="1" dirty="0">
                <a:solidFill>
                  <a:srgbClr val="0A2559"/>
                </a:solidFill>
                <a:latin typeface="Calibri" pitchFamily="34" charset="0"/>
                <a:ea typeface="Calibri" pitchFamily="34" charset="-122"/>
                <a:cs typeface="Calibri" pitchFamily="34" charset="-120"/>
              </a:rPr>
              <a:t>Agencia:  40 / 100  =  40 %</a:t>
            </a:r>
            <a:endParaRPr lang="en-US" sz="1300" dirty="0"/>
          </a:p>
          <a:p>
            <a:pPr algn="l" indent="0" marL="0">
              <a:lnSpc>
                <a:spcPct val="125000"/>
              </a:lnSpc>
              <a:buNone/>
            </a:pPr>
            <a:r>
              <a:rPr lang="en-US" sz="1300" b="1" dirty="0">
                <a:solidFill>
                  <a:srgbClr val="0A2559"/>
                </a:solidFill>
                <a:latin typeface="Calibri" pitchFamily="34" charset="0"/>
                <a:ea typeface="Calibri" pitchFamily="34" charset="-122"/>
                <a:cs typeface="Calibri" pitchFamily="34" charset="-120"/>
              </a:rPr>
              <a:t>App:         20 / 100  =  20 %</a:t>
            </a:r>
            <a:endParaRPr lang="en-US" sz="1300" dirty="0"/>
          </a:p>
        </p:txBody>
      </p:sp>
      <p:sp>
        <p:nvSpPr>
          <p:cNvPr id="11" name="Text 9"/>
          <p:cNvSpPr/>
          <p:nvPr/>
        </p:nvSpPr>
        <p:spPr>
          <a:xfrm>
            <a:off x="804672" y="3785616"/>
            <a:ext cx="4983480" cy="320040"/>
          </a:xfrm>
          <a:prstGeom prst="rect">
            <a:avLst/>
          </a:prstGeom>
          <a:noFill/>
          <a:ln/>
        </p:spPr>
        <p:txBody>
          <a:bodyPr wrap="square" lIns="0" tIns="0" rIns="0" bIns="0" rtlCol="0" anchor="t"/>
          <a:lstStyle/>
          <a:p>
            <a:pPr algn="l" indent="0" marL="0">
              <a:lnSpc>
                <a:spcPct val="108000"/>
              </a:lnSpc>
              <a:buNone/>
            </a:pPr>
            <a:r>
              <a:rPr lang="en-US" sz="1100" dirty="0">
                <a:solidFill>
                  <a:srgbClr val="5B6B87"/>
                </a:solidFill>
                <a:latin typeface="Calibri" pitchFamily="34" charset="0"/>
                <a:ea typeface="Calibri" pitchFamily="34" charset="-122"/>
                <a:cs typeface="Calibri" pitchFamily="34" charset="-120"/>
              </a:rPr>
              <a:t>Compara los canales entre sí. Es la pregunta del negocio.</a:t>
            </a:r>
            <a:endParaRPr lang="en-US" sz="1100" dirty="0"/>
          </a:p>
        </p:txBody>
      </p:sp>
      <p:sp>
        <p:nvSpPr>
          <p:cNvPr id="12" name="Shape 10"/>
          <p:cNvSpPr/>
          <p:nvPr/>
        </p:nvSpPr>
        <p:spPr>
          <a:xfrm>
            <a:off x="6172200" y="2011680"/>
            <a:ext cx="5468112" cy="2240280"/>
          </a:xfrm>
          <a:prstGeom prst="roundRect">
            <a:avLst>
              <a:gd name="adj" fmla="val 2449"/>
            </a:avLst>
          </a:prstGeom>
          <a:solidFill>
            <a:srgbClr val="E9EEF8"/>
          </a:solidFill>
          <a:ln w="12700">
            <a:solidFill>
              <a:srgbClr val="D2DBEC"/>
            </a:solidFill>
            <a:prstDash val="solid"/>
          </a:ln>
        </p:spPr>
      </p:sp>
      <p:sp>
        <p:nvSpPr>
          <p:cNvPr id="13" name="Shape 11"/>
          <p:cNvSpPr/>
          <p:nvPr/>
        </p:nvSpPr>
        <p:spPr>
          <a:xfrm>
            <a:off x="6419088" y="2276856"/>
            <a:ext cx="118872" cy="118872"/>
          </a:xfrm>
          <a:prstGeom prst="roundRect">
            <a:avLst>
              <a:gd name="adj" fmla="val 30769"/>
            </a:avLst>
          </a:prstGeom>
          <a:solidFill>
            <a:srgbClr val="E6115E"/>
          </a:solidFill>
          <a:ln w="12700">
            <a:solidFill>
              <a:srgbClr val="E6115E"/>
            </a:solidFill>
            <a:prstDash val="solid"/>
          </a:ln>
        </p:spPr>
      </p:sp>
      <p:sp>
        <p:nvSpPr>
          <p:cNvPr id="14" name="Text 12"/>
          <p:cNvSpPr/>
          <p:nvPr/>
        </p:nvSpPr>
        <p:spPr>
          <a:xfrm>
            <a:off x="6656832" y="2176272"/>
            <a:ext cx="479145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Por COLUMNA — responde otra cosa</a:t>
            </a:r>
            <a:endParaRPr lang="en-US" sz="1400" dirty="0"/>
          </a:p>
        </p:txBody>
      </p:sp>
      <p:sp>
        <p:nvSpPr>
          <p:cNvPr id="15" name="Text 13"/>
          <p:cNvSpPr/>
          <p:nvPr/>
        </p:nvSpPr>
        <p:spPr>
          <a:xfrm>
            <a:off x="6419088" y="2542032"/>
            <a:ext cx="4983480" cy="274320"/>
          </a:xfrm>
          <a:prstGeom prst="rect">
            <a:avLst/>
          </a:prstGeom>
          <a:noFill/>
          <a:ln/>
        </p:spPr>
        <p:txBody>
          <a:bodyPr wrap="square" lIns="0" tIns="0" rIns="0" bIns="0" rtlCol="0" anchor="t"/>
          <a:lstStyle/>
          <a:p>
            <a:pPr algn="l" indent="0" marL="0">
              <a:lnSpc>
                <a:spcPct val="108000"/>
              </a:lnSpc>
              <a:buNone/>
            </a:pPr>
            <a:r>
              <a:rPr lang="en-US" sz="1200" i="1" dirty="0">
                <a:solidFill>
                  <a:srgbClr val="5B6B87"/>
                </a:solidFill>
                <a:latin typeface="Calibri" pitchFamily="34" charset="0"/>
                <a:ea typeface="Calibri" pitchFamily="34" charset="-122"/>
                <a:cs typeface="Calibri" pitchFamily="34" charset="-120"/>
              </a:rPr>
              <a:t>«¿Qué porcentaje de los RECHAZOS vino de cada canal?»</a:t>
            </a:r>
            <a:endParaRPr lang="en-US" sz="1200" dirty="0"/>
          </a:p>
        </p:txBody>
      </p:sp>
      <p:sp>
        <p:nvSpPr>
          <p:cNvPr id="16" name="Text 14"/>
          <p:cNvSpPr/>
          <p:nvPr/>
        </p:nvSpPr>
        <p:spPr>
          <a:xfrm>
            <a:off x="6419088" y="2816352"/>
            <a:ext cx="4983480" cy="896112"/>
          </a:xfrm>
          <a:prstGeom prst="rect">
            <a:avLst/>
          </a:prstGeom>
          <a:noFill/>
          <a:ln/>
        </p:spPr>
        <p:txBody>
          <a:bodyPr wrap="square" lIns="0" tIns="0" rIns="0" bIns="0" rtlCol="0" anchor="t"/>
          <a:lstStyle/>
          <a:p>
            <a:pPr algn="l" indent="0" marL="0">
              <a:lnSpc>
                <a:spcPct val="125000"/>
              </a:lnSpc>
              <a:buNone/>
            </a:pPr>
            <a:r>
              <a:rPr lang="en-US" sz="1300" b="1" dirty="0">
                <a:solidFill>
                  <a:srgbClr val="0A2559"/>
                </a:solidFill>
                <a:latin typeface="Calibri" pitchFamily="34" charset="0"/>
                <a:ea typeface="Calibri" pitchFamily="34" charset="-122"/>
                <a:cs typeface="Calibri" pitchFamily="34" charset="-120"/>
              </a:rPr>
              <a:t>De los 60 rechazos:</a:t>
            </a:r>
            <a:endParaRPr lang="en-US" sz="1300" dirty="0"/>
          </a:p>
          <a:p>
            <a:pPr algn="l" indent="0" marL="0">
              <a:lnSpc>
                <a:spcPct val="125000"/>
              </a:lnSpc>
              <a:buNone/>
            </a:pPr>
            <a:r>
              <a:rPr lang="en-US" sz="1300" b="1" dirty="0">
                <a:solidFill>
                  <a:srgbClr val="0A2559"/>
                </a:solidFill>
                <a:latin typeface="Calibri" pitchFamily="34" charset="0"/>
                <a:ea typeface="Calibri" pitchFamily="34" charset="-122"/>
                <a:cs typeface="Calibri" pitchFamily="34" charset="-120"/>
              </a:rPr>
              <a:t>Agencia:  40 / 60  =  67 %</a:t>
            </a:r>
            <a:endParaRPr lang="en-US" sz="1300" dirty="0"/>
          </a:p>
          <a:p>
            <a:pPr algn="l" indent="0" marL="0">
              <a:lnSpc>
                <a:spcPct val="125000"/>
              </a:lnSpc>
              <a:buNone/>
            </a:pPr>
            <a:r>
              <a:rPr lang="en-US" sz="1300" b="1" dirty="0">
                <a:solidFill>
                  <a:srgbClr val="0A2559"/>
                </a:solidFill>
                <a:latin typeface="Calibri" pitchFamily="34" charset="0"/>
                <a:ea typeface="Calibri" pitchFamily="34" charset="-122"/>
                <a:cs typeface="Calibri" pitchFamily="34" charset="-120"/>
              </a:rPr>
              <a:t>App:         20 / 60  =  33 %</a:t>
            </a:r>
            <a:endParaRPr lang="en-US" sz="1300" dirty="0"/>
          </a:p>
        </p:txBody>
      </p:sp>
      <p:sp>
        <p:nvSpPr>
          <p:cNvPr id="17" name="Text 15"/>
          <p:cNvSpPr/>
          <p:nvPr/>
        </p:nvSpPr>
        <p:spPr>
          <a:xfrm>
            <a:off x="6419088" y="3785616"/>
            <a:ext cx="4983480" cy="320040"/>
          </a:xfrm>
          <a:prstGeom prst="rect">
            <a:avLst/>
          </a:prstGeom>
          <a:noFill/>
          <a:ln/>
        </p:spPr>
        <p:txBody>
          <a:bodyPr wrap="square" lIns="0" tIns="0" rIns="0" bIns="0" rtlCol="0" anchor="t"/>
          <a:lstStyle/>
          <a:p>
            <a:pPr algn="l" indent="0" marL="0">
              <a:lnSpc>
                <a:spcPct val="108000"/>
              </a:lnSpc>
              <a:buNone/>
            </a:pPr>
            <a:r>
              <a:rPr lang="en-US" sz="1100" dirty="0">
                <a:solidFill>
                  <a:srgbClr val="5B6B87"/>
                </a:solidFill>
                <a:latin typeface="Calibri" pitchFamily="34" charset="0"/>
                <a:ea typeface="Calibri" pitchFamily="34" charset="-122"/>
                <a:cs typeface="Calibri" pitchFamily="34" charset="-120"/>
              </a:rPr>
              <a:t>Útil para asignar recursos, no para comparar canales.</a:t>
            </a:r>
            <a:endParaRPr lang="en-US" sz="1100" dirty="0"/>
          </a:p>
        </p:txBody>
      </p:sp>
      <p:sp>
        <p:nvSpPr>
          <p:cNvPr id="18" name="Shape 16"/>
          <p:cNvSpPr/>
          <p:nvPr/>
        </p:nvSpPr>
        <p:spPr>
          <a:xfrm>
            <a:off x="548640" y="4462272"/>
            <a:ext cx="11091672" cy="1298448"/>
          </a:xfrm>
          <a:prstGeom prst="roundRect">
            <a:avLst>
              <a:gd name="adj" fmla="val 4225"/>
            </a:avLst>
          </a:prstGeom>
          <a:solidFill>
            <a:srgbClr val="0A2559"/>
          </a:solidFill>
          <a:ln w="12700">
            <a:solidFill>
              <a:srgbClr val="0A2559"/>
            </a:solidFill>
            <a:prstDash val="solid"/>
          </a:ln>
        </p:spPr>
      </p:sp>
      <p:sp>
        <p:nvSpPr>
          <p:cNvPr id="19" name="Shape 17"/>
          <p:cNvSpPr/>
          <p:nvPr/>
        </p:nvSpPr>
        <p:spPr>
          <a:xfrm>
            <a:off x="804672" y="4709160"/>
            <a:ext cx="118872" cy="118872"/>
          </a:xfrm>
          <a:prstGeom prst="roundRect">
            <a:avLst>
              <a:gd name="adj" fmla="val 30769"/>
            </a:avLst>
          </a:prstGeom>
          <a:solidFill>
            <a:srgbClr val="E6115E"/>
          </a:solidFill>
          <a:ln w="12700">
            <a:solidFill>
              <a:srgbClr val="E6115E"/>
            </a:solidFill>
            <a:prstDash val="solid"/>
          </a:ln>
        </p:spPr>
      </p:sp>
      <p:sp>
        <p:nvSpPr>
          <p:cNvPr id="20" name="Text 18"/>
          <p:cNvSpPr/>
          <p:nvPr/>
        </p:nvSpPr>
        <p:spPr>
          <a:xfrm>
            <a:off x="1042416" y="4608576"/>
            <a:ext cx="707745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Por qué importa la diferencia</a:t>
            </a:r>
            <a:endParaRPr lang="en-US" sz="1400" dirty="0"/>
          </a:p>
        </p:txBody>
      </p:sp>
      <p:sp>
        <p:nvSpPr>
          <p:cNvPr id="21" name="Text 19"/>
          <p:cNvSpPr/>
          <p:nvPr/>
        </p:nvSpPr>
        <p:spPr>
          <a:xfrm>
            <a:off x="804672" y="4956048"/>
            <a:ext cx="10515600" cy="713232"/>
          </a:xfrm>
          <a:prstGeom prst="rect">
            <a:avLst/>
          </a:prstGeom>
          <a:noFill/>
          <a:ln/>
        </p:spPr>
        <p:txBody>
          <a:bodyPr wrap="square" lIns="0" tIns="0" rIns="0" bIns="0" rtlCol="0" anchor="t"/>
          <a:lstStyle/>
          <a:p>
            <a:pPr algn="l" indent="0" marL="0">
              <a:lnSpc>
                <a:spcPct val="108000"/>
              </a:lnSpc>
              <a:buNone/>
            </a:pPr>
            <a:r>
              <a:rPr lang="en-US" sz="1150" dirty="0">
                <a:solidFill>
                  <a:srgbClr val="C9D6F2"/>
                </a:solidFill>
                <a:latin typeface="Calibri" pitchFamily="34" charset="0"/>
                <a:ea typeface="Calibri" pitchFamily="34" charset="-122"/>
                <a:cs typeface="Calibri" pitchFamily="34" charset="-120"/>
              </a:rPr>
              <a:t>Si dijeras «el 67 % de los rechazos son de agencia», suena a que agencia es el problema. Pero eso podría deberse simplemente a que por agencia entran muchas más solicitudes.</a:t>
            </a:r>
            <a:endParaRPr lang="en-US" sz="1150" dirty="0"/>
          </a:p>
          <a:p>
            <a:pPr algn="l" indent="0" marL="0">
              <a:lnSpc>
                <a:spcPct val="108000"/>
              </a:lnSpc>
              <a:buNone/>
            </a:pPr>
            <a:endParaRPr lang="en-US" sz="1150" dirty="0"/>
          </a:p>
          <a:p>
            <a:pPr algn="l" indent="0" marL="0">
              <a:lnSpc>
                <a:spcPct val="108000"/>
              </a:lnSpc>
              <a:buNone/>
            </a:pPr>
            <a:r>
              <a:rPr lang="en-US" sz="1150" dirty="0">
                <a:solidFill>
                  <a:srgbClr val="C9D6F2"/>
                </a:solidFill>
                <a:latin typeface="Calibri" pitchFamily="34" charset="0"/>
                <a:ea typeface="Calibri" pitchFamily="34" charset="-122"/>
                <a:cs typeface="Calibri" pitchFamily="34" charset="-120"/>
              </a:rPr>
              <a:t>Aquí no es el caso —los dos canales tienen 100— pero en datos reales casi nunca están balanceados.</a:t>
            </a:r>
            <a:endParaRPr lang="en-US" sz="1150" dirty="0"/>
          </a:p>
        </p:txBody>
      </p:sp>
      <p:sp>
        <p:nvSpPr>
          <p:cNvPr id="22" name="Shape 20"/>
          <p:cNvSpPr/>
          <p:nvPr/>
        </p:nvSpPr>
        <p:spPr>
          <a:xfrm>
            <a:off x="548640" y="5897880"/>
            <a:ext cx="11091672" cy="548640"/>
          </a:xfrm>
          <a:prstGeom prst="roundRect">
            <a:avLst>
              <a:gd name="adj" fmla="val 10000"/>
            </a:avLst>
          </a:prstGeom>
          <a:solidFill>
            <a:srgbClr val="E9EEF8"/>
          </a:solidFill>
          <a:ln w="12700">
            <a:solidFill>
              <a:srgbClr val="D2DBEC"/>
            </a:solidFill>
            <a:prstDash val="solid"/>
          </a:ln>
        </p:spPr>
      </p:sp>
      <p:sp>
        <p:nvSpPr>
          <p:cNvPr id="23" name="Text 21"/>
          <p:cNvSpPr/>
          <p:nvPr/>
        </p:nvSpPr>
        <p:spPr>
          <a:xfrm>
            <a:off x="822960" y="5897880"/>
            <a:ext cx="10607040" cy="548640"/>
          </a:xfrm>
          <a:prstGeom prst="rect">
            <a:avLst/>
          </a:prstGeom>
          <a:noFill/>
          <a:ln/>
        </p:spPr>
        <p:txBody>
          <a:bodyPr wrap="square" lIns="0" tIns="0" rIns="0" bIns="0" rtlCol="0" anchor="ctr"/>
          <a:lstStyle/>
          <a:p>
            <a:pPr algn="l" indent="0" marL="0">
              <a:lnSpc>
                <a:spcPct val="108000"/>
              </a:lnSpc>
              <a:buNone/>
            </a:pPr>
            <a:r>
              <a:rPr lang="en-US" sz="1150" dirty="0">
                <a:solidFill>
                  <a:srgbClr val="2C3A55"/>
                </a:solidFill>
                <a:latin typeface="Calibri" pitchFamily="34" charset="0"/>
                <a:ea typeface="Calibri" pitchFamily="34" charset="-122"/>
                <a:cs typeface="Calibri" pitchFamily="34" charset="-120"/>
              </a:rPr>
              <a:t>En Python:  normalize="index" da porcentajes por fila  ·  normalize="columns" los da por columna.</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329184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329184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BLOQUE 2 · LA IDEA CLAVE</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¿Cómo se vería la tabla si el canal NO importara?</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Si entiendes esta slide, el resto de la clase es aritmética.</a:t>
            </a:r>
            <a:endParaRPr lang="en-US" sz="1400" dirty="0"/>
          </a:p>
        </p:txBody>
      </p:sp>
      <p:sp>
        <p:nvSpPr>
          <p:cNvPr id="6" name="Shape 4"/>
          <p:cNvSpPr/>
          <p:nvPr/>
        </p:nvSpPr>
        <p:spPr>
          <a:xfrm>
            <a:off x="548640" y="2011680"/>
            <a:ext cx="11091672" cy="960120"/>
          </a:xfrm>
          <a:prstGeom prst="roundRect">
            <a:avLst>
              <a:gd name="adj" fmla="val 5714"/>
            </a:avLst>
          </a:prstGeom>
          <a:solidFill>
            <a:srgbClr val="0A2559"/>
          </a:solidFill>
          <a:ln w="12700">
            <a:solidFill>
              <a:srgbClr val="0A2559"/>
            </a:solidFill>
            <a:prstDash val="solid"/>
          </a:ln>
        </p:spPr>
      </p:sp>
      <p:sp>
        <p:nvSpPr>
          <p:cNvPr id="7" name="Text 5"/>
          <p:cNvSpPr/>
          <p:nvPr/>
        </p:nvSpPr>
        <p:spPr>
          <a:xfrm>
            <a:off x="822960" y="2011680"/>
            <a:ext cx="10607040" cy="960120"/>
          </a:xfrm>
          <a:prstGeom prst="rect">
            <a:avLst/>
          </a:prstGeom>
          <a:noFill/>
          <a:ln/>
        </p:spPr>
        <p:txBody>
          <a:bodyPr wrap="square" lIns="0" tIns="0" rIns="0" bIns="0" rtlCol="0" anchor="ctr"/>
          <a:lstStyle/>
          <a:p>
            <a:pPr algn="ctr" indent="0" marL="0">
              <a:lnSpc>
                <a:spcPct val="125000"/>
              </a:lnSpc>
              <a:buNone/>
            </a:pPr>
            <a:r>
              <a:rPr lang="en-US" sz="1400" dirty="0">
                <a:solidFill>
                  <a:srgbClr val="FFFFFF"/>
                </a:solidFill>
                <a:latin typeface="Calibri" pitchFamily="34" charset="0"/>
                <a:ea typeface="Calibri" pitchFamily="34" charset="-122"/>
                <a:cs typeface="Calibri" pitchFamily="34" charset="-120"/>
              </a:rPr>
              <a:t>En total se rechaza el 30 % de las solicitudes  (60 de 200).</a:t>
            </a:r>
            <a:endParaRPr lang="en-US" sz="1400" dirty="0"/>
          </a:p>
          <a:p>
            <a:pPr algn="ctr" indent="0" marL="0">
              <a:lnSpc>
                <a:spcPct val="125000"/>
              </a:lnSpc>
              <a:buNone/>
            </a:pPr>
            <a:r>
              <a:rPr lang="en-US" sz="1400" dirty="0">
                <a:solidFill>
                  <a:srgbClr val="FFFFFF"/>
                </a:solidFill>
                <a:latin typeface="Calibri" pitchFamily="34" charset="0"/>
                <a:ea typeface="Calibri" pitchFamily="34" charset="-122"/>
                <a:cs typeface="Calibri" pitchFamily="34" charset="-120"/>
              </a:rPr>
              <a:t>Si el canal no tuviera nada que ver, entonces CADA canal rechazaría también un 30 %.</a:t>
            </a:r>
            <a:endParaRPr lang="en-US" sz="1400" dirty="0"/>
          </a:p>
        </p:txBody>
      </p:sp>
      <p:sp>
        <p:nvSpPr>
          <p:cNvPr id="8" name="Text 6"/>
          <p:cNvSpPr/>
          <p:nvPr/>
        </p:nvSpPr>
        <p:spPr>
          <a:xfrm>
            <a:off x="1234440" y="3200400"/>
            <a:ext cx="3291840" cy="274320"/>
          </a:xfrm>
          <a:prstGeom prst="rect">
            <a:avLst/>
          </a:prstGeom>
          <a:noFill/>
          <a:ln/>
        </p:spPr>
        <p:txBody>
          <a:bodyPr wrap="square" lIns="0" tIns="0" rIns="0" bIns="0" rtlCol="0" anchor="t"/>
          <a:lstStyle/>
          <a:p>
            <a:pPr algn="l" indent="0" marL="0">
              <a:lnSpc>
                <a:spcPct val="108000"/>
              </a:lnSpc>
              <a:buNone/>
            </a:pPr>
            <a:r>
              <a:rPr lang="en-US" sz="1250" b="1" dirty="0">
                <a:solidFill>
                  <a:srgbClr val="0A2559"/>
                </a:solidFill>
                <a:latin typeface="Calibri" pitchFamily="34" charset="0"/>
                <a:ea typeface="Calibri" pitchFamily="34" charset="-122"/>
                <a:cs typeface="Calibri" pitchFamily="34" charset="-120"/>
              </a:rPr>
              <a:t>Tabla OBSERVADA  (la real)</a:t>
            </a:r>
            <a:endParaRPr lang="en-US" sz="1250" dirty="0"/>
          </a:p>
        </p:txBody>
      </p:sp>
      <p:sp>
        <p:nvSpPr>
          <p:cNvPr id="9" name="Shape 7"/>
          <p:cNvSpPr/>
          <p:nvPr/>
        </p:nvSpPr>
        <p:spPr>
          <a:xfrm>
            <a:off x="2148840" y="3520440"/>
            <a:ext cx="1143000" cy="438912"/>
          </a:xfrm>
          <a:prstGeom prst="rect">
            <a:avLst/>
          </a:prstGeom>
          <a:solidFill>
            <a:srgbClr val="0A2559"/>
          </a:solidFill>
          <a:ln w="12700">
            <a:solidFill>
              <a:srgbClr val="0A2559"/>
            </a:solidFill>
            <a:prstDash val="solid"/>
          </a:ln>
        </p:spPr>
      </p:sp>
      <p:sp>
        <p:nvSpPr>
          <p:cNvPr id="10" name="Text 8"/>
          <p:cNvSpPr/>
          <p:nvPr/>
        </p:nvSpPr>
        <p:spPr>
          <a:xfrm>
            <a:off x="2148840" y="3520440"/>
            <a:ext cx="1143000"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Rechazada</a:t>
            </a:r>
            <a:endParaRPr lang="en-US" sz="1000" dirty="0"/>
          </a:p>
        </p:txBody>
      </p:sp>
      <p:sp>
        <p:nvSpPr>
          <p:cNvPr id="11" name="Shape 9"/>
          <p:cNvSpPr/>
          <p:nvPr/>
        </p:nvSpPr>
        <p:spPr>
          <a:xfrm>
            <a:off x="3291840" y="3520440"/>
            <a:ext cx="1143000" cy="438912"/>
          </a:xfrm>
          <a:prstGeom prst="rect">
            <a:avLst/>
          </a:prstGeom>
          <a:solidFill>
            <a:srgbClr val="0A2559"/>
          </a:solidFill>
          <a:ln w="12700">
            <a:solidFill>
              <a:srgbClr val="0A2559"/>
            </a:solidFill>
            <a:prstDash val="solid"/>
          </a:ln>
        </p:spPr>
      </p:sp>
      <p:sp>
        <p:nvSpPr>
          <p:cNvPr id="12" name="Text 10"/>
          <p:cNvSpPr/>
          <p:nvPr/>
        </p:nvSpPr>
        <p:spPr>
          <a:xfrm>
            <a:off x="3291840" y="3520440"/>
            <a:ext cx="1143000"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Aprobada</a:t>
            </a:r>
            <a:endParaRPr lang="en-US" sz="1000" dirty="0"/>
          </a:p>
        </p:txBody>
      </p:sp>
      <p:sp>
        <p:nvSpPr>
          <p:cNvPr id="13" name="Shape 11"/>
          <p:cNvSpPr/>
          <p:nvPr/>
        </p:nvSpPr>
        <p:spPr>
          <a:xfrm>
            <a:off x="4434840" y="3520440"/>
            <a:ext cx="1143000" cy="438912"/>
          </a:xfrm>
          <a:prstGeom prst="rect">
            <a:avLst/>
          </a:prstGeom>
          <a:solidFill>
            <a:srgbClr val="061834"/>
          </a:solidFill>
          <a:ln w="12700">
            <a:solidFill>
              <a:srgbClr val="061834"/>
            </a:solidFill>
            <a:prstDash val="solid"/>
          </a:ln>
        </p:spPr>
      </p:sp>
      <p:sp>
        <p:nvSpPr>
          <p:cNvPr id="14" name="Text 12"/>
          <p:cNvSpPr/>
          <p:nvPr/>
        </p:nvSpPr>
        <p:spPr>
          <a:xfrm>
            <a:off x="4434840" y="3520440"/>
            <a:ext cx="1143000"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Total</a:t>
            </a:r>
            <a:endParaRPr lang="en-US" sz="1000" dirty="0"/>
          </a:p>
        </p:txBody>
      </p:sp>
      <p:sp>
        <p:nvSpPr>
          <p:cNvPr id="15" name="Shape 13"/>
          <p:cNvSpPr/>
          <p:nvPr/>
        </p:nvSpPr>
        <p:spPr>
          <a:xfrm>
            <a:off x="822960" y="3959352"/>
            <a:ext cx="1325880" cy="438912"/>
          </a:xfrm>
          <a:prstGeom prst="rect">
            <a:avLst/>
          </a:prstGeom>
          <a:solidFill>
            <a:srgbClr val="0A2559"/>
          </a:solidFill>
          <a:ln w="12700">
            <a:solidFill>
              <a:srgbClr val="0A2559"/>
            </a:solidFill>
            <a:prstDash val="solid"/>
          </a:ln>
        </p:spPr>
      </p:sp>
      <p:sp>
        <p:nvSpPr>
          <p:cNvPr id="16" name="Text 14"/>
          <p:cNvSpPr/>
          <p:nvPr/>
        </p:nvSpPr>
        <p:spPr>
          <a:xfrm>
            <a:off x="822960" y="3959352"/>
            <a:ext cx="1325880" cy="438912"/>
          </a:xfrm>
          <a:prstGeom prst="rect">
            <a:avLst/>
          </a:prstGeom>
          <a:noFill/>
          <a:ln/>
        </p:spPr>
        <p:txBody>
          <a:bodyPr wrap="square" lIns="1270" tIns="1270" rIns="1270" bIns="127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Agencia</a:t>
            </a:r>
            <a:endParaRPr lang="en-US" sz="1000" dirty="0"/>
          </a:p>
        </p:txBody>
      </p:sp>
      <p:sp>
        <p:nvSpPr>
          <p:cNvPr id="17" name="Shape 15"/>
          <p:cNvSpPr/>
          <p:nvPr/>
        </p:nvSpPr>
        <p:spPr>
          <a:xfrm>
            <a:off x="2148840" y="3959352"/>
            <a:ext cx="1143000" cy="438912"/>
          </a:xfrm>
          <a:prstGeom prst="rect">
            <a:avLst/>
          </a:prstGeom>
          <a:solidFill>
            <a:srgbClr val="FFFFFF"/>
          </a:solidFill>
          <a:ln w="12700">
            <a:solidFill>
              <a:srgbClr val="D2DBEC"/>
            </a:solidFill>
            <a:prstDash val="solid"/>
          </a:ln>
        </p:spPr>
      </p:sp>
      <p:sp>
        <p:nvSpPr>
          <p:cNvPr id="18" name="Text 16"/>
          <p:cNvSpPr/>
          <p:nvPr/>
        </p:nvSpPr>
        <p:spPr>
          <a:xfrm>
            <a:off x="2148840" y="3959352"/>
            <a:ext cx="1143000" cy="438912"/>
          </a:xfrm>
          <a:prstGeom prst="rect">
            <a:avLst/>
          </a:prstGeom>
          <a:noFill/>
          <a:ln/>
        </p:spPr>
        <p:txBody>
          <a:bodyPr wrap="square" lIns="0" tIns="0" rIns="0" bIns="0" rtlCol="0" anchor="ctr"/>
          <a:lstStyle/>
          <a:p>
            <a:pPr algn="ctr" indent="0" marL="0">
              <a:buNone/>
            </a:pPr>
            <a:r>
              <a:rPr lang="en-US" sz="1500" b="1" dirty="0">
                <a:solidFill>
                  <a:srgbClr val="0A2559"/>
                </a:solidFill>
                <a:latin typeface="Calibri" pitchFamily="34" charset="0"/>
                <a:ea typeface="Calibri" pitchFamily="34" charset="-122"/>
                <a:cs typeface="Calibri" pitchFamily="34" charset="-120"/>
              </a:rPr>
              <a:t>40</a:t>
            </a:r>
            <a:endParaRPr lang="en-US" sz="1500" dirty="0"/>
          </a:p>
        </p:txBody>
      </p:sp>
      <p:sp>
        <p:nvSpPr>
          <p:cNvPr id="19" name="Shape 17"/>
          <p:cNvSpPr/>
          <p:nvPr/>
        </p:nvSpPr>
        <p:spPr>
          <a:xfrm>
            <a:off x="3291840" y="3959352"/>
            <a:ext cx="1143000" cy="438912"/>
          </a:xfrm>
          <a:prstGeom prst="rect">
            <a:avLst/>
          </a:prstGeom>
          <a:solidFill>
            <a:srgbClr val="FFFFFF"/>
          </a:solidFill>
          <a:ln w="12700">
            <a:solidFill>
              <a:srgbClr val="D2DBEC"/>
            </a:solidFill>
            <a:prstDash val="solid"/>
          </a:ln>
        </p:spPr>
      </p:sp>
      <p:sp>
        <p:nvSpPr>
          <p:cNvPr id="20" name="Text 18"/>
          <p:cNvSpPr/>
          <p:nvPr/>
        </p:nvSpPr>
        <p:spPr>
          <a:xfrm>
            <a:off x="3291840" y="3959352"/>
            <a:ext cx="1143000" cy="438912"/>
          </a:xfrm>
          <a:prstGeom prst="rect">
            <a:avLst/>
          </a:prstGeom>
          <a:noFill/>
          <a:ln/>
        </p:spPr>
        <p:txBody>
          <a:bodyPr wrap="square" lIns="0" tIns="0" rIns="0" bIns="0" rtlCol="0" anchor="ctr"/>
          <a:lstStyle/>
          <a:p>
            <a:pPr algn="ctr" indent="0" marL="0">
              <a:buNone/>
            </a:pPr>
            <a:r>
              <a:rPr lang="en-US" sz="1500" b="1" dirty="0">
                <a:solidFill>
                  <a:srgbClr val="0A2559"/>
                </a:solidFill>
                <a:latin typeface="Calibri" pitchFamily="34" charset="0"/>
                <a:ea typeface="Calibri" pitchFamily="34" charset="-122"/>
                <a:cs typeface="Calibri" pitchFamily="34" charset="-120"/>
              </a:rPr>
              <a:t>60</a:t>
            </a:r>
            <a:endParaRPr lang="en-US" sz="1500" dirty="0"/>
          </a:p>
        </p:txBody>
      </p:sp>
      <p:sp>
        <p:nvSpPr>
          <p:cNvPr id="21" name="Shape 19"/>
          <p:cNvSpPr/>
          <p:nvPr/>
        </p:nvSpPr>
        <p:spPr>
          <a:xfrm>
            <a:off x="4434840" y="3959352"/>
            <a:ext cx="1143000" cy="438912"/>
          </a:xfrm>
          <a:prstGeom prst="rect">
            <a:avLst/>
          </a:prstGeom>
          <a:solidFill>
            <a:srgbClr val="E9EEF8"/>
          </a:solidFill>
          <a:ln w="12700">
            <a:solidFill>
              <a:srgbClr val="D2DBEC"/>
            </a:solidFill>
            <a:prstDash val="solid"/>
          </a:ln>
        </p:spPr>
      </p:sp>
      <p:sp>
        <p:nvSpPr>
          <p:cNvPr id="22" name="Text 20"/>
          <p:cNvSpPr/>
          <p:nvPr/>
        </p:nvSpPr>
        <p:spPr>
          <a:xfrm>
            <a:off x="4434840" y="3959352"/>
            <a:ext cx="1143000" cy="438912"/>
          </a:xfrm>
          <a:prstGeom prst="rect">
            <a:avLst/>
          </a:prstGeom>
          <a:noFill/>
          <a:ln/>
        </p:spPr>
        <p:txBody>
          <a:bodyPr wrap="square" lIns="0" tIns="0" rIns="0" bIns="0" rtlCol="0" anchor="ctr"/>
          <a:lstStyle/>
          <a:p>
            <a:pPr algn="ctr" indent="0" marL="0">
              <a:buNone/>
            </a:pPr>
            <a:r>
              <a:rPr lang="en-US" sz="1500" b="1" dirty="0">
                <a:solidFill>
                  <a:srgbClr val="1A56E8"/>
                </a:solidFill>
                <a:latin typeface="Calibri" pitchFamily="34" charset="0"/>
                <a:ea typeface="Calibri" pitchFamily="34" charset="-122"/>
                <a:cs typeface="Calibri" pitchFamily="34" charset="-120"/>
              </a:rPr>
              <a:t>100</a:t>
            </a:r>
            <a:endParaRPr lang="en-US" sz="1500" dirty="0"/>
          </a:p>
        </p:txBody>
      </p:sp>
      <p:sp>
        <p:nvSpPr>
          <p:cNvPr id="23" name="Shape 21"/>
          <p:cNvSpPr/>
          <p:nvPr/>
        </p:nvSpPr>
        <p:spPr>
          <a:xfrm>
            <a:off x="822960" y="4398264"/>
            <a:ext cx="1325880" cy="438912"/>
          </a:xfrm>
          <a:prstGeom prst="rect">
            <a:avLst/>
          </a:prstGeom>
          <a:solidFill>
            <a:srgbClr val="0A2559"/>
          </a:solidFill>
          <a:ln w="12700">
            <a:solidFill>
              <a:srgbClr val="0A2559"/>
            </a:solidFill>
            <a:prstDash val="solid"/>
          </a:ln>
        </p:spPr>
      </p:sp>
      <p:sp>
        <p:nvSpPr>
          <p:cNvPr id="24" name="Text 22"/>
          <p:cNvSpPr/>
          <p:nvPr/>
        </p:nvSpPr>
        <p:spPr>
          <a:xfrm>
            <a:off x="822960" y="4398264"/>
            <a:ext cx="1325880" cy="438912"/>
          </a:xfrm>
          <a:prstGeom prst="rect">
            <a:avLst/>
          </a:prstGeom>
          <a:noFill/>
          <a:ln/>
        </p:spPr>
        <p:txBody>
          <a:bodyPr wrap="square" lIns="1270" tIns="1270" rIns="1270" bIns="127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App</a:t>
            </a:r>
            <a:endParaRPr lang="en-US" sz="1000" dirty="0"/>
          </a:p>
        </p:txBody>
      </p:sp>
      <p:sp>
        <p:nvSpPr>
          <p:cNvPr id="25" name="Shape 23"/>
          <p:cNvSpPr/>
          <p:nvPr/>
        </p:nvSpPr>
        <p:spPr>
          <a:xfrm>
            <a:off x="2148840" y="4398264"/>
            <a:ext cx="1143000" cy="438912"/>
          </a:xfrm>
          <a:prstGeom prst="rect">
            <a:avLst/>
          </a:prstGeom>
          <a:solidFill>
            <a:srgbClr val="FFFFFF"/>
          </a:solidFill>
          <a:ln w="12700">
            <a:solidFill>
              <a:srgbClr val="D2DBEC"/>
            </a:solidFill>
            <a:prstDash val="solid"/>
          </a:ln>
        </p:spPr>
      </p:sp>
      <p:sp>
        <p:nvSpPr>
          <p:cNvPr id="26" name="Text 24"/>
          <p:cNvSpPr/>
          <p:nvPr/>
        </p:nvSpPr>
        <p:spPr>
          <a:xfrm>
            <a:off x="2148840" y="4398264"/>
            <a:ext cx="1143000" cy="438912"/>
          </a:xfrm>
          <a:prstGeom prst="rect">
            <a:avLst/>
          </a:prstGeom>
          <a:noFill/>
          <a:ln/>
        </p:spPr>
        <p:txBody>
          <a:bodyPr wrap="square" lIns="0" tIns="0" rIns="0" bIns="0" rtlCol="0" anchor="ctr"/>
          <a:lstStyle/>
          <a:p>
            <a:pPr algn="ctr" indent="0" marL="0">
              <a:buNone/>
            </a:pPr>
            <a:r>
              <a:rPr lang="en-US" sz="1500" b="1" dirty="0">
                <a:solidFill>
                  <a:srgbClr val="0A2559"/>
                </a:solidFill>
                <a:latin typeface="Calibri" pitchFamily="34" charset="0"/>
                <a:ea typeface="Calibri" pitchFamily="34" charset="-122"/>
                <a:cs typeface="Calibri" pitchFamily="34" charset="-120"/>
              </a:rPr>
              <a:t>20</a:t>
            </a:r>
            <a:endParaRPr lang="en-US" sz="1500" dirty="0"/>
          </a:p>
        </p:txBody>
      </p:sp>
      <p:sp>
        <p:nvSpPr>
          <p:cNvPr id="27" name="Shape 25"/>
          <p:cNvSpPr/>
          <p:nvPr/>
        </p:nvSpPr>
        <p:spPr>
          <a:xfrm>
            <a:off x="3291840" y="4398264"/>
            <a:ext cx="1143000" cy="438912"/>
          </a:xfrm>
          <a:prstGeom prst="rect">
            <a:avLst/>
          </a:prstGeom>
          <a:solidFill>
            <a:srgbClr val="FFFFFF"/>
          </a:solidFill>
          <a:ln w="12700">
            <a:solidFill>
              <a:srgbClr val="D2DBEC"/>
            </a:solidFill>
            <a:prstDash val="solid"/>
          </a:ln>
        </p:spPr>
      </p:sp>
      <p:sp>
        <p:nvSpPr>
          <p:cNvPr id="28" name="Text 26"/>
          <p:cNvSpPr/>
          <p:nvPr/>
        </p:nvSpPr>
        <p:spPr>
          <a:xfrm>
            <a:off x="3291840" y="4398264"/>
            <a:ext cx="1143000" cy="438912"/>
          </a:xfrm>
          <a:prstGeom prst="rect">
            <a:avLst/>
          </a:prstGeom>
          <a:noFill/>
          <a:ln/>
        </p:spPr>
        <p:txBody>
          <a:bodyPr wrap="square" lIns="0" tIns="0" rIns="0" bIns="0" rtlCol="0" anchor="ctr"/>
          <a:lstStyle/>
          <a:p>
            <a:pPr algn="ctr" indent="0" marL="0">
              <a:buNone/>
            </a:pPr>
            <a:r>
              <a:rPr lang="en-US" sz="1500" b="1" dirty="0">
                <a:solidFill>
                  <a:srgbClr val="0A2559"/>
                </a:solidFill>
                <a:latin typeface="Calibri" pitchFamily="34" charset="0"/>
                <a:ea typeface="Calibri" pitchFamily="34" charset="-122"/>
                <a:cs typeface="Calibri" pitchFamily="34" charset="-120"/>
              </a:rPr>
              <a:t>80</a:t>
            </a:r>
            <a:endParaRPr lang="en-US" sz="1500" dirty="0"/>
          </a:p>
        </p:txBody>
      </p:sp>
      <p:sp>
        <p:nvSpPr>
          <p:cNvPr id="29" name="Shape 27"/>
          <p:cNvSpPr/>
          <p:nvPr/>
        </p:nvSpPr>
        <p:spPr>
          <a:xfrm>
            <a:off x="4434840" y="4398264"/>
            <a:ext cx="1143000" cy="438912"/>
          </a:xfrm>
          <a:prstGeom prst="rect">
            <a:avLst/>
          </a:prstGeom>
          <a:solidFill>
            <a:srgbClr val="E9EEF8"/>
          </a:solidFill>
          <a:ln w="12700">
            <a:solidFill>
              <a:srgbClr val="D2DBEC"/>
            </a:solidFill>
            <a:prstDash val="solid"/>
          </a:ln>
        </p:spPr>
      </p:sp>
      <p:sp>
        <p:nvSpPr>
          <p:cNvPr id="30" name="Text 28"/>
          <p:cNvSpPr/>
          <p:nvPr/>
        </p:nvSpPr>
        <p:spPr>
          <a:xfrm>
            <a:off x="4434840" y="4398264"/>
            <a:ext cx="1143000" cy="438912"/>
          </a:xfrm>
          <a:prstGeom prst="rect">
            <a:avLst/>
          </a:prstGeom>
          <a:noFill/>
          <a:ln/>
        </p:spPr>
        <p:txBody>
          <a:bodyPr wrap="square" lIns="0" tIns="0" rIns="0" bIns="0" rtlCol="0" anchor="ctr"/>
          <a:lstStyle/>
          <a:p>
            <a:pPr algn="ctr" indent="0" marL="0">
              <a:buNone/>
            </a:pPr>
            <a:r>
              <a:rPr lang="en-US" sz="1500" b="1" dirty="0">
                <a:solidFill>
                  <a:srgbClr val="1A56E8"/>
                </a:solidFill>
                <a:latin typeface="Calibri" pitchFamily="34" charset="0"/>
                <a:ea typeface="Calibri" pitchFamily="34" charset="-122"/>
                <a:cs typeface="Calibri" pitchFamily="34" charset="-120"/>
              </a:rPr>
              <a:t>100</a:t>
            </a:r>
            <a:endParaRPr lang="en-US" sz="1500" dirty="0"/>
          </a:p>
        </p:txBody>
      </p:sp>
      <p:sp>
        <p:nvSpPr>
          <p:cNvPr id="31" name="Shape 29"/>
          <p:cNvSpPr/>
          <p:nvPr/>
        </p:nvSpPr>
        <p:spPr>
          <a:xfrm>
            <a:off x="822960" y="4837176"/>
            <a:ext cx="1325880" cy="438912"/>
          </a:xfrm>
          <a:prstGeom prst="rect">
            <a:avLst/>
          </a:prstGeom>
          <a:solidFill>
            <a:srgbClr val="061834"/>
          </a:solidFill>
          <a:ln w="12700">
            <a:solidFill>
              <a:srgbClr val="061834"/>
            </a:solidFill>
            <a:prstDash val="solid"/>
          </a:ln>
        </p:spPr>
      </p:sp>
      <p:sp>
        <p:nvSpPr>
          <p:cNvPr id="32" name="Text 30"/>
          <p:cNvSpPr/>
          <p:nvPr/>
        </p:nvSpPr>
        <p:spPr>
          <a:xfrm>
            <a:off x="822960" y="4837176"/>
            <a:ext cx="1325880" cy="438912"/>
          </a:xfrm>
          <a:prstGeom prst="rect">
            <a:avLst/>
          </a:prstGeom>
          <a:noFill/>
          <a:ln/>
        </p:spPr>
        <p:txBody>
          <a:bodyPr wrap="square" lIns="1270" tIns="1270" rIns="1270" bIns="127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Total</a:t>
            </a:r>
            <a:endParaRPr lang="en-US" sz="1000" dirty="0"/>
          </a:p>
        </p:txBody>
      </p:sp>
      <p:sp>
        <p:nvSpPr>
          <p:cNvPr id="33" name="Shape 31"/>
          <p:cNvSpPr/>
          <p:nvPr/>
        </p:nvSpPr>
        <p:spPr>
          <a:xfrm>
            <a:off x="2148840" y="4837176"/>
            <a:ext cx="1143000" cy="438912"/>
          </a:xfrm>
          <a:prstGeom prst="rect">
            <a:avLst/>
          </a:prstGeom>
          <a:solidFill>
            <a:srgbClr val="E9EEF8"/>
          </a:solidFill>
          <a:ln w="12700">
            <a:solidFill>
              <a:srgbClr val="D2DBEC"/>
            </a:solidFill>
            <a:prstDash val="solid"/>
          </a:ln>
        </p:spPr>
      </p:sp>
      <p:sp>
        <p:nvSpPr>
          <p:cNvPr id="34" name="Text 32"/>
          <p:cNvSpPr/>
          <p:nvPr/>
        </p:nvSpPr>
        <p:spPr>
          <a:xfrm>
            <a:off x="2148840" y="4837176"/>
            <a:ext cx="1143000" cy="438912"/>
          </a:xfrm>
          <a:prstGeom prst="rect">
            <a:avLst/>
          </a:prstGeom>
          <a:noFill/>
          <a:ln/>
        </p:spPr>
        <p:txBody>
          <a:bodyPr wrap="square" lIns="0" tIns="0" rIns="0" bIns="0" rtlCol="0" anchor="ctr"/>
          <a:lstStyle/>
          <a:p>
            <a:pPr algn="ctr" indent="0" marL="0">
              <a:buNone/>
            </a:pPr>
            <a:r>
              <a:rPr lang="en-US" sz="1500" b="1" dirty="0">
                <a:solidFill>
                  <a:srgbClr val="1A56E8"/>
                </a:solidFill>
                <a:latin typeface="Calibri" pitchFamily="34" charset="0"/>
                <a:ea typeface="Calibri" pitchFamily="34" charset="-122"/>
                <a:cs typeface="Calibri" pitchFamily="34" charset="-120"/>
              </a:rPr>
              <a:t>60</a:t>
            </a:r>
            <a:endParaRPr lang="en-US" sz="1500" dirty="0"/>
          </a:p>
        </p:txBody>
      </p:sp>
      <p:sp>
        <p:nvSpPr>
          <p:cNvPr id="35" name="Shape 33"/>
          <p:cNvSpPr/>
          <p:nvPr/>
        </p:nvSpPr>
        <p:spPr>
          <a:xfrm>
            <a:off x="3291840" y="4837176"/>
            <a:ext cx="1143000" cy="438912"/>
          </a:xfrm>
          <a:prstGeom prst="rect">
            <a:avLst/>
          </a:prstGeom>
          <a:solidFill>
            <a:srgbClr val="E9EEF8"/>
          </a:solidFill>
          <a:ln w="12700">
            <a:solidFill>
              <a:srgbClr val="D2DBEC"/>
            </a:solidFill>
            <a:prstDash val="solid"/>
          </a:ln>
        </p:spPr>
      </p:sp>
      <p:sp>
        <p:nvSpPr>
          <p:cNvPr id="36" name="Text 34"/>
          <p:cNvSpPr/>
          <p:nvPr/>
        </p:nvSpPr>
        <p:spPr>
          <a:xfrm>
            <a:off x="3291840" y="4837176"/>
            <a:ext cx="1143000" cy="438912"/>
          </a:xfrm>
          <a:prstGeom prst="rect">
            <a:avLst/>
          </a:prstGeom>
          <a:noFill/>
          <a:ln/>
        </p:spPr>
        <p:txBody>
          <a:bodyPr wrap="square" lIns="0" tIns="0" rIns="0" bIns="0" rtlCol="0" anchor="ctr"/>
          <a:lstStyle/>
          <a:p>
            <a:pPr algn="ctr" indent="0" marL="0">
              <a:buNone/>
            </a:pPr>
            <a:r>
              <a:rPr lang="en-US" sz="1500" b="1" dirty="0">
                <a:solidFill>
                  <a:srgbClr val="1A56E8"/>
                </a:solidFill>
                <a:latin typeface="Calibri" pitchFamily="34" charset="0"/>
                <a:ea typeface="Calibri" pitchFamily="34" charset="-122"/>
                <a:cs typeface="Calibri" pitchFamily="34" charset="-120"/>
              </a:rPr>
              <a:t>140</a:t>
            </a:r>
            <a:endParaRPr lang="en-US" sz="1500" dirty="0"/>
          </a:p>
        </p:txBody>
      </p:sp>
      <p:sp>
        <p:nvSpPr>
          <p:cNvPr id="37" name="Shape 35"/>
          <p:cNvSpPr/>
          <p:nvPr/>
        </p:nvSpPr>
        <p:spPr>
          <a:xfrm>
            <a:off x="4434840" y="4837176"/>
            <a:ext cx="1143000" cy="438912"/>
          </a:xfrm>
          <a:prstGeom prst="rect">
            <a:avLst/>
          </a:prstGeom>
          <a:solidFill>
            <a:srgbClr val="061834"/>
          </a:solidFill>
          <a:ln w="12700">
            <a:solidFill>
              <a:srgbClr val="061834"/>
            </a:solidFill>
            <a:prstDash val="solid"/>
          </a:ln>
        </p:spPr>
      </p:sp>
      <p:sp>
        <p:nvSpPr>
          <p:cNvPr id="38" name="Text 36"/>
          <p:cNvSpPr/>
          <p:nvPr/>
        </p:nvSpPr>
        <p:spPr>
          <a:xfrm>
            <a:off x="4434840" y="4837176"/>
            <a:ext cx="1143000"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200</a:t>
            </a:r>
            <a:endParaRPr lang="en-US" sz="1500" dirty="0"/>
          </a:p>
        </p:txBody>
      </p:sp>
      <p:sp>
        <p:nvSpPr>
          <p:cNvPr id="39" name="Text 37"/>
          <p:cNvSpPr/>
          <p:nvPr/>
        </p:nvSpPr>
        <p:spPr>
          <a:xfrm>
            <a:off x="5623560" y="4023360"/>
            <a:ext cx="731520" cy="640080"/>
          </a:xfrm>
          <a:prstGeom prst="rect">
            <a:avLst/>
          </a:prstGeom>
          <a:noFill/>
          <a:ln/>
        </p:spPr>
        <p:txBody>
          <a:bodyPr wrap="square" lIns="0" tIns="0" rIns="0" bIns="0" rtlCol="0" anchor="ctr"/>
          <a:lstStyle/>
          <a:p>
            <a:pPr algn="ctr" indent="0" marL="0">
              <a:buNone/>
            </a:pPr>
            <a:r>
              <a:rPr lang="en-US" sz="3400" b="1" dirty="0">
                <a:solidFill>
                  <a:srgbClr val="5B6B87"/>
                </a:solidFill>
                <a:latin typeface="Calibri" pitchFamily="34" charset="0"/>
                <a:ea typeface="Calibri" pitchFamily="34" charset="-122"/>
                <a:cs typeface="Calibri" pitchFamily="34" charset="-120"/>
              </a:rPr>
              <a:t>→</a:t>
            </a:r>
            <a:endParaRPr lang="en-US" sz="3400" dirty="0"/>
          </a:p>
        </p:txBody>
      </p:sp>
      <p:sp>
        <p:nvSpPr>
          <p:cNvPr id="40" name="Text 38"/>
          <p:cNvSpPr/>
          <p:nvPr/>
        </p:nvSpPr>
        <p:spPr>
          <a:xfrm>
            <a:off x="6720840" y="3200400"/>
            <a:ext cx="4754880" cy="274320"/>
          </a:xfrm>
          <a:prstGeom prst="rect">
            <a:avLst/>
          </a:prstGeom>
          <a:noFill/>
          <a:ln/>
        </p:spPr>
        <p:txBody>
          <a:bodyPr wrap="square" lIns="0" tIns="0" rIns="0" bIns="0" rtlCol="0" anchor="t"/>
          <a:lstStyle/>
          <a:p>
            <a:pPr algn="l" indent="0" marL="0">
              <a:lnSpc>
                <a:spcPct val="108000"/>
              </a:lnSpc>
              <a:buNone/>
            </a:pPr>
            <a:r>
              <a:rPr lang="en-US" sz="1250" b="1" dirty="0">
                <a:solidFill>
                  <a:srgbClr val="E6115E"/>
                </a:solidFill>
                <a:latin typeface="Calibri" pitchFamily="34" charset="0"/>
                <a:ea typeface="Calibri" pitchFamily="34" charset="-122"/>
                <a:cs typeface="Calibri" pitchFamily="34" charset="-120"/>
              </a:rPr>
              <a:t>Tabla ESPERADA  (si el canal no importara)</a:t>
            </a:r>
            <a:endParaRPr lang="en-US" sz="1250" dirty="0"/>
          </a:p>
        </p:txBody>
      </p:sp>
      <p:sp>
        <p:nvSpPr>
          <p:cNvPr id="41" name="Shape 39"/>
          <p:cNvSpPr/>
          <p:nvPr/>
        </p:nvSpPr>
        <p:spPr>
          <a:xfrm>
            <a:off x="7680960" y="3520440"/>
            <a:ext cx="1143000" cy="438912"/>
          </a:xfrm>
          <a:prstGeom prst="rect">
            <a:avLst/>
          </a:prstGeom>
          <a:solidFill>
            <a:srgbClr val="0A2559"/>
          </a:solidFill>
          <a:ln w="12700">
            <a:solidFill>
              <a:srgbClr val="0A2559"/>
            </a:solidFill>
            <a:prstDash val="solid"/>
          </a:ln>
        </p:spPr>
      </p:sp>
      <p:sp>
        <p:nvSpPr>
          <p:cNvPr id="42" name="Text 40"/>
          <p:cNvSpPr/>
          <p:nvPr/>
        </p:nvSpPr>
        <p:spPr>
          <a:xfrm>
            <a:off x="7680960" y="3520440"/>
            <a:ext cx="1143000"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Rechazada</a:t>
            </a:r>
            <a:endParaRPr lang="en-US" sz="1000" dirty="0"/>
          </a:p>
        </p:txBody>
      </p:sp>
      <p:sp>
        <p:nvSpPr>
          <p:cNvPr id="43" name="Shape 41"/>
          <p:cNvSpPr/>
          <p:nvPr/>
        </p:nvSpPr>
        <p:spPr>
          <a:xfrm>
            <a:off x="8823960" y="3520440"/>
            <a:ext cx="1143000" cy="438912"/>
          </a:xfrm>
          <a:prstGeom prst="rect">
            <a:avLst/>
          </a:prstGeom>
          <a:solidFill>
            <a:srgbClr val="0A2559"/>
          </a:solidFill>
          <a:ln w="12700">
            <a:solidFill>
              <a:srgbClr val="0A2559"/>
            </a:solidFill>
            <a:prstDash val="solid"/>
          </a:ln>
        </p:spPr>
      </p:sp>
      <p:sp>
        <p:nvSpPr>
          <p:cNvPr id="44" name="Text 42"/>
          <p:cNvSpPr/>
          <p:nvPr/>
        </p:nvSpPr>
        <p:spPr>
          <a:xfrm>
            <a:off x="8823960" y="3520440"/>
            <a:ext cx="1143000"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Aprobada</a:t>
            </a:r>
            <a:endParaRPr lang="en-US" sz="1000" dirty="0"/>
          </a:p>
        </p:txBody>
      </p:sp>
      <p:sp>
        <p:nvSpPr>
          <p:cNvPr id="45" name="Shape 43"/>
          <p:cNvSpPr/>
          <p:nvPr/>
        </p:nvSpPr>
        <p:spPr>
          <a:xfrm>
            <a:off x="9966960" y="3520440"/>
            <a:ext cx="1143000" cy="438912"/>
          </a:xfrm>
          <a:prstGeom prst="rect">
            <a:avLst/>
          </a:prstGeom>
          <a:solidFill>
            <a:srgbClr val="061834"/>
          </a:solidFill>
          <a:ln w="12700">
            <a:solidFill>
              <a:srgbClr val="061834"/>
            </a:solidFill>
            <a:prstDash val="solid"/>
          </a:ln>
        </p:spPr>
      </p:sp>
      <p:sp>
        <p:nvSpPr>
          <p:cNvPr id="46" name="Text 44"/>
          <p:cNvSpPr/>
          <p:nvPr/>
        </p:nvSpPr>
        <p:spPr>
          <a:xfrm>
            <a:off x="9966960" y="3520440"/>
            <a:ext cx="1143000"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Total</a:t>
            </a:r>
            <a:endParaRPr lang="en-US" sz="1000" dirty="0"/>
          </a:p>
        </p:txBody>
      </p:sp>
      <p:sp>
        <p:nvSpPr>
          <p:cNvPr id="47" name="Shape 45"/>
          <p:cNvSpPr/>
          <p:nvPr/>
        </p:nvSpPr>
        <p:spPr>
          <a:xfrm>
            <a:off x="6355080" y="3959352"/>
            <a:ext cx="1325880" cy="438912"/>
          </a:xfrm>
          <a:prstGeom prst="rect">
            <a:avLst/>
          </a:prstGeom>
          <a:solidFill>
            <a:srgbClr val="0A2559"/>
          </a:solidFill>
          <a:ln w="12700">
            <a:solidFill>
              <a:srgbClr val="0A2559"/>
            </a:solidFill>
            <a:prstDash val="solid"/>
          </a:ln>
        </p:spPr>
      </p:sp>
      <p:sp>
        <p:nvSpPr>
          <p:cNvPr id="48" name="Text 46"/>
          <p:cNvSpPr/>
          <p:nvPr/>
        </p:nvSpPr>
        <p:spPr>
          <a:xfrm>
            <a:off x="6355080" y="3959352"/>
            <a:ext cx="1325880" cy="438912"/>
          </a:xfrm>
          <a:prstGeom prst="rect">
            <a:avLst/>
          </a:prstGeom>
          <a:noFill/>
          <a:ln/>
        </p:spPr>
        <p:txBody>
          <a:bodyPr wrap="square" lIns="1270" tIns="1270" rIns="1270" bIns="127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Agencia</a:t>
            </a:r>
            <a:endParaRPr lang="en-US" sz="1000" dirty="0"/>
          </a:p>
        </p:txBody>
      </p:sp>
      <p:sp>
        <p:nvSpPr>
          <p:cNvPr id="49" name="Shape 47"/>
          <p:cNvSpPr/>
          <p:nvPr/>
        </p:nvSpPr>
        <p:spPr>
          <a:xfrm>
            <a:off x="7680960" y="3959352"/>
            <a:ext cx="1143000" cy="438912"/>
          </a:xfrm>
          <a:prstGeom prst="rect">
            <a:avLst/>
          </a:prstGeom>
          <a:solidFill>
            <a:srgbClr val="FFFFFF"/>
          </a:solidFill>
          <a:ln w="12700">
            <a:solidFill>
              <a:srgbClr val="D2DBEC"/>
            </a:solidFill>
            <a:prstDash val="solid"/>
          </a:ln>
        </p:spPr>
      </p:sp>
      <p:sp>
        <p:nvSpPr>
          <p:cNvPr id="50" name="Text 48"/>
          <p:cNvSpPr/>
          <p:nvPr/>
        </p:nvSpPr>
        <p:spPr>
          <a:xfrm>
            <a:off x="7680960" y="3959352"/>
            <a:ext cx="1143000" cy="438912"/>
          </a:xfrm>
          <a:prstGeom prst="rect">
            <a:avLst/>
          </a:prstGeom>
          <a:noFill/>
          <a:ln/>
        </p:spPr>
        <p:txBody>
          <a:bodyPr wrap="square" lIns="0" tIns="0" rIns="0" bIns="0" rtlCol="0" anchor="ctr"/>
          <a:lstStyle/>
          <a:p>
            <a:pPr algn="ctr" indent="0" marL="0">
              <a:buNone/>
            </a:pPr>
            <a:r>
              <a:rPr lang="en-US" sz="1500" b="1" dirty="0">
                <a:solidFill>
                  <a:srgbClr val="0A2559"/>
                </a:solidFill>
                <a:latin typeface="Calibri" pitchFamily="34" charset="0"/>
                <a:ea typeface="Calibri" pitchFamily="34" charset="-122"/>
                <a:cs typeface="Calibri" pitchFamily="34" charset="-120"/>
              </a:rPr>
              <a:t>30</a:t>
            </a:r>
            <a:endParaRPr lang="en-US" sz="1500" dirty="0"/>
          </a:p>
        </p:txBody>
      </p:sp>
      <p:sp>
        <p:nvSpPr>
          <p:cNvPr id="51" name="Shape 49"/>
          <p:cNvSpPr/>
          <p:nvPr/>
        </p:nvSpPr>
        <p:spPr>
          <a:xfrm>
            <a:off x="8823960" y="3959352"/>
            <a:ext cx="1143000" cy="438912"/>
          </a:xfrm>
          <a:prstGeom prst="rect">
            <a:avLst/>
          </a:prstGeom>
          <a:solidFill>
            <a:srgbClr val="FFFFFF"/>
          </a:solidFill>
          <a:ln w="12700">
            <a:solidFill>
              <a:srgbClr val="D2DBEC"/>
            </a:solidFill>
            <a:prstDash val="solid"/>
          </a:ln>
        </p:spPr>
      </p:sp>
      <p:sp>
        <p:nvSpPr>
          <p:cNvPr id="52" name="Text 50"/>
          <p:cNvSpPr/>
          <p:nvPr/>
        </p:nvSpPr>
        <p:spPr>
          <a:xfrm>
            <a:off x="8823960" y="3959352"/>
            <a:ext cx="1143000" cy="438912"/>
          </a:xfrm>
          <a:prstGeom prst="rect">
            <a:avLst/>
          </a:prstGeom>
          <a:noFill/>
          <a:ln/>
        </p:spPr>
        <p:txBody>
          <a:bodyPr wrap="square" lIns="0" tIns="0" rIns="0" bIns="0" rtlCol="0" anchor="ctr"/>
          <a:lstStyle/>
          <a:p>
            <a:pPr algn="ctr" indent="0" marL="0">
              <a:buNone/>
            </a:pPr>
            <a:r>
              <a:rPr lang="en-US" sz="1500" b="1" dirty="0">
                <a:solidFill>
                  <a:srgbClr val="0A2559"/>
                </a:solidFill>
                <a:latin typeface="Calibri" pitchFamily="34" charset="0"/>
                <a:ea typeface="Calibri" pitchFamily="34" charset="-122"/>
                <a:cs typeface="Calibri" pitchFamily="34" charset="-120"/>
              </a:rPr>
              <a:t>70</a:t>
            </a:r>
            <a:endParaRPr lang="en-US" sz="1500" dirty="0"/>
          </a:p>
        </p:txBody>
      </p:sp>
      <p:sp>
        <p:nvSpPr>
          <p:cNvPr id="53" name="Shape 51"/>
          <p:cNvSpPr/>
          <p:nvPr/>
        </p:nvSpPr>
        <p:spPr>
          <a:xfrm>
            <a:off x="9966960" y="3959352"/>
            <a:ext cx="1143000" cy="438912"/>
          </a:xfrm>
          <a:prstGeom prst="rect">
            <a:avLst/>
          </a:prstGeom>
          <a:solidFill>
            <a:srgbClr val="E9EEF8"/>
          </a:solidFill>
          <a:ln w="12700">
            <a:solidFill>
              <a:srgbClr val="D2DBEC"/>
            </a:solidFill>
            <a:prstDash val="solid"/>
          </a:ln>
        </p:spPr>
      </p:sp>
      <p:sp>
        <p:nvSpPr>
          <p:cNvPr id="54" name="Text 52"/>
          <p:cNvSpPr/>
          <p:nvPr/>
        </p:nvSpPr>
        <p:spPr>
          <a:xfrm>
            <a:off x="9966960" y="3959352"/>
            <a:ext cx="1143000" cy="438912"/>
          </a:xfrm>
          <a:prstGeom prst="rect">
            <a:avLst/>
          </a:prstGeom>
          <a:noFill/>
          <a:ln/>
        </p:spPr>
        <p:txBody>
          <a:bodyPr wrap="square" lIns="0" tIns="0" rIns="0" bIns="0" rtlCol="0" anchor="ctr"/>
          <a:lstStyle/>
          <a:p>
            <a:pPr algn="ctr" indent="0" marL="0">
              <a:buNone/>
            </a:pPr>
            <a:r>
              <a:rPr lang="en-US" sz="1500" b="1" dirty="0">
                <a:solidFill>
                  <a:srgbClr val="E6115E"/>
                </a:solidFill>
                <a:latin typeface="Calibri" pitchFamily="34" charset="0"/>
                <a:ea typeface="Calibri" pitchFamily="34" charset="-122"/>
                <a:cs typeface="Calibri" pitchFamily="34" charset="-120"/>
              </a:rPr>
              <a:t>100</a:t>
            </a:r>
            <a:endParaRPr lang="en-US" sz="1500" dirty="0"/>
          </a:p>
        </p:txBody>
      </p:sp>
      <p:sp>
        <p:nvSpPr>
          <p:cNvPr id="55" name="Shape 53"/>
          <p:cNvSpPr/>
          <p:nvPr/>
        </p:nvSpPr>
        <p:spPr>
          <a:xfrm>
            <a:off x="6355080" y="4398264"/>
            <a:ext cx="1325880" cy="438912"/>
          </a:xfrm>
          <a:prstGeom prst="rect">
            <a:avLst/>
          </a:prstGeom>
          <a:solidFill>
            <a:srgbClr val="0A2559"/>
          </a:solidFill>
          <a:ln w="12700">
            <a:solidFill>
              <a:srgbClr val="0A2559"/>
            </a:solidFill>
            <a:prstDash val="solid"/>
          </a:ln>
        </p:spPr>
      </p:sp>
      <p:sp>
        <p:nvSpPr>
          <p:cNvPr id="56" name="Text 54"/>
          <p:cNvSpPr/>
          <p:nvPr/>
        </p:nvSpPr>
        <p:spPr>
          <a:xfrm>
            <a:off x="6355080" y="4398264"/>
            <a:ext cx="1325880" cy="438912"/>
          </a:xfrm>
          <a:prstGeom prst="rect">
            <a:avLst/>
          </a:prstGeom>
          <a:noFill/>
          <a:ln/>
        </p:spPr>
        <p:txBody>
          <a:bodyPr wrap="square" lIns="1270" tIns="1270" rIns="1270" bIns="127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App</a:t>
            </a:r>
            <a:endParaRPr lang="en-US" sz="1000" dirty="0"/>
          </a:p>
        </p:txBody>
      </p:sp>
      <p:sp>
        <p:nvSpPr>
          <p:cNvPr id="57" name="Shape 55"/>
          <p:cNvSpPr/>
          <p:nvPr/>
        </p:nvSpPr>
        <p:spPr>
          <a:xfrm>
            <a:off x="7680960" y="4398264"/>
            <a:ext cx="1143000" cy="438912"/>
          </a:xfrm>
          <a:prstGeom prst="rect">
            <a:avLst/>
          </a:prstGeom>
          <a:solidFill>
            <a:srgbClr val="FFFFFF"/>
          </a:solidFill>
          <a:ln w="12700">
            <a:solidFill>
              <a:srgbClr val="D2DBEC"/>
            </a:solidFill>
            <a:prstDash val="solid"/>
          </a:ln>
        </p:spPr>
      </p:sp>
      <p:sp>
        <p:nvSpPr>
          <p:cNvPr id="58" name="Text 56"/>
          <p:cNvSpPr/>
          <p:nvPr/>
        </p:nvSpPr>
        <p:spPr>
          <a:xfrm>
            <a:off x="7680960" y="4398264"/>
            <a:ext cx="1143000" cy="438912"/>
          </a:xfrm>
          <a:prstGeom prst="rect">
            <a:avLst/>
          </a:prstGeom>
          <a:noFill/>
          <a:ln/>
        </p:spPr>
        <p:txBody>
          <a:bodyPr wrap="square" lIns="0" tIns="0" rIns="0" bIns="0" rtlCol="0" anchor="ctr"/>
          <a:lstStyle/>
          <a:p>
            <a:pPr algn="ctr" indent="0" marL="0">
              <a:buNone/>
            </a:pPr>
            <a:r>
              <a:rPr lang="en-US" sz="1500" b="1" dirty="0">
                <a:solidFill>
                  <a:srgbClr val="0A2559"/>
                </a:solidFill>
                <a:latin typeface="Calibri" pitchFamily="34" charset="0"/>
                <a:ea typeface="Calibri" pitchFamily="34" charset="-122"/>
                <a:cs typeface="Calibri" pitchFamily="34" charset="-120"/>
              </a:rPr>
              <a:t>30</a:t>
            </a:r>
            <a:endParaRPr lang="en-US" sz="1500" dirty="0"/>
          </a:p>
        </p:txBody>
      </p:sp>
      <p:sp>
        <p:nvSpPr>
          <p:cNvPr id="59" name="Shape 57"/>
          <p:cNvSpPr/>
          <p:nvPr/>
        </p:nvSpPr>
        <p:spPr>
          <a:xfrm>
            <a:off x="8823960" y="4398264"/>
            <a:ext cx="1143000" cy="438912"/>
          </a:xfrm>
          <a:prstGeom prst="rect">
            <a:avLst/>
          </a:prstGeom>
          <a:solidFill>
            <a:srgbClr val="FFFFFF"/>
          </a:solidFill>
          <a:ln w="12700">
            <a:solidFill>
              <a:srgbClr val="D2DBEC"/>
            </a:solidFill>
            <a:prstDash val="solid"/>
          </a:ln>
        </p:spPr>
      </p:sp>
      <p:sp>
        <p:nvSpPr>
          <p:cNvPr id="60" name="Text 58"/>
          <p:cNvSpPr/>
          <p:nvPr/>
        </p:nvSpPr>
        <p:spPr>
          <a:xfrm>
            <a:off x="8823960" y="4398264"/>
            <a:ext cx="1143000" cy="438912"/>
          </a:xfrm>
          <a:prstGeom prst="rect">
            <a:avLst/>
          </a:prstGeom>
          <a:noFill/>
          <a:ln/>
        </p:spPr>
        <p:txBody>
          <a:bodyPr wrap="square" lIns="0" tIns="0" rIns="0" bIns="0" rtlCol="0" anchor="ctr"/>
          <a:lstStyle/>
          <a:p>
            <a:pPr algn="ctr" indent="0" marL="0">
              <a:buNone/>
            </a:pPr>
            <a:r>
              <a:rPr lang="en-US" sz="1500" b="1" dirty="0">
                <a:solidFill>
                  <a:srgbClr val="0A2559"/>
                </a:solidFill>
                <a:latin typeface="Calibri" pitchFamily="34" charset="0"/>
                <a:ea typeface="Calibri" pitchFamily="34" charset="-122"/>
                <a:cs typeface="Calibri" pitchFamily="34" charset="-120"/>
              </a:rPr>
              <a:t>70</a:t>
            </a:r>
            <a:endParaRPr lang="en-US" sz="1500" dirty="0"/>
          </a:p>
        </p:txBody>
      </p:sp>
      <p:sp>
        <p:nvSpPr>
          <p:cNvPr id="61" name="Shape 59"/>
          <p:cNvSpPr/>
          <p:nvPr/>
        </p:nvSpPr>
        <p:spPr>
          <a:xfrm>
            <a:off x="9966960" y="4398264"/>
            <a:ext cx="1143000" cy="438912"/>
          </a:xfrm>
          <a:prstGeom prst="rect">
            <a:avLst/>
          </a:prstGeom>
          <a:solidFill>
            <a:srgbClr val="E9EEF8"/>
          </a:solidFill>
          <a:ln w="12700">
            <a:solidFill>
              <a:srgbClr val="D2DBEC"/>
            </a:solidFill>
            <a:prstDash val="solid"/>
          </a:ln>
        </p:spPr>
      </p:sp>
      <p:sp>
        <p:nvSpPr>
          <p:cNvPr id="62" name="Text 60"/>
          <p:cNvSpPr/>
          <p:nvPr/>
        </p:nvSpPr>
        <p:spPr>
          <a:xfrm>
            <a:off x="9966960" y="4398264"/>
            <a:ext cx="1143000" cy="438912"/>
          </a:xfrm>
          <a:prstGeom prst="rect">
            <a:avLst/>
          </a:prstGeom>
          <a:noFill/>
          <a:ln/>
        </p:spPr>
        <p:txBody>
          <a:bodyPr wrap="square" lIns="0" tIns="0" rIns="0" bIns="0" rtlCol="0" anchor="ctr"/>
          <a:lstStyle/>
          <a:p>
            <a:pPr algn="ctr" indent="0" marL="0">
              <a:buNone/>
            </a:pPr>
            <a:r>
              <a:rPr lang="en-US" sz="1500" b="1" dirty="0">
                <a:solidFill>
                  <a:srgbClr val="E6115E"/>
                </a:solidFill>
                <a:latin typeface="Calibri" pitchFamily="34" charset="0"/>
                <a:ea typeface="Calibri" pitchFamily="34" charset="-122"/>
                <a:cs typeface="Calibri" pitchFamily="34" charset="-120"/>
              </a:rPr>
              <a:t>100</a:t>
            </a:r>
            <a:endParaRPr lang="en-US" sz="1500" dirty="0"/>
          </a:p>
        </p:txBody>
      </p:sp>
      <p:sp>
        <p:nvSpPr>
          <p:cNvPr id="63" name="Shape 61"/>
          <p:cNvSpPr/>
          <p:nvPr/>
        </p:nvSpPr>
        <p:spPr>
          <a:xfrm>
            <a:off x="6355080" y="4837176"/>
            <a:ext cx="1325880" cy="438912"/>
          </a:xfrm>
          <a:prstGeom prst="rect">
            <a:avLst/>
          </a:prstGeom>
          <a:solidFill>
            <a:srgbClr val="061834"/>
          </a:solidFill>
          <a:ln w="12700">
            <a:solidFill>
              <a:srgbClr val="061834"/>
            </a:solidFill>
            <a:prstDash val="solid"/>
          </a:ln>
        </p:spPr>
      </p:sp>
      <p:sp>
        <p:nvSpPr>
          <p:cNvPr id="64" name="Text 62"/>
          <p:cNvSpPr/>
          <p:nvPr/>
        </p:nvSpPr>
        <p:spPr>
          <a:xfrm>
            <a:off x="6355080" y="4837176"/>
            <a:ext cx="1325880" cy="438912"/>
          </a:xfrm>
          <a:prstGeom prst="rect">
            <a:avLst/>
          </a:prstGeom>
          <a:noFill/>
          <a:ln/>
        </p:spPr>
        <p:txBody>
          <a:bodyPr wrap="square" lIns="1270" tIns="1270" rIns="1270" bIns="127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Total</a:t>
            </a:r>
            <a:endParaRPr lang="en-US" sz="1000" dirty="0"/>
          </a:p>
        </p:txBody>
      </p:sp>
      <p:sp>
        <p:nvSpPr>
          <p:cNvPr id="65" name="Shape 63"/>
          <p:cNvSpPr/>
          <p:nvPr/>
        </p:nvSpPr>
        <p:spPr>
          <a:xfrm>
            <a:off x="7680960" y="4837176"/>
            <a:ext cx="1143000" cy="438912"/>
          </a:xfrm>
          <a:prstGeom prst="rect">
            <a:avLst/>
          </a:prstGeom>
          <a:solidFill>
            <a:srgbClr val="E9EEF8"/>
          </a:solidFill>
          <a:ln w="12700">
            <a:solidFill>
              <a:srgbClr val="D2DBEC"/>
            </a:solidFill>
            <a:prstDash val="solid"/>
          </a:ln>
        </p:spPr>
      </p:sp>
      <p:sp>
        <p:nvSpPr>
          <p:cNvPr id="66" name="Text 64"/>
          <p:cNvSpPr/>
          <p:nvPr/>
        </p:nvSpPr>
        <p:spPr>
          <a:xfrm>
            <a:off x="7680960" y="4837176"/>
            <a:ext cx="1143000" cy="438912"/>
          </a:xfrm>
          <a:prstGeom prst="rect">
            <a:avLst/>
          </a:prstGeom>
          <a:noFill/>
          <a:ln/>
        </p:spPr>
        <p:txBody>
          <a:bodyPr wrap="square" lIns="0" tIns="0" rIns="0" bIns="0" rtlCol="0" anchor="ctr"/>
          <a:lstStyle/>
          <a:p>
            <a:pPr algn="ctr" indent="0" marL="0">
              <a:buNone/>
            </a:pPr>
            <a:r>
              <a:rPr lang="en-US" sz="1500" b="1" dirty="0">
                <a:solidFill>
                  <a:srgbClr val="E6115E"/>
                </a:solidFill>
                <a:latin typeface="Calibri" pitchFamily="34" charset="0"/>
                <a:ea typeface="Calibri" pitchFamily="34" charset="-122"/>
                <a:cs typeface="Calibri" pitchFamily="34" charset="-120"/>
              </a:rPr>
              <a:t>60</a:t>
            </a:r>
            <a:endParaRPr lang="en-US" sz="1500" dirty="0"/>
          </a:p>
        </p:txBody>
      </p:sp>
      <p:sp>
        <p:nvSpPr>
          <p:cNvPr id="67" name="Shape 65"/>
          <p:cNvSpPr/>
          <p:nvPr/>
        </p:nvSpPr>
        <p:spPr>
          <a:xfrm>
            <a:off x="8823960" y="4837176"/>
            <a:ext cx="1143000" cy="438912"/>
          </a:xfrm>
          <a:prstGeom prst="rect">
            <a:avLst/>
          </a:prstGeom>
          <a:solidFill>
            <a:srgbClr val="E9EEF8"/>
          </a:solidFill>
          <a:ln w="12700">
            <a:solidFill>
              <a:srgbClr val="D2DBEC"/>
            </a:solidFill>
            <a:prstDash val="solid"/>
          </a:ln>
        </p:spPr>
      </p:sp>
      <p:sp>
        <p:nvSpPr>
          <p:cNvPr id="68" name="Text 66"/>
          <p:cNvSpPr/>
          <p:nvPr/>
        </p:nvSpPr>
        <p:spPr>
          <a:xfrm>
            <a:off x="8823960" y="4837176"/>
            <a:ext cx="1143000" cy="438912"/>
          </a:xfrm>
          <a:prstGeom prst="rect">
            <a:avLst/>
          </a:prstGeom>
          <a:noFill/>
          <a:ln/>
        </p:spPr>
        <p:txBody>
          <a:bodyPr wrap="square" lIns="0" tIns="0" rIns="0" bIns="0" rtlCol="0" anchor="ctr"/>
          <a:lstStyle/>
          <a:p>
            <a:pPr algn="ctr" indent="0" marL="0">
              <a:buNone/>
            </a:pPr>
            <a:r>
              <a:rPr lang="en-US" sz="1500" b="1" dirty="0">
                <a:solidFill>
                  <a:srgbClr val="E6115E"/>
                </a:solidFill>
                <a:latin typeface="Calibri" pitchFamily="34" charset="0"/>
                <a:ea typeface="Calibri" pitchFamily="34" charset="-122"/>
                <a:cs typeface="Calibri" pitchFamily="34" charset="-120"/>
              </a:rPr>
              <a:t>140</a:t>
            </a:r>
            <a:endParaRPr lang="en-US" sz="1500" dirty="0"/>
          </a:p>
        </p:txBody>
      </p:sp>
      <p:sp>
        <p:nvSpPr>
          <p:cNvPr id="69" name="Shape 67"/>
          <p:cNvSpPr/>
          <p:nvPr/>
        </p:nvSpPr>
        <p:spPr>
          <a:xfrm>
            <a:off x="9966960" y="4837176"/>
            <a:ext cx="1143000" cy="438912"/>
          </a:xfrm>
          <a:prstGeom prst="rect">
            <a:avLst/>
          </a:prstGeom>
          <a:solidFill>
            <a:srgbClr val="061834"/>
          </a:solidFill>
          <a:ln w="12700">
            <a:solidFill>
              <a:srgbClr val="061834"/>
            </a:solidFill>
            <a:prstDash val="solid"/>
          </a:ln>
        </p:spPr>
      </p:sp>
      <p:sp>
        <p:nvSpPr>
          <p:cNvPr id="70" name="Text 68"/>
          <p:cNvSpPr/>
          <p:nvPr/>
        </p:nvSpPr>
        <p:spPr>
          <a:xfrm>
            <a:off x="9966960" y="4837176"/>
            <a:ext cx="1143000"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200</a:t>
            </a:r>
            <a:endParaRPr lang="en-US" sz="1500" dirty="0"/>
          </a:p>
        </p:txBody>
      </p:sp>
      <p:sp>
        <p:nvSpPr>
          <p:cNvPr id="71" name="Shape 69"/>
          <p:cNvSpPr/>
          <p:nvPr/>
        </p:nvSpPr>
        <p:spPr>
          <a:xfrm>
            <a:off x="548640" y="5486400"/>
            <a:ext cx="11091672" cy="777240"/>
          </a:xfrm>
          <a:prstGeom prst="roundRect">
            <a:avLst>
              <a:gd name="adj" fmla="val 7059"/>
            </a:avLst>
          </a:prstGeom>
          <a:solidFill>
            <a:srgbClr val="E9EEF8"/>
          </a:solidFill>
          <a:ln w="12700">
            <a:solidFill>
              <a:srgbClr val="D2DBEC"/>
            </a:solidFill>
            <a:prstDash val="solid"/>
          </a:ln>
        </p:spPr>
      </p:sp>
      <p:sp>
        <p:nvSpPr>
          <p:cNvPr id="72" name="Text 70"/>
          <p:cNvSpPr/>
          <p:nvPr/>
        </p:nvSpPr>
        <p:spPr>
          <a:xfrm>
            <a:off x="822960" y="5486400"/>
            <a:ext cx="10607040" cy="777240"/>
          </a:xfrm>
          <a:prstGeom prst="rect">
            <a:avLst/>
          </a:prstGeom>
          <a:noFill/>
          <a:ln/>
        </p:spPr>
        <p:txBody>
          <a:bodyPr wrap="square" lIns="0" tIns="0" rIns="0" bIns="0" rtlCol="0" anchor="ctr"/>
          <a:lstStyle/>
          <a:p>
            <a:pPr algn="ctr" indent="0" marL="0">
              <a:lnSpc>
                <a:spcPct val="108000"/>
              </a:lnSpc>
              <a:buNone/>
            </a:pPr>
            <a:r>
              <a:rPr lang="en-US" sz="1250" dirty="0">
                <a:solidFill>
                  <a:srgbClr val="2C3A55"/>
                </a:solidFill>
                <a:latin typeface="Calibri" pitchFamily="34" charset="0"/>
                <a:ea typeface="Calibri" pitchFamily="34" charset="-122"/>
                <a:cs typeface="Calibri" pitchFamily="34" charset="-120"/>
              </a:rPr>
              <a:t>Cada canal tiene 100 solicitudes, y el 30 % de 100 es 30.  Por eso los dos esperan 30 rechazos y 70 aprobaciones.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BLOQUE 2</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La fórmula, que solo generaliza lo que ya hiciste</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Sirve para tablas de cualquier tamaño, no solo 2×2.</a:t>
            </a:r>
            <a:endParaRPr lang="en-US" sz="1400" dirty="0"/>
          </a:p>
        </p:txBody>
      </p:sp>
      <p:sp>
        <p:nvSpPr>
          <p:cNvPr id="6" name="Shape 4"/>
          <p:cNvSpPr/>
          <p:nvPr/>
        </p:nvSpPr>
        <p:spPr>
          <a:xfrm>
            <a:off x="548640" y="1965960"/>
            <a:ext cx="11091672" cy="914400"/>
          </a:xfrm>
          <a:prstGeom prst="roundRect">
            <a:avLst>
              <a:gd name="adj" fmla="val 6000"/>
            </a:avLst>
          </a:prstGeom>
          <a:solidFill>
            <a:srgbClr val="0A2559"/>
          </a:solidFill>
          <a:ln w="12700">
            <a:solidFill>
              <a:srgbClr val="0A2559"/>
            </a:solidFill>
            <a:prstDash val="solid"/>
          </a:ln>
        </p:spPr>
      </p:sp>
      <p:sp>
        <p:nvSpPr>
          <p:cNvPr id="7" name="Text 5"/>
          <p:cNvSpPr/>
          <p:nvPr/>
        </p:nvSpPr>
        <p:spPr>
          <a:xfrm>
            <a:off x="548640" y="1965960"/>
            <a:ext cx="11091672" cy="9144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esperado  =  ( total de la fila  ×  total de la columna )  /  n</a:t>
            </a:r>
            <a:endParaRPr lang="en-US" sz="2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3108960"/>
          <a:ext cx="6400800" cy="914400"/>
        </p:xfrm>
        <a:graphic>
          <a:graphicData uri="http://schemas.openxmlformats.org/drawingml/2006/table">
            <a:tbl>
              <a:tblPr/>
              <a:tblGrid>
                <a:gridCol w="2743200"/>
                <a:gridCol w="2194560"/>
                <a:gridCol w="1463040"/>
              </a:tblGrid>
              <a:tr h="40233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Casilla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Cuenta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Esperado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r>
              <a:tr h="402336">
                <a:tc>
                  <a:txBody>
                    <a:bodyPr/>
                    <a:lstStyle/>
                    <a:p>
                      <a:pPr indent="0" marL="0">
                        <a:buNone/>
                      </a:pPr>
                      <a:r>
                        <a:rPr lang="en-US" sz="1150" b="1" dirty="0">
                          <a:solidFill>
                            <a:srgbClr val="2C3A55"/>
                          </a:solidFill>
                          <a:latin typeface="Calibri" pitchFamily="34" charset="0"/>
                          <a:ea typeface="Calibri" pitchFamily="34" charset="-122"/>
                          <a:cs typeface="Calibri" pitchFamily="34" charset="-120"/>
                        </a:rPr>
                        <a:t>Agencia × Rechazada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100 × 60 / 200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E6115E"/>
                          </a:solidFill>
                          <a:latin typeface="Calibri" pitchFamily="34" charset="0"/>
                          <a:ea typeface="Calibri" pitchFamily="34" charset="-122"/>
                          <a:cs typeface="Calibri" pitchFamily="34" charset="-120"/>
                        </a:rPr>
                        <a:t>30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402336">
                <a:tc>
                  <a:txBody>
                    <a:bodyPr/>
                    <a:lstStyle/>
                    <a:p>
                      <a:pPr indent="0" marL="0">
                        <a:buNone/>
                      </a:pPr>
                      <a:r>
                        <a:rPr lang="en-US" sz="1150" b="1" dirty="0">
                          <a:solidFill>
                            <a:srgbClr val="2C3A55"/>
                          </a:solidFill>
                          <a:latin typeface="Calibri" pitchFamily="34" charset="0"/>
                          <a:ea typeface="Calibri" pitchFamily="34" charset="-122"/>
                          <a:cs typeface="Calibri" pitchFamily="34" charset="-120"/>
                        </a:rPr>
                        <a:t>Agencia × Aprobada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100 × 140 / 200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E6115E"/>
                          </a:solidFill>
                          <a:latin typeface="Calibri" pitchFamily="34" charset="0"/>
                          <a:ea typeface="Calibri" pitchFamily="34" charset="-122"/>
                          <a:cs typeface="Calibri" pitchFamily="34" charset="-120"/>
                        </a:rPr>
                        <a:t>70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402336">
                <a:tc>
                  <a:txBody>
                    <a:bodyPr/>
                    <a:lstStyle/>
                    <a:p>
                      <a:pPr indent="0" marL="0">
                        <a:buNone/>
                      </a:pPr>
                      <a:r>
                        <a:rPr lang="en-US" sz="1150" b="1" dirty="0">
                          <a:solidFill>
                            <a:srgbClr val="2C3A55"/>
                          </a:solidFill>
                          <a:latin typeface="Calibri" pitchFamily="34" charset="0"/>
                          <a:ea typeface="Calibri" pitchFamily="34" charset="-122"/>
                          <a:cs typeface="Calibri" pitchFamily="34" charset="-120"/>
                        </a:rPr>
                        <a:t>App × Rechazada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100 × 60 / 200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E6115E"/>
                          </a:solidFill>
                          <a:latin typeface="Calibri" pitchFamily="34" charset="0"/>
                          <a:ea typeface="Calibri" pitchFamily="34" charset="-122"/>
                          <a:cs typeface="Calibri" pitchFamily="34" charset="-120"/>
                        </a:rPr>
                        <a:t>30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402336">
                <a:tc>
                  <a:txBody>
                    <a:bodyPr/>
                    <a:lstStyle/>
                    <a:p>
                      <a:pPr indent="0" marL="0">
                        <a:buNone/>
                      </a:pPr>
                      <a:r>
                        <a:rPr lang="en-US" sz="1150" b="1" dirty="0">
                          <a:solidFill>
                            <a:srgbClr val="2C3A55"/>
                          </a:solidFill>
                          <a:latin typeface="Calibri" pitchFamily="34" charset="0"/>
                          <a:ea typeface="Calibri" pitchFamily="34" charset="-122"/>
                          <a:cs typeface="Calibri" pitchFamily="34" charset="-120"/>
                        </a:rPr>
                        <a:t>App × Aprobada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100 × 140 / 200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E6115E"/>
                          </a:solidFill>
                          <a:latin typeface="Calibri" pitchFamily="34" charset="0"/>
                          <a:ea typeface="Calibri" pitchFamily="34" charset="-122"/>
                          <a:cs typeface="Calibri" pitchFamily="34" charset="-120"/>
                        </a:rPr>
                        <a:t>70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bl>
          </a:graphicData>
        </a:graphic>
      </p:graphicFrame>
      <p:sp>
        <p:nvSpPr>
          <p:cNvPr id="9" name="Shape 6"/>
          <p:cNvSpPr/>
          <p:nvPr/>
        </p:nvSpPr>
        <p:spPr>
          <a:xfrm>
            <a:off x="7178040" y="3108960"/>
            <a:ext cx="4462272" cy="1417320"/>
          </a:xfrm>
          <a:prstGeom prst="roundRect">
            <a:avLst>
              <a:gd name="adj" fmla="val 3871"/>
            </a:avLst>
          </a:prstGeom>
          <a:solidFill>
            <a:srgbClr val="FFFFFF"/>
          </a:solidFill>
          <a:ln w="12700">
            <a:solidFill>
              <a:srgbClr val="D2DBEC"/>
            </a:solidFill>
            <a:prstDash val="solid"/>
          </a:ln>
        </p:spPr>
      </p:sp>
      <p:sp>
        <p:nvSpPr>
          <p:cNvPr id="10" name="Shape 7"/>
          <p:cNvSpPr/>
          <p:nvPr/>
        </p:nvSpPr>
        <p:spPr>
          <a:xfrm>
            <a:off x="7424928" y="3374136"/>
            <a:ext cx="118872" cy="118872"/>
          </a:xfrm>
          <a:prstGeom prst="roundRect">
            <a:avLst>
              <a:gd name="adj" fmla="val 30769"/>
            </a:avLst>
          </a:prstGeom>
          <a:solidFill>
            <a:srgbClr val="E6115E"/>
          </a:solidFill>
          <a:ln w="12700">
            <a:solidFill>
              <a:srgbClr val="E6115E"/>
            </a:solidFill>
            <a:prstDash val="solid"/>
          </a:ln>
        </p:spPr>
      </p:sp>
      <p:sp>
        <p:nvSpPr>
          <p:cNvPr id="11" name="Text 8"/>
          <p:cNvSpPr/>
          <p:nvPr/>
        </p:nvSpPr>
        <p:spPr>
          <a:xfrm>
            <a:off x="7662672" y="3273552"/>
            <a:ext cx="369417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Por qué funciona</a:t>
            </a:r>
            <a:endParaRPr lang="en-US" sz="1400" dirty="0"/>
          </a:p>
        </p:txBody>
      </p:sp>
      <p:sp>
        <p:nvSpPr>
          <p:cNvPr id="12" name="Text 9"/>
          <p:cNvSpPr/>
          <p:nvPr/>
        </p:nvSpPr>
        <p:spPr>
          <a:xfrm>
            <a:off x="7424928" y="3639312"/>
            <a:ext cx="3977640" cy="777240"/>
          </a:xfrm>
          <a:prstGeom prst="rect">
            <a:avLst/>
          </a:prstGeom>
          <a:noFill/>
          <a:ln/>
        </p:spPr>
        <p:txBody>
          <a:bodyPr wrap="square" lIns="0" tIns="0" rIns="0" bIns="0" rtlCol="0" anchor="t"/>
          <a:lstStyle/>
          <a:p>
            <a:pPr algn="l" indent="0" marL="0">
              <a:lnSpc>
                <a:spcPct val="110000"/>
              </a:lnSpc>
              <a:buNone/>
            </a:pPr>
            <a:r>
              <a:rPr lang="en-US" sz="1200" dirty="0">
                <a:solidFill>
                  <a:srgbClr val="2C3A55"/>
                </a:solidFill>
                <a:latin typeface="Calibri" pitchFamily="34" charset="0"/>
                <a:ea typeface="Calibri" pitchFamily="34" charset="-122"/>
                <a:cs typeface="Calibri" pitchFamily="34" charset="-120"/>
              </a:rPr>
              <a:t>«Total de la columna / n» es la proporción general de esa categoría. Al multiplicarla por el total de la fila, la repartes en esa fila.</a:t>
            </a:r>
            <a:endParaRPr lang="en-US" sz="1200" dirty="0"/>
          </a:p>
        </p:txBody>
      </p:sp>
      <p:sp>
        <p:nvSpPr>
          <p:cNvPr id="13" name="Shape 10"/>
          <p:cNvSpPr/>
          <p:nvPr/>
        </p:nvSpPr>
        <p:spPr>
          <a:xfrm>
            <a:off x="7178040" y="4663440"/>
            <a:ext cx="4462272" cy="1417320"/>
          </a:xfrm>
          <a:prstGeom prst="roundRect">
            <a:avLst>
              <a:gd name="adj" fmla="val 3871"/>
            </a:avLst>
          </a:prstGeom>
          <a:solidFill>
            <a:srgbClr val="E9EEF8"/>
          </a:solidFill>
          <a:ln w="12700">
            <a:solidFill>
              <a:srgbClr val="D2DBEC"/>
            </a:solidFill>
            <a:prstDash val="solid"/>
          </a:ln>
        </p:spPr>
      </p:sp>
      <p:sp>
        <p:nvSpPr>
          <p:cNvPr id="14" name="Shape 11"/>
          <p:cNvSpPr/>
          <p:nvPr/>
        </p:nvSpPr>
        <p:spPr>
          <a:xfrm>
            <a:off x="7424928" y="4928616"/>
            <a:ext cx="118872" cy="118872"/>
          </a:xfrm>
          <a:prstGeom prst="roundRect">
            <a:avLst>
              <a:gd name="adj" fmla="val 30769"/>
            </a:avLst>
          </a:prstGeom>
          <a:solidFill>
            <a:srgbClr val="E6115E"/>
          </a:solidFill>
          <a:ln w="12700">
            <a:solidFill>
              <a:srgbClr val="E6115E"/>
            </a:solidFill>
            <a:prstDash val="solid"/>
          </a:ln>
        </p:spPr>
      </p:sp>
      <p:sp>
        <p:nvSpPr>
          <p:cNvPr id="15" name="Text 12"/>
          <p:cNvSpPr/>
          <p:nvPr/>
        </p:nvSpPr>
        <p:spPr>
          <a:xfrm>
            <a:off x="7662672" y="4828032"/>
            <a:ext cx="369417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Comprobación rápida</a:t>
            </a:r>
            <a:endParaRPr lang="en-US" sz="1400" dirty="0"/>
          </a:p>
        </p:txBody>
      </p:sp>
      <p:sp>
        <p:nvSpPr>
          <p:cNvPr id="16" name="Text 13"/>
          <p:cNvSpPr/>
          <p:nvPr/>
        </p:nvSpPr>
        <p:spPr>
          <a:xfrm>
            <a:off x="7424928" y="5193792"/>
            <a:ext cx="3977640" cy="777240"/>
          </a:xfrm>
          <a:prstGeom prst="rect">
            <a:avLst/>
          </a:prstGeom>
          <a:noFill/>
          <a:ln/>
        </p:spPr>
        <p:txBody>
          <a:bodyPr wrap="square" lIns="0" tIns="0" rIns="0" bIns="0" rtlCol="0" anchor="t"/>
          <a:lstStyle/>
          <a:p>
            <a:pPr algn="l" indent="0" marL="0">
              <a:lnSpc>
                <a:spcPct val="110000"/>
              </a:lnSpc>
              <a:buNone/>
            </a:pPr>
            <a:r>
              <a:rPr lang="en-US" sz="1200" dirty="0">
                <a:solidFill>
                  <a:srgbClr val="2C3A55"/>
                </a:solidFill>
                <a:latin typeface="Calibri" pitchFamily="34" charset="0"/>
                <a:ea typeface="Calibri" pitchFamily="34" charset="-122"/>
                <a:cs typeface="Calibri" pitchFamily="34" charset="-120"/>
              </a:rPr>
              <a:t>Los totales de la tabla esperada deben ser IGUALES a los de la observada: 100, 100, 60, 140 y 200.</a:t>
            </a:r>
            <a:endParaRPr lang="en-US" sz="1200" dirty="0"/>
          </a:p>
          <a:p>
            <a:pPr algn="l" indent="0" marL="0">
              <a:lnSpc>
                <a:spcPct val="110000"/>
              </a:lnSpc>
              <a:buNone/>
            </a:pPr>
            <a:endParaRPr lang="en-US" sz="1200" dirty="0"/>
          </a:p>
          <a:p>
            <a:pPr algn="l" indent="0" marL="0">
              <a:lnSpc>
                <a:spcPct val="110000"/>
              </a:lnSpc>
              <a:buNone/>
            </a:pPr>
            <a:r>
              <a:rPr lang="en-US" sz="1200" dirty="0">
                <a:solidFill>
                  <a:srgbClr val="2C3A55"/>
                </a:solidFill>
                <a:latin typeface="Calibri" pitchFamily="34" charset="0"/>
                <a:ea typeface="Calibri" pitchFamily="34" charset="-122"/>
                <a:cs typeface="Calibri" pitchFamily="34" charset="-120"/>
              </a:rPr>
              <a:t>Si no cuadran, hay un error.</a:t>
            </a:r>
            <a:endParaRPr lang="en-US" sz="1200" dirty="0"/>
          </a:p>
        </p:txBody>
      </p:sp>
      <p:sp>
        <p:nvSpPr>
          <p:cNvPr id="17" name="Shape 14"/>
          <p:cNvSpPr/>
          <p:nvPr/>
        </p:nvSpPr>
        <p:spPr>
          <a:xfrm>
            <a:off x="548640" y="5138928"/>
            <a:ext cx="6400800" cy="960120"/>
          </a:xfrm>
          <a:prstGeom prst="roundRect">
            <a:avLst>
              <a:gd name="adj" fmla="val 5714"/>
            </a:avLst>
          </a:prstGeom>
          <a:solidFill>
            <a:srgbClr val="0A2559"/>
          </a:solidFill>
          <a:ln w="12700">
            <a:solidFill>
              <a:srgbClr val="0A2559"/>
            </a:solidFill>
            <a:prstDash val="solid"/>
          </a:ln>
        </p:spPr>
      </p:sp>
      <p:sp>
        <p:nvSpPr>
          <p:cNvPr id="18" name="Text 15"/>
          <p:cNvSpPr/>
          <p:nvPr/>
        </p:nvSpPr>
        <p:spPr>
          <a:xfrm>
            <a:off x="804672" y="5138928"/>
            <a:ext cx="5943600" cy="960120"/>
          </a:xfrm>
          <a:prstGeom prst="rect">
            <a:avLst/>
          </a:prstGeom>
          <a:noFill/>
          <a:ln/>
        </p:spPr>
        <p:txBody>
          <a:bodyPr wrap="square" lIns="0" tIns="0" rIns="0" bIns="0" rtlCol="0" anchor="ctr"/>
          <a:lstStyle/>
          <a:p>
            <a:pPr algn="l" indent="0" marL="0">
              <a:lnSpc>
                <a:spcPct val="110000"/>
              </a:lnSpc>
              <a:buNone/>
            </a:pPr>
            <a:r>
              <a:rPr lang="en-US" sz="1200" dirty="0">
                <a:solidFill>
                  <a:srgbClr val="C9D6F2"/>
                </a:solidFill>
                <a:latin typeface="Calibri" pitchFamily="34" charset="0"/>
                <a:ea typeface="Calibri" pitchFamily="34" charset="-122"/>
                <a:cs typeface="Calibri" pitchFamily="34" charset="-120"/>
              </a:rPr>
              <a:t>Nota: los esperados pueden salir con decimales, y está bien. No son personas, son un punto de comparación.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01168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01168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BLOQUE 3</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El χ²: cuánto se aleja lo real de lo esperado</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Una resta, un cuadrado, una división y una suma. Nada más.</a:t>
            </a:r>
            <a:endParaRPr lang="en-US" sz="1400" dirty="0"/>
          </a:p>
        </p:txBody>
      </p:sp>
      <p:sp>
        <p:nvSpPr>
          <p:cNvPr id="6" name="Shape 4"/>
          <p:cNvSpPr/>
          <p:nvPr/>
        </p:nvSpPr>
        <p:spPr>
          <a:xfrm>
            <a:off x="548640" y="1938528"/>
            <a:ext cx="11091672" cy="841248"/>
          </a:xfrm>
          <a:prstGeom prst="roundRect">
            <a:avLst>
              <a:gd name="adj" fmla="val 6522"/>
            </a:avLst>
          </a:prstGeom>
          <a:solidFill>
            <a:srgbClr val="0A2559"/>
          </a:solidFill>
          <a:ln w="12700">
            <a:solidFill>
              <a:srgbClr val="0A2559"/>
            </a:solidFill>
            <a:prstDash val="solid"/>
          </a:ln>
        </p:spPr>
      </p:sp>
      <p:sp>
        <p:nvSpPr>
          <p:cNvPr id="7" name="Text 5"/>
          <p:cNvSpPr/>
          <p:nvPr/>
        </p:nvSpPr>
        <p:spPr>
          <a:xfrm>
            <a:off x="548640" y="1938528"/>
            <a:ext cx="11091672" cy="84124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χ²  =  suma de   ( observado − esperado )²  /  esperado</a:t>
            </a:r>
            <a:endParaRPr lang="en-US" sz="2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3063240"/>
          <a:ext cx="11091672" cy="914400"/>
        </p:xfrm>
        <a:graphic>
          <a:graphicData uri="http://schemas.openxmlformats.org/drawingml/2006/table">
            <a:tbl>
              <a:tblPr/>
              <a:tblGrid>
                <a:gridCol w="3108960"/>
                <a:gridCol w="1645920"/>
                <a:gridCol w="1645920"/>
                <a:gridCol w="2468880"/>
                <a:gridCol w="2221992"/>
              </a:tblGrid>
              <a:tr h="38404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Casilla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Observado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Esperado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Cuenta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Aporte</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r>
              <a:tr h="384048">
                <a:tc>
                  <a:txBody>
                    <a:bodyPr/>
                    <a:lstStyle/>
                    <a:p>
                      <a:pPr indent="0" marL="0">
                        <a:buNone/>
                      </a:pPr>
                      <a:r>
                        <a:rPr lang="en-US" sz="1150" b="1" dirty="0">
                          <a:solidFill>
                            <a:srgbClr val="2C3A55"/>
                          </a:solidFill>
                          <a:latin typeface="Calibri" pitchFamily="34" charset="0"/>
                          <a:ea typeface="Calibri" pitchFamily="34" charset="-122"/>
                          <a:cs typeface="Calibri" pitchFamily="34" charset="-120"/>
                        </a:rPr>
                        <a:t>Agencia × Rechazada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40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30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(40 − 30)² / 30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E6115E"/>
                          </a:solidFill>
                          <a:latin typeface="Calibri" pitchFamily="34" charset="0"/>
                          <a:ea typeface="Calibri" pitchFamily="34" charset="-122"/>
                          <a:cs typeface="Calibri" pitchFamily="34" charset="-120"/>
                        </a:rPr>
                        <a:t>3.3333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384048">
                <a:tc>
                  <a:txBody>
                    <a:bodyPr/>
                    <a:lstStyle/>
                    <a:p>
                      <a:pPr indent="0" marL="0">
                        <a:buNone/>
                      </a:pPr>
                      <a:r>
                        <a:rPr lang="en-US" sz="1150" b="1" dirty="0">
                          <a:solidFill>
                            <a:srgbClr val="2C3A55"/>
                          </a:solidFill>
                          <a:latin typeface="Calibri" pitchFamily="34" charset="0"/>
                          <a:ea typeface="Calibri" pitchFamily="34" charset="-122"/>
                          <a:cs typeface="Calibri" pitchFamily="34" charset="-120"/>
                        </a:rPr>
                        <a:t>Agencia × Aprobada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60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70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(60 − 70)² / 70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C3A55"/>
                          </a:solidFill>
                          <a:latin typeface="Calibri" pitchFamily="34" charset="0"/>
                          <a:ea typeface="Calibri" pitchFamily="34" charset="-122"/>
                          <a:cs typeface="Calibri" pitchFamily="34" charset="-120"/>
                        </a:rPr>
                        <a:t>1.4286</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384048">
                <a:tc>
                  <a:txBody>
                    <a:bodyPr/>
                    <a:lstStyle/>
                    <a:p>
                      <a:pPr indent="0" marL="0">
                        <a:buNone/>
                      </a:pPr>
                      <a:r>
                        <a:rPr lang="en-US" sz="1150" b="1" dirty="0">
                          <a:solidFill>
                            <a:srgbClr val="2C3A55"/>
                          </a:solidFill>
                          <a:latin typeface="Calibri" pitchFamily="34" charset="0"/>
                          <a:ea typeface="Calibri" pitchFamily="34" charset="-122"/>
                          <a:cs typeface="Calibri" pitchFamily="34" charset="-120"/>
                        </a:rPr>
                        <a:t>App × Rechazada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30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(20 − 30)² / 30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E6115E"/>
                          </a:solidFill>
                          <a:latin typeface="Calibri" pitchFamily="34" charset="0"/>
                          <a:ea typeface="Calibri" pitchFamily="34" charset="-122"/>
                          <a:cs typeface="Calibri" pitchFamily="34" charset="-120"/>
                        </a:rPr>
                        <a:t>3.3333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384048">
                <a:tc>
                  <a:txBody>
                    <a:bodyPr/>
                    <a:lstStyle/>
                    <a:p>
                      <a:pPr indent="0" marL="0">
                        <a:buNone/>
                      </a:pPr>
                      <a:r>
                        <a:rPr lang="en-US" sz="1150" b="1" dirty="0">
                          <a:solidFill>
                            <a:srgbClr val="2C3A55"/>
                          </a:solidFill>
                          <a:latin typeface="Calibri" pitchFamily="34" charset="0"/>
                          <a:ea typeface="Calibri" pitchFamily="34" charset="-122"/>
                          <a:cs typeface="Calibri" pitchFamily="34" charset="-120"/>
                        </a:rPr>
                        <a:t>App × Aprobada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80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70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(80 − 70)² / 70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C3A55"/>
                          </a:solidFill>
                          <a:latin typeface="Calibri" pitchFamily="34" charset="0"/>
                          <a:ea typeface="Calibri" pitchFamily="34" charset="-122"/>
                          <a:cs typeface="Calibri" pitchFamily="34" charset="-120"/>
                        </a:rPr>
                        <a:t>1.4286</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384048">
                <a:tc>
                  <a:txBody>
                    <a:bodyPr/>
                    <a:lstStyle/>
                    <a:p>
                      <a:pPr indent="0" marL="0">
                        <a:buNone/>
                      </a:pPr>
                      <a:r>
                        <a:rPr lang="en-US" sz="1150" b="1" dirty="0">
                          <a:solidFill>
                            <a:srgbClr val="0A2559"/>
                          </a:solidFill>
                          <a:latin typeface="Calibri" pitchFamily="34" charset="0"/>
                          <a:ea typeface="Calibri" pitchFamily="34" charset="-122"/>
                          <a:cs typeface="Calibri" pitchFamily="34" charset="-120"/>
                        </a:rPr>
                        <a:t>SUMA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E6115E"/>
                          </a:solidFill>
                          <a:latin typeface="Calibri" pitchFamily="34" charset="0"/>
                          <a:ea typeface="Calibri" pitchFamily="34" charset="-122"/>
                          <a:cs typeface="Calibri" pitchFamily="34" charset="-120"/>
                        </a:rPr>
                        <a:t>9.5238</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bl>
          </a:graphicData>
        </a:graphic>
      </p:graphicFrame>
      <p:sp>
        <p:nvSpPr>
          <p:cNvPr id="9" name="Shape 6"/>
          <p:cNvSpPr/>
          <p:nvPr/>
        </p:nvSpPr>
        <p:spPr>
          <a:xfrm>
            <a:off x="548640" y="5532120"/>
            <a:ext cx="5468112" cy="868680"/>
          </a:xfrm>
          <a:prstGeom prst="roundRect">
            <a:avLst>
              <a:gd name="adj" fmla="val 6316"/>
            </a:avLst>
          </a:prstGeom>
          <a:solidFill>
            <a:srgbClr val="FFFFFF"/>
          </a:solidFill>
          <a:ln w="12700">
            <a:solidFill>
              <a:srgbClr val="D2DBEC"/>
            </a:solidFill>
            <a:prstDash val="solid"/>
          </a:ln>
        </p:spPr>
      </p:sp>
      <p:sp>
        <p:nvSpPr>
          <p:cNvPr id="10" name="Shape 7"/>
          <p:cNvSpPr/>
          <p:nvPr/>
        </p:nvSpPr>
        <p:spPr>
          <a:xfrm>
            <a:off x="804672" y="5751576"/>
            <a:ext cx="118872" cy="118872"/>
          </a:xfrm>
          <a:prstGeom prst="roundRect">
            <a:avLst>
              <a:gd name="adj" fmla="val 30769"/>
            </a:avLst>
          </a:prstGeom>
          <a:solidFill>
            <a:srgbClr val="E6115E"/>
          </a:solidFill>
          <a:ln w="12700">
            <a:solidFill>
              <a:srgbClr val="E6115E"/>
            </a:solidFill>
            <a:prstDash val="solid"/>
          </a:ln>
        </p:spPr>
      </p:sp>
      <p:sp>
        <p:nvSpPr>
          <p:cNvPr id="11" name="Text 8"/>
          <p:cNvSpPr/>
          <p:nvPr/>
        </p:nvSpPr>
        <p:spPr>
          <a:xfrm>
            <a:off x="1042416" y="5650992"/>
            <a:ext cx="479145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¿Por qué al cuadrado?</a:t>
            </a:r>
            <a:endParaRPr lang="en-US" sz="1400" dirty="0"/>
          </a:p>
        </p:txBody>
      </p:sp>
      <p:sp>
        <p:nvSpPr>
          <p:cNvPr id="12" name="Text 9"/>
          <p:cNvSpPr/>
          <p:nvPr/>
        </p:nvSpPr>
        <p:spPr>
          <a:xfrm>
            <a:off x="804672" y="5943600"/>
            <a:ext cx="4983480" cy="365760"/>
          </a:xfrm>
          <a:prstGeom prst="rect">
            <a:avLst/>
          </a:prstGeom>
          <a:noFill/>
          <a:ln/>
        </p:spPr>
        <p:txBody>
          <a:bodyPr wrap="square" lIns="0" tIns="0" rIns="0" bIns="0" rtlCol="0" anchor="t"/>
          <a:lstStyle/>
          <a:p>
            <a:pPr algn="l" indent="0" marL="0">
              <a:lnSpc>
                <a:spcPct val="108000"/>
              </a:lnSpc>
              <a:buNone/>
            </a:pPr>
            <a:r>
              <a:rPr lang="en-US" sz="1150" dirty="0">
                <a:solidFill>
                  <a:srgbClr val="2C3A55"/>
                </a:solidFill>
                <a:latin typeface="Calibri" pitchFamily="34" charset="0"/>
                <a:ea typeface="Calibri" pitchFamily="34" charset="-122"/>
                <a:cs typeface="Calibri" pitchFamily="34" charset="-120"/>
              </a:rPr>
              <a:t>Para que las diferencias negativas no se cancelen con las positivas.</a:t>
            </a:r>
            <a:endParaRPr lang="en-US" sz="1150" dirty="0"/>
          </a:p>
        </p:txBody>
      </p:sp>
      <p:sp>
        <p:nvSpPr>
          <p:cNvPr id="13" name="Shape 10"/>
          <p:cNvSpPr/>
          <p:nvPr/>
        </p:nvSpPr>
        <p:spPr>
          <a:xfrm>
            <a:off x="6172200" y="5532120"/>
            <a:ext cx="5468112" cy="868680"/>
          </a:xfrm>
          <a:prstGeom prst="roundRect">
            <a:avLst>
              <a:gd name="adj" fmla="val 6316"/>
            </a:avLst>
          </a:prstGeom>
          <a:solidFill>
            <a:srgbClr val="E9EEF8"/>
          </a:solidFill>
          <a:ln w="12700">
            <a:solidFill>
              <a:srgbClr val="D2DBEC"/>
            </a:solidFill>
            <a:prstDash val="solid"/>
          </a:ln>
        </p:spPr>
      </p:sp>
      <p:sp>
        <p:nvSpPr>
          <p:cNvPr id="14" name="Shape 11"/>
          <p:cNvSpPr/>
          <p:nvPr/>
        </p:nvSpPr>
        <p:spPr>
          <a:xfrm>
            <a:off x="6419088" y="5751576"/>
            <a:ext cx="118872" cy="118872"/>
          </a:xfrm>
          <a:prstGeom prst="roundRect">
            <a:avLst>
              <a:gd name="adj" fmla="val 30769"/>
            </a:avLst>
          </a:prstGeom>
          <a:solidFill>
            <a:srgbClr val="E6115E"/>
          </a:solidFill>
          <a:ln w="12700">
            <a:solidFill>
              <a:srgbClr val="E6115E"/>
            </a:solidFill>
            <a:prstDash val="solid"/>
          </a:ln>
        </p:spPr>
      </p:sp>
      <p:sp>
        <p:nvSpPr>
          <p:cNvPr id="15" name="Text 12"/>
          <p:cNvSpPr/>
          <p:nvPr/>
        </p:nvSpPr>
        <p:spPr>
          <a:xfrm>
            <a:off x="6656832" y="5650992"/>
            <a:ext cx="479145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¿Por qué se divide entre lo esperado?</a:t>
            </a:r>
            <a:endParaRPr lang="en-US" sz="1400" dirty="0"/>
          </a:p>
        </p:txBody>
      </p:sp>
      <p:sp>
        <p:nvSpPr>
          <p:cNvPr id="16" name="Text 13"/>
          <p:cNvSpPr/>
          <p:nvPr/>
        </p:nvSpPr>
        <p:spPr>
          <a:xfrm>
            <a:off x="6419088" y="5943600"/>
            <a:ext cx="4983480" cy="365760"/>
          </a:xfrm>
          <a:prstGeom prst="rect">
            <a:avLst/>
          </a:prstGeom>
          <a:noFill/>
          <a:ln/>
        </p:spPr>
        <p:txBody>
          <a:bodyPr wrap="square" lIns="0" tIns="0" rIns="0" bIns="0" rtlCol="0" anchor="t"/>
          <a:lstStyle/>
          <a:p>
            <a:pPr algn="l" indent="0" marL="0">
              <a:lnSpc>
                <a:spcPct val="108000"/>
              </a:lnSpc>
              <a:buNone/>
            </a:pPr>
            <a:r>
              <a:rPr lang="en-US" sz="1150" dirty="0">
                <a:solidFill>
                  <a:srgbClr val="2C3A55"/>
                </a:solidFill>
                <a:latin typeface="Calibri" pitchFamily="34" charset="0"/>
                <a:ea typeface="Calibri" pitchFamily="34" charset="-122"/>
                <a:cs typeface="Calibri" pitchFamily="34" charset="-120"/>
              </a:rPr>
              <a:t>Fallar por 10 cuando esperabas 30 es grave. Fallar por 10 cuando esperabas 3 000 no lo es.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BLOQUE 4</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Ya tienes 9.52. ¿Y ahora qué?</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Falta compararlo con lo que sería normal por azar. Para eso hacen falta los grados de libertad.</a:t>
            </a:r>
            <a:endParaRPr lang="en-US" sz="1400" dirty="0"/>
          </a:p>
        </p:txBody>
      </p:sp>
      <p:sp>
        <p:nvSpPr>
          <p:cNvPr id="6" name="Shape 4"/>
          <p:cNvSpPr/>
          <p:nvPr/>
        </p:nvSpPr>
        <p:spPr>
          <a:xfrm>
            <a:off x="548640" y="2011680"/>
            <a:ext cx="5468112" cy="1783080"/>
          </a:xfrm>
          <a:prstGeom prst="roundRect">
            <a:avLst>
              <a:gd name="adj" fmla="val 3077"/>
            </a:avLst>
          </a:prstGeom>
          <a:solidFill>
            <a:srgbClr val="0A2559"/>
          </a:solidFill>
          <a:ln w="12700">
            <a:solidFill>
              <a:srgbClr val="0A2559"/>
            </a:solidFill>
            <a:prstDash val="solid"/>
          </a:ln>
        </p:spPr>
      </p:sp>
      <p:sp>
        <p:nvSpPr>
          <p:cNvPr id="7" name="Shape 5"/>
          <p:cNvSpPr/>
          <p:nvPr/>
        </p:nvSpPr>
        <p:spPr>
          <a:xfrm>
            <a:off x="804672" y="2258568"/>
            <a:ext cx="118872" cy="118872"/>
          </a:xfrm>
          <a:prstGeom prst="roundRect">
            <a:avLst>
              <a:gd name="adj" fmla="val 30769"/>
            </a:avLst>
          </a:prstGeom>
          <a:solidFill>
            <a:srgbClr val="E6115E"/>
          </a:solidFill>
          <a:ln w="12700">
            <a:solidFill>
              <a:srgbClr val="E6115E"/>
            </a:solidFill>
            <a:prstDash val="solid"/>
          </a:ln>
        </p:spPr>
      </p:sp>
      <p:sp>
        <p:nvSpPr>
          <p:cNvPr id="8" name="Text 6"/>
          <p:cNvSpPr/>
          <p:nvPr/>
        </p:nvSpPr>
        <p:spPr>
          <a:xfrm>
            <a:off x="1042416" y="2157984"/>
            <a:ext cx="4791456"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Grados de libertad</a:t>
            </a:r>
            <a:endParaRPr lang="en-US" sz="1500" dirty="0"/>
          </a:p>
        </p:txBody>
      </p:sp>
      <p:sp>
        <p:nvSpPr>
          <p:cNvPr id="9" name="Text 7"/>
          <p:cNvSpPr/>
          <p:nvPr/>
        </p:nvSpPr>
        <p:spPr>
          <a:xfrm>
            <a:off x="804672" y="2523744"/>
            <a:ext cx="4983480" cy="329184"/>
          </a:xfrm>
          <a:prstGeom prst="rect">
            <a:avLst/>
          </a:prstGeom>
          <a:noFill/>
          <a:ln/>
        </p:spPr>
        <p:txBody>
          <a:bodyPr wrap="square" lIns="0" tIns="0" rIns="0" bIns="0" rtlCol="0" anchor="ctr"/>
          <a:lstStyle/>
          <a:p>
            <a:pPr indent="0" marL="0">
              <a:buNone/>
            </a:pPr>
            <a:r>
              <a:rPr lang="en-US" sz="1600" b="1" dirty="0">
                <a:solidFill>
                  <a:srgbClr val="4A82FF"/>
                </a:solidFill>
                <a:latin typeface="Cambria" pitchFamily="34" charset="0"/>
                <a:ea typeface="Cambria" pitchFamily="34" charset="-122"/>
                <a:cs typeface="Cambria" pitchFamily="34" charset="-120"/>
              </a:rPr>
              <a:t>gl  =  (filas − 1) × (columnas − 1)</a:t>
            </a:r>
            <a:endParaRPr lang="en-US" sz="1600" dirty="0"/>
          </a:p>
        </p:txBody>
      </p:sp>
      <p:sp>
        <p:nvSpPr>
          <p:cNvPr id="10" name="Text 8"/>
          <p:cNvSpPr/>
          <p:nvPr/>
        </p:nvSpPr>
        <p:spPr>
          <a:xfrm>
            <a:off x="804672" y="2852928"/>
            <a:ext cx="4983480" cy="868680"/>
          </a:xfrm>
          <a:prstGeom prst="rect">
            <a:avLst/>
          </a:prstGeom>
          <a:noFill/>
          <a:ln/>
        </p:spPr>
        <p:txBody>
          <a:bodyPr wrap="square" lIns="0" tIns="0" rIns="0" bIns="0" rtlCol="0" anchor="t"/>
          <a:lstStyle/>
          <a:p>
            <a:pPr algn="l" indent="0" marL="0">
              <a:lnSpc>
                <a:spcPct val="110000"/>
              </a:lnSpc>
              <a:buNone/>
            </a:pPr>
            <a:r>
              <a:rPr lang="en-US" sz="1150" dirty="0">
                <a:solidFill>
                  <a:srgbClr val="C9D6F2"/>
                </a:solidFill>
                <a:latin typeface="Calibri" pitchFamily="34" charset="0"/>
                <a:ea typeface="Calibri" pitchFamily="34" charset="-122"/>
                <a:cs typeface="Calibri" pitchFamily="34" charset="-120"/>
              </a:rPr>
              <a:t>En nuestra tabla:  (2 − 1) × (2 − 1)  =  1</a:t>
            </a:r>
            <a:endParaRPr lang="en-US" sz="1150" dirty="0"/>
          </a:p>
          <a:p>
            <a:pPr algn="l" indent="0" marL="0">
              <a:lnSpc>
                <a:spcPct val="110000"/>
              </a:lnSpc>
              <a:buNone/>
            </a:pPr>
            <a:endParaRPr lang="en-US" sz="1150" dirty="0"/>
          </a:p>
          <a:p>
            <a:pPr algn="l" indent="0" marL="0">
              <a:lnSpc>
                <a:spcPct val="110000"/>
              </a:lnSpc>
              <a:buNone/>
            </a:pPr>
            <a:r>
              <a:rPr lang="en-US" sz="1150" dirty="0">
                <a:solidFill>
                  <a:srgbClr val="C9D6F2"/>
                </a:solidFill>
                <a:latin typeface="Calibri" pitchFamily="34" charset="0"/>
                <a:ea typeface="Calibri" pitchFamily="34" charset="-122"/>
                <a:cs typeface="Calibri" pitchFamily="34" charset="-120"/>
              </a:rPr>
              <a:t>Significa que, fijados los totales, basta con conocer UNA casilla para deducir las otras tres.</a:t>
            </a:r>
            <a:endParaRPr lang="en-US" sz="1150" dirty="0"/>
          </a:p>
        </p:txBody>
      </p:sp>
      <p:sp>
        <p:nvSpPr>
          <p:cNvPr id="11" name="Shape 9"/>
          <p:cNvSpPr/>
          <p:nvPr/>
        </p:nvSpPr>
        <p:spPr>
          <a:xfrm>
            <a:off x="6172200" y="2011680"/>
            <a:ext cx="5468112" cy="1783080"/>
          </a:xfrm>
          <a:prstGeom prst="roundRect">
            <a:avLst>
              <a:gd name="adj" fmla="val 3077"/>
            </a:avLst>
          </a:prstGeom>
          <a:solidFill>
            <a:srgbClr val="FFFFFF"/>
          </a:solidFill>
          <a:ln w="12700">
            <a:solidFill>
              <a:srgbClr val="D2DBEC"/>
            </a:solidFill>
            <a:prstDash val="solid"/>
          </a:ln>
        </p:spPr>
      </p:sp>
      <p:sp>
        <p:nvSpPr>
          <p:cNvPr id="12" name="Shape 10"/>
          <p:cNvSpPr/>
          <p:nvPr/>
        </p:nvSpPr>
        <p:spPr>
          <a:xfrm>
            <a:off x="6419088" y="2258568"/>
            <a:ext cx="118872" cy="118872"/>
          </a:xfrm>
          <a:prstGeom prst="roundRect">
            <a:avLst>
              <a:gd name="adj" fmla="val 30769"/>
            </a:avLst>
          </a:prstGeom>
          <a:solidFill>
            <a:srgbClr val="E6115E"/>
          </a:solidFill>
          <a:ln w="12700">
            <a:solidFill>
              <a:srgbClr val="E6115E"/>
            </a:solidFill>
            <a:prstDash val="solid"/>
          </a:ln>
        </p:spPr>
      </p:sp>
      <p:sp>
        <p:nvSpPr>
          <p:cNvPr id="13" name="Text 11"/>
          <p:cNvSpPr/>
          <p:nvPr/>
        </p:nvSpPr>
        <p:spPr>
          <a:xfrm>
            <a:off x="6656832" y="2157984"/>
            <a:ext cx="4791456" cy="292608"/>
          </a:xfrm>
          <a:prstGeom prst="rect">
            <a:avLst/>
          </a:prstGeom>
          <a:noFill/>
          <a:ln/>
        </p:spPr>
        <p:txBody>
          <a:bodyPr wrap="square" lIns="0" tIns="0" rIns="0" bIns="0" rtlCol="0" anchor="ctr"/>
          <a:lstStyle/>
          <a:p>
            <a:pPr indent="0" marL="0">
              <a:buNone/>
            </a:pPr>
            <a:r>
              <a:rPr lang="en-US" sz="1500" b="1" dirty="0">
                <a:solidFill>
                  <a:srgbClr val="0A2559"/>
                </a:solidFill>
                <a:latin typeface="Calibri" pitchFamily="34" charset="0"/>
                <a:ea typeface="Calibri" pitchFamily="34" charset="-122"/>
                <a:cs typeface="Calibri" pitchFamily="34" charset="-120"/>
              </a:rPr>
              <a:t>Compruébalo tú</a:t>
            </a:r>
            <a:endParaRPr lang="en-US" sz="1500" dirty="0"/>
          </a:p>
        </p:txBody>
      </p:sp>
      <p:sp>
        <p:nvSpPr>
          <p:cNvPr id="14" name="Text 12"/>
          <p:cNvSpPr/>
          <p:nvPr/>
        </p:nvSpPr>
        <p:spPr>
          <a:xfrm>
            <a:off x="6419088" y="2505456"/>
            <a:ext cx="4983480" cy="1143000"/>
          </a:xfrm>
          <a:prstGeom prst="rect">
            <a:avLst/>
          </a:prstGeom>
          <a:noFill/>
          <a:ln/>
        </p:spPr>
        <p:txBody>
          <a:bodyPr wrap="square" lIns="0" tIns="0" rIns="0" bIns="0" rtlCol="0" anchor="t"/>
          <a:lstStyle/>
          <a:p>
            <a:pPr algn="l" indent="0" marL="0">
              <a:lnSpc>
                <a:spcPct val="110000"/>
              </a:lnSpc>
              <a:buNone/>
            </a:pPr>
            <a:r>
              <a:rPr lang="en-US" sz="1150" dirty="0">
                <a:solidFill>
                  <a:srgbClr val="2C3A55"/>
                </a:solidFill>
                <a:latin typeface="Calibri" pitchFamily="34" charset="0"/>
                <a:ea typeface="Calibri" pitchFamily="34" charset="-122"/>
                <a:cs typeface="Calibri" pitchFamily="34" charset="-120"/>
              </a:rPr>
              <a:t>Si sabes que agencia rechazó 40, y que su total es 100, entonces aprobó 60. Y como el total de rechazos es 60, app rechazó 20.</a:t>
            </a:r>
            <a:endParaRPr lang="en-US" sz="1150" dirty="0"/>
          </a:p>
          <a:p>
            <a:pPr algn="l" indent="0" marL="0">
              <a:lnSpc>
                <a:spcPct val="110000"/>
              </a:lnSpc>
              <a:buNone/>
            </a:pPr>
            <a:endParaRPr lang="en-US" sz="1150" dirty="0"/>
          </a:p>
          <a:p>
            <a:pPr algn="l" indent="0" marL="0">
              <a:lnSpc>
                <a:spcPct val="110000"/>
              </a:lnSpc>
              <a:buNone/>
            </a:pPr>
            <a:r>
              <a:rPr lang="en-US" sz="1150" dirty="0">
                <a:solidFill>
                  <a:srgbClr val="2C3A55"/>
                </a:solidFill>
                <a:latin typeface="Calibri" pitchFamily="34" charset="0"/>
                <a:ea typeface="Calibri" pitchFamily="34" charset="-122"/>
                <a:cs typeface="Calibri" pitchFamily="34" charset="-120"/>
              </a:rPr>
              <a:t>Una casilla determina el resto: por eso 1 grado de libertad.</a:t>
            </a:r>
            <a:endParaRPr lang="en-US" sz="1150" dirty="0"/>
          </a:p>
        </p:txBody>
      </p:sp>
      <p:sp>
        <p:nvSpPr>
          <p:cNvPr id="15" name="Text 13"/>
          <p:cNvSpPr/>
          <p:nvPr/>
        </p:nvSpPr>
        <p:spPr>
          <a:xfrm>
            <a:off x="822960" y="4114800"/>
            <a:ext cx="2743200" cy="603504"/>
          </a:xfrm>
          <a:prstGeom prst="rect">
            <a:avLst/>
          </a:prstGeom>
          <a:noFill/>
          <a:ln/>
        </p:spPr>
        <p:txBody>
          <a:bodyPr wrap="square" lIns="0" tIns="0" rIns="0" bIns="0" rtlCol="0" anchor="ctr"/>
          <a:lstStyle/>
          <a:p>
            <a:pPr algn="l" indent="0" marL="0">
              <a:buNone/>
            </a:pPr>
            <a:r>
              <a:rPr lang="en-US" sz="3600" b="1" dirty="0">
                <a:solidFill>
                  <a:srgbClr val="E6115E"/>
                </a:solidFill>
                <a:latin typeface="Calibri" pitchFamily="34" charset="0"/>
                <a:ea typeface="Calibri" pitchFamily="34" charset="-122"/>
                <a:cs typeface="Calibri" pitchFamily="34" charset="-120"/>
              </a:rPr>
              <a:t>9.52</a:t>
            </a:r>
            <a:endParaRPr lang="en-US" sz="3600" dirty="0"/>
          </a:p>
        </p:txBody>
      </p:sp>
      <p:sp>
        <p:nvSpPr>
          <p:cNvPr id="16" name="Text 14"/>
          <p:cNvSpPr/>
          <p:nvPr/>
        </p:nvSpPr>
        <p:spPr>
          <a:xfrm>
            <a:off x="822960" y="4681728"/>
            <a:ext cx="2743200" cy="457200"/>
          </a:xfrm>
          <a:prstGeom prst="rect">
            <a:avLst/>
          </a:prstGeom>
          <a:noFill/>
          <a:ln/>
        </p:spPr>
        <p:txBody>
          <a:bodyPr wrap="square" lIns="0" tIns="0" rIns="0" bIns="0" rtlCol="0" anchor="t"/>
          <a:lstStyle/>
          <a:p>
            <a:pPr indent="0" marL="0">
              <a:buNone/>
            </a:pPr>
            <a:r>
              <a:rPr lang="en-US" sz="1150" dirty="0">
                <a:solidFill>
                  <a:srgbClr val="5B6B87"/>
                </a:solidFill>
                <a:latin typeface="Calibri" pitchFamily="34" charset="0"/>
                <a:ea typeface="Calibri" pitchFamily="34" charset="-122"/>
                <a:cs typeface="Calibri" pitchFamily="34" charset="-120"/>
              </a:rPr>
              <a:t>el χ² que calculamos</a:t>
            </a:r>
            <a:endParaRPr lang="en-US" sz="1150" dirty="0"/>
          </a:p>
        </p:txBody>
      </p:sp>
      <p:sp>
        <p:nvSpPr>
          <p:cNvPr id="17" name="Text 15"/>
          <p:cNvSpPr/>
          <p:nvPr/>
        </p:nvSpPr>
        <p:spPr>
          <a:xfrm>
            <a:off x="4023360" y="4114800"/>
            <a:ext cx="3108960" cy="603504"/>
          </a:xfrm>
          <a:prstGeom prst="rect">
            <a:avLst/>
          </a:prstGeom>
          <a:noFill/>
          <a:ln/>
        </p:spPr>
        <p:txBody>
          <a:bodyPr wrap="square" lIns="0" tIns="0" rIns="0" bIns="0" rtlCol="0" anchor="ctr"/>
          <a:lstStyle/>
          <a:p>
            <a:pPr algn="l" indent="0" marL="0">
              <a:buNone/>
            </a:pPr>
            <a:r>
              <a:rPr lang="en-US" sz="3600" b="1" dirty="0">
                <a:solidFill>
                  <a:srgbClr val="1A56E8"/>
                </a:solidFill>
                <a:latin typeface="Calibri" pitchFamily="34" charset="0"/>
                <a:ea typeface="Calibri" pitchFamily="34" charset="-122"/>
                <a:cs typeface="Calibri" pitchFamily="34" charset="-120"/>
              </a:rPr>
              <a:t>3.84</a:t>
            </a:r>
            <a:endParaRPr lang="en-US" sz="3600" dirty="0"/>
          </a:p>
        </p:txBody>
      </p:sp>
      <p:sp>
        <p:nvSpPr>
          <p:cNvPr id="18" name="Text 16"/>
          <p:cNvSpPr/>
          <p:nvPr/>
        </p:nvSpPr>
        <p:spPr>
          <a:xfrm>
            <a:off x="4023360" y="4681728"/>
            <a:ext cx="3108960" cy="457200"/>
          </a:xfrm>
          <a:prstGeom prst="rect">
            <a:avLst/>
          </a:prstGeom>
          <a:noFill/>
          <a:ln/>
        </p:spPr>
        <p:txBody>
          <a:bodyPr wrap="square" lIns="0" tIns="0" rIns="0" bIns="0" rtlCol="0" anchor="t"/>
          <a:lstStyle/>
          <a:p>
            <a:pPr indent="0" marL="0">
              <a:buNone/>
            </a:pPr>
            <a:r>
              <a:rPr lang="en-US" sz="1150" dirty="0">
                <a:solidFill>
                  <a:srgbClr val="5B6B87"/>
                </a:solidFill>
                <a:latin typeface="Calibri" pitchFamily="34" charset="0"/>
                <a:ea typeface="Calibri" pitchFamily="34" charset="-122"/>
                <a:cs typeface="Calibri" pitchFamily="34" charset="-120"/>
              </a:rPr>
              <a:t>el valor crítico con gl = 1</a:t>
            </a:r>
            <a:endParaRPr lang="en-US" sz="1150" dirty="0"/>
          </a:p>
          <a:p>
            <a:pPr indent="0" marL="0">
              <a:buNone/>
            </a:pPr>
            <a:r>
              <a:rPr lang="en-US" sz="1150" dirty="0">
                <a:solidFill>
                  <a:srgbClr val="5B6B87"/>
                </a:solidFill>
                <a:latin typeface="Calibri" pitchFamily="34" charset="0"/>
                <a:ea typeface="Calibri" pitchFamily="34" charset="-122"/>
                <a:cs typeface="Calibri" pitchFamily="34" charset="-120"/>
              </a:rPr>
              <a:t>y α = 0.05</a:t>
            </a:r>
            <a:endParaRPr lang="en-US" sz="1150" dirty="0"/>
          </a:p>
        </p:txBody>
      </p:sp>
      <p:sp>
        <p:nvSpPr>
          <p:cNvPr id="19" name="Text 17"/>
          <p:cNvSpPr/>
          <p:nvPr/>
        </p:nvSpPr>
        <p:spPr>
          <a:xfrm>
            <a:off x="7863840" y="4114800"/>
            <a:ext cx="3108960" cy="603504"/>
          </a:xfrm>
          <a:prstGeom prst="rect">
            <a:avLst/>
          </a:prstGeom>
          <a:noFill/>
          <a:ln/>
        </p:spPr>
        <p:txBody>
          <a:bodyPr wrap="square" lIns="0" tIns="0" rIns="0" bIns="0" rtlCol="0" anchor="ctr"/>
          <a:lstStyle/>
          <a:p>
            <a:pPr algn="l" indent="0" marL="0">
              <a:buNone/>
            </a:pPr>
            <a:r>
              <a:rPr lang="en-US" sz="3600" b="1" dirty="0">
                <a:solidFill>
                  <a:srgbClr val="E6115E"/>
                </a:solidFill>
                <a:latin typeface="Calibri" pitchFamily="34" charset="0"/>
                <a:ea typeface="Calibri" pitchFamily="34" charset="-122"/>
                <a:cs typeface="Calibri" pitchFamily="34" charset="-120"/>
              </a:rPr>
              <a:t>0.0020</a:t>
            </a:r>
            <a:endParaRPr lang="en-US" sz="3600" dirty="0"/>
          </a:p>
        </p:txBody>
      </p:sp>
      <p:sp>
        <p:nvSpPr>
          <p:cNvPr id="20" name="Text 18"/>
          <p:cNvSpPr/>
          <p:nvPr/>
        </p:nvSpPr>
        <p:spPr>
          <a:xfrm>
            <a:off x="7863840" y="4681728"/>
            <a:ext cx="3108960" cy="457200"/>
          </a:xfrm>
          <a:prstGeom prst="rect">
            <a:avLst/>
          </a:prstGeom>
          <a:noFill/>
          <a:ln/>
        </p:spPr>
        <p:txBody>
          <a:bodyPr wrap="square" lIns="0" tIns="0" rIns="0" bIns="0" rtlCol="0" anchor="t"/>
          <a:lstStyle/>
          <a:p>
            <a:pPr indent="0" marL="0">
              <a:buNone/>
            </a:pPr>
            <a:r>
              <a:rPr lang="en-US" sz="1150" dirty="0">
                <a:solidFill>
                  <a:srgbClr val="5B6B87"/>
                </a:solidFill>
                <a:latin typeface="Calibri" pitchFamily="34" charset="0"/>
                <a:ea typeface="Calibri" pitchFamily="34" charset="-122"/>
                <a:cs typeface="Calibri" pitchFamily="34" charset="-120"/>
              </a:rPr>
              <a:t>el p-valor</a:t>
            </a:r>
            <a:endParaRPr lang="en-US" sz="1150" dirty="0"/>
          </a:p>
        </p:txBody>
      </p:sp>
      <p:sp>
        <p:nvSpPr>
          <p:cNvPr id="21" name="Shape 19"/>
          <p:cNvSpPr/>
          <p:nvPr/>
        </p:nvSpPr>
        <p:spPr>
          <a:xfrm>
            <a:off x="822960" y="5413248"/>
            <a:ext cx="10607040" cy="0"/>
          </a:xfrm>
          <a:prstGeom prst="line">
            <a:avLst/>
          </a:prstGeom>
          <a:noFill/>
          <a:ln w="12700">
            <a:solidFill>
              <a:srgbClr val="D2DBEC"/>
            </a:solidFill>
            <a:prstDash val="solid"/>
          </a:ln>
        </p:spPr>
      </p:sp>
      <p:sp>
        <p:nvSpPr>
          <p:cNvPr id="22" name="Shape 20"/>
          <p:cNvSpPr/>
          <p:nvPr/>
        </p:nvSpPr>
        <p:spPr>
          <a:xfrm>
            <a:off x="548640" y="5440680"/>
            <a:ext cx="11091672" cy="822960"/>
          </a:xfrm>
          <a:prstGeom prst="roundRect">
            <a:avLst>
              <a:gd name="adj" fmla="val 6667"/>
            </a:avLst>
          </a:prstGeom>
          <a:solidFill>
            <a:srgbClr val="E6115E"/>
          </a:solidFill>
          <a:ln w="12700">
            <a:solidFill>
              <a:srgbClr val="E6115E"/>
            </a:solidFill>
            <a:prstDash val="solid"/>
          </a:ln>
        </p:spPr>
      </p:sp>
      <p:sp>
        <p:nvSpPr>
          <p:cNvPr id="23" name="Text 21"/>
          <p:cNvSpPr/>
          <p:nvPr/>
        </p:nvSpPr>
        <p:spPr>
          <a:xfrm>
            <a:off x="822960" y="5440680"/>
            <a:ext cx="10607040" cy="822960"/>
          </a:xfrm>
          <a:prstGeom prst="rect">
            <a:avLst/>
          </a:prstGeom>
          <a:noFill/>
          <a:ln/>
        </p:spPr>
        <p:txBody>
          <a:bodyPr wrap="square" lIns="0" tIns="0" rIns="0" bIns="0" rtlCol="0" anchor="ctr"/>
          <a:lstStyle/>
          <a:p>
            <a:pPr algn="ctr" indent="0" marL="0">
              <a:lnSpc>
                <a:spcPct val="108000"/>
              </a:lnSpc>
              <a:buNone/>
            </a:pPr>
            <a:r>
              <a:rPr lang="en-US" sz="1350" b="1" dirty="0">
                <a:solidFill>
                  <a:srgbClr val="FFFFFF"/>
                </a:solidFill>
                <a:latin typeface="Calibri" pitchFamily="34" charset="0"/>
                <a:ea typeface="Calibri" pitchFamily="34" charset="-122"/>
                <a:cs typeface="Calibri" pitchFamily="34" charset="-120"/>
              </a:rPr>
              <a:t>9.52 supera con holgura a 3.84, y p = 0.002 es menor que 0.05.   →   Hay relación entre el canal y el resultado.</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19456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21945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LETRA CHICA</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Tres cosas que el χ² NO te dice</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Todas se pueden decir en una frase, y las tres se malinterpretan a diario.</a:t>
            </a:r>
            <a:endParaRPr lang="en-US" sz="1400" dirty="0"/>
          </a:p>
        </p:txBody>
      </p:sp>
      <p:sp>
        <p:nvSpPr>
          <p:cNvPr id="6" name="Shape 4"/>
          <p:cNvSpPr/>
          <p:nvPr/>
        </p:nvSpPr>
        <p:spPr>
          <a:xfrm>
            <a:off x="548640" y="2011680"/>
            <a:ext cx="11091672" cy="1261872"/>
          </a:xfrm>
          <a:prstGeom prst="roundRect">
            <a:avLst>
              <a:gd name="adj" fmla="val 4348"/>
            </a:avLst>
          </a:prstGeom>
          <a:solidFill>
            <a:srgbClr val="0A2559"/>
          </a:solidFill>
          <a:ln w="12700">
            <a:solidFill>
              <a:srgbClr val="0A2559"/>
            </a:solidFill>
            <a:prstDash val="solid"/>
          </a:ln>
        </p:spPr>
      </p:sp>
      <p:sp>
        <p:nvSpPr>
          <p:cNvPr id="7" name="Shape 5"/>
          <p:cNvSpPr/>
          <p:nvPr/>
        </p:nvSpPr>
        <p:spPr>
          <a:xfrm>
            <a:off x="777240" y="2194560"/>
            <a:ext cx="658368" cy="384048"/>
          </a:xfrm>
          <a:prstGeom prst="roundRect">
            <a:avLst>
              <a:gd name="adj" fmla="val 14286"/>
            </a:avLst>
          </a:prstGeom>
          <a:solidFill>
            <a:srgbClr val="E6115E"/>
          </a:solidFill>
          <a:ln w="12700">
            <a:solidFill>
              <a:srgbClr val="E6115E"/>
            </a:solidFill>
            <a:prstDash val="solid"/>
          </a:ln>
        </p:spPr>
      </p:sp>
      <p:sp>
        <p:nvSpPr>
          <p:cNvPr id="8" name="Text 6"/>
          <p:cNvSpPr/>
          <p:nvPr/>
        </p:nvSpPr>
        <p:spPr>
          <a:xfrm>
            <a:off x="777240" y="2194560"/>
            <a:ext cx="65836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No</a:t>
            </a:r>
            <a:endParaRPr lang="en-US" sz="1400" dirty="0"/>
          </a:p>
        </p:txBody>
      </p:sp>
      <p:sp>
        <p:nvSpPr>
          <p:cNvPr id="9" name="Text 7"/>
          <p:cNvSpPr/>
          <p:nvPr/>
        </p:nvSpPr>
        <p:spPr>
          <a:xfrm>
            <a:off x="1572768" y="2157984"/>
            <a:ext cx="493776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No dice CUÁNTA relación hay</a:t>
            </a:r>
            <a:endParaRPr lang="en-US" sz="1400" dirty="0"/>
          </a:p>
        </p:txBody>
      </p:sp>
      <p:sp>
        <p:nvSpPr>
          <p:cNvPr id="10" name="Text 8"/>
          <p:cNvSpPr/>
          <p:nvPr/>
        </p:nvSpPr>
        <p:spPr>
          <a:xfrm>
            <a:off x="1572768" y="2633472"/>
            <a:ext cx="6675120" cy="548640"/>
          </a:xfrm>
          <a:prstGeom prst="rect">
            <a:avLst/>
          </a:prstGeom>
          <a:noFill/>
          <a:ln/>
        </p:spPr>
        <p:txBody>
          <a:bodyPr wrap="square" lIns="0" tIns="0" rIns="0" bIns="0" rtlCol="0" anchor="t"/>
          <a:lstStyle/>
          <a:p>
            <a:pPr algn="l" indent="0" marL="0">
              <a:lnSpc>
                <a:spcPct val="106000"/>
              </a:lnSpc>
              <a:buNone/>
            </a:pPr>
            <a:r>
              <a:rPr lang="en-US" sz="1150" dirty="0">
                <a:solidFill>
                  <a:srgbClr val="C9D6F2"/>
                </a:solidFill>
                <a:latin typeface="Calibri" pitchFamily="34" charset="0"/>
                <a:ea typeface="Calibri" pitchFamily="34" charset="-122"/>
                <a:cs typeface="Calibri" pitchFamily="34" charset="-120"/>
              </a:rPr>
              <a:t>Solo dice que la hay. Un χ² de 9.5 y uno de 950 pueden corresponder a la misma fuerza de relación, si uno tiene 100 veces más datos.</a:t>
            </a:r>
            <a:endParaRPr lang="en-US" sz="1150" dirty="0"/>
          </a:p>
        </p:txBody>
      </p:sp>
      <p:sp>
        <p:nvSpPr>
          <p:cNvPr id="11" name="Text 9"/>
          <p:cNvSpPr/>
          <p:nvPr/>
        </p:nvSpPr>
        <p:spPr>
          <a:xfrm>
            <a:off x="8503920" y="2286000"/>
            <a:ext cx="2926080" cy="777240"/>
          </a:xfrm>
          <a:prstGeom prst="rect">
            <a:avLst/>
          </a:prstGeom>
          <a:noFill/>
          <a:ln/>
        </p:spPr>
        <p:txBody>
          <a:bodyPr wrap="square" lIns="0" tIns="0" rIns="0" bIns="0" rtlCol="0" anchor="t"/>
          <a:lstStyle/>
          <a:p>
            <a:pPr algn="l" indent="0" marL="0">
              <a:lnSpc>
                <a:spcPct val="108000"/>
              </a:lnSpc>
              <a:buNone/>
            </a:pPr>
            <a:r>
              <a:rPr lang="en-US" sz="1100" i="1" dirty="0">
                <a:solidFill>
                  <a:srgbClr val="8FA6D4"/>
                </a:solidFill>
                <a:latin typeface="Calibri" pitchFamily="34" charset="0"/>
                <a:ea typeface="Calibri" pitchFamily="34" charset="-122"/>
                <a:cs typeface="Calibri" pitchFamily="34" charset="-120"/>
              </a:rPr>
              <a:t>Para eso está Cramér's V, en la slide siguiente.</a:t>
            </a:r>
            <a:endParaRPr lang="en-US" sz="1100" dirty="0"/>
          </a:p>
        </p:txBody>
      </p:sp>
      <p:sp>
        <p:nvSpPr>
          <p:cNvPr id="12" name="Shape 10"/>
          <p:cNvSpPr/>
          <p:nvPr/>
        </p:nvSpPr>
        <p:spPr>
          <a:xfrm>
            <a:off x="548640" y="3401568"/>
            <a:ext cx="11091672" cy="1261872"/>
          </a:xfrm>
          <a:prstGeom prst="roundRect">
            <a:avLst>
              <a:gd name="adj" fmla="val 4348"/>
            </a:avLst>
          </a:prstGeom>
          <a:solidFill>
            <a:srgbClr val="FFFFFF"/>
          </a:solidFill>
          <a:ln w="12700">
            <a:solidFill>
              <a:srgbClr val="D2DBEC"/>
            </a:solidFill>
            <a:prstDash val="solid"/>
          </a:ln>
        </p:spPr>
      </p:sp>
      <p:sp>
        <p:nvSpPr>
          <p:cNvPr id="13" name="Shape 11"/>
          <p:cNvSpPr/>
          <p:nvPr/>
        </p:nvSpPr>
        <p:spPr>
          <a:xfrm>
            <a:off x="777240" y="3584448"/>
            <a:ext cx="658368" cy="384048"/>
          </a:xfrm>
          <a:prstGeom prst="roundRect">
            <a:avLst>
              <a:gd name="adj" fmla="val 14286"/>
            </a:avLst>
          </a:prstGeom>
          <a:solidFill>
            <a:srgbClr val="E6115E"/>
          </a:solidFill>
          <a:ln w="12700">
            <a:solidFill>
              <a:srgbClr val="E6115E"/>
            </a:solidFill>
            <a:prstDash val="solid"/>
          </a:ln>
        </p:spPr>
      </p:sp>
      <p:sp>
        <p:nvSpPr>
          <p:cNvPr id="14" name="Text 12"/>
          <p:cNvSpPr/>
          <p:nvPr/>
        </p:nvSpPr>
        <p:spPr>
          <a:xfrm>
            <a:off x="777240" y="3584448"/>
            <a:ext cx="65836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No</a:t>
            </a:r>
            <a:endParaRPr lang="en-US" sz="1400" dirty="0"/>
          </a:p>
        </p:txBody>
      </p:sp>
      <p:sp>
        <p:nvSpPr>
          <p:cNvPr id="15" name="Text 13"/>
          <p:cNvSpPr/>
          <p:nvPr/>
        </p:nvSpPr>
        <p:spPr>
          <a:xfrm>
            <a:off x="1572768" y="3547872"/>
            <a:ext cx="4937760" cy="457200"/>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No dice QUÉ CASILLA causa la diferencia</a:t>
            </a:r>
            <a:endParaRPr lang="en-US" sz="1400" dirty="0"/>
          </a:p>
        </p:txBody>
      </p:sp>
      <p:sp>
        <p:nvSpPr>
          <p:cNvPr id="16" name="Text 14"/>
          <p:cNvSpPr/>
          <p:nvPr/>
        </p:nvSpPr>
        <p:spPr>
          <a:xfrm>
            <a:off x="1572768" y="4023360"/>
            <a:ext cx="6675120" cy="548640"/>
          </a:xfrm>
          <a:prstGeom prst="rect">
            <a:avLst/>
          </a:prstGeom>
          <a:noFill/>
          <a:ln/>
        </p:spPr>
        <p:txBody>
          <a:bodyPr wrap="square" lIns="0" tIns="0" rIns="0" bIns="0" rtlCol="0" anchor="t"/>
          <a:lstStyle/>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El χ² es un número único para toda la tabla. Con tablas grandes sabes que algo pasa, pero no dónde.</a:t>
            </a:r>
            <a:endParaRPr lang="en-US" sz="1150" dirty="0"/>
          </a:p>
        </p:txBody>
      </p:sp>
      <p:sp>
        <p:nvSpPr>
          <p:cNvPr id="17" name="Text 15"/>
          <p:cNvSpPr/>
          <p:nvPr/>
        </p:nvSpPr>
        <p:spPr>
          <a:xfrm>
            <a:off x="8503920" y="3675888"/>
            <a:ext cx="2926080" cy="777240"/>
          </a:xfrm>
          <a:prstGeom prst="rect">
            <a:avLst/>
          </a:prstGeom>
          <a:noFill/>
          <a:ln/>
        </p:spPr>
        <p:txBody>
          <a:bodyPr wrap="square" lIns="0" tIns="0" rIns="0" bIns="0" rtlCol="0" anchor="t"/>
          <a:lstStyle/>
          <a:p>
            <a:pPr algn="l" indent="0" marL="0">
              <a:lnSpc>
                <a:spcPct val="108000"/>
              </a:lnSpc>
              <a:buNone/>
            </a:pPr>
            <a:r>
              <a:rPr lang="en-US" sz="1100" i="1" dirty="0">
                <a:solidFill>
                  <a:srgbClr val="5B6B87"/>
                </a:solidFill>
                <a:latin typeface="Calibri" pitchFamily="34" charset="0"/>
                <a:ea typeface="Calibri" pitchFamily="34" charset="-122"/>
                <a:cs typeface="Calibri" pitchFamily="34" charset="-120"/>
              </a:rPr>
              <a:t>Para eso están los residuos, en la Clase 9.</a:t>
            </a:r>
            <a:endParaRPr lang="en-US" sz="1100" dirty="0"/>
          </a:p>
        </p:txBody>
      </p:sp>
      <p:sp>
        <p:nvSpPr>
          <p:cNvPr id="18" name="Shape 16"/>
          <p:cNvSpPr/>
          <p:nvPr/>
        </p:nvSpPr>
        <p:spPr>
          <a:xfrm>
            <a:off x="548640" y="4791456"/>
            <a:ext cx="11091672" cy="1261872"/>
          </a:xfrm>
          <a:prstGeom prst="roundRect">
            <a:avLst>
              <a:gd name="adj" fmla="val 4348"/>
            </a:avLst>
          </a:prstGeom>
          <a:solidFill>
            <a:srgbClr val="FFFFFF"/>
          </a:solidFill>
          <a:ln w="12700">
            <a:solidFill>
              <a:srgbClr val="D2DBEC"/>
            </a:solidFill>
            <a:prstDash val="solid"/>
          </a:ln>
        </p:spPr>
      </p:sp>
      <p:sp>
        <p:nvSpPr>
          <p:cNvPr id="19" name="Shape 17"/>
          <p:cNvSpPr/>
          <p:nvPr/>
        </p:nvSpPr>
        <p:spPr>
          <a:xfrm>
            <a:off x="777240" y="4974336"/>
            <a:ext cx="658368" cy="384048"/>
          </a:xfrm>
          <a:prstGeom prst="roundRect">
            <a:avLst>
              <a:gd name="adj" fmla="val 14286"/>
            </a:avLst>
          </a:prstGeom>
          <a:solidFill>
            <a:srgbClr val="E6115E"/>
          </a:solidFill>
          <a:ln w="12700">
            <a:solidFill>
              <a:srgbClr val="E6115E"/>
            </a:solidFill>
            <a:prstDash val="solid"/>
          </a:ln>
        </p:spPr>
      </p:sp>
      <p:sp>
        <p:nvSpPr>
          <p:cNvPr id="20" name="Text 18"/>
          <p:cNvSpPr/>
          <p:nvPr/>
        </p:nvSpPr>
        <p:spPr>
          <a:xfrm>
            <a:off x="777240" y="4974336"/>
            <a:ext cx="65836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No</a:t>
            </a:r>
            <a:endParaRPr lang="en-US" sz="1400" dirty="0"/>
          </a:p>
        </p:txBody>
      </p:sp>
      <p:sp>
        <p:nvSpPr>
          <p:cNvPr id="21" name="Text 19"/>
          <p:cNvSpPr/>
          <p:nvPr/>
        </p:nvSpPr>
        <p:spPr>
          <a:xfrm>
            <a:off x="1572768" y="4937760"/>
            <a:ext cx="4937760" cy="457200"/>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No dice que una cosa CAUSE la otra</a:t>
            </a:r>
            <a:endParaRPr lang="en-US" sz="1400" dirty="0"/>
          </a:p>
        </p:txBody>
      </p:sp>
      <p:sp>
        <p:nvSpPr>
          <p:cNvPr id="22" name="Text 20"/>
          <p:cNvSpPr/>
          <p:nvPr/>
        </p:nvSpPr>
        <p:spPr>
          <a:xfrm>
            <a:off x="1572768" y="5413248"/>
            <a:ext cx="6675120" cy="548640"/>
          </a:xfrm>
          <a:prstGeom prst="rect">
            <a:avLst/>
          </a:prstGeom>
          <a:noFill/>
          <a:ln/>
        </p:spPr>
        <p:txBody>
          <a:bodyPr wrap="square" lIns="0" tIns="0" rIns="0" bIns="0" rtlCol="0" anchor="t"/>
          <a:lstStyle/>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«Hay relación entre canal y rechazo» no significa que el canal cause el rechazo. Puede haber un tercer factor: por agencia quizá entran perfiles distintos.</a:t>
            </a:r>
            <a:endParaRPr lang="en-US" sz="1150" dirty="0"/>
          </a:p>
        </p:txBody>
      </p:sp>
      <p:sp>
        <p:nvSpPr>
          <p:cNvPr id="23" name="Text 21"/>
          <p:cNvSpPr/>
          <p:nvPr/>
        </p:nvSpPr>
        <p:spPr>
          <a:xfrm>
            <a:off x="8503920" y="5065776"/>
            <a:ext cx="2926080" cy="777240"/>
          </a:xfrm>
          <a:prstGeom prst="rect">
            <a:avLst/>
          </a:prstGeom>
          <a:noFill/>
          <a:ln/>
        </p:spPr>
        <p:txBody>
          <a:bodyPr wrap="square" lIns="0" tIns="0" rIns="0" bIns="0" rtlCol="0" anchor="t"/>
          <a:lstStyle/>
          <a:p>
            <a:pPr algn="l" indent="0" marL="0">
              <a:lnSpc>
                <a:spcPct val="108000"/>
              </a:lnSpc>
              <a:buNone/>
            </a:pPr>
            <a:r>
              <a:rPr lang="en-US" sz="1100" i="1" dirty="0">
                <a:solidFill>
                  <a:srgbClr val="5B6B87"/>
                </a:solidFill>
                <a:latin typeface="Calibri" pitchFamily="34" charset="0"/>
                <a:ea typeface="Calibri" pitchFamily="34" charset="-122"/>
                <a:cs typeface="Calibri" pitchFamily="34" charset="-120"/>
              </a:rPr>
              <a:t>Eso no lo resuelve ninguna prueba estadística.</a:t>
            </a:r>
            <a:endParaRPr lang="en-US" sz="1100" dirty="0"/>
          </a:p>
        </p:txBody>
      </p:sp>
      <p:sp>
        <p:nvSpPr>
          <p:cNvPr id="24" name="Text 22"/>
          <p:cNvSpPr/>
          <p:nvPr/>
        </p:nvSpPr>
        <p:spPr>
          <a:xfrm>
            <a:off x="548640" y="6345936"/>
            <a:ext cx="11064240" cy="292608"/>
          </a:xfrm>
          <a:prstGeom prst="rect">
            <a:avLst/>
          </a:prstGeom>
          <a:noFill/>
          <a:ln/>
        </p:spPr>
        <p:txBody>
          <a:bodyPr wrap="square" lIns="0" tIns="0" rIns="0" bIns="0" rtlCol="0" anchor="ctr"/>
          <a:lstStyle/>
          <a:p>
            <a:pPr indent="0" marL="0">
              <a:buNone/>
            </a:pPr>
            <a:r>
              <a:rPr lang="en-US" sz="1050" i="1" dirty="0">
                <a:solidFill>
                  <a:srgbClr val="5B6B87"/>
                </a:solidFill>
                <a:latin typeface="Calibri" pitchFamily="34" charset="0"/>
                <a:ea typeface="Calibri" pitchFamily="34" charset="-122"/>
                <a:cs typeface="Calibri" pitchFamily="34" charset="-120"/>
              </a:rPr>
              <a:t>El tercero es el más importante de los tres, y el único que no tiene solución técnica.</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310896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31089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BLOQUE 5 · EL EXPERIMENTO</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La misma tabla, con cien veces más datos</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Mismos porcentajes exactos. Solo cambia n. Mira qué le pasa al χ².</a:t>
            </a:r>
            <a:endParaRPr lang="en-US" sz="1400" dirty="0"/>
          </a:p>
        </p:txBody>
      </p:sp>
      <p:sp>
        <p:nvSpPr>
          <p:cNvPr id="6" name="Text 4"/>
          <p:cNvSpPr/>
          <p:nvPr/>
        </p:nvSpPr>
        <p:spPr>
          <a:xfrm>
            <a:off x="1417320" y="2011680"/>
            <a:ext cx="2286000" cy="256032"/>
          </a:xfrm>
          <a:prstGeom prst="rect">
            <a:avLst/>
          </a:prstGeom>
          <a:noFill/>
          <a:ln/>
        </p:spPr>
        <p:txBody>
          <a:bodyPr wrap="square" lIns="0" tIns="0" rIns="0" bIns="0" rtlCol="0" anchor="t"/>
          <a:lstStyle/>
          <a:p>
            <a:pPr algn="l" indent="0" marL="0">
              <a:lnSpc>
                <a:spcPct val="108000"/>
              </a:lnSpc>
              <a:buNone/>
            </a:pPr>
            <a:r>
              <a:rPr lang="en-US" sz="1200" b="1" dirty="0">
                <a:solidFill>
                  <a:srgbClr val="0A2559"/>
                </a:solidFill>
                <a:latin typeface="Calibri" pitchFamily="34" charset="0"/>
                <a:ea typeface="Calibri" pitchFamily="34" charset="-122"/>
                <a:cs typeface="Calibri" pitchFamily="34" charset="-120"/>
              </a:rPr>
              <a:t>n = 200</a:t>
            </a:r>
            <a:endParaRPr lang="en-US" sz="1200" dirty="0"/>
          </a:p>
        </p:txBody>
      </p:sp>
      <p:sp>
        <p:nvSpPr>
          <p:cNvPr id="7" name="Shape 5"/>
          <p:cNvSpPr/>
          <p:nvPr/>
        </p:nvSpPr>
        <p:spPr>
          <a:xfrm>
            <a:off x="2103120" y="2267712"/>
            <a:ext cx="1097280" cy="384048"/>
          </a:xfrm>
          <a:prstGeom prst="rect">
            <a:avLst/>
          </a:prstGeom>
          <a:solidFill>
            <a:srgbClr val="0A2559"/>
          </a:solidFill>
          <a:ln w="12700">
            <a:solidFill>
              <a:srgbClr val="0A2559"/>
            </a:solidFill>
            <a:prstDash val="solid"/>
          </a:ln>
        </p:spPr>
      </p:sp>
      <p:sp>
        <p:nvSpPr>
          <p:cNvPr id="8" name="Text 6"/>
          <p:cNvSpPr/>
          <p:nvPr/>
        </p:nvSpPr>
        <p:spPr>
          <a:xfrm>
            <a:off x="2103120" y="2267712"/>
            <a:ext cx="1097280"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Rechazada</a:t>
            </a:r>
            <a:endParaRPr lang="en-US" sz="950" dirty="0"/>
          </a:p>
        </p:txBody>
      </p:sp>
      <p:sp>
        <p:nvSpPr>
          <p:cNvPr id="9" name="Shape 7"/>
          <p:cNvSpPr/>
          <p:nvPr/>
        </p:nvSpPr>
        <p:spPr>
          <a:xfrm>
            <a:off x="3200400" y="2267712"/>
            <a:ext cx="1097280" cy="384048"/>
          </a:xfrm>
          <a:prstGeom prst="rect">
            <a:avLst/>
          </a:prstGeom>
          <a:solidFill>
            <a:srgbClr val="0A2559"/>
          </a:solidFill>
          <a:ln w="12700">
            <a:solidFill>
              <a:srgbClr val="0A2559"/>
            </a:solidFill>
            <a:prstDash val="solid"/>
          </a:ln>
        </p:spPr>
      </p:sp>
      <p:sp>
        <p:nvSpPr>
          <p:cNvPr id="10" name="Text 8"/>
          <p:cNvSpPr/>
          <p:nvPr/>
        </p:nvSpPr>
        <p:spPr>
          <a:xfrm>
            <a:off x="3200400" y="2267712"/>
            <a:ext cx="1097280"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Aprobada</a:t>
            </a:r>
            <a:endParaRPr lang="en-US" sz="950" dirty="0"/>
          </a:p>
        </p:txBody>
      </p:sp>
      <p:sp>
        <p:nvSpPr>
          <p:cNvPr id="11" name="Shape 9"/>
          <p:cNvSpPr/>
          <p:nvPr/>
        </p:nvSpPr>
        <p:spPr>
          <a:xfrm>
            <a:off x="822960" y="2651760"/>
            <a:ext cx="1280160" cy="384048"/>
          </a:xfrm>
          <a:prstGeom prst="rect">
            <a:avLst/>
          </a:prstGeom>
          <a:solidFill>
            <a:srgbClr val="0A2559"/>
          </a:solidFill>
          <a:ln w="12700">
            <a:solidFill>
              <a:srgbClr val="0A2559"/>
            </a:solidFill>
            <a:prstDash val="solid"/>
          </a:ln>
        </p:spPr>
      </p:sp>
      <p:sp>
        <p:nvSpPr>
          <p:cNvPr id="12" name="Text 10"/>
          <p:cNvSpPr/>
          <p:nvPr/>
        </p:nvSpPr>
        <p:spPr>
          <a:xfrm>
            <a:off x="822960" y="2651760"/>
            <a:ext cx="1280160" cy="384048"/>
          </a:xfrm>
          <a:prstGeom prst="rect">
            <a:avLst/>
          </a:prstGeom>
          <a:noFill/>
          <a:ln/>
        </p:spPr>
        <p:txBody>
          <a:bodyPr wrap="square" lIns="1270" tIns="1270" rIns="1270" bIns="127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Agencia</a:t>
            </a:r>
            <a:endParaRPr lang="en-US" sz="950" dirty="0"/>
          </a:p>
        </p:txBody>
      </p:sp>
      <p:sp>
        <p:nvSpPr>
          <p:cNvPr id="13" name="Shape 11"/>
          <p:cNvSpPr/>
          <p:nvPr/>
        </p:nvSpPr>
        <p:spPr>
          <a:xfrm>
            <a:off x="2103120" y="2651760"/>
            <a:ext cx="1097280" cy="384048"/>
          </a:xfrm>
          <a:prstGeom prst="rect">
            <a:avLst/>
          </a:prstGeom>
          <a:solidFill>
            <a:srgbClr val="FFFFFF"/>
          </a:solidFill>
          <a:ln w="12700">
            <a:solidFill>
              <a:srgbClr val="D2DBEC"/>
            </a:solidFill>
            <a:prstDash val="solid"/>
          </a:ln>
        </p:spPr>
      </p:sp>
      <p:sp>
        <p:nvSpPr>
          <p:cNvPr id="14" name="Text 12"/>
          <p:cNvSpPr/>
          <p:nvPr/>
        </p:nvSpPr>
        <p:spPr>
          <a:xfrm>
            <a:off x="2103120" y="2651760"/>
            <a:ext cx="1097280" cy="384048"/>
          </a:xfrm>
          <a:prstGeom prst="rect">
            <a:avLst/>
          </a:prstGeom>
          <a:noFill/>
          <a:ln/>
        </p:spPr>
        <p:txBody>
          <a:bodyPr wrap="square" lIns="0" tIns="0" rIns="0" bIns="0" rtlCol="0" anchor="ctr"/>
          <a:lstStyle/>
          <a:p>
            <a:pPr algn="ctr" indent="0" marL="0">
              <a:buNone/>
            </a:pPr>
            <a:r>
              <a:rPr lang="en-US" sz="1300" b="1" dirty="0">
                <a:solidFill>
                  <a:srgbClr val="0A2559"/>
                </a:solidFill>
                <a:latin typeface="Calibri" pitchFamily="34" charset="0"/>
                <a:ea typeface="Calibri" pitchFamily="34" charset="-122"/>
                <a:cs typeface="Calibri" pitchFamily="34" charset="-120"/>
              </a:rPr>
              <a:t>40</a:t>
            </a:r>
            <a:endParaRPr lang="en-US" sz="1300" dirty="0"/>
          </a:p>
        </p:txBody>
      </p:sp>
      <p:sp>
        <p:nvSpPr>
          <p:cNvPr id="15" name="Shape 13"/>
          <p:cNvSpPr/>
          <p:nvPr/>
        </p:nvSpPr>
        <p:spPr>
          <a:xfrm>
            <a:off x="3200400" y="2651760"/>
            <a:ext cx="1097280" cy="384048"/>
          </a:xfrm>
          <a:prstGeom prst="rect">
            <a:avLst/>
          </a:prstGeom>
          <a:solidFill>
            <a:srgbClr val="FFFFFF"/>
          </a:solidFill>
          <a:ln w="12700">
            <a:solidFill>
              <a:srgbClr val="D2DBEC"/>
            </a:solidFill>
            <a:prstDash val="solid"/>
          </a:ln>
        </p:spPr>
      </p:sp>
      <p:sp>
        <p:nvSpPr>
          <p:cNvPr id="16" name="Text 14"/>
          <p:cNvSpPr/>
          <p:nvPr/>
        </p:nvSpPr>
        <p:spPr>
          <a:xfrm>
            <a:off x="3200400" y="2651760"/>
            <a:ext cx="1097280" cy="384048"/>
          </a:xfrm>
          <a:prstGeom prst="rect">
            <a:avLst/>
          </a:prstGeom>
          <a:noFill/>
          <a:ln/>
        </p:spPr>
        <p:txBody>
          <a:bodyPr wrap="square" lIns="0" tIns="0" rIns="0" bIns="0" rtlCol="0" anchor="ctr"/>
          <a:lstStyle/>
          <a:p>
            <a:pPr algn="ctr" indent="0" marL="0">
              <a:buNone/>
            </a:pPr>
            <a:r>
              <a:rPr lang="en-US" sz="1300" b="1" dirty="0">
                <a:solidFill>
                  <a:srgbClr val="0A2559"/>
                </a:solidFill>
                <a:latin typeface="Calibri" pitchFamily="34" charset="0"/>
                <a:ea typeface="Calibri" pitchFamily="34" charset="-122"/>
                <a:cs typeface="Calibri" pitchFamily="34" charset="-120"/>
              </a:rPr>
              <a:t>60</a:t>
            </a:r>
            <a:endParaRPr lang="en-US" sz="1300" dirty="0"/>
          </a:p>
        </p:txBody>
      </p:sp>
      <p:sp>
        <p:nvSpPr>
          <p:cNvPr id="17" name="Shape 15"/>
          <p:cNvSpPr/>
          <p:nvPr/>
        </p:nvSpPr>
        <p:spPr>
          <a:xfrm>
            <a:off x="822960" y="3035808"/>
            <a:ext cx="1280160" cy="384048"/>
          </a:xfrm>
          <a:prstGeom prst="rect">
            <a:avLst/>
          </a:prstGeom>
          <a:solidFill>
            <a:srgbClr val="0A2559"/>
          </a:solidFill>
          <a:ln w="12700">
            <a:solidFill>
              <a:srgbClr val="0A2559"/>
            </a:solidFill>
            <a:prstDash val="solid"/>
          </a:ln>
        </p:spPr>
      </p:sp>
      <p:sp>
        <p:nvSpPr>
          <p:cNvPr id="18" name="Text 16"/>
          <p:cNvSpPr/>
          <p:nvPr/>
        </p:nvSpPr>
        <p:spPr>
          <a:xfrm>
            <a:off x="822960" y="3035808"/>
            <a:ext cx="1280160" cy="384048"/>
          </a:xfrm>
          <a:prstGeom prst="rect">
            <a:avLst/>
          </a:prstGeom>
          <a:noFill/>
          <a:ln/>
        </p:spPr>
        <p:txBody>
          <a:bodyPr wrap="square" lIns="1270" tIns="1270" rIns="1270" bIns="127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App</a:t>
            </a:r>
            <a:endParaRPr lang="en-US" sz="950" dirty="0"/>
          </a:p>
        </p:txBody>
      </p:sp>
      <p:sp>
        <p:nvSpPr>
          <p:cNvPr id="19" name="Shape 17"/>
          <p:cNvSpPr/>
          <p:nvPr/>
        </p:nvSpPr>
        <p:spPr>
          <a:xfrm>
            <a:off x="2103120" y="3035808"/>
            <a:ext cx="1097280" cy="384048"/>
          </a:xfrm>
          <a:prstGeom prst="rect">
            <a:avLst/>
          </a:prstGeom>
          <a:solidFill>
            <a:srgbClr val="FFFFFF"/>
          </a:solidFill>
          <a:ln w="12700">
            <a:solidFill>
              <a:srgbClr val="D2DBEC"/>
            </a:solidFill>
            <a:prstDash val="solid"/>
          </a:ln>
        </p:spPr>
      </p:sp>
      <p:sp>
        <p:nvSpPr>
          <p:cNvPr id="20" name="Text 18"/>
          <p:cNvSpPr/>
          <p:nvPr/>
        </p:nvSpPr>
        <p:spPr>
          <a:xfrm>
            <a:off x="2103120" y="3035808"/>
            <a:ext cx="1097280" cy="384048"/>
          </a:xfrm>
          <a:prstGeom prst="rect">
            <a:avLst/>
          </a:prstGeom>
          <a:noFill/>
          <a:ln/>
        </p:spPr>
        <p:txBody>
          <a:bodyPr wrap="square" lIns="0" tIns="0" rIns="0" bIns="0" rtlCol="0" anchor="ctr"/>
          <a:lstStyle/>
          <a:p>
            <a:pPr algn="ctr" indent="0" marL="0">
              <a:buNone/>
            </a:pPr>
            <a:r>
              <a:rPr lang="en-US" sz="1300" b="1" dirty="0">
                <a:solidFill>
                  <a:srgbClr val="0A2559"/>
                </a:solidFill>
                <a:latin typeface="Calibri" pitchFamily="34" charset="0"/>
                <a:ea typeface="Calibri" pitchFamily="34" charset="-122"/>
                <a:cs typeface="Calibri" pitchFamily="34" charset="-120"/>
              </a:rPr>
              <a:t>20</a:t>
            </a:r>
            <a:endParaRPr lang="en-US" sz="1300" dirty="0"/>
          </a:p>
        </p:txBody>
      </p:sp>
      <p:sp>
        <p:nvSpPr>
          <p:cNvPr id="21" name="Shape 19"/>
          <p:cNvSpPr/>
          <p:nvPr/>
        </p:nvSpPr>
        <p:spPr>
          <a:xfrm>
            <a:off x="3200400" y="3035808"/>
            <a:ext cx="1097280" cy="384048"/>
          </a:xfrm>
          <a:prstGeom prst="rect">
            <a:avLst/>
          </a:prstGeom>
          <a:solidFill>
            <a:srgbClr val="FFFFFF"/>
          </a:solidFill>
          <a:ln w="12700">
            <a:solidFill>
              <a:srgbClr val="D2DBEC"/>
            </a:solidFill>
            <a:prstDash val="solid"/>
          </a:ln>
        </p:spPr>
      </p:sp>
      <p:sp>
        <p:nvSpPr>
          <p:cNvPr id="22" name="Text 20"/>
          <p:cNvSpPr/>
          <p:nvPr/>
        </p:nvSpPr>
        <p:spPr>
          <a:xfrm>
            <a:off x="3200400" y="3035808"/>
            <a:ext cx="1097280" cy="384048"/>
          </a:xfrm>
          <a:prstGeom prst="rect">
            <a:avLst/>
          </a:prstGeom>
          <a:noFill/>
          <a:ln/>
        </p:spPr>
        <p:txBody>
          <a:bodyPr wrap="square" lIns="0" tIns="0" rIns="0" bIns="0" rtlCol="0" anchor="ctr"/>
          <a:lstStyle/>
          <a:p>
            <a:pPr algn="ctr" indent="0" marL="0">
              <a:buNone/>
            </a:pPr>
            <a:r>
              <a:rPr lang="en-US" sz="1300" b="1" dirty="0">
                <a:solidFill>
                  <a:srgbClr val="0A2559"/>
                </a:solidFill>
                <a:latin typeface="Calibri" pitchFamily="34" charset="0"/>
                <a:ea typeface="Calibri" pitchFamily="34" charset="-122"/>
                <a:cs typeface="Calibri" pitchFamily="34" charset="-120"/>
              </a:rPr>
              <a:t>80</a:t>
            </a:r>
            <a:endParaRPr lang="en-US" sz="1300" dirty="0"/>
          </a:p>
        </p:txBody>
      </p:sp>
      <p:sp>
        <p:nvSpPr>
          <p:cNvPr id="23" name="Text 21"/>
          <p:cNvSpPr/>
          <p:nvPr/>
        </p:nvSpPr>
        <p:spPr>
          <a:xfrm>
            <a:off x="5029200" y="2468880"/>
            <a:ext cx="1097280" cy="457200"/>
          </a:xfrm>
          <a:prstGeom prst="rect">
            <a:avLst/>
          </a:prstGeom>
          <a:noFill/>
          <a:ln/>
        </p:spPr>
        <p:txBody>
          <a:bodyPr wrap="square" lIns="0" tIns="0" rIns="0" bIns="0" rtlCol="0" anchor="ctr"/>
          <a:lstStyle/>
          <a:p>
            <a:pPr algn="ctr" indent="0" marL="0">
              <a:buNone/>
            </a:pPr>
            <a:r>
              <a:rPr lang="en-US" sz="2000" b="1" dirty="0">
                <a:solidFill>
                  <a:srgbClr val="E6115E"/>
                </a:solidFill>
                <a:latin typeface="Calibri" pitchFamily="34" charset="0"/>
                <a:ea typeface="Calibri" pitchFamily="34" charset="-122"/>
                <a:cs typeface="Calibri" pitchFamily="34" charset="-120"/>
              </a:rPr>
              <a:t>× 100</a:t>
            </a:r>
            <a:endParaRPr lang="en-US" sz="2000" dirty="0"/>
          </a:p>
        </p:txBody>
      </p:sp>
      <p:sp>
        <p:nvSpPr>
          <p:cNvPr id="24" name="Text 22"/>
          <p:cNvSpPr/>
          <p:nvPr/>
        </p:nvSpPr>
        <p:spPr>
          <a:xfrm>
            <a:off x="7178040" y="2011680"/>
            <a:ext cx="2286000" cy="256032"/>
          </a:xfrm>
          <a:prstGeom prst="rect">
            <a:avLst/>
          </a:prstGeom>
          <a:noFill/>
          <a:ln/>
        </p:spPr>
        <p:txBody>
          <a:bodyPr wrap="square" lIns="0" tIns="0" rIns="0" bIns="0" rtlCol="0" anchor="t"/>
          <a:lstStyle/>
          <a:p>
            <a:pPr algn="l" indent="0" marL="0">
              <a:lnSpc>
                <a:spcPct val="108000"/>
              </a:lnSpc>
              <a:buNone/>
            </a:pPr>
            <a:r>
              <a:rPr lang="en-US" sz="1200" b="1" dirty="0">
                <a:solidFill>
                  <a:srgbClr val="E6115E"/>
                </a:solidFill>
                <a:latin typeface="Calibri" pitchFamily="34" charset="0"/>
                <a:ea typeface="Calibri" pitchFamily="34" charset="-122"/>
                <a:cs typeface="Calibri" pitchFamily="34" charset="-120"/>
              </a:rPr>
              <a:t>n = 20 000</a:t>
            </a:r>
            <a:endParaRPr lang="en-US" sz="1200" dirty="0"/>
          </a:p>
        </p:txBody>
      </p:sp>
      <p:sp>
        <p:nvSpPr>
          <p:cNvPr id="25" name="Shape 23"/>
          <p:cNvSpPr/>
          <p:nvPr/>
        </p:nvSpPr>
        <p:spPr>
          <a:xfrm>
            <a:off x="7863840" y="2267712"/>
            <a:ext cx="1234440" cy="384048"/>
          </a:xfrm>
          <a:prstGeom prst="rect">
            <a:avLst/>
          </a:prstGeom>
          <a:solidFill>
            <a:srgbClr val="0A2559"/>
          </a:solidFill>
          <a:ln w="12700">
            <a:solidFill>
              <a:srgbClr val="0A2559"/>
            </a:solidFill>
            <a:prstDash val="solid"/>
          </a:ln>
        </p:spPr>
      </p:sp>
      <p:sp>
        <p:nvSpPr>
          <p:cNvPr id="26" name="Text 24"/>
          <p:cNvSpPr/>
          <p:nvPr/>
        </p:nvSpPr>
        <p:spPr>
          <a:xfrm>
            <a:off x="7863840" y="2267712"/>
            <a:ext cx="1234440"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Rechazada</a:t>
            </a:r>
            <a:endParaRPr lang="en-US" sz="950" dirty="0"/>
          </a:p>
        </p:txBody>
      </p:sp>
      <p:sp>
        <p:nvSpPr>
          <p:cNvPr id="27" name="Shape 25"/>
          <p:cNvSpPr/>
          <p:nvPr/>
        </p:nvSpPr>
        <p:spPr>
          <a:xfrm>
            <a:off x="9098280" y="2267712"/>
            <a:ext cx="1234440" cy="384048"/>
          </a:xfrm>
          <a:prstGeom prst="rect">
            <a:avLst/>
          </a:prstGeom>
          <a:solidFill>
            <a:srgbClr val="0A2559"/>
          </a:solidFill>
          <a:ln w="12700">
            <a:solidFill>
              <a:srgbClr val="0A2559"/>
            </a:solidFill>
            <a:prstDash val="solid"/>
          </a:ln>
        </p:spPr>
      </p:sp>
      <p:sp>
        <p:nvSpPr>
          <p:cNvPr id="28" name="Text 26"/>
          <p:cNvSpPr/>
          <p:nvPr/>
        </p:nvSpPr>
        <p:spPr>
          <a:xfrm>
            <a:off x="9098280" y="2267712"/>
            <a:ext cx="1234440"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Aprobada</a:t>
            </a:r>
            <a:endParaRPr lang="en-US" sz="950" dirty="0"/>
          </a:p>
        </p:txBody>
      </p:sp>
      <p:sp>
        <p:nvSpPr>
          <p:cNvPr id="29" name="Shape 27"/>
          <p:cNvSpPr/>
          <p:nvPr/>
        </p:nvSpPr>
        <p:spPr>
          <a:xfrm>
            <a:off x="6583680" y="2651760"/>
            <a:ext cx="1280160" cy="384048"/>
          </a:xfrm>
          <a:prstGeom prst="rect">
            <a:avLst/>
          </a:prstGeom>
          <a:solidFill>
            <a:srgbClr val="0A2559"/>
          </a:solidFill>
          <a:ln w="12700">
            <a:solidFill>
              <a:srgbClr val="0A2559"/>
            </a:solidFill>
            <a:prstDash val="solid"/>
          </a:ln>
        </p:spPr>
      </p:sp>
      <p:sp>
        <p:nvSpPr>
          <p:cNvPr id="30" name="Text 28"/>
          <p:cNvSpPr/>
          <p:nvPr/>
        </p:nvSpPr>
        <p:spPr>
          <a:xfrm>
            <a:off x="6583680" y="2651760"/>
            <a:ext cx="1280160" cy="384048"/>
          </a:xfrm>
          <a:prstGeom prst="rect">
            <a:avLst/>
          </a:prstGeom>
          <a:noFill/>
          <a:ln/>
        </p:spPr>
        <p:txBody>
          <a:bodyPr wrap="square" lIns="1270" tIns="1270" rIns="1270" bIns="127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Agencia</a:t>
            </a:r>
            <a:endParaRPr lang="en-US" sz="950" dirty="0"/>
          </a:p>
        </p:txBody>
      </p:sp>
      <p:sp>
        <p:nvSpPr>
          <p:cNvPr id="31" name="Shape 29"/>
          <p:cNvSpPr/>
          <p:nvPr/>
        </p:nvSpPr>
        <p:spPr>
          <a:xfrm>
            <a:off x="7863840" y="2651760"/>
            <a:ext cx="1234440" cy="384048"/>
          </a:xfrm>
          <a:prstGeom prst="rect">
            <a:avLst/>
          </a:prstGeom>
          <a:solidFill>
            <a:srgbClr val="FFFFFF"/>
          </a:solidFill>
          <a:ln w="12700">
            <a:solidFill>
              <a:srgbClr val="D2DBEC"/>
            </a:solidFill>
            <a:prstDash val="solid"/>
          </a:ln>
        </p:spPr>
      </p:sp>
      <p:sp>
        <p:nvSpPr>
          <p:cNvPr id="32" name="Text 30"/>
          <p:cNvSpPr/>
          <p:nvPr/>
        </p:nvSpPr>
        <p:spPr>
          <a:xfrm>
            <a:off x="7863840" y="2651760"/>
            <a:ext cx="1234440" cy="384048"/>
          </a:xfrm>
          <a:prstGeom prst="rect">
            <a:avLst/>
          </a:prstGeom>
          <a:noFill/>
          <a:ln/>
        </p:spPr>
        <p:txBody>
          <a:bodyPr wrap="square" lIns="0" tIns="0" rIns="0" bIns="0" rtlCol="0" anchor="ctr"/>
          <a:lstStyle/>
          <a:p>
            <a:pPr algn="ctr" indent="0" marL="0">
              <a:buNone/>
            </a:pPr>
            <a:r>
              <a:rPr lang="en-US" sz="1200" b="1" dirty="0">
                <a:solidFill>
                  <a:srgbClr val="0A2559"/>
                </a:solidFill>
                <a:latin typeface="Calibri" pitchFamily="34" charset="0"/>
                <a:ea typeface="Calibri" pitchFamily="34" charset="-122"/>
                <a:cs typeface="Calibri" pitchFamily="34" charset="-120"/>
              </a:rPr>
              <a:t>4000</a:t>
            </a:r>
            <a:endParaRPr lang="en-US" sz="1200" dirty="0"/>
          </a:p>
        </p:txBody>
      </p:sp>
      <p:sp>
        <p:nvSpPr>
          <p:cNvPr id="33" name="Shape 31"/>
          <p:cNvSpPr/>
          <p:nvPr/>
        </p:nvSpPr>
        <p:spPr>
          <a:xfrm>
            <a:off x="9098280" y="2651760"/>
            <a:ext cx="1234440" cy="384048"/>
          </a:xfrm>
          <a:prstGeom prst="rect">
            <a:avLst/>
          </a:prstGeom>
          <a:solidFill>
            <a:srgbClr val="FFFFFF"/>
          </a:solidFill>
          <a:ln w="12700">
            <a:solidFill>
              <a:srgbClr val="D2DBEC"/>
            </a:solidFill>
            <a:prstDash val="solid"/>
          </a:ln>
        </p:spPr>
      </p:sp>
      <p:sp>
        <p:nvSpPr>
          <p:cNvPr id="34" name="Text 32"/>
          <p:cNvSpPr/>
          <p:nvPr/>
        </p:nvSpPr>
        <p:spPr>
          <a:xfrm>
            <a:off x="9098280" y="2651760"/>
            <a:ext cx="1234440" cy="384048"/>
          </a:xfrm>
          <a:prstGeom prst="rect">
            <a:avLst/>
          </a:prstGeom>
          <a:noFill/>
          <a:ln/>
        </p:spPr>
        <p:txBody>
          <a:bodyPr wrap="square" lIns="0" tIns="0" rIns="0" bIns="0" rtlCol="0" anchor="ctr"/>
          <a:lstStyle/>
          <a:p>
            <a:pPr algn="ctr" indent="0" marL="0">
              <a:buNone/>
            </a:pPr>
            <a:r>
              <a:rPr lang="en-US" sz="1200" b="1" dirty="0">
                <a:solidFill>
                  <a:srgbClr val="0A2559"/>
                </a:solidFill>
                <a:latin typeface="Calibri" pitchFamily="34" charset="0"/>
                <a:ea typeface="Calibri" pitchFamily="34" charset="-122"/>
                <a:cs typeface="Calibri" pitchFamily="34" charset="-120"/>
              </a:rPr>
              <a:t>6000</a:t>
            </a:r>
            <a:endParaRPr lang="en-US" sz="1200" dirty="0"/>
          </a:p>
        </p:txBody>
      </p:sp>
      <p:sp>
        <p:nvSpPr>
          <p:cNvPr id="35" name="Shape 33"/>
          <p:cNvSpPr/>
          <p:nvPr/>
        </p:nvSpPr>
        <p:spPr>
          <a:xfrm>
            <a:off x="6583680" y="3035808"/>
            <a:ext cx="1280160" cy="384048"/>
          </a:xfrm>
          <a:prstGeom prst="rect">
            <a:avLst/>
          </a:prstGeom>
          <a:solidFill>
            <a:srgbClr val="0A2559"/>
          </a:solidFill>
          <a:ln w="12700">
            <a:solidFill>
              <a:srgbClr val="0A2559"/>
            </a:solidFill>
            <a:prstDash val="solid"/>
          </a:ln>
        </p:spPr>
      </p:sp>
      <p:sp>
        <p:nvSpPr>
          <p:cNvPr id="36" name="Text 34"/>
          <p:cNvSpPr/>
          <p:nvPr/>
        </p:nvSpPr>
        <p:spPr>
          <a:xfrm>
            <a:off x="6583680" y="3035808"/>
            <a:ext cx="1280160" cy="384048"/>
          </a:xfrm>
          <a:prstGeom prst="rect">
            <a:avLst/>
          </a:prstGeom>
          <a:noFill/>
          <a:ln/>
        </p:spPr>
        <p:txBody>
          <a:bodyPr wrap="square" lIns="1270" tIns="1270" rIns="1270" bIns="127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App</a:t>
            </a:r>
            <a:endParaRPr lang="en-US" sz="950" dirty="0"/>
          </a:p>
        </p:txBody>
      </p:sp>
      <p:sp>
        <p:nvSpPr>
          <p:cNvPr id="37" name="Shape 35"/>
          <p:cNvSpPr/>
          <p:nvPr/>
        </p:nvSpPr>
        <p:spPr>
          <a:xfrm>
            <a:off x="7863840" y="3035808"/>
            <a:ext cx="1234440" cy="384048"/>
          </a:xfrm>
          <a:prstGeom prst="rect">
            <a:avLst/>
          </a:prstGeom>
          <a:solidFill>
            <a:srgbClr val="FFFFFF"/>
          </a:solidFill>
          <a:ln w="12700">
            <a:solidFill>
              <a:srgbClr val="D2DBEC"/>
            </a:solidFill>
            <a:prstDash val="solid"/>
          </a:ln>
        </p:spPr>
      </p:sp>
      <p:sp>
        <p:nvSpPr>
          <p:cNvPr id="38" name="Text 36"/>
          <p:cNvSpPr/>
          <p:nvPr/>
        </p:nvSpPr>
        <p:spPr>
          <a:xfrm>
            <a:off x="7863840" y="3035808"/>
            <a:ext cx="1234440" cy="384048"/>
          </a:xfrm>
          <a:prstGeom prst="rect">
            <a:avLst/>
          </a:prstGeom>
          <a:noFill/>
          <a:ln/>
        </p:spPr>
        <p:txBody>
          <a:bodyPr wrap="square" lIns="0" tIns="0" rIns="0" bIns="0" rtlCol="0" anchor="ctr"/>
          <a:lstStyle/>
          <a:p>
            <a:pPr algn="ctr" indent="0" marL="0">
              <a:buNone/>
            </a:pPr>
            <a:r>
              <a:rPr lang="en-US" sz="1200" b="1" dirty="0">
                <a:solidFill>
                  <a:srgbClr val="0A2559"/>
                </a:solidFill>
                <a:latin typeface="Calibri" pitchFamily="34" charset="0"/>
                <a:ea typeface="Calibri" pitchFamily="34" charset="-122"/>
                <a:cs typeface="Calibri" pitchFamily="34" charset="-120"/>
              </a:rPr>
              <a:t>2000</a:t>
            </a:r>
            <a:endParaRPr lang="en-US" sz="1200" dirty="0"/>
          </a:p>
        </p:txBody>
      </p:sp>
      <p:sp>
        <p:nvSpPr>
          <p:cNvPr id="39" name="Shape 37"/>
          <p:cNvSpPr/>
          <p:nvPr/>
        </p:nvSpPr>
        <p:spPr>
          <a:xfrm>
            <a:off x="9098280" y="3035808"/>
            <a:ext cx="1234440" cy="384048"/>
          </a:xfrm>
          <a:prstGeom prst="rect">
            <a:avLst/>
          </a:prstGeom>
          <a:solidFill>
            <a:srgbClr val="FFFFFF"/>
          </a:solidFill>
          <a:ln w="12700">
            <a:solidFill>
              <a:srgbClr val="D2DBEC"/>
            </a:solidFill>
            <a:prstDash val="solid"/>
          </a:ln>
        </p:spPr>
      </p:sp>
      <p:sp>
        <p:nvSpPr>
          <p:cNvPr id="40" name="Text 38"/>
          <p:cNvSpPr/>
          <p:nvPr/>
        </p:nvSpPr>
        <p:spPr>
          <a:xfrm>
            <a:off x="9098280" y="3035808"/>
            <a:ext cx="1234440" cy="384048"/>
          </a:xfrm>
          <a:prstGeom prst="rect">
            <a:avLst/>
          </a:prstGeom>
          <a:noFill/>
          <a:ln/>
        </p:spPr>
        <p:txBody>
          <a:bodyPr wrap="square" lIns="0" tIns="0" rIns="0" bIns="0" rtlCol="0" anchor="ctr"/>
          <a:lstStyle/>
          <a:p>
            <a:pPr algn="ctr" indent="0" marL="0">
              <a:buNone/>
            </a:pPr>
            <a:r>
              <a:rPr lang="en-US" sz="1200" b="1" dirty="0">
                <a:solidFill>
                  <a:srgbClr val="0A2559"/>
                </a:solidFill>
                <a:latin typeface="Calibri" pitchFamily="34" charset="0"/>
                <a:ea typeface="Calibri" pitchFamily="34" charset="-122"/>
                <a:cs typeface="Calibri" pitchFamily="34" charset="-120"/>
              </a:rPr>
              <a:t>8000</a:t>
            </a:r>
            <a:endParaRPr lang="en-US" sz="1200" dirty="0"/>
          </a:p>
        </p:txBody>
      </p:sp>
      <p:sp>
        <p:nvSpPr>
          <p:cNvPr id="41" name="Shape 39"/>
          <p:cNvSpPr/>
          <p:nvPr/>
        </p:nvSpPr>
        <p:spPr>
          <a:xfrm>
            <a:off x="548640" y="3493008"/>
            <a:ext cx="11091672" cy="548640"/>
          </a:xfrm>
          <a:prstGeom prst="roundRect">
            <a:avLst>
              <a:gd name="adj" fmla="val 10000"/>
            </a:avLst>
          </a:prstGeom>
          <a:solidFill>
            <a:srgbClr val="E9EEF8"/>
          </a:solidFill>
          <a:ln w="12700">
            <a:solidFill>
              <a:srgbClr val="D2DBEC"/>
            </a:solidFill>
            <a:prstDash val="solid"/>
          </a:ln>
        </p:spPr>
      </p:sp>
      <p:sp>
        <p:nvSpPr>
          <p:cNvPr id="42" name="Text 40"/>
          <p:cNvSpPr/>
          <p:nvPr/>
        </p:nvSpPr>
        <p:spPr>
          <a:xfrm>
            <a:off x="822960" y="3493008"/>
            <a:ext cx="10607040" cy="548640"/>
          </a:xfrm>
          <a:prstGeom prst="rect">
            <a:avLst/>
          </a:prstGeom>
          <a:noFill/>
          <a:ln/>
        </p:spPr>
        <p:txBody>
          <a:bodyPr wrap="square" lIns="0" tIns="0" rIns="0" bIns="0" rtlCol="0" anchor="ctr"/>
          <a:lstStyle/>
          <a:p>
            <a:pPr algn="ctr" indent="0" marL="0">
              <a:lnSpc>
                <a:spcPct val="108000"/>
              </a:lnSpc>
              <a:buNone/>
            </a:pPr>
            <a:r>
              <a:rPr lang="en-US" sz="1200" b="1" dirty="0">
                <a:solidFill>
                  <a:srgbClr val="2C3A55"/>
                </a:solidFill>
                <a:latin typeface="Calibri" pitchFamily="34" charset="0"/>
                <a:ea typeface="Calibri" pitchFamily="34" charset="-122"/>
                <a:cs typeface="Calibri" pitchFamily="34" charset="-120"/>
              </a:rPr>
              <a:t>Los porcentajes NO cambiaron: agencia sigue rechazando el 40 % y app el 20 %.</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4206240"/>
          <a:ext cx="11091672" cy="914400"/>
        </p:xfrm>
        <a:graphic>
          <a:graphicData uri="http://schemas.openxmlformats.org/drawingml/2006/table">
            <a:tbl>
              <a:tblPr/>
              <a:tblGrid>
                <a:gridCol w="2651760"/>
                <a:gridCol w="1737360"/>
                <a:gridCol w="2011680"/>
                <a:gridCol w="2377440"/>
                <a:gridCol w="2313432"/>
              </a:tblGrid>
              <a:tr h="420624">
                <a:tc>
                  <a:txBody>
                    <a:bodyPr/>
                    <a:lstStyle/>
                    <a:p>
                      <a:pPr indent="0" marL="0">
                        <a:buNone/>
                      </a:pP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χ²</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p-valor</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Cramér's V</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r>
              <a:tr h="420624">
                <a:tc>
                  <a:txBody>
                    <a:bodyPr/>
                    <a:lstStyle/>
                    <a:p>
                      <a:pPr indent="0" marL="0">
                        <a:buNone/>
                      </a:pPr>
                      <a:r>
                        <a:rPr lang="en-US" sz="1150" b="1" dirty="0">
                          <a:solidFill>
                            <a:srgbClr val="2C3A55"/>
                          </a:solidFill>
                          <a:latin typeface="Calibri" pitchFamily="34" charset="0"/>
                          <a:ea typeface="Calibri" pitchFamily="34" charset="-122"/>
                          <a:cs typeface="Calibri" pitchFamily="34" charset="-120"/>
                        </a:rPr>
                        <a:t>Tabla original</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200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C3A55"/>
                          </a:solidFill>
                          <a:latin typeface="Calibri" pitchFamily="34" charset="0"/>
                          <a:ea typeface="Calibri" pitchFamily="34" charset="-122"/>
                          <a:cs typeface="Calibri" pitchFamily="34" charset="-120"/>
                        </a:rPr>
                        <a:t>9.52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0.0020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2B886"/>
                          </a:solidFill>
                          <a:latin typeface="Calibri" pitchFamily="34" charset="0"/>
                          <a:ea typeface="Calibri" pitchFamily="34" charset="-122"/>
                          <a:cs typeface="Calibri" pitchFamily="34" charset="-120"/>
                        </a:rPr>
                        <a:t>0.2182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420624">
                <a:tc>
                  <a:txBody>
                    <a:bodyPr/>
                    <a:lstStyle/>
                    <a:p>
                      <a:pPr indent="0" marL="0">
                        <a:buNone/>
                      </a:pPr>
                      <a:r>
                        <a:rPr lang="en-US" sz="1150" b="1" dirty="0">
                          <a:solidFill>
                            <a:srgbClr val="E6115E"/>
                          </a:solidFill>
                          <a:latin typeface="Calibri" pitchFamily="34" charset="0"/>
                          <a:ea typeface="Calibri" pitchFamily="34" charset="-122"/>
                          <a:cs typeface="Calibri" pitchFamily="34" charset="-120"/>
                        </a:rPr>
                        <a:t>Tabla × 100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20 000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E6115E"/>
                          </a:solidFill>
                          <a:latin typeface="Calibri" pitchFamily="34" charset="0"/>
                          <a:ea typeface="Calibri" pitchFamily="34" charset="-122"/>
                          <a:cs typeface="Calibri" pitchFamily="34" charset="-120"/>
                        </a:rPr>
                        <a:t>952.38</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E6115E"/>
                          </a:solidFill>
                          <a:latin typeface="Calibri" pitchFamily="34" charset="0"/>
                          <a:ea typeface="Calibri" pitchFamily="34" charset="-122"/>
                          <a:cs typeface="Calibri" pitchFamily="34" charset="-120"/>
                        </a:rPr>
                        <a:t>4 × 10⁻²⁰⁹</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2B886"/>
                          </a:solidFill>
                          <a:latin typeface="Calibri" pitchFamily="34" charset="0"/>
                          <a:ea typeface="Calibri" pitchFamily="34" charset="-122"/>
                          <a:cs typeface="Calibri" pitchFamily="34" charset="-120"/>
                        </a:rPr>
                        <a:t>0.2182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bl>
          </a:graphicData>
        </a:graphic>
      </p:graphicFrame>
      <p:sp>
        <p:nvSpPr>
          <p:cNvPr id="44" name="Shape 41"/>
          <p:cNvSpPr/>
          <p:nvPr/>
        </p:nvSpPr>
        <p:spPr>
          <a:xfrm>
            <a:off x="548640" y="5623560"/>
            <a:ext cx="11091672" cy="685800"/>
          </a:xfrm>
          <a:prstGeom prst="roundRect">
            <a:avLst>
              <a:gd name="adj" fmla="val 8000"/>
            </a:avLst>
          </a:prstGeom>
          <a:solidFill>
            <a:srgbClr val="0A2559"/>
          </a:solidFill>
          <a:ln w="12700">
            <a:solidFill>
              <a:srgbClr val="0A2559"/>
            </a:solidFill>
            <a:prstDash val="solid"/>
          </a:ln>
        </p:spPr>
      </p:sp>
      <p:sp>
        <p:nvSpPr>
          <p:cNvPr id="45" name="Text 42"/>
          <p:cNvSpPr/>
          <p:nvPr/>
        </p:nvSpPr>
        <p:spPr>
          <a:xfrm>
            <a:off x="822960" y="5623560"/>
            <a:ext cx="10607040" cy="685800"/>
          </a:xfrm>
          <a:prstGeom prst="rect">
            <a:avLst/>
          </a:prstGeom>
          <a:noFill/>
          <a:ln/>
        </p:spPr>
        <p:txBody>
          <a:bodyPr wrap="square" lIns="0" tIns="0" rIns="0" bIns="0" rtlCol="0" anchor="ctr"/>
          <a:lstStyle/>
          <a:p>
            <a:pPr algn="ctr" indent="0" marL="0">
              <a:lnSpc>
                <a:spcPct val="108000"/>
              </a:lnSpc>
              <a:buNone/>
            </a:pPr>
            <a:r>
              <a:rPr lang="en-US" sz="1250" dirty="0">
                <a:solidFill>
                  <a:srgbClr val="C9D6F2"/>
                </a:solidFill>
                <a:latin typeface="Calibri" pitchFamily="34" charset="0"/>
                <a:ea typeface="Calibri" pitchFamily="34" charset="-122"/>
                <a:cs typeface="Calibri" pitchFamily="34" charset="-120"/>
              </a:rPr>
              <a:t>El χ² se multiplicó por 100 y el p se desplomó.  Pero mira la última columna: la V no se movió ni un decimal.</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BLOQUE 5</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Cramér's V: la fuerza de la relación</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El χ² dice si hay relación. La V dice de qué tamaño. Siempre se reportan juntos.</a:t>
            </a:r>
            <a:endParaRPr lang="en-US" sz="1400" dirty="0"/>
          </a:p>
        </p:txBody>
      </p:sp>
      <p:sp>
        <p:nvSpPr>
          <p:cNvPr id="6" name="Shape 4"/>
          <p:cNvSpPr/>
          <p:nvPr/>
        </p:nvSpPr>
        <p:spPr>
          <a:xfrm>
            <a:off x="548640" y="1965960"/>
            <a:ext cx="5943600" cy="960120"/>
          </a:xfrm>
          <a:prstGeom prst="roundRect">
            <a:avLst>
              <a:gd name="adj" fmla="val 5714"/>
            </a:avLst>
          </a:prstGeom>
          <a:solidFill>
            <a:srgbClr val="0A2559"/>
          </a:solidFill>
          <a:ln w="12700">
            <a:solidFill>
              <a:srgbClr val="0A2559"/>
            </a:solidFill>
            <a:prstDash val="solid"/>
          </a:ln>
        </p:spPr>
      </p:sp>
      <p:sp>
        <p:nvSpPr>
          <p:cNvPr id="7" name="Text 5"/>
          <p:cNvSpPr/>
          <p:nvPr/>
        </p:nvSpPr>
        <p:spPr>
          <a:xfrm>
            <a:off x="548640" y="1965960"/>
            <a:ext cx="5943600" cy="9601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V  =  √ ( χ² / ( n × k ) )</a:t>
            </a:r>
            <a:endParaRPr lang="en-US" sz="2200" dirty="0"/>
          </a:p>
        </p:txBody>
      </p:sp>
      <p:sp>
        <p:nvSpPr>
          <p:cNvPr id="8" name="Text 6"/>
          <p:cNvSpPr/>
          <p:nvPr/>
        </p:nvSpPr>
        <p:spPr>
          <a:xfrm>
            <a:off x="548640" y="2999232"/>
            <a:ext cx="5943600" cy="274320"/>
          </a:xfrm>
          <a:prstGeom prst="rect">
            <a:avLst/>
          </a:prstGeom>
          <a:noFill/>
          <a:ln/>
        </p:spPr>
        <p:txBody>
          <a:bodyPr wrap="square" lIns="0" tIns="0" rIns="0" bIns="0" rtlCol="0" anchor="t"/>
          <a:lstStyle/>
          <a:p>
            <a:pPr algn="ctr" indent="0" marL="0">
              <a:lnSpc>
                <a:spcPct val="108000"/>
              </a:lnSpc>
              <a:buNone/>
            </a:pPr>
            <a:r>
              <a:rPr lang="en-US" sz="1100" i="1" dirty="0">
                <a:solidFill>
                  <a:srgbClr val="5B6B87"/>
                </a:solidFill>
                <a:latin typeface="Calibri" pitchFamily="34" charset="0"/>
                <a:ea typeface="Calibri" pitchFamily="34" charset="-122"/>
                <a:cs typeface="Calibri" pitchFamily="34" charset="-120"/>
              </a:rPr>
              <a:t>k = el menor entre (filas − 1) y (columnas − 1). En una 2×2, k = 1.</a:t>
            </a:r>
            <a:endParaRPr lang="en-US" sz="1100" dirty="0"/>
          </a:p>
        </p:txBody>
      </p:sp>
      <p:sp>
        <p:nvSpPr>
          <p:cNvPr id="9" name="Shape 7"/>
          <p:cNvSpPr/>
          <p:nvPr/>
        </p:nvSpPr>
        <p:spPr>
          <a:xfrm>
            <a:off x="6720840" y="1965960"/>
            <a:ext cx="4919472" cy="960120"/>
          </a:xfrm>
          <a:prstGeom prst="roundRect">
            <a:avLst>
              <a:gd name="adj" fmla="val 5714"/>
            </a:avLst>
          </a:prstGeom>
          <a:solidFill>
            <a:srgbClr val="E9EEF8"/>
          </a:solidFill>
          <a:ln w="12700">
            <a:solidFill>
              <a:srgbClr val="D2DBEC"/>
            </a:solidFill>
            <a:prstDash val="solid"/>
          </a:ln>
        </p:spPr>
      </p:sp>
      <p:sp>
        <p:nvSpPr>
          <p:cNvPr id="10" name="Shape 8"/>
          <p:cNvSpPr/>
          <p:nvPr/>
        </p:nvSpPr>
        <p:spPr>
          <a:xfrm>
            <a:off x="6967728" y="2185416"/>
            <a:ext cx="118872" cy="118872"/>
          </a:xfrm>
          <a:prstGeom prst="roundRect">
            <a:avLst>
              <a:gd name="adj" fmla="val 30769"/>
            </a:avLst>
          </a:prstGeom>
          <a:solidFill>
            <a:srgbClr val="E6115E"/>
          </a:solidFill>
          <a:ln w="12700">
            <a:solidFill>
              <a:srgbClr val="E6115E"/>
            </a:solidFill>
            <a:prstDash val="solid"/>
          </a:ln>
        </p:spPr>
      </p:sp>
      <p:sp>
        <p:nvSpPr>
          <p:cNvPr id="11" name="Text 9"/>
          <p:cNvSpPr/>
          <p:nvPr/>
        </p:nvSpPr>
        <p:spPr>
          <a:xfrm>
            <a:off x="7205472" y="2084832"/>
            <a:ext cx="424281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Con nuestros números</a:t>
            </a:r>
            <a:endParaRPr lang="en-US" sz="1400" dirty="0"/>
          </a:p>
        </p:txBody>
      </p:sp>
      <p:sp>
        <p:nvSpPr>
          <p:cNvPr id="12" name="Text 10"/>
          <p:cNvSpPr/>
          <p:nvPr/>
        </p:nvSpPr>
        <p:spPr>
          <a:xfrm>
            <a:off x="6967728" y="2432304"/>
            <a:ext cx="4480560" cy="365760"/>
          </a:xfrm>
          <a:prstGeom prst="rect">
            <a:avLst/>
          </a:prstGeom>
          <a:noFill/>
          <a:ln/>
        </p:spPr>
        <p:txBody>
          <a:bodyPr wrap="square" lIns="0" tIns="0" rIns="0" bIns="0" rtlCol="0" anchor="t"/>
          <a:lstStyle/>
          <a:p>
            <a:pPr algn="l" indent="0" marL="0">
              <a:lnSpc>
                <a:spcPct val="108000"/>
              </a:lnSpc>
              <a:buNone/>
            </a:pPr>
            <a:r>
              <a:rPr lang="en-US" sz="1300" b="1" dirty="0">
                <a:solidFill>
                  <a:srgbClr val="0A2559"/>
                </a:solidFill>
                <a:latin typeface="Calibri" pitchFamily="34" charset="0"/>
                <a:ea typeface="Calibri" pitchFamily="34" charset="-122"/>
                <a:cs typeface="Calibri" pitchFamily="34" charset="-120"/>
              </a:rPr>
              <a:t>V = √( 9.52 / (200 × 1) ) = 0.2182</a:t>
            </a:r>
            <a:endParaRPr lang="en-US" sz="1300" dirty="0"/>
          </a:p>
        </p:txBody>
      </p:sp>
      <p:sp>
        <p:nvSpPr>
          <p:cNvPr id="13" name="Text 11"/>
          <p:cNvSpPr/>
          <p:nvPr/>
        </p:nvSpPr>
        <p:spPr>
          <a:xfrm>
            <a:off x="822960" y="3429000"/>
            <a:ext cx="3657600" cy="274320"/>
          </a:xfrm>
          <a:prstGeom prst="rect">
            <a:avLst/>
          </a:prstGeom>
          <a:noFill/>
          <a:ln/>
        </p:spPr>
        <p:txBody>
          <a:bodyPr wrap="square" lIns="0" tIns="0" rIns="0" bIns="0" rtlCol="0" anchor="t"/>
          <a:lstStyle/>
          <a:p>
            <a:pPr algn="l" indent="0" marL="0">
              <a:lnSpc>
                <a:spcPct val="108000"/>
              </a:lnSpc>
              <a:buNone/>
            </a:pPr>
            <a:r>
              <a:rPr lang="en-US" sz="1300" b="1" dirty="0">
                <a:solidFill>
                  <a:srgbClr val="0A2559"/>
                </a:solidFill>
                <a:latin typeface="Calibri" pitchFamily="34" charset="0"/>
                <a:ea typeface="Calibri" pitchFamily="34" charset="-122"/>
                <a:cs typeface="Calibri" pitchFamily="34" charset="-120"/>
              </a:rPr>
              <a:t>Cómo se interpreta</a:t>
            </a:r>
            <a:endParaRPr lang="en-US" sz="1300" dirty="0"/>
          </a:p>
        </p:txBody>
      </p:sp>
      <p:sp>
        <p:nvSpPr>
          <p:cNvPr id="14" name="Shape 12"/>
          <p:cNvSpPr/>
          <p:nvPr/>
        </p:nvSpPr>
        <p:spPr>
          <a:xfrm>
            <a:off x="548640" y="3767328"/>
            <a:ext cx="5943600" cy="493776"/>
          </a:xfrm>
          <a:prstGeom prst="roundRect">
            <a:avLst>
              <a:gd name="adj" fmla="val 11111"/>
            </a:avLst>
          </a:prstGeom>
          <a:solidFill>
            <a:srgbClr val="FFFFFF"/>
          </a:solidFill>
          <a:ln w="12700">
            <a:solidFill>
              <a:srgbClr val="D2DBEC"/>
            </a:solidFill>
            <a:prstDash val="solid"/>
          </a:ln>
        </p:spPr>
      </p:sp>
      <p:sp>
        <p:nvSpPr>
          <p:cNvPr id="15" name="Shape 13"/>
          <p:cNvSpPr/>
          <p:nvPr/>
        </p:nvSpPr>
        <p:spPr>
          <a:xfrm>
            <a:off x="777240" y="3886200"/>
            <a:ext cx="1143000" cy="256032"/>
          </a:xfrm>
          <a:prstGeom prst="roundRect">
            <a:avLst>
              <a:gd name="adj" fmla="val 17857"/>
            </a:avLst>
          </a:prstGeom>
          <a:solidFill>
            <a:srgbClr val="9BB4E8"/>
          </a:solidFill>
          <a:ln w="12700">
            <a:solidFill>
              <a:srgbClr val="333333"/>
            </a:solidFill>
            <a:prstDash val="solid"/>
          </a:ln>
        </p:spPr>
      </p:sp>
      <p:sp>
        <p:nvSpPr>
          <p:cNvPr id="16" name="Text 14"/>
          <p:cNvSpPr/>
          <p:nvPr/>
        </p:nvSpPr>
        <p:spPr>
          <a:xfrm>
            <a:off x="777240" y="3886200"/>
            <a:ext cx="114300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0.0 – 0.1</a:t>
            </a:r>
            <a:endParaRPr lang="en-US" sz="1000" dirty="0"/>
          </a:p>
        </p:txBody>
      </p:sp>
      <p:sp>
        <p:nvSpPr>
          <p:cNvPr id="17" name="Text 15"/>
          <p:cNvSpPr/>
          <p:nvPr/>
        </p:nvSpPr>
        <p:spPr>
          <a:xfrm>
            <a:off x="2103120" y="3840480"/>
            <a:ext cx="3108960" cy="347472"/>
          </a:xfrm>
          <a:prstGeom prst="rect">
            <a:avLst/>
          </a:prstGeom>
          <a:noFill/>
          <a:ln/>
        </p:spPr>
        <p:txBody>
          <a:bodyPr wrap="square" lIns="0" tIns="0" rIns="0" bIns="0" rtlCol="0" anchor="ctr"/>
          <a:lstStyle/>
          <a:p>
            <a:pPr indent="0" marL="0">
              <a:buNone/>
            </a:pPr>
            <a:r>
              <a:rPr lang="en-US" sz="1250" dirty="0">
                <a:solidFill>
                  <a:srgbClr val="0A2559"/>
                </a:solidFill>
                <a:latin typeface="Calibri" pitchFamily="34" charset="0"/>
                <a:ea typeface="Calibri" pitchFamily="34" charset="-122"/>
                <a:cs typeface="Calibri" pitchFamily="34" charset="-120"/>
              </a:rPr>
              <a:t>prácticamente nada</a:t>
            </a:r>
            <a:endParaRPr lang="en-US" sz="1250" dirty="0"/>
          </a:p>
        </p:txBody>
      </p:sp>
      <p:sp>
        <p:nvSpPr>
          <p:cNvPr id="18" name="Shape 16"/>
          <p:cNvSpPr/>
          <p:nvPr/>
        </p:nvSpPr>
        <p:spPr>
          <a:xfrm>
            <a:off x="548640" y="4334256"/>
            <a:ext cx="5943600" cy="493776"/>
          </a:xfrm>
          <a:prstGeom prst="roundRect">
            <a:avLst>
              <a:gd name="adj" fmla="val 11111"/>
            </a:avLst>
          </a:prstGeom>
          <a:solidFill>
            <a:srgbClr val="E3ECFB"/>
          </a:solidFill>
          <a:ln w="12700">
            <a:solidFill>
              <a:srgbClr val="D2DBEC"/>
            </a:solidFill>
            <a:prstDash val="solid"/>
          </a:ln>
        </p:spPr>
      </p:sp>
      <p:sp>
        <p:nvSpPr>
          <p:cNvPr id="19" name="Shape 17"/>
          <p:cNvSpPr/>
          <p:nvPr/>
        </p:nvSpPr>
        <p:spPr>
          <a:xfrm>
            <a:off x="777240" y="4453128"/>
            <a:ext cx="1143000" cy="256032"/>
          </a:xfrm>
          <a:prstGeom prst="roundRect">
            <a:avLst>
              <a:gd name="adj" fmla="val 17857"/>
            </a:avLst>
          </a:prstGeom>
          <a:solidFill>
            <a:srgbClr val="1A56E8"/>
          </a:solidFill>
          <a:ln w="12700">
            <a:solidFill>
              <a:srgbClr val="333333"/>
            </a:solidFill>
            <a:prstDash val="solid"/>
          </a:ln>
        </p:spPr>
      </p:sp>
      <p:sp>
        <p:nvSpPr>
          <p:cNvPr id="20" name="Text 18"/>
          <p:cNvSpPr/>
          <p:nvPr/>
        </p:nvSpPr>
        <p:spPr>
          <a:xfrm>
            <a:off x="777240" y="4453128"/>
            <a:ext cx="114300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0.1 – 0.3</a:t>
            </a:r>
            <a:endParaRPr lang="en-US" sz="1000" dirty="0"/>
          </a:p>
        </p:txBody>
      </p:sp>
      <p:sp>
        <p:nvSpPr>
          <p:cNvPr id="21" name="Text 19"/>
          <p:cNvSpPr/>
          <p:nvPr/>
        </p:nvSpPr>
        <p:spPr>
          <a:xfrm>
            <a:off x="2103120" y="4407408"/>
            <a:ext cx="3108960" cy="347472"/>
          </a:xfrm>
          <a:prstGeom prst="rect">
            <a:avLst/>
          </a:prstGeom>
          <a:noFill/>
          <a:ln/>
        </p:spPr>
        <p:txBody>
          <a:bodyPr wrap="square" lIns="0" tIns="0" rIns="0" bIns="0" rtlCol="0" anchor="ctr"/>
          <a:lstStyle/>
          <a:p>
            <a:pPr indent="0" marL="0">
              <a:buNone/>
            </a:pPr>
            <a:r>
              <a:rPr lang="en-US" sz="1250" b="1" dirty="0">
                <a:solidFill>
                  <a:srgbClr val="0A2559"/>
                </a:solidFill>
                <a:latin typeface="Calibri" pitchFamily="34" charset="0"/>
                <a:ea typeface="Calibri" pitchFamily="34" charset="-122"/>
                <a:cs typeface="Calibri" pitchFamily="34" charset="-120"/>
              </a:rPr>
              <a:t>relación débil</a:t>
            </a:r>
            <a:endParaRPr lang="en-US" sz="1250" dirty="0"/>
          </a:p>
        </p:txBody>
      </p:sp>
      <p:sp>
        <p:nvSpPr>
          <p:cNvPr id="22" name="Text 20"/>
          <p:cNvSpPr/>
          <p:nvPr/>
        </p:nvSpPr>
        <p:spPr>
          <a:xfrm>
            <a:off x="4572000" y="4407408"/>
            <a:ext cx="1828800" cy="347472"/>
          </a:xfrm>
          <a:prstGeom prst="rect">
            <a:avLst/>
          </a:prstGeom>
          <a:noFill/>
          <a:ln/>
        </p:spPr>
        <p:txBody>
          <a:bodyPr wrap="square" lIns="0" tIns="0" rIns="0" bIns="0" rtlCol="0" anchor="ctr"/>
          <a:lstStyle/>
          <a:p>
            <a:pPr indent="0" marL="0">
              <a:buNone/>
            </a:pPr>
            <a:r>
              <a:rPr lang="en-US" sz="1050" i="1" dirty="0">
                <a:solidFill>
                  <a:srgbClr val="E6115E"/>
                </a:solidFill>
                <a:latin typeface="Calibri" pitchFamily="34" charset="0"/>
                <a:ea typeface="Calibri" pitchFamily="34" charset="-122"/>
                <a:cs typeface="Calibri" pitchFamily="34" charset="-120"/>
              </a:rPr>
              <a:t>← aquí cae la nuestra</a:t>
            </a:r>
            <a:endParaRPr lang="en-US" sz="1050" dirty="0"/>
          </a:p>
        </p:txBody>
      </p:sp>
      <p:sp>
        <p:nvSpPr>
          <p:cNvPr id="23" name="Shape 21"/>
          <p:cNvSpPr/>
          <p:nvPr/>
        </p:nvSpPr>
        <p:spPr>
          <a:xfrm>
            <a:off x="548640" y="4901184"/>
            <a:ext cx="5943600" cy="493776"/>
          </a:xfrm>
          <a:prstGeom prst="roundRect">
            <a:avLst>
              <a:gd name="adj" fmla="val 11111"/>
            </a:avLst>
          </a:prstGeom>
          <a:solidFill>
            <a:srgbClr val="FFFFFF"/>
          </a:solidFill>
          <a:ln w="12700">
            <a:solidFill>
              <a:srgbClr val="D2DBEC"/>
            </a:solidFill>
            <a:prstDash val="solid"/>
          </a:ln>
        </p:spPr>
      </p:sp>
      <p:sp>
        <p:nvSpPr>
          <p:cNvPr id="24" name="Shape 22"/>
          <p:cNvSpPr/>
          <p:nvPr/>
        </p:nvSpPr>
        <p:spPr>
          <a:xfrm>
            <a:off x="777240" y="5020056"/>
            <a:ext cx="1143000" cy="256032"/>
          </a:xfrm>
          <a:prstGeom prst="roundRect">
            <a:avLst>
              <a:gd name="adj" fmla="val 17857"/>
            </a:avLst>
          </a:prstGeom>
          <a:solidFill>
            <a:srgbClr val="9A6B00"/>
          </a:solidFill>
          <a:ln w="12700">
            <a:solidFill>
              <a:srgbClr val="333333"/>
            </a:solidFill>
            <a:prstDash val="solid"/>
          </a:ln>
        </p:spPr>
      </p:sp>
      <p:sp>
        <p:nvSpPr>
          <p:cNvPr id="25" name="Text 23"/>
          <p:cNvSpPr/>
          <p:nvPr/>
        </p:nvSpPr>
        <p:spPr>
          <a:xfrm>
            <a:off x="777240" y="5020056"/>
            <a:ext cx="114300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0.3 – 0.5</a:t>
            </a:r>
            <a:endParaRPr lang="en-US" sz="1000" dirty="0"/>
          </a:p>
        </p:txBody>
      </p:sp>
      <p:sp>
        <p:nvSpPr>
          <p:cNvPr id="26" name="Text 24"/>
          <p:cNvSpPr/>
          <p:nvPr/>
        </p:nvSpPr>
        <p:spPr>
          <a:xfrm>
            <a:off x="2103120" y="4974336"/>
            <a:ext cx="3108960" cy="347472"/>
          </a:xfrm>
          <a:prstGeom prst="rect">
            <a:avLst/>
          </a:prstGeom>
          <a:noFill/>
          <a:ln/>
        </p:spPr>
        <p:txBody>
          <a:bodyPr wrap="square" lIns="0" tIns="0" rIns="0" bIns="0" rtlCol="0" anchor="ctr"/>
          <a:lstStyle/>
          <a:p>
            <a:pPr indent="0" marL="0">
              <a:buNone/>
            </a:pPr>
            <a:r>
              <a:rPr lang="en-US" sz="1250" dirty="0">
                <a:solidFill>
                  <a:srgbClr val="0A2559"/>
                </a:solidFill>
                <a:latin typeface="Calibri" pitchFamily="34" charset="0"/>
                <a:ea typeface="Calibri" pitchFamily="34" charset="-122"/>
                <a:cs typeface="Calibri" pitchFamily="34" charset="-120"/>
              </a:rPr>
              <a:t>relación moderada</a:t>
            </a:r>
            <a:endParaRPr lang="en-US" sz="1250" dirty="0"/>
          </a:p>
        </p:txBody>
      </p:sp>
      <p:sp>
        <p:nvSpPr>
          <p:cNvPr id="27" name="Shape 25"/>
          <p:cNvSpPr/>
          <p:nvPr/>
        </p:nvSpPr>
        <p:spPr>
          <a:xfrm>
            <a:off x="548640" y="5468112"/>
            <a:ext cx="5943600" cy="493776"/>
          </a:xfrm>
          <a:prstGeom prst="roundRect">
            <a:avLst>
              <a:gd name="adj" fmla="val 11111"/>
            </a:avLst>
          </a:prstGeom>
          <a:solidFill>
            <a:srgbClr val="FFFFFF"/>
          </a:solidFill>
          <a:ln w="12700">
            <a:solidFill>
              <a:srgbClr val="D2DBEC"/>
            </a:solidFill>
            <a:prstDash val="solid"/>
          </a:ln>
        </p:spPr>
      </p:sp>
      <p:sp>
        <p:nvSpPr>
          <p:cNvPr id="28" name="Shape 26"/>
          <p:cNvSpPr/>
          <p:nvPr/>
        </p:nvSpPr>
        <p:spPr>
          <a:xfrm>
            <a:off x="777240" y="5586984"/>
            <a:ext cx="1143000" cy="256032"/>
          </a:xfrm>
          <a:prstGeom prst="roundRect">
            <a:avLst>
              <a:gd name="adj" fmla="val 17857"/>
            </a:avLst>
          </a:prstGeom>
          <a:solidFill>
            <a:srgbClr val="E6115E"/>
          </a:solidFill>
          <a:ln w="12700">
            <a:solidFill>
              <a:srgbClr val="333333"/>
            </a:solidFill>
            <a:prstDash val="solid"/>
          </a:ln>
        </p:spPr>
      </p:sp>
      <p:sp>
        <p:nvSpPr>
          <p:cNvPr id="29" name="Text 27"/>
          <p:cNvSpPr/>
          <p:nvPr/>
        </p:nvSpPr>
        <p:spPr>
          <a:xfrm>
            <a:off x="777240" y="5586984"/>
            <a:ext cx="114300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0.5 – 1.0</a:t>
            </a:r>
            <a:endParaRPr lang="en-US" sz="1000" dirty="0"/>
          </a:p>
        </p:txBody>
      </p:sp>
      <p:sp>
        <p:nvSpPr>
          <p:cNvPr id="30" name="Text 28"/>
          <p:cNvSpPr/>
          <p:nvPr/>
        </p:nvSpPr>
        <p:spPr>
          <a:xfrm>
            <a:off x="2103120" y="5541264"/>
            <a:ext cx="3108960" cy="347472"/>
          </a:xfrm>
          <a:prstGeom prst="rect">
            <a:avLst/>
          </a:prstGeom>
          <a:noFill/>
          <a:ln/>
        </p:spPr>
        <p:txBody>
          <a:bodyPr wrap="square" lIns="0" tIns="0" rIns="0" bIns="0" rtlCol="0" anchor="ctr"/>
          <a:lstStyle/>
          <a:p>
            <a:pPr indent="0" marL="0">
              <a:buNone/>
            </a:pPr>
            <a:r>
              <a:rPr lang="en-US" sz="1250" dirty="0">
                <a:solidFill>
                  <a:srgbClr val="0A2559"/>
                </a:solidFill>
                <a:latin typeface="Calibri" pitchFamily="34" charset="0"/>
                <a:ea typeface="Calibri" pitchFamily="34" charset="-122"/>
                <a:cs typeface="Calibri" pitchFamily="34" charset="-120"/>
              </a:rPr>
              <a:t>relación fuerte</a:t>
            </a:r>
            <a:endParaRPr lang="en-US" sz="1250" dirty="0"/>
          </a:p>
        </p:txBody>
      </p:sp>
      <p:sp>
        <p:nvSpPr>
          <p:cNvPr id="31" name="Shape 29"/>
          <p:cNvSpPr/>
          <p:nvPr/>
        </p:nvSpPr>
        <p:spPr>
          <a:xfrm>
            <a:off x="6720840" y="3429000"/>
            <a:ext cx="4919472" cy="1371600"/>
          </a:xfrm>
          <a:prstGeom prst="roundRect">
            <a:avLst>
              <a:gd name="adj" fmla="val 4000"/>
            </a:avLst>
          </a:prstGeom>
          <a:solidFill>
            <a:srgbClr val="FFFFFF"/>
          </a:solidFill>
          <a:ln w="12700">
            <a:solidFill>
              <a:srgbClr val="D2DBEC"/>
            </a:solidFill>
            <a:prstDash val="solid"/>
          </a:ln>
        </p:spPr>
      </p:sp>
      <p:sp>
        <p:nvSpPr>
          <p:cNvPr id="32" name="Shape 30"/>
          <p:cNvSpPr/>
          <p:nvPr/>
        </p:nvSpPr>
        <p:spPr>
          <a:xfrm>
            <a:off x="6967728" y="3694176"/>
            <a:ext cx="118872" cy="118872"/>
          </a:xfrm>
          <a:prstGeom prst="roundRect">
            <a:avLst>
              <a:gd name="adj" fmla="val 30769"/>
            </a:avLst>
          </a:prstGeom>
          <a:solidFill>
            <a:srgbClr val="E6115E"/>
          </a:solidFill>
          <a:ln w="12700">
            <a:solidFill>
              <a:srgbClr val="E6115E"/>
            </a:solidFill>
            <a:prstDash val="solid"/>
          </a:ln>
        </p:spPr>
      </p:sp>
      <p:sp>
        <p:nvSpPr>
          <p:cNvPr id="33" name="Text 31"/>
          <p:cNvSpPr/>
          <p:nvPr/>
        </p:nvSpPr>
        <p:spPr>
          <a:xfrm>
            <a:off x="7205472" y="3593592"/>
            <a:ext cx="424281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Por qué V no cambia con n</a:t>
            </a:r>
            <a:endParaRPr lang="en-US" sz="1400" dirty="0"/>
          </a:p>
        </p:txBody>
      </p:sp>
      <p:sp>
        <p:nvSpPr>
          <p:cNvPr id="34" name="Text 32"/>
          <p:cNvSpPr/>
          <p:nvPr/>
        </p:nvSpPr>
        <p:spPr>
          <a:xfrm>
            <a:off x="6967728" y="3959352"/>
            <a:ext cx="4434840" cy="777240"/>
          </a:xfrm>
          <a:prstGeom prst="rect">
            <a:avLst/>
          </a:prstGeom>
          <a:noFill/>
          <a:ln/>
        </p:spPr>
        <p:txBody>
          <a:bodyPr wrap="square" lIns="0" tIns="0" rIns="0" bIns="0" rtlCol="0" anchor="t"/>
          <a:lstStyle/>
          <a:p>
            <a:pPr algn="l" indent="0" marL="0">
              <a:lnSpc>
                <a:spcPct val="110000"/>
              </a:lnSpc>
              <a:buNone/>
            </a:pPr>
            <a:r>
              <a:rPr lang="en-US" sz="1200" dirty="0">
                <a:solidFill>
                  <a:srgbClr val="2C3A55"/>
                </a:solidFill>
                <a:latin typeface="Calibri" pitchFamily="34" charset="0"/>
                <a:ea typeface="Calibri" pitchFamily="34" charset="-122"/>
                <a:cs typeface="Calibri" pitchFamily="34" charset="-120"/>
              </a:rPr>
              <a:t>Porque divide entre n. Si el χ² se multiplica por 100 y n también, el cociente queda igual.</a:t>
            </a:r>
            <a:endParaRPr lang="en-US" sz="1200" dirty="0"/>
          </a:p>
          <a:p>
            <a:pPr algn="l" indent="0" marL="0">
              <a:lnSpc>
                <a:spcPct val="110000"/>
              </a:lnSpc>
              <a:buNone/>
            </a:pPr>
            <a:endParaRPr lang="en-US" sz="1200" dirty="0"/>
          </a:p>
          <a:p>
            <a:pPr algn="l" indent="0" marL="0">
              <a:lnSpc>
                <a:spcPct val="110000"/>
              </a:lnSpc>
              <a:buNone/>
            </a:pPr>
            <a:r>
              <a:rPr lang="en-US" sz="1200" dirty="0">
                <a:solidFill>
                  <a:srgbClr val="2C3A55"/>
                </a:solidFill>
                <a:latin typeface="Calibri" pitchFamily="34" charset="0"/>
                <a:ea typeface="Calibri" pitchFamily="34" charset="-122"/>
                <a:cs typeface="Calibri" pitchFamily="34" charset="-120"/>
              </a:rPr>
              <a:t>Eso es justo lo que le faltaba al χ².</a:t>
            </a:r>
            <a:endParaRPr lang="en-US" sz="1200" dirty="0"/>
          </a:p>
        </p:txBody>
      </p:sp>
      <p:sp>
        <p:nvSpPr>
          <p:cNvPr id="35" name="Shape 33"/>
          <p:cNvSpPr/>
          <p:nvPr/>
        </p:nvSpPr>
        <p:spPr>
          <a:xfrm>
            <a:off x="6720840" y="4956048"/>
            <a:ext cx="4919472" cy="1280160"/>
          </a:xfrm>
          <a:prstGeom prst="roundRect">
            <a:avLst>
              <a:gd name="adj" fmla="val 4286"/>
            </a:avLst>
          </a:prstGeom>
          <a:solidFill>
            <a:srgbClr val="0A2559"/>
          </a:solidFill>
          <a:ln w="12700">
            <a:solidFill>
              <a:srgbClr val="0A2559"/>
            </a:solidFill>
            <a:prstDash val="solid"/>
          </a:ln>
        </p:spPr>
      </p:sp>
      <p:sp>
        <p:nvSpPr>
          <p:cNvPr id="36" name="Shape 34"/>
          <p:cNvSpPr/>
          <p:nvPr/>
        </p:nvSpPr>
        <p:spPr>
          <a:xfrm>
            <a:off x="6967728" y="5221224"/>
            <a:ext cx="118872" cy="118872"/>
          </a:xfrm>
          <a:prstGeom prst="roundRect">
            <a:avLst>
              <a:gd name="adj" fmla="val 30769"/>
            </a:avLst>
          </a:prstGeom>
          <a:solidFill>
            <a:srgbClr val="E6115E"/>
          </a:solidFill>
          <a:ln w="12700">
            <a:solidFill>
              <a:srgbClr val="E6115E"/>
            </a:solidFill>
            <a:prstDash val="solid"/>
          </a:ln>
        </p:spPr>
      </p:sp>
      <p:sp>
        <p:nvSpPr>
          <p:cNvPr id="37" name="Text 35"/>
          <p:cNvSpPr/>
          <p:nvPr/>
        </p:nvSpPr>
        <p:spPr>
          <a:xfrm>
            <a:off x="7205472" y="5120640"/>
            <a:ext cx="424281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Lo que hay que reportar</a:t>
            </a:r>
            <a:endParaRPr lang="en-US" sz="1400" dirty="0"/>
          </a:p>
        </p:txBody>
      </p:sp>
      <p:sp>
        <p:nvSpPr>
          <p:cNvPr id="38" name="Text 36"/>
          <p:cNvSpPr/>
          <p:nvPr/>
        </p:nvSpPr>
        <p:spPr>
          <a:xfrm>
            <a:off x="6967728" y="5468112"/>
            <a:ext cx="4434840" cy="658368"/>
          </a:xfrm>
          <a:prstGeom prst="rect">
            <a:avLst/>
          </a:prstGeom>
          <a:noFill/>
          <a:ln/>
        </p:spPr>
        <p:txBody>
          <a:bodyPr wrap="square" lIns="0" tIns="0" rIns="0" bIns="0" rtlCol="0" anchor="t"/>
          <a:lstStyle/>
          <a:p>
            <a:pPr algn="l" indent="0" marL="0">
              <a:lnSpc>
                <a:spcPct val="108000"/>
              </a:lnSpc>
              <a:buNone/>
            </a:pPr>
            <a:r>
              <a:rPr lang="en-US" sz="1150" i="1" dirty="0">
                <a:solidFill>
                  <a:srgbClr val="C9D6F2"/>
                </a:solidFill>
                <a:latin typeface="Calibri" pitchFamily="34" charset="0"/>
                <a:ea typeface="Calibri" pitchFamily="34" charset="-122"/>
                <a:cs typeface="Calibri" pitchFamily="34" charset="-120"/>
              </a:rPr>
              <a:t>«Hay relación entre canal y resultado (χ² = 9.52, gl = 1, p = 0.002), de fuerza débil-moderada (V = 0.22).»</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83464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283464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CASO REAL · 1935</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La señora que distinguía el té</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De aquí salió la idea de comparar lo observado con lo que ocurriría por puro azar.</a:t>
            </a:r>
            <a:endParaRPr lang="en-US" sz="1400" dirty="0"/>
          </a:p>
        </p:txBody>
      </p:sp>
      <p:sp>
        <p:nvSpPr>
          <p:cNvPr id="6" name="Shape 4"/>
          <p:cNvSpPr/>
          <p:nvPr/>
        </p:nvSpPr>
        <p:spPr>
          <a:xfrm>
            <a:off x="548640" y="1965960"/>
            <a:ext cx="6858000" cy="2468880"/>
          </a:xfrm>
          <a:prstGeom prst="roundRect">
            <a:avLst>
              <a:gd name="adj" fmla="val 2222"/>
            </a:avLst>
          </a:prstGeom>
          <a:solidFill>
            <a:srgbClr val="FFFFFF"/>
          </a:solidFill>
          <a:ln w="12700">
            <a:solidFill>
              <a:srgbClr val="D2DBEC"/>
            </a:solidFill>
            <a:prstDash val="solid"/>
          </a:ln>
        </p:spPr>
      </p:sp>
      <p:sp>
        <p:nvSpPr>
          <p:cNvPr id="7" name="Shape 5"/>
          <p:cNvSpPr/>
          <p:nvPr/>
        </p:nvSpPr>
        <p:spPr>
          <a:xfrm>
            <a:off x="804672" y="2231136"/>
            <a:ext cx="118872" cy="118872"/>
          </a:xfrm>
          <a:prstGeom prst="roundRect">
            <a:avLst>
              <a:gd name="adj" fmla="val 30769"/>
            </a:avLst>
          </a:prstGeom>
          <a:solidFill>
            <a:srgbClr val="E6115E"/>
          </a:solidFill>
          <a:ln w="12700">
            <a:solidFill>
              <a:srgbClr val="E6115E"/>
            </a:solidFill>
            <a:prstDash val="solid"/>
          </a:ln>
        </p:spPr>
      </p:sp>
      <p:sp>
        <p:nvSpPr>
          <p:cNvPr id="8" name="Text 6"/>
          <p:cNvSpPr/>
          <p:nvPr/>
        </p:nvSpPr>
        <p:spPr>
          <a:xfrm>
            <a:off x="1042416" y="2130552"/>
            <a:ext cx="6163056" cy="292608"/>
          </a:xfrm>
          <a:prstGeom prst="rect">
            <a:avLst/>
          </a:prstGeom>
          <a:noFill/>
          <a:ln/>
        </p:spPr>
        <p:txBody>
          <a:bodyPr wrap="square" lIns="0" tIns="0" rIns="0" bIns="0" rtlCol="0" anchor="ctr"/>
          <a:lstStyle/>
          <a:p>
            <a:pPr indent="0" marL="0">
              <a:buNone/>
            </a:pPr>
            <a:r>
              <a:rPr lang="en-US" sz="1500" b="1" dirty="0">
                <a:solidFill>
                  <a:srgbClr val="0A2559"/>
                </a:solidFill>
                <a:latin typeface="Calibri" pitchFamily="34" charset="0"/>
                <a:ea typeface="Calibri" pitchFamily="34" charset="-122"/>
                <a:cs typeface="Calibri" pitchFamily="34" charset="-120"/>
              </a:rPr>
              <a:t>Qué pasó</a:t>
            </a:r>
            <a:endParaRPr lang="en-US" sz="1500" dirty="0"/>
          </a:p>
        </p:txBody>
      </p:sp>
      <p:sp>
        <p:nvSpPr>
          <p:cNvPr id="9" name="Text 7"/>
          <p:cNvSpPr/>
          <p:nvPr/>
        </p:nvSpPr>
        <p:spPr>
          <a:xfrm>
            <a:off x="804672" y="2514600"/>
            <a:ext cx="6355080" cy="1783080"/>
          </a:xfrm>
          <a:prstGeom prst="rect">
            <a:avLst/>
          </a:prstGeom>
          <a:noFill/>
          <a:ln/>
        </p:spPr>
        <p:txBody>
          <a:bodyPr wrap="square" lIns="0" tIns="0" rIns="0" bIns="0" rtlCol="0" anchor="t"/>
          <a:lstStyle/>
          <a:p>
            <a:pPr algn="l" indent="0" marL="0">
              <a:lnSpc>
                <a:spcPct val="110000"/>
              </a:lnSpc>
              <a:buNone/>
            </a:pPr>
            <a:r>
              <a:rPr lang="en-US" sz="1150" dirty="0">
                <a:solidFill>
                  <a:srgbClr val="2C3A55"/>
                </a:solidFill>
                <a:latin typeface="Calibri" pitchFamily="34" charset="0"/>
                <a:ea typeface="Calibri" pitchFamily="34" charset="-122"/>
                <a:cs typeface="Calibri" pitchFamily="34" charset="-120"/>
              </a:rPr>
              <a:t>En una reunión en Cambridge, una colega de Ronald Fisher afirmó que podía distinguir si en una taza se había servido primero el té o primero la leche.</a:t>
            </a:r>
            <a:endParaRPr lang="en-US" sz="1150" dirty="0"/>
          </a:p>
          <a:p>
            <a:pPr algn="l" indent="0" marL="0">
              <a:lnSpc>
                <a:spcPct val="110000"/>
              </a:lnSpc>
              <a:buNone/>
            </a:pPr>
            <a:endParaRPr lang="en-US" sz="1150" dirty="0"/>
          </a:p>
          <a:p>
            <a:pPr algn="l" indent="0" marL="0">
              <a:lnSpc>
                <a:spcPct val="110000"/>
              </a:lnSpc>
              <a:buNone/>
            </a:pPr>
            <a:r>
              <a:rPr lang="en-US" sz="1150" dirty="0">
                <a:solidFill>
                  <a:srgbClr val="2C3A55"/>
                </a:solidFill>
                <a:latin typeface="Calibri" pitchFamily="34" charset="0"/>
                <a:ea typeface="Calibri" pitchFamily="34" charset="-122"/>
                <a:cs typeface="Calibri" pitchFamily="34" charset="-120"/>
              </a:rPr>
              <a:t>Fisher diseñó una prueba en el momento: ocho tazas, cuatro de cada tipo, presentadas en orden aleatorio. Ella sabía que había cuatro de cada una y debía identificarlas.</a:t>
            </a:r>
            <a:endParaRPr lang="en-US" sz="1150" dirty="0"/>
          </a:p>
          <a:p>
            <a:pPr algn="l" indent="0" marL="0">
              <a:lnSpc>
                <a:spcPct val="110000"/>
              </a:lnSpc>
              <a:buNone/>
            </a:pPr>
            <a:endParaRPr lang="en-US" sz="1150" dirty="0"/>
          </a:p>
          <a:p>
            <a:pPr algn="l" indent="0" marL="0">
              <a:lnSpc>
                <a:spcPct val="110000"/>
              </a:lnSpc>
              <a:buNone/>
            </a:pPr>
            <a:r>
              <a:rPr lang="en-US" sz="1150" dirty="0">
                <a:solidFill>
                  <a:srgbClr val="2C3A55"/>
                </a:solidFill>
                <a:latin typeface="Calibri" pitchFamily="34" charset="0"/>
                <a:ea typeface="Calibri" pitchFamily="34" charset="-122"/>
                <a:cs typeface="Calibri" pitchFamily="34" charset="-120"/>
              </a:rPr>
              <a:t>La pregunta de Fisher no fue «¿acertó?», sino: si estuviera adivinando al azar, ¿qué tan probable sería que acertara tantas? Eso es exactamente el razonamiento de la tabla esperada que vimos hoy.</a:t>
            </a:r>
            <a:endParaRPr lang="en-US" sz="1150" dirty="0"/>
          </a:p>
        </p:txBody>
      </p:sp>
      <p:sp>
        <p:nvSpPr>
          <p:cNvPr id="10" name="Shape 8"/>
          <p:cNvSpPr/>
          <p:nvPr/>
        </p:nvSpPr>
        <p:spPr>
          <a:xfrm>
            <a:off x="7635240" y="1965960"/>
            <a:ext cx="4005072" cy="1170432"/>
          </a:xfrm>
          <a:prstGeom prst="roundRect">
            <a:avLst>
              <a:gd name="adj" fmla="val 4688"/>
            </a:avLst>
          </a:prstGeom>
          <a:solidFill>
            <a:srgbClr val="0A2559"/>
          </a:solidFill>
          <a:ln w="12700">
            <a:solidFill>
              <a:srgbClr val="0A2559"/>
            </a:solidFill>
            <a:prstDash val="solid"/>
          </a:ln>
        </p:spPr>
      </p:sp>
      <p:sp>
        <p:nvSpPr>
          <p:cNvPr id="11" name="Shape 9"/>
          <p:cNvSpPr/>
          <p:nvPr/>
        </p:nvSpPr>
        <p:spPr>
          <a:xfrm>
            <a:off x="7882128" y="2212848"/>
            <a:ext cx="118872" cy="118872"/>
          </a:xfrm>
          <a:prstGeom prst="roundRect">
            <a:avLst>
              <a:gd name="adj" fmla="val 30769"/>
            </a:avLst>
          </a:prstGeom>
          <a:solidFill>
            <a:srgbClr val="E6115E"/>
          </a:solidFill>
          <a:ln w="12700">
            <a:solidFill>
              <a:srgbClr val="E6115E"/>
            </a:solidFill>
            <a:prstDash val="solid"/>
          </a:ln>
        </p:spPr>
      </p:sp>
      <p:sp>
        <p:nvSpPr>
          <p:cNvPr id="12" name="Text 10"/>
          <p:cNvSpPr/>
          <p:nvPr/>
        </p:nvSpPr>
        <p:spPr>
          <a:xfrm>
            <a:off x="8119872" y="2112264"/>
            <a:ext cx="332841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De ahí nació</a:t>
            </a:r>
            <a:endParaRPr lang="en-US" sz="1400" dirty="0"/>
          </a:p>
        </p:txBody>
      </p:sp>
      <p:sp>
        <p:nvSpPr>
          <p:cNvPr id="13" name="Text 11"/>
          <p:cNvSpPr/>
          <p:nvPr/>
        </p:nvSpPr>
        <p:spPr>
          <a:xfrm>
            <a:off x="7882128" y="2459736"/>
            <a:ext cx="3520440" cy="566928"/>
          </a:xfrm>
          <a:prstGeom prst="rect">
            <a:avLst/>
          </a:prstGeom>
          <a:noFill/>
          <a:ln/>
        </p:spPr>
        <p:txBody>
          <a:bodyPr wrap="square" lIns="0" tIns="0" rIns="0" bIns="0" rtlCol="0" anchor="t"/>
          <a:lstStyle/>
          <a:p>
            <a:pPr algn="l" indent="0" marL="0">
              <a:lnSpc>
                <a:spcPct val="106000"/>
              </a:lnSpc>
              <a:buNone/>
            </a:pPr>
            <a:r>
              <a:rPr lang="en-US" sz="1150" dirty="0">
                <a:solidFill>
                  <a:srgbClr val="C9D6F2"/>
                </a:solidFill>
                <a:latin typeface="Calibri" pitchFamily="34" charset="0"/>
                <a:ea typeface="Calibri" pitchFamily="34" charset="-122"/>
                <a:cs typeface="Calibri" pitchFamily="34" charset="-120"/>
              </a:rPr>
              <a:t>La prueba exacta de Fisher, que se usa cuando la tabla tiene muy pocos casos y el χ² deja de ser confiable.</a:t>
            </a:r>
            <a:endParaRPr lang="en-US" sz="1150" dirty="0"/>
          </a:p>
        </p:txBody>
      </p:sp>
      <p:sp>
        <p:nvSpPr>
          <p:cNvPr id="14" name="Shape 12"/>
          <p:cNvSpPr/>
          <p:nvPr/>
        </p:nvSpPr>
        <p:spPr>
          <a:xfrm>
            <a:off x="7635240" y="3246120"/>
            <a:ext cx="4005072" cy="1188720"/>
          </a:xfrm>
          <a:prstGeom prst="roundRect">
            <a:avLst>
              <a:gd name="adj" fmla="val 4615"/>
            </a:avLst>
          </a:prstGeom>
          <a:solidFill>
            <a:srgbClr val="E9EEF8"/>
          </a:solidFill>
          <a:ln w="12700">
            <a:solidFill>
              <a:srgbClr val="D2DBEC"/>
            </a:solidFill>
            <a:prstDash val="solid"/>
          </a:ln>
        </p:spPr>
      </p:sp>
      <p:sp>
        <p:nvSpPr>
          <p:cNvPr id="15" name="Shape 13"/>
          <p:cNvSpPr/>
          <p:nvPr/>
        </p:nvSpPr>
        <p:spPr>
          <a:xfrm>
            <a:off x="7882128" y="3493008"/>
            <a:ext cx="118872" cy="118872"/>
          </a:xfrm>
          <a:prstGeom prst="roundRect">
            <a:avLst>
              <a:gd name="adj" fmla="val 30769"/>
            </a:avLst>
          </a:prstGeom>
          <a:solidFill>
            <a:srgbClr val="1A56E8"/>
          </a:solidFill>
          <a:ln w="12700">
            <a:solidFill>
              <a:srgbClr val="1A56E8"/>
            </a:solidFill>
            <a:prstDash val="solid"/>
          </a:ln>
        </p:spPr>
      </p:sp>
      <p:sp>
        <p:nvSpPr>
          <p:cNvPr id="16" name="Text 14"/>
          <p:cNvSpPr/>
          <p:nvPr/>
        </p:nvSpPr>
        <p:spPr>
          <a:xfrm>
            <a:off x="8119872" y="3392424"/>
            <a:ext cx="332841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Cuándo te toca a ti</a:t>
            </a:r>
            <a:endParaRPr lang="en-US" sz="1400" dirty="0"/>
          </a:p>
        </p:txBody>
      </p:sp>
      <p:sp>
        <p:nvSpPr>
          <p:cNvPr id="17" name="Text 15"/>
          <p:cNvSpPr/>
          <p:nvPr/>
        </p:nvSpPr>
        <p:spPr>
          <a:xfrm>
            <a:off x="7882128" y="3739896"/>
            <a:ext cx="3520440" cy="585216"/>
          </a:xfrm>
          <a:prstGeom prst="rect">
            <a:avLst/>
          </a:prstGeom>
          <a:noFill/>
          <a:ln/>
        </p:spPr>
        <p:txBody>
          <a:bodyPr wrap="square" lIns="0" tIns="0" rIns="0" bIns="0" rtlCol="0" anchor="t"/>
          <a:lstStyle/>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Regla práctica: si alguna casilla ESPERADA es menor que 5, usa Fisher en lugar de χ². Lo vemos en la Clase 9.</a:t>
            </a:r>
            <a:endParaRPr lang="en-US" sz="1150" dirty="0"/>
          </a:p>
        </p:txBody>
      </p:sp>
      <p:sp>
        <p:nvSpPr>
          <p:cNvPr id="18" name="Shape 16"/>
          <p:cNvSpPr/>
          <p:nvPr/>
        </p:nvSpPr>
        <p:spPr>
          <a:xfrm>
            <a:off x="548640" y="4617720"/>
            <a:ext cx="11091672" cy="1234440"/>
          </a:xfrm>
          <a:prstGeom prst="roundRect">
            <a:avLst>
              <a:gd name="adj" fmla="val 4444"/>
            </a:avLst>
          </a:prstGeom>
          <a:solidFill>
            <a:srgbClr val="0A2559"/>
          </a:solidFill>
          <a:ln w="12700">
            <a:solidFill>
              <a:srgbClr val="0A2559"/>
            </a:solidFill>
            <a:prstDash val="solid"/>
          </a:ln>
        </p:spPr>
      </p:sp>
      <p:sp>
        <p:nvSpPr>
          <p:cNvPr id="19" name="Shape 17"/>
          <p:cNvSpPr/>
          <p:nvPr/>
        </p:nvSpPr>
        <p:spPr>
          <a:xfrm>
            <a:off x="804672" y="4882896"/>
            <a:ext cx="118872" cy="118872"/>
          </a:xfrm>
          <a:prstGeom prst="roundRect">
            <a:avLst>
              <a:gd name="adj" fmla="val 30769"/>
            </a:avLst>
          </a:prstGeom>
          <a:solidFill>
            <a:srgbClr val="E6115E"/>
          </a:solidFill>
          <a:ln w="12700">
            <a:solidFill>
              <a:srgbClr val="E6115E"/>
            </a:solidFill>
            <a:prstDash val="solid"/>
          </a:ln>
        </p:spPr>
      </p:sp>
      <p:sp>
        <p:nvSpPr>
          <p:cNvPr id="20" name="Text 18"/>
          <p:cNvSpPr/>
          <p:nvPr/>
        </p:nvSpPr>
        <p:spPr>
          <a:xfrm>
            <a:off x="1042416" y="4782312"/>
            <a:ext cx="10277856"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La idea que se quedó para siempre</a:t>
            </a:r>
            <a:endParaRPr lang="en-US" sz="1500" dirty="0"/>
          </a:p>
        </p:txBody>
      </p:sp>
      <p:sp>
        <p:nvSpPr>
          <p:cNvPr id="21" name="Text 19"/>
          <p:cNvSpPr/>
          <p:nvPr/>
        </p:nvSpPr>
        <p:spPr>
          <a:xfrm>
            <a:off x="804672" y="5148072"/>
            <a:ext cx="10515600" cy="566928"/>
          </a:xfrm>
          <a:prstGeom prst="rect">
            <a:avLst/>
          </a:prstGeom>
          <a:noFill/>
          <a:ln/>
        </p:spPr>
        <p:txBody>
          <a:bodyPr wrap="square" lIns="0" tIns="0" rIns="0" bIns="0" rtlCol="0" anchor="t"/>
          <a:lstStyle/>
          <a:p>
            <a:pPr algn="l" indent="0" marL="0">
              <a:lnSpc>
                <a:spcPct val="110000"/>
              </a:lnSpc>
              <a:buNone/>
            </a:pPr>
            <a:r>
              <a:rPr lang="en-US" sz="1250" dirty="0">
                <a:solidFill>
                  <a:srgbClr val="C9D6F2"/>
                </a:solidFill>
                <a:latin typeface="Calibri" pitchFamily="34" charset="0"/>
                <a:ea typeface="Calibri" pitchFamily="34" charset="-122"/>
                <a:cs typeface="Calibri" pitchFamily="34" charset="-120"/>
              </a:rPr>
              <a:t>Para saber si un resultado es interesante, primero hay que saber cómo se vería el mundo si no pasara nada. Eso es la tabla esperada, y es la misma idea que usaste hoy con las solicitudes de crédito.</a:t>
            </a:r>
            <a:endParaRPr lang="en-US" sz="1250" dirty="0"/>
          </a:p>
        </p:txBody>
      </p:sp>
      <p:sp>
        <p:nvSpPr>
          <p:cNvPr id="22" name="Text 20"/>
          <p:cNvSpPr/>
          <p:nvPr/>
        </p:nvSpPr>
        <p:spPr>
          <a:xfrm>
            <a:off x="548640" y="5989320"/>
            <a:ext cx="11064240" cy="292608"/>
          </a:xfrm>
          <a:prstGeom prst="rect">
            <a:avLst/>
          </a:prstGeom>
          <a:noFill/>
          <a:ln/>
        </p:spPr>
        <p:txBody>
          <a:bodyPr wrap="square" lIns="0" tIns="0" rIns="0" bIns="0" rtlCol="0" anchor="ctr"/>
          <a:lstStyle/>
          <a:p>
            <a:pPr indent="0" marL="0">
              <a:buNone/>
            </a:pPr>
            <a:r>
              <a:rPr lang="en-US" sz="1050" i="1" dirty="0">
                <a:solidFill>
                  <a:srgbClr val="5B6B87"/>
                </a:solidFill>
                <a:latin typeface="Calibri" pitchFamily="34" charset="0"/>
                <a:ea typeface="Calibri" pitchFamily="34" charset="-122"/>
                <a:cs typeface="Calibri" pitchFamily="34" charset="-120"/>
              </a:rPr>
              <a:t>Fuente: R. A. Fisher, «The Design of Experiments» (1935), capítulo II.</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CHULETA</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Los cuatro pasos, y el código</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Esta es la slide que vas a fotografiar.</a:t>
            </a:r>
            <a:endParaRPr lang="en-US" sz="1400" dirty="0"/>
          </a:p>
        </p:txBody>
      </p:sp>
      <p:sp>
        <p:nvSpPr>
          <p:cNvPr id="6" name="Shape 4"/>
          <p:cNvSpPr/>
          <p:nvPr/>
        </p:nvSpPr>
        <p:spPr>
          <a:xfrm>
            <a:off x="548640" y="2011680"/>
            <a:ext cx="11091672" cy="841248"/>
          </a:xfrm>
          <a:prstGeom prst="roundRect">
            <a:avLst>
              <a:gd name="adj" fmla="val 6522"/>
            </a:avLst>
          </a:prstGeom>
          <a:solidFill>
            <a:srgbClr val="FFFFFF"/>
          </a:solidFill>
          <a:ln w="12700">
            <a:solidFill>
              <a:srgbClr val="D2DBEC"/>
            </a:solidFill>
            <a:prstDash val="solid"/>
          </a:ln>
        </p:spPr>
      </p:sp>
      <p:sp>
        <p:nvSpPr>
          <p:cNvPr id="7" name="Shape 5"/>
          <p:cNvSpPr/>
          <p:nvPr/>
        </p:nvSpPr>
        <p:spPr>
          <a:xfrm>
            <a:off x="777240" y="2249424"/>
            <a:ext cx="384048" cy="384048"/>
          </a:xfrm>
          <a:prstGeom prst="roundRect">
            <a:avLst>
              <a:gd name="adj" fmla="val 50000"/>
            </a:avLst>
          </a:prstGeom>
          <a:solidFill>
            <a:srgbClr val="0A2559"/>
          </a:solidFill>
          <a:ln w="12700">
            <a:solidFill>
              <a:srgbClr val="0A2559"/>
            </a:solidFill>
            <a:prstDash val="solid"/>
          </a:ln>
        </p:spPr>
      </p:sp>
      <p:sp>
        <p:nvSpPr>
          <p:cNvPr id="8" name="Text 6"/>
          <p:cNvSpPr/>
          <p:nvPr/>
        </p:nvSpPr>
        <p:spPr>
          <a:xfrm>
            <a:off x="777240" y="2249424"/>
            <a:ext cx="38404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298448" y="2139696"/>
            <a:ext cx="2468880" cy="56692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Tabla observada</a:t>
            </a:r>
            <a:endParaRPr lang="en-US" sz="1400" dirty="0"/>
          </a:p>
        </p:txBody>
      </p:sp>
      <p:sp>
        <p:nvSpPr>
          <p:cNvPr id="10" name="Text 8"/>
          <p:cNvSpPr/>
          <p:nvPr/>
        </p:nvSpPr>
        <p:spPr>
          <a:xfrm>
            <a:off x="3886200" y="2176272"/>
            <a:ext cx="3566160" cy="512064"/>
          </a:xfrm>
          <a:prstGeom prst="rect">
            <a:avLst/>
          </a:prstGeom>
          <a:noFill/>
          <a:ln/>
        </p:spPr>
        <p:txBody>
          <a:bodyPr wrap="square" lIns="0" tIns="0" rIns="0" bIns="0" rtlCol="0" anchor="ctr"/>
          <a:lstStyle/>
          <a:p>
            <a:pPr algn="l" indent="0" marL="0">
              <a:lnSpc>
                <a:spcPct val="108000"/>
              </a:lnSpc>
              <a:buNone/>
            </a:pPr>
            <a:r>
              <a:rPr lang="en-US" sz="1200" dirty="0">
                <a:solidFill>
                  <a:srgbClr val="2C3A55"/>
                </a:solidFill>
                <a:latin typeface="Calibri" pitchFamily="34" charset="0"/>
                <a:ea typeface="Calibri" pitchFamily="34" charset="-122"/>
                <a:cs typeface="Calibri" pitchFamily="34" charset="-120"/>
              </a:rPr>
              <a:t>Cuenta las combinaciones</a:t>
            </a:r>
            <a:endParaRPr lang="en-US" sz="1200" dirty="0"/>
          </a:p>
        </p:txBody>
      </p:sp>
      <p:sp>
        <p:nvSpPr>
          <p:cNvPr id="11" name="Text 9"/>
          <p:cNvSpPr/>
          <p:nvPr/>
        </p:nvSpPr>
        <p:spPr>
          <a:xfrm>
            <a:off x="7635240" y="2176272"/>
            <a:ext cx="3840480" cy="512064"/>
          </a:xfrm>
          <a:prstGeom prst="rect">
            <a:avLst/>
          </a:prstGeom>
          <a:noFill/>
          <a:ln/>
        </p:spPr>
        <p:txBody>
          <a:bodyPr wrap="square" lIns="0" tIns="0" rIns="0" bIns="0" rtlCol="0" anchor="ctr"/>
          <a:lstStyle/>
          <a:p>
            <a:pPr indent="0" marL="0">
              <a:buNone/>
            </a:pPr>
            <a:r>
              <a:rPr lang="en-US" sz="1050" dirty="0">
                <a:solidFill>
                  <a:srgbClr val="1A56E8"/>
                </a:solidFill>
                <a:latin typeface="Courier New" pitchFamily="34" charset="0"/>
                <a:ea typeface="Courier New" pitchFamily="34" charset="-122"/>
                <a:cs typeface="Courier New" pitchFamily="34" charset="-120"/>
              </a:rPr>
              <a:t>pd.crosstab(df.a, df.b)</a:t>
            </a:r>
            <a:endParaRPr lang="en-US" sz="1050" dirty="0"/>
          </a:p>
        </p:txBody>
      </p:sp>
      <p:sp>
        <p:nvSpPr>
          <p:cNvPr id="12" name="Shape 10"/>
          <p:cNvSpPr/>
          <p:nvPr/>
        </p:nvSpPr>
        <p:spPr>
          <a:xfrm>
            <a:off x="548640" y="2944368"/>
            <a:ext cx="11091672" cy="841248"/>
          </a:xfrm>
          <a:prstGeom prst="roundRect">
            <a:avLst>
              <a:gd name="adj" fmla="val 6522"/>
            </a:avLst>
          </a:prstGeom>
          <a:solidFill>
            <a:srgbClr val="E9EEF8"/>
          </a:solidFill>
          <a:ln w="12700">
            <a:solidFill>
              <a:srgbClr val="D2DBEC"/>
            </a:solidFill>
            <a:prstDash val="solid"/>
          </a:ln>
        </p:spPr>
      </p:sp>
      <p:sp>
        <p:nvSpPr>
          <p:cNvPr id="13" name="Shape 11"/>
          <p:cNvSpPr/>
          <p:nvPr/>
        </p:nvSpPr>
        <p:spPr>
          <a:xfrm>
            <a:off x="777240" y="3182112"/>
            <a:ext cx="384048" cy="384048"/>
          </a:xfrm>
          <a:prstGeom prst="roundRect">
            <a:avLst>
              <a:gd name="adj" fmla="val 50000"/>
            </a:avLst>
          </a:prstGeom>
          <a:solidFill>
            <a:srgbClr val="0A2559"/>
          </a:solidFill>
          <a:ln w="12700">
            <a:solidFill>
              <a:srgbClr val="0A2559"/>
            </a:solidFill>
            <a:prstDash val="solid"/>
          </a:ln>
        </p:spPr>
      </p:sp>
      <p:sp>
        <p:nvSpPr>
          <p:cNvPr id="14" name="Text 12"/>
          <p:cNvSpPr/>
          <p:nvPr/>
        </p:nvSpPr>
        <p:spPr>
          <a:xfrm>
            <a:off x="777240" y="3182112"/>
            <a:ext cx="38404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1298448" y="3072384"/>
            <a:ext cx="2468880" cy="56692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Tabla esperada</a:t>
            </a:r>
            <a:endParaRPr lang="en-US" sz="1400" dirty="0"/>
          </a:p>
        </p:txBody>
      </p:sp>
      <p:sp>
        <p:nvSpPr>
          <p:cNvPr id="16" name="Text 14"/>
          <p:cNvSpPr/>
          <p:nvPr/>
        </p:nvSpPr>
        <p:spPr>
          <a:xfrm>
            <a:off x="3886200" y="3108960"/>
            <a:ext cx="3566160" cy="512064"/>
          </a:xfrm>
          <a:prstGeom prst="rect">
            <a:avLst/>
          </a:prstGeom>
          <a:noFill/>
          <a:ln/>
        </p:spPr>
        <p:txBody>
          <a:bodyPr wrap="square" lIns="0" tIns="0" rIns="0" bIns="0" rtlCol="0" anchor="ctr"/>
          <a:lstStyle/>
          <a:p>
            <a:pPr algn="l" indent="0" marL="0">
              <a:lnSpc>
                <a:spcPct val="108000"/>
              </a:lnSpc>
              <a:buNone/>
            </a:pPr>
            <a:r>
              <a:rPr lang="en-US" sz="1200" dirty="0">
                <a:solidFill>
                  <a:srgbClr val="2C3A55"/>
                </a:solidFill>
                <a:latin typeface="Calibri" pitchFamily="34" charset="0"/>
                <a:ea typeface="Calibri" pitchFamily="34" charset="-122"/>
                <a:cs typeface="Calibri" pitchFamily="34" charset="-120"/>
              </a:rPr>
              <a:t>fila × columna / n en cada celda</a:t>
            </a:r>
            <a:endParaRPr lang="en-US" sz="1200" dirty="0"/>
          </a:p>
        </p:txBody>
      </p:sp>
      <p:sp>
        <p:nvSpPr>
          <p:cNvPr id="17" name="Text 15"/>
          <p:cNvSpPr/>
          <p:nvPr/>
        </p:nvSpPr>
        <p:spPr>
          <a:xfrm>
            <a:off x="7635240" y="3108960"/>
            <a:ext cx="3840480" cy="512064"/>
          </a:xfrm>
          <a:prstGeom prst="rect">
            <a:avLst/>
          </a:prstGeom>
          <a:noFill/>
          <a:ln/>
        </p:spPr>
        <p:txBody>
          <a:bodyPr wrap="square" lIns="0" tIns="0" rIns="0" bIns="0" rtlCol="0" anchor="ctr"/>
          <a:lstStyle/>
          <a:p>
            <a:pPr indent="0" marL="0">
              <a:buNone/>
            </a:pPr>
            <a:r>
              <a:rPr lang="en-US" sz="1050" dirty="0">
                <a:solidFill>
                  <a:srgbClr val="1A56E8"/>
                </a:solidFill>
                <a:latin typeface="Courier New" pitchFamily="34" charset="0"/>
                <a:ea typeface="Courier New" pitchFamily="34" charset="-122"/>
                <a:cs typeface="Courier New" pitchFamily="34" charset="-120"/>
              </a:rPr>
              <a:t>res.expected_freq</a:t>
            </a:r>
            <a:endParaRPr lang="en-US" sz="1050" dirty="0"/>
          </a:p>
        </p:txBody>
      </p:sp>
      <p:sp>
        <p:nvSpPr>
          <p:cNvPr id="18" name="Shape 16"/>
          <p:cNvSpPr/>
          <p:nvPr/>
        </p:nvSpPr>
        <p:spPr>
          <a:xfrm>
            <a:off x="548640" y="3877056"/>
            <a:ext cx="11091672" cy="841248"/>
          </a:xfrm>
          <a:prstGeom prst="roundRect">
            <a:avLst>
              <a:gd name="adj" fmla="val 6522"/>
            </a:avLst>
          </a:prstGeom>
          <a:solidFill>
            <a:srgbClr val="FFFFFF"/>
          </a:solidFill>
          <a:ln w="12700">
            <a:solidFill>
              <a:srgbClr val="D2DBEC"/>
            </a:solidFill>
            <a:prstDash val="solid"/>
          </a:ln>
        </p:spPr>
      </p:sp>
      <p:sp>
        <p:nvSpPr>
          <p:cNvPr id="19" name="Shape 17"/>
          <p:cNvSpPr/>
          <p:nvPr/>
        </p:nvSpPr>
        <p:spPr>
          <a:xfrm>
            <a:off x="777240" y="4114800"/>
            <a:ext cx="384048" cy="384048"/>
          </a:xfrm>
          <a:prstGeom prst="roundRect">
            <a:avLst>
              <a:gd name="adj" fmla="val 50000"/>
            </a:avLst>
          </a:prstGeom>
          <a:solidFill>
            <a:srgbClr val="0A2559"/>
          </a:solidFill>
          <a:ln w="12700">
            <a:solidFill>
              <a:srgbClr val="0A2559"/>
            </a:solidFill>
            <a:prstDash val="solid"/>
          </a:ln>
        </p:spPr>
      </p:sp>
      <p:sp>
        <p:nvSpPr>
          <p:cNvPr id="20" name="Text 18"/>
          <p:cNvSpPr/>
          <p:nvPr/>
        </p:nvSpPr>
        <p:spPr>
          <a:xfrm>
            <a:off x="777240" y="4114800"/>
            <a:ext cx="38404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p:nvPr/>
        </p:nvSpPr>
        <p:spPr>
          <a:xfrm>
            <a:off x="1298448" y="4005072"/>
            <a:ext cx="2468880" cy="56692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El χ²</a:t>
            </a:r>
            <a:endParaRPr lang="en-US" sz="1400" dirty="0"/>
          </a:p>
        </p:txBody>
      </p:sp>
      <p:sp>
        <p:nvSpPr>
          <p:cNvPr id="22" name="Text 20"/>
          <p:cNvSpPr/>
          <p:nvPr/>
        </p:nvSpPr>
        <p:spPr>
          <a:xfrm>
            <a:off x="3886200" y="4041648"/>
            <a:ext cx="3566160" cy="512064"/>
          </a:xfrm>
          <a:prstGeom prst="rect">
            <a:avLst/>
          </a:prstGeom>
          <a:noFill/>
          <a:ln/>
        </p:spPr>
        <p:txBody>
          <a:bodyPr wrap="square" lIns="0" tIns="0" rIns="0" bIns="0" rtlCol="0" anchor="ctr"/>
          <a:lstStyle/>
          <a:p>
            <a:pPr algn="l" indent="0" marL="0">
              <a:lnSpc>
                <a:spcPct val="108000"/>
              </a:lnSpc>
              <a:buNone/>
            </a:pPr>
            <a:r>
              <a:rPr lang="en-US" sz="1200" dirty="0">
                <a:solidFill>
                  <a:srgbClr val="2C3A55"/>
                </a:solidFill>
                <a:latin typeface="Calibri" pitchFamily="34" charset="0"/>
                <a:ea typeface="Calibri" pitchFamily="34" charset="-122"/>
                <a:cs typeface="Calibri" pitchFamily="34" charset="-120"/>
              </a:rPr>
              <a:t>Suma de (obs − esp)² / esp</a:t>
            </a:r>
            <a:endParaRPr lang="en-US" sz="1200" dirty="0"/>
          </a:p>
        </p:txBody>
      </p:sp>
      <p:sp>
        <p:nvSpPr>
          <p:cNvPr id="23" name="Text 21"/>
          <p:cNvSpPr/>
          <p:nvPr/>
        </p:nvSpPr>
        <p:spPr>
          <a:xfrm>
            <a:off x="7635240" y="4041648"/>
            <a:ext cx="3840480" cy="512064"/>
          </a:xfrm>
          <a:prstGeom prst="rect">
            <a:avLst/>
          </a:prstGeom>
          <a:noFill/>
          <a:ln/>
        </p:spPr>
        <p:txBody>
          <a:bodyPr wrap="square" lIns="0" tIns="0" rIns="0" bIns="0" rtlCol="0" anchor="ctr"/>
          <a:lstStyle/>
          <a:p>
            <a:pPr indent="0" marL="0">
              <a:buNone/>
            </a:pPr>
            <a:r>
              <a:rPr lang="en-US" sz="1050" dirty="0">
                <a:solidFill>
                  <a:srgbClr val="1A56E8"/>
                </a:solidFill>
                <a:latin typeface="Courier New" pitchFamily="34" charset="0"/>
                <a:ea typeface="Courier New" pitchFamily="34" charset="-122"/>
                <a:cs typeface="Courier New" pitchFamily="34" charset="-120"/>
              </a:rPr>
              <a:t>stats.chi2_contingency(tabla)</a:t>
            </a:r>
            <a:endParaRPr lang="en-US" sz="1050" dirty="0"/>
          </a:p>
        </p:txBody>
      </p:sp>
      <p:sp>
        <p:nvSpPr>
          <p:cNvPr id="24" name="Shape 22"/>
          <p:cNvSpPr/>
          <p:nvPr/>
        </p:nvSpPr>
        <p:spPr>
          <a:xfrm>
            <a:off x="548640" y="4809744"/>
            <a:ext cx="11091672" cy="841248"/>
          </a:xfrm>
          <a:prstGeom prst="roundRect">
            <a:avLst>
              <a:gd name="adj" fmla="val 6522"/>
            </a:avLst>
          </a:prstGeom>
          <a:solidFill>
            <a:srgbClr val="E9EEF8"/>
          </a:solidFill>
          <a:ln w="12700">
            <a:solidFill>
              <a:srgbClr val="D2DBEC"/>
            </a:solidFill>
            <a:prstDash val="solid"/>
          </a:ln>
        </p:spPr>
      </p:sp>
      <p:sp>
        <p:nvSpPr>
          <p:cNvPr id="25" name="Shape 23"/>
          <p:cNvSpPr/>
          <p:nvPr/>
        </p:nvSpPr>
        <p:spPr>
          <a:xfrm>
            <a:off x="777240" y="5047488"/>
            <a:ext cx="384048" cy="384048"/>
          </a:xfrm>
          <a:prstGeom prst="roundRect">
            <a:avLst>
              <a:gd name="adj" fmla="val 50000"/>
            </a:avLst>
          </a:prstGeom>
          <a:solidFill>
            <a:srgbClr val="E6115E"/>
          </a:solidFill>
          <a:ln w="12700">
            <a:solidFill>
              <a:srgbClr val="E6115E"/>
            </a:solidFill>
            <a:prstDash val="solid"/>
          </a:ln>
        </p:spPr>
      </p:sp>
      <p:sp>
        <p:nvSpPr>
          <p:cNvPr id="26" name="Text 24"/>
          <p:cNvSpPr/>
          <p:nvPr/>
        </p:nvSpPr>
        <p:spPr>
          <a:xfrm>
            <a:off x="777240" y="5047488"/>
            <a:ext cx="38404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4</a:t>
            </a:r>
            <a:endParaRPr lang="en-US" sz="1300" dirty="0"/>
          </a:p>
        </p:txBody>
      </p:sp>
      <p:sp>
        <p:nvSpPr>
          <p:cNvPr id="27" name="Text 25"/>
          <p:cNvSpPr/>
          <p:nvPr/>
        </p:nvSpPr>
        <p:spPr>
          <a:xfrm>
            <a:off x="1298448" y="4937760"/>
            <a:ext cx="2468880" cy="56692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Decisión y fuerza</a:t>
            </a:r>
            <a:endParaRPr lang="en-US" sz="1400" dirty="0"/>
          </a:p>
        </p:txBody>
      </p:sp>
      <p:sp>
        <p:nvSpPr>
          <p:cNvPr id="28" name="Text 26"/>
          <p:cNvSpPr/>
          <p:nvPr/>
        </p:nvSpPr>
        <p:spPr>
          <a:xfrm>
            <a:off x="3886200" y="4974336"/>
            <a:ext cx="3566160" cy="512064"/>
          </a:xfrm>
          <a:prstGeom prst="rect">
            <a:avLst/>
          </a:prstGeom>
          <a:noFill/>
          <a:ln/>
        </p:spPr>
        <p:txBody>
          <a:bodyPr wrap="square" lIns="0" tIns="0" rIns="0" bIns="0" rtlCol="0" anchor="ctr"/>
          <a:lstStyle/>
          <a:p>
            <a:pPr algn="l" indent="0" marL="0">
              <a:lnSpc>
                <a:spcPct val="108000"/>
              </a:lnSpc>
              <a:buNone/>
            </a:pPr>
            <a:r>
              <a:rPr lang="en-US" sz="1200" dirty="0">
                <a:solidFill>
                  <a:srgbClr val="2C3A55"/>
                </a:solidFill>
                <a:latin typeface="Calibri" pitchFamily="34" charset="0"/>
                <a:ea typeface="Calibri" pitchFamily="34" charset="-122"/>
                <a:cs typeface="Calibri" pitchFamily="34" charset="-120"/>
              </a:rPr>
              <a:t>p &lt; 0.05 → hay relación. Y calcula V</a:t>
            </a:r>
            <a:endParaRPr lang="en-US" sz="1200" dirty="0"/>
          </a:p>
        </p:txBody>
      </p:sp>
      <p:sp>
        <p:nvSpPr>
          <p:cNvPr id="29" name="Text 27"/>
          <p:cNvSpPr/>
          <p:nvPr/>
        </p:nvSpPr>
        <p:spPr>
          <a:xfrm>
            <a:off x="7635240" y="4974336"/>
            <a:ext cx="3840480" cy="512064"/>
          </a:xfrm>
          <a:prstGeom prst="rect">
            <a:avLst/>
          </a:prstGeom>
          <a:noFill/>
          <a:ln/>
        </p:spPr>
        <p:txBody>
          <a:bodyPr wrap="square" lIns="0" tIns="0" rIns="0" bIns="0" rtlCol="0" anchor="ctr"/>
          <a:lstStyle/>
          <a:p>
            <a:pPr indent="0" marL="0">
              <a:buNone/>
            </a:pPr>
            <a:r>
              <a:rPr lang="en-US" sz="1050" dirty="0">
                <a:solidFill>
                  <a:srgbClr val="1A56E8"/>
                </a:solidFill>
                <a:latin typeface="Courier New" pitchFamily="34" charset="0"/>
                <a:ea typeface="Courier New" pitchFamily="34" charset="-122"/>
                <a:cs typeface="Courier New" pitchFamily="34" charset="-120"/>
              </a:rPr>
              <a:t>V = √(χ² / (n·k))</a:t>
            </a:r>
            <a:endParaRPr lang="en-US" sz="1050" dirty="0"/>
          </a:p>
        </p:txBody>
      </p:sp>
      <p:sp>
        <p:nvSpPr>
          <p:cNvPr id="30" name="Shape 28"/>
          <p:cNvSpPr/>
          <p:nvPr/>
        </p:nvSpPr>
        <p:spPr>
          <a:xfrm>
            <a:off x="548640" y="5852160"/>
            <a:ext cx="11091672" cy="566928"/>
          </a:xfrm>
          <a:prstGeom prst="roundRect">
            <a:avLst>
              <a:gd name="adj" fmla="val 9677"/>
            </a:avLst>
          </a:prstGeom>
          <a:solidFill>
            <a:srgbClr val="0A2559"/>
          </a:solidFill>
          <a:ln w="12700">
            <a:solidFill>
              <a:srgbClr val="0A2559"/>
            </a:solidFill>
            <a:prstDash val="solid"/>
          </a:ln>
        </p:spPr>
      </p:sp>
      <p:sp>
        <p:nvSpPr>
          <p:cNvPr id="31" name="Text 29"/>
          <p:cNvSpPr/>
          <p:nvPr/>
        </p:nvSpPr>
        <p:spPr>
          <a:xfrm>
            <a:off x="822960" y="5852160"/>
            <a:ext cx="10607040" cy="566928"/>
          </a:xfrm>
          <a:prstGeom prst="rect">
            <a:avLst/>
          </a:prstGeom>
          <a:noFill/>
          <a:ln/>
        </p:spPr>
        <p:txBody>
          <a:bodyPr wrap="square" lIns="0" tIns="0" rIns="0" bIns="0" rtlCol="0" anchor="ctr"/>
          <a:lstStyle/>
          <a:p>
            <a:pPr algn="l" indent="0" marL="0">
              <a:lnSpc>
                <a:spcPct val="108000"/>
              </a:lnSpc>
              <a:buNone/>
            </a:pPr>
            <a:r>
              <a:rPr lang="en-US" sz="1150" dirty="0">
                <a:solidFill>
                  <a:srgbClr val="C9D6F2"/>
                </a:solidFill>
                <a:latin typeface="Calibri" pitchFamily="34" charset="0"/>
                <a:ea typeface="Calibri" pitchFamily="34" charset="-122"/>
                <a:cs typeface="Calibri" pitchFamily="34" charset="-120"/>
              </a:rPr>
              <a:t>Y el detalle que confunde a todos:  en tablas 2×2, scipy aplica una corrección por defecto. Usa  correction=False  para reproducir el cálculo a mano.</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LABORATORIO · 45 MIN</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Los cuatro bloques del notebook</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Todo el código de hoy es explícito y con bucles visibles: la idea es ver cada número aparecer.</a:t>
            </a:r>
            <a:endParaRPr lang="en-US" sz="1400" dirty="0"/>
          </a:p>
        </p:txBody>
      </p:sp>
      <p:sp>
        <p:nvSpPr>
          <p:cNvPr id="6" name="Shape 4"/>
          <p:cNvSpPr/>
          <p:nvPr/>
        </p:nvSpPr>
        <p:spPr>
          <a:xfrm>
            <a:off x="548640" y="2103120"/>
            <a:ext cx="11091672" cy="868680"/>
          </a:xfrm>
          <a:prstGeom prst="roundRect">
            <a:avLst>
              <a:gd name="adj" fmla="val 6316"/>
            </a:avLst>
          </a:prstGeom>
          <a:solidFill>
            <a:srgbClr val="FFFFFF"/>
          </a:solidFill>
          <a:ln w="12700">
            <a:solidFill>
              <a:srgbClr val="D2DBEC"/>
            </a:solidFill>
            <a:prstDash val="solid"/>
          </a:ln>
        </p:spPr>
      </p:sp>
      <p:sp>
        <p:nvSpPr>
          <p:cNvPr id="7" name="Shape 5"/>
          <p:cNvSpPr/>
          <p:nvPr/>
        </p:nvSpPr>
        <p:spPr>
          <a:xfrm>
            <a:off x="777240" y="2350008"/>
            <a:ext cx="384048" cy="384048"/>
          </a:xfrm>
          <a:prstGeom prst="roundRect">
            <a:avLst>
              <a:gd name="adj" fmla="val 50000"/>
            </a:avLst>
          </a:prstGeom>
          <a:solidFill>
            <a:srgbClr val="0A2559"/>
          </a:solidFill>
          <a:ln w="12700">
            <a:solidFill>
              <a:srgbClr val="0A2559"/>
            </a:solidFill>
            <a:prstDash val="solid"/>
          </a:ln>
        </p:spPr>
      </p:sp>
      <p:sp>
        <p:nvSpPr>
          <p:cNvPr id="8" name="Text 6"/>
          <p:cNvSpPr/>
          <p:nvPr/>
        </p:nvSpPr>
        <p:spPr>
          <a:xfrm>
            <a:off x="777240" y="2350008"/>
            <a:ext cx="38404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298448" y="2240280"/>
            <a:ext cx="3108960" cy="594360"/>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Tu tabla en Python</a:t>
            </a:r>
            <a:endParaRPr lang="en-US" sz="1400" dirty="0"/>
          </a:p>
        </p:txBody>
      </p:sp>
      <p:sp>
        <p:nvSpPr>
          <p:cNvPr id="10" name="Text 8"/>
          <p:cNvSpPr/>
          <p:nvPr/>
        </p:nvSpPr>
        <p:spPr>
          <a:xfrm>
            <a:off x="4480560" y="2240280"/>
            <a:ext cx="868680" cy="594360"/>
          </a:xfrm>
          <a:prstGeom prst="rect">
            <a:avLst/>
          </a:prstGeom>
          <a:noFill/>
          <a:ln/>
        </p:spPr>
        <p:txBody>
          <a:bodyPr wrap="square" lIns="0" tIns="0" rIns="0" bIns="0" rtlCol="0" anchor="ctr"/>
          <a:lstStyle/>
          <a:p>
            <a:pPr indent="0" marL="0">
              <a:buNone/>
            </a:pPr>
            <a:r>
              <a:rPr lang="en-US" sz="1200" b="1" dirty="0">
                <a:solidFill>
                  <a:srgbClr val="E6115E"/>
                </a:solidFill>
                <a:latin typeface="Calibri" pitchFamily="34" charset="0"/>
                <a:ea typeface="Calibri" pitchFamily="34" charset="-122"/>
                <a:cs typeface="Calibri" pitchFamily="34" charset="-120"/>
              </a:rPr>
              <a:t>10 min</a:t>
            </a:r>
            <a:endParaRPr lang="en-US" sz="1200" dirty="0"/>
          </a:p>
        </p:txBody>
      </p:sp>
      <p:sp>
        <p:nvSpPr>
          <p:cNvPr id="11" name="Text 9"/>
          <p:cNvSpPr/>
          <p:nvPr/>
        </p:nvSpPr>
        <p:spPr>
          <a:xfrm>
            <a:off x="5440680" y="2267712"/>
            <a:ext cx="6035040" cy="548640"/>
          </a:xfrm>
          <a:prstGeom prst="rect">
            <a:avLst/>
          </a:prstGeom>
          <a:noFill/>
          <a:ln/>
        </p:spPr>
        <p:txBody>
          <a:bodyPr wrap="square" lIns="0" tIns="0" rIns="0" bIns="0" rtlCol="0" anchor="ctr"/>
          <a:lstStyle/>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Reproduces con código el χ² = 9.52 que calculaste en la pizarra, celda por celda.</a:t>
            </a:r>
            <a:endParaRPr lang="en-US" sz="1150" dirty="0"/>
          </a:p>
        </p:txBody>
      </p:sp>
      <p:sp>
        <p:nvSpPr>
          <p:cNvPr id="12" name="Shape 10"/>
          <p:cNvSpPr/>
          <p:nvPr/>
        </p:nvSpPr>
        <p:spPr>
          <a:xfrm>
            <a:off x="548640" y="3063240"/>
            <a:ext cx="11091672" cy="868680"/>
          </a:xfrm>
          <a:prstGeom prst="roundRect">
            <a:avLst>
              <a:gd name="adj" fmla="val 6316"/>
            </a:avLst>
          </a:prstGeom>
          <a:solidFill>
            <a:srgbClr val="E9EEF8"/>
          </a:solidFill>
          <a:ln w="12700">
            <a:solidFill>
              <a:srgbClr val="D2DBEC"/>
            </a:solidFill>
            <a:prstDash val="solid"/>
          </a:ln>
        </p:spPr>
      </p:sp>
      <p:sp>
        <p:nvSpPr>
          <p:cNvPr id="13" name="Shape 11"/>
          <p:cNvSpPr/>
          <p:nvPr/>
        </p:nvSpPr>
        <p:spPr>
          <a:xfrm>
            <a:off x="777240" y="3310128"/>
            <a:ext cx="384048" cy="384048"/>
          </a:xfrm>
          <a:prstGeom prst="roundRect">
            <a:avLst>
              <a:gd name="adj" fmla="val 50000"/>
            </a:avLst>
          </a:prstGeom>
          <a:solidFill>
            <a:srgbClr val="0A2559"/>
          </a:solidFill>
          <a:ln w="12700">
            <a:solidFill>
              <a:srgbClr val="0A2559"/>
            </a:solidFill>
            <a:prstDash val="solid"/>
          </a:ln>
        </p:spPr>
      </p:sp>
      <p:sp>
        <p:nvSpPr>
          <p:cNvPr id="14" name="Text 12"/>
          <p:cNvSpPr/>
          <p:nvPr/>
        </p:nvSpPr>
        <p:spPr>
          <a:xfrm>
            <a:off x="777240" y="3310128"/>
            <a:ext cx="38404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1298448" y="3200400"/>
            <a:ext cx="3108960" cy="594360"/>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De la base a la tabla</a:t>
            </a:r>
            <a:endParaRPr lang="en-US" sz="1400" dirty="0"/>
          </a:p>
        </p:txBody>
      </p:sp>
      <p:sp>
        <p:nvSpPr>
          <p:cNvPr id="16" name="Text 14"/>
          <p:cNvSpPr/>
          <p:nvPr/>
        </p:nvSpPr>
        <p:spPr>
          <a:xfrm>
            <a:off x="4480560" y="3200400"/>
            <a:ext cx="868680" cy="594360"/>
          </a:xfrm>
          <a:prstGeom prst="rect">
            <a:avLst/>
          </a:prstGeom>
          <a:noFill/>
          <a:ln/>
        </p:spPr>
        <p:txBody>
          <a:bodyPr wrap="square" lIns="0" tIns="0" rIns="0" bIns="0" rtlCol="0" anchor="ctr"/>
          <a:lstStyle/>
          <a:p>
            <a:pPr indent="0" marL="0">
              <a:buNone/>
            </a:pPr>
            <a:r>
              <a:rPr lang="en-US" sz="1200" b="1" dirty="0">
                <a:solidFill>
                  <a:srgbClr val="E6115E"/>
                </a:solidFill>
                <a:latin typeface="Calibri" pitchFamily="34" charset="0"/>
                <a:ea typeface="Calibri" pitchFamily="34" charset="-122"/>
                <a:cs typeface="Calibri" pitchFamily="34" charset="-120"/>
              </a:rPr>
              <a:t>12 min</a:t>
            </a:r>
            <a:endParaRPr lang="en-US" sz="1200" dirty="0"/>
          </a:p>
        </p:txBody>
      </p:sp>
      <p:sp>
        <p:nvSpPr>
          <p:cNvPr id="17" name="Text 15"/>
          <p:cNvSpPr/>
          <p:nvPr/>
        </p:nvSpPr>
        <p:spPr>
          <a:xfrm>
            <a:off x="5440680" y="3227832"/>
            <a:ext cx="6035040" cy="548640"/>
          </a:xfrm>
          <a:prstGeom prst="rect">
            <a:avLst/>
          </a:prstGeom>
          <a:noFill/>
          <a:ln/>
        </p:spPr>
        <p:txBody>
          <a:bodyPr wrap="square" lIns="0" tIns="0" rIns="0" bIns="0" rtlCol="0" anchor="ctr"/>
          <a:lstStyle/>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400 solicitudes con tres canales. Construyes la tabla con pd.crosstab.</a:t>
            </a:r>
            <a:endParaRPr lang="en-US" sz="1150" dirty="0"/>
          </a:p>
        </p:txBody>
      </p:sp>
      <p:sp>
        <p:nvSpPr>
          <p:cNvPr id="18" name="Shape 16"/>
          <p:cNvSpPr/>
          <p:nvPr/>
        </p:nvSpPr>
        <p:spPr>
          <a:xfrm>
            <a:off x="548640" y="4023360"/>
            <a:ext cx="11091672" cy="868680"/>
          </a:xfrm>
          <a:prstGeom prst="roundRect">
            <a:avLst>
              <a:gd name="adj" fmla="val 6316"/>
            </a:avLst>
          </a:prstGeom>
          <a:solidFill>
            <a:srgbClr val="FFFFFF"/>
          </a:solidFill>
          <a:ln w="12700">
            <a:solidFill>
              <a:srgbClr val="D2DBEC"/>
            </a:solidFill>
            <a:prstDash val="solid"/>
          </a:ln>
        </p:spPr>
      </p:sp>
      <p:sp>
        <p:nvSpPr>
          <p:cNvPr id="19" name="Shape 17"/>
          <p:cNvSpPr/>
          <p:nvPr/>
        </p:nvSpPr>
        <p:spPr>
          <a:xfrm>
            <a:off x="777240" y="4270248"/>
            <a:ext cx="384048" cy="384048"/>
          </a:xfrm>
          <a:prstGeom prst="roundRect">
            <a:avLst>
              <a:gd name="adj" fmla="val 50000"/>
            </a:avLst>
          </a:prstGeom>
          <a:solidFill>
            <a:srgbClr val="0A2559"/>
          </a:solidFill>
          <a:ln w="12700">
            <a:solidFill>
              <a:srgbClr val="0A2559"/>
            </a:solidFill>
            <a:prstDash val="solid"/>
          </a:ln>
        </p:spPr>
      </p:sp>
      <p:sp>
        <p:nvSpPr>
          <p:cNvPr id="20" name="Text 18"/>
          <p:cNvSpPr/>
          <p:nvPr/>
        </p:nvSpPr>
        <p:spPr>
          <a:xfrm>
            <a:off x="777240" y="4270248"/>
            <a:ext cx="38404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p:nvPr/>
        </p:nvSpPr>
        <p:spPr>
          <a:xfrm>
            <a:off x="1298448" y="4160520"/>
            <a:ext cx="3108960" cy="594360"/>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El experimento ×100</a:t>
            </a:r>
            <a:endParaRPr lang="en-US" sz="1400" dirty="0"/>
          </a:p>
        </p:txBody>
      </p:sp>
      <p:sp>
        <p:nvSpPr>
          <p:cNvPr id="22" name="Text 20"/>
          <p:cNvSpPr/>
          <p:nvPr/>
        </p:nvSpPr>
        <p:spPr>
          <a:xfrm>
            <a:off x="4480560" y="4160520"/>
            <a:ext cx="868680" cy="594360"/>
          </a:xfrm>
          <a:prstGeom prst="rect">
            <a:avLst/>
          </a:prstGeom>
          <a:noFill/>
          <a:ln/>
        </p:spPr>
        <p:txBody>
          <a:bodyPr wrap="square" lIns="0" tIns="0" rIns="0" bIns="0" rtlCol="0" anchor="ctr"/>
          <a:lstStyle/>
          <a:p>
            <a:pPr indent="0" marL="0">
              <a:buNone/>
            </a:pPr>
            <a:r>
              <a:rPr lang="en-US" sz="1200" b="1" dirty="0">
                <a:solidFill>
                  <a:srgbClr val="E6115E"/>
                </a:solidFill>
                <a:latin typeface="Calibri" pitchFamily="34" charset="0"/>
                <a:ea typeface="Calibri" pitchFamily="34" charset="-122"/>
                <a:cs typeface="Calibri" pitchFamily="34" charset="-120"/>
              </a:rPr>
              <a:t>12 min</a:t>
            </a:r>
            <a:endParaRPr lang="en-US" sz="1200" dirty="0"/>
          </a:p>
        </p:txBody>
      </p:sp>
      <p:sp>
        <p:nvSpPr>
          <p:cNvPr id="23" name="Text 21"/>
          <p:cNvSpPr/>
          <p:nvPr/>
        </p:nvSpPr>
        <p:spPr>
          <a:xfrm>
            <a:off x="5440680" y="4187952"/>
            <a:ext cx="6035040" cy="548640"/>
          </a:xfrm>
          <a:prstGeom prst="rect">
            <a:avLst/>
          </a:prstGeom>
          <a:noFill/>
          <a:ln/>
        </p:spPr>
        <p:txBody>
          <a:bodyPr wrap="square" lIns="0" tIns="0" rIns="0" bIns="0" rtlCol="0" anchor="ctr"/>
          <a:lstStyle/>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Multiplicas la tabla y ves el χ² dispararse mientras los porcentajes no cambian.</a:t>
            </a:r>
            <a:endParaRPr lang="en-US" sz="1150" dirty="0"/>
          </a:p>
        </p:txBody>
      </p:sp>
      <p:sp>
        <p:nvSpPr>
          <p:cNvPr id="24" name="Shape 22"/>
          <p:cNvSpPr/>
          <p:nvPr/>
        </p:nvSpPr>
        <p:spPr>
          <a:xfrm>
            <a:off x="548640" y="4983480"/>
            <a:ext cx="11091672" cy="868680"/>
          </a:xfrm>
          <a:prstGeom prst="roundRect">
            <a:avLst>
              <a:gd name="adj" fmla="val 6316"/>
            </a:avLst>
          </a:prstGeom>
          <a:solidFill>
            <a:srgbClr val="E9EEF8"/>
          </a:solidFill>
          <a:ln w="12700">
            <a:solidFill>
              <a:srgbClr val="D2DBEC"/>
            </a:solidFill>
            <a:prstDash val="solid"/>
          </a:ln>
        </p:spPr>
      </p:sp>
      <p:sp>
        <p:nvSpPr>
          <p:cNvPr id="25" name="Shape 23"/>
          <p:cNvSpPr/>
          <p:nvPr/>
        </p:nvSpPr>
        <p:spPr>
          <a:xfrm>
            <a:off x="777240" y="5230368"/>
            <a:ext cx="384048" cy="384048"/>
          </a:xfrm>
          <a:prstGeom prst="roundRect">
            <a:avLst>
              <a:gd name="adj" fmla="val 50000"/>
            </a:avLst>
          </a:prstGeom>
          <a:solidFill>
            <a:srgbClr val="0A2559"/>
          </a:solidFill>
          <a:ln w="12700">
            <a:solidFill>
              <a:srgbClr val="0A2559"/>
            </a:solidFill>
            <a:prstDash val="solid"/>
          </a:ln>
        </p:spPr>
      </p:sp>
      <p:sp>
        <p:nvSpPr>
          <p:cNvPr id="26" name="Text 24"/>
          <p:cNvSpPr/>
          <p:nvPr/>
        </p:nvSpPr>
        <p:spPr>
          <a:xfrm>
            <a:off x="777240" y="5230368"/>
            <a:ext cx="38404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4</a:t>
            </a:r>
            <a:endParaRPr lang="en-US" sz="1300" dirty="0"/>
          </a:p>
        </p:txBody>
      </p:sp>
      <p:sp>
        <p:nvSpPr>
          <p:cNvPr id="27" name="Text 25"/>
          <p:cNvSpPr/>
          <p:nvPr/>
        </p:nvSpPr>
        <p:spPr>
          <a:xfrm>
            <a:off x="1298448" y="5120640"/>
            <a:ext cx="3108960" cy="594360"/>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Cramér's V</a:t>
            </a:r>
            <a:endParaRPr lang="en-US" sz="1400" dirty="0"/>
          </a:p>
        </p:txBody>
      </p:sp>
      <p:sp>
        <p:nvSpPr>
          <p:cNvPr id="28" name="Text 26"/>
          <p:cNvSpPr/>
          <p:nvPr/>
        </p:nvSpPr>
        <p:spPr>
          <a:xfrm>
            <a:off x="4480560" y="5120640"/>
            <a:ext cx="868680" cy="594360"/>
          </a:xfrm>
          <a:prstGeom prst="rect">
            <a:avLst/>
          </a:prstGeom>
          <a:noFill/>
          <a:ln/>
        </p:spPr>
        <p:txBody>
          <a:bodyPr wrap="square" lIns="0" tIns="0" rIns="0" bIns="0" rtlCol="0" anchor="ctr"/>
          <a:lstStyle/>
          <a:p>
            <a:pPr indent="0" marL="0">
              <a:buNone/>
            </a:pPr>
            <a:r>
              <a:rPr lang="en-US" sz="1200" b="1" dirty="0">
                <a:solidFill>
                  <a:srgbClr val="E6115E"/>
                </a:solidFill>
                <a:latin typeface="Calibri" pitchFamily="34" charset="0"/>
                <a:ea typeface="Calibri" pitchFamily="34" charset="-122"/>
                <a:cs typeface="Calibri" pitchFamily="34" charset="-120"/>
              </a:rPr>
              <a:t>11 min</a:t>
            </a:r>
            <a:endParaRPr lang="en-US" sz="1200" dirty="0"/>
          </a:p>
        </p:txBody>
      </p:sp>
      <p:sp>
        <p:nvSpPr>
          <p:cNvPr id="29" name="Text 27"/>
          <p:cNvSpPr/>
          <p:nvPr/>
        </p:nvSpPr>
        <p:spPr>
          <a:xfrm>
            <a:off x="5440680" y="5148072"/>
            <a:ext cx="6035040" cy="548640"/>
          </a:xfrm>
          <a:prstGeom prst="rect">
            <a:avLst/>
          </a:prstGeom>
          <a:noFill/>
          <a:ln/>
        </p:spPr>
        <p:txBody>
          <a:bodyPr wrap="square" lIns="0" tIns="0" rIns="0" bIns="0" rtlCol="0" anchor="ctr"/>
          <a:lstStyle/>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Calculas la V y compruebas que no se movió. Y la aplicas a dos variables sin relación.</a:t>
            </a:r>
            <a:endParaRPr lang="en-US" sz="1150" dirty="0"/>
          </a:p>
        </p:txBody>
      </p:sp>
      <p:sp>
        <p:nvSpPr>
          <p:cNvPr id="30" name="Shape 28"/>
          <p:cNvSpPr/>
          <p:nvPr/>
        </p:nvSpPr>
        <p:spPr>
          <a:xfrm>
            <a:off x="548640" y="6035040"/>
            <a:ext cx="11091672" cy="548640"/>
          </a:xfrm>
          <a:prstGeom prst="roundRect">
            <a:avLst>
              <a:gd name="adj" fmla="val 10000"/>
            </a:avLst>
          </a:prstGeom>
          <a:solidFill>
            <a:srgbClr val="0A2559"/>
          </a:solidFill>
          <a:ln w="12700">
            <a:solidFill>
              <a:srgbClr val="0A2559"/>
            </a:solidFill>
            <a:prstDash val="solid"/>
          </a:ln>
        </p:spPr>
      </p:sp>
      <p:sp>
        <p:nvSpPr>
          <p:cNvPr id="31" name="Text 29"/>
          <p:cNvSpPr/>
          <p:nvPr/>
        </p:nvSpPr>
        <p:spPr>
          <a:xfrm>
            <a:off x="822960" y="6035040"/>
            <a:ext cx="10607040" cy="548640"/>
          </a:xfrm>
          <a:prstGeom prst="rect">
            <a:avLst/>
          </a:prstGeom>
          <a:noFill/>
          <a:ln/>
        </p:spPr>
        <p:txBody>
          <a:bodyPr wrap="square" lIns="0" tIns="0" rIns="0" bIns="0" rtlCol="0" anchor="ctr"/>
          <a:lstStyle/>
          <a:p>
            <a:pPr algn="l" indent="0" marL="0">
              <a:lnSpc>
                <a:spcPct val="108000"/>
              </a:lnSpc>
              <a:buNone/>
            </a:pPr>
            <a:r>
              <a:rPr lang="en-US" sz="1200" dirty="0">
                <a:solidFill>
                  <a:srgbClr val="C9D6F2"/>
                </a:solidFill>
                <a:latin typeface="Calibri" pitchFamily="34" charset="0"/>
                <a:ea typeface="Calibri" pitchFamily="34" charset="-122"/>
                <a:cs typeface="Calibri" pitchFamily="34" charset="-120"/>
              </a:rPr>
              <a:t>No hay que descargar nada: los datos se crean dentro del notebook. Solo abrir y ejecutar.</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2559"/>
        </a:solidFill>
      </p:bgPr>
    </p:bg>
    <p:spTree>
      <p:nvGrpSpPr>
        <p:cNvPr id="1" name=""/>
        <p:cNvGrpSpPr/>
        <p:nvPr/>
      </p:nvGrpSpPr>
      <p:grpSpPr>
        <a:xfrm>
          <a:off x="0" y="0"/>
          <a:ext cx="0" cy="0"/>
          <a:chOff x="0" y="0"/>
          <a:chExt cx="0" cy="0"/>
        </a:xfrm>
      </p:grpSpPr>
      <p:sp>
        <p:nvSpPr>
          <p:cNvPr id="2" name="Shape 0"/>
          <p:cNvSpPr/>
          <p:nvPr/>
        </p:nvSpPr>
        <p:spPr>
          <a:xfrm>
            <a:off x="9144000" y="914400"/>
            <a:ext cx="1188720" cy="566928"/>
          </a:xfrm>
          <a:prstGeom prst="roundRect">
            <a:avLst>
              <a:gd name="adj" fmla="val 8065"/>
            </a:avLst>
          </a:prstGeom>
          <a:solidFill>
            <a:srgbClr val="E6115E"/>
          </a:solidFill>
          <a:ln w="12700">
            <a:solidFill>
              <a:srgbClr val="333333"/>
            </a:solidFill>
            <a:prstDash val="solid"/>
          </a:ln>
        </p:spPr>
      </p:sp>
      <p:sp>
        <p:nvSpPr>
          <p:cNvPr id="3" name="Text 1"/>
          <p:cNvSpPr/>
          <p:nvPr/>
        </p:nvSpPr>
        <p:spPr>
          <a:xfrm>
            <a:off x="9144000" y="914400"/>
            <a:ext cx="1188720"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40</a:t>
            </a:r>
            <a:endParaRPr lang="en-US" sz="1800" dirty="0"/>
          </a:p>
        </p:txBody>
      </p:sp>
      <p:sp>
        <p:nvSpPr>
          <p:cNvPr id="4" name="Shape 2"/>
          <p:cNvSpPr/>
          <p:nvPr/>
        </p:nvSpPr>
        <p:spPr>
          <a:xfrm>
            <a:off x="10442448" y="914400"/>
            <a:ext cx="1188720" cy="566928"/>
          </a:xfrm>
          <a:prstGeom prst="roundRect">
            <a:avLst>
              <a:gd name="adj" fmla="val 8065"/>
            </a:avLst>
          </a:prstGeom>
          <a:solidFill>
            <a:srgbClr val="1E4380"/>
          </a:solidFill>
          <a:ln w="12700">
            <a:solidFill>
              <a:srgbClr val="333333"/>
            </a:solidFill>
            <a:prstDash val="solid"/>
          </a:ln>
        </p:spPr>
      </p:sp>
      <p:sp>
        <p:nvSpPr>
          <p:cNvPr id="5" name="Text 3"/>
          <p:cNvSpPr/>
          <p:nvPr/>
        </p:nvSpPr>
        <p:spPr>
          <a:xfrm>
            <a:off x="10442448" y="914400"/>
            <a:ext cx="1188720"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60</a:t>
            </a:r>
            <a:endParaRPr lang="en-US" sz="1800" dirty="0"/>
          </a:p>
        </p:txBody>
      </p:sp>
      <p:sp>
        <p:nvSpPr>
          <p:cNvPr id="6" name="Shape 4"/>
          <p:cNvSpPr/>
          <p:nvPr/>
        </p:nvSpPr>
        <p:spPr>
          <a:xfrm>
            <a:off x="9144000" y="1591056"/>
            <a:ext cx="1188720" cy="566928"/>
          </a:xfrm>
          <a:prstGeom prst="roundRect">
            <a:avLst>
              <a:gd name="adj" fmla="val 8065"/>
            </a:avLst>
          </a:prstGeom>
          <a:solidFill>
            <a:srgbClr val="E6115E"/>
          </a:solidFill>
          <a:ln w="12700">
            <a:solidFill>
              <a:srgbClr val="333333"/>
            </a:solidFill>
            <a:prstDash val="solid"/>
          </a:ln>
        </p:spPr>
      </p:sp>
      <p:sp>
        <p:nvSpPr>
          <p:cNvPr id="7" name="Text 5"/>
          <p:cNvSpPr/>
          <p:nvPr/>
        </p:nvSpPr>
        <p:spPr>
          <a:xfrm>
            <a:off x="9144000" y="1591056"/>
            <a:ext cx="1188720"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20</a:t>
            </a:r>
            <a:endParaRPr lang="en-US" sz="1800" dirty="0"/>
          </a:p>
        </p:txBody>
      </p:sp>
      <p:sp>
        <p:nvSpPr>
          <p:cNvPr id="8" name="Shape 6"/>
          <p:cNvSpPr/>
          <p:nvPr/>
        </p:nvSpPr>
        <p:spPr>
          <a:xfrm>
            <a:off x="10442448" y="1591056"/>
            <a:ext cx="1188720" cy="566928"/>
          </a:xfrm>
          <a:prstGeom prst="roundRect">
            <a:avLst>
              <a:gd name="adj" fmla="val 8065"/>
            </a:avLst>
          </a:prstGeom>
          <a:solidFill>
            <a:srgbClr val="1E4380"/>
          </a:solidFill>
          <a:ln w="12700">
            <a:solidFill>
              <a:srgbClr val="333333"/>
            </a:solidFill>
            <a:prstDash val="solid"/>
          </a:ln>
        </p:spPr>
      </p:sp>
      <p:sp>
        <p:nvSpPr>
          <p:cNvPr id="9" name="Text 7"/>
          <p:cNvSpPr/>
          <p:nvPr/>
        </p:nvSpPr>
        <p:spPr>
          <a:xfrm>
            <a:off x="10442448" y="1591056"/>
            <a:ext cx="1188720"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80</a:t>
            </a:r>
            <a:endParaRPr lang="en-US" sz="1800" dirty="0"/>
          </a:p>
        </p:txBody>
      </p:sp>
      <p:sp>
        <p:nvSpPr>
          <p:cNvPr id="10" name="Shape 8"/>
          <p:cNvSpPr/>
          <p:nvPr/>
        </p:nvSpPr>
        <p:spPr>
          <a:xfrm>
            <a:off x="548640" y="457200"/>
            <a:ext cx="2103120" cy="347472"/>
          </a:xfrm>
          <a:prstGeom prst="roundRect">
            <a:avLst>
              <a:gd name="adj" fmla="val 50000"/>
            </a:avLst>
          </a:prstGeom>
          <a:solidFill>
            <a:srgbClr val="E6115E"/>
          </a:solidFill>
          <a:ln w="12700">
            <a:solidFill>
              <a:srgbClr val="E6115E"/>
            </a:solidFill>
            <a:prstDash val="solid"/>
          </a:ln>
        </p:spPr>
      </p:sp>
      <p:sp>
        <p:nvSpPr>
          <p:cNvPr id="11" name="Text 9"/>
          <p:cNvSpPr/>
          <p:nvPr/>
        </p:nvSpPr>
        <p:spPr>
          <a:xfrm>
            <a:off x="548640" y="457200"/>
            <a:ext cx="210312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CIERRE · 8 MIN</a:t>
            </a:r>
            <a:endParaRPr lang="en-US" sz="1150" dirty="0"/>
          </a:p>
        </p:txBody>
      </p:sp>
      <p:sp>
        <p:nvSpPr>
          <p:cNvPr id="12" name="Text 10"/>
          <p:cNvSpPr/>
          <p:nvPr/>
        </p:nvSpPr>
        <p:spPr>
          <a:xfrm>
            <a:off x="548640" y="914400"/>
            <a:ext cx="8229600" cy="64008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Si te llevas una sola cosa</a:t>
            </a:r>
            <a:endParaRPr lang="en-US" sz="3400" dirty="0"/>
          </a:p>
        </p:txBody>
      </p:sp>
      <p:sp>
        <p:nvSpPr>
          <p:cNvPr id="13" name="Text 11"/>
          <p:cNvSpPr/>
          <p:nvPr/>
        </p:nvSpPr>
        <p:spPr>
          <a:xfrm>
            <a:off x="548640" y="1572768"/>
            <a:ext cx="8138160" cy="457200"/>
          </a:xfrm>
          <a:prstGeom prst="rect">
            <a:avLst/>
          </a:prstGeom>
          <a:noFill/>
          <a:ln/>
        </p:spPr>
        <p:txBody>
          <a:bodyPr wrap="square" lIns="0" tIns="0" rIns="0" bIns="0" rtlCol="0" anchor="t"/>
          <a:lstStyle/>
          <a:p>
            <a:pPr algn="l" indent="0" marL="0">
              <a:lnSpc>
                <a:spcPct val="108000"/>
              </a:lnSpc>
              <a:buNone/>
            </a:pPr>
            <a:r>
              <a:rPr lang="en-US" sz="1500" i="1" dirty="0">
                <a:solidFill>
                  <a:srgbClr val="C9D6F2"/>
                </a:solidFill>
                <a:latin typeface="Calibri" pitchFamily="34" charset="0"/>
                <a:ea typeface="Calibri" pitchFamily="34" charset="-122"/>
                <a:cs typeface="Calibri" pitchFamily="34" charset="-120"/>
              </a:rPr>
              <a:t>El χ² te dice si hay relación. La V te dice si esa relación importa. Reportar solo el primero es contar media historia.</a:t>
            </a:r>
            <a:endParaRPr lang="en-US" sz="1500" dirty="0"/>
          </a:p>
        </p:txBody>
      </p:sp>
      <p:sp>
        <p:nvSpPr>
          <p:cNvPr id="14" name="Shape 12"/>
          <p:cNvSpPr/>
          <p:nvPr/>
        </p:nvSpPr>
        <p:spPr>
          <a:xfrm>
            <a:off x="548640" y="2212848"/>
            <a:ext cx="5468112" cy="2377440"/>
          </a:xfrm>
          <a:prstGeom prst="roundRect">
            <a:avLst>
              <a:gd name="adj" fmla="val 2308"/>
            </a:avLst>
          </a:prstGeom>
          <a:solidFill>
            <a:srgbClr val="061834"/>
          </a:solidFill>
          <a:ln w="12700">
            <a:solidFill>
              <a:srgbClr val="1A3B72"/>
            </a:solidFill>
            <a:prstDash val="solid"/>
          </a:ln>
        </p:spPr>
      </p:sp>
      <p:sp>
        <p:nvSpPr>
          <p:cNvPr id="15" name="Shape 13"/>
          <p:cNvSpPr/>
          <p:nvPr/>
        </p:nvSpPr>
        <p:spPr>
          <a:xfrm>
            <a:off x="804672" y="2496312"/>
            <a:ext cx="118872" cy="118872"/>
          </a:xfrm>
          <a:prstGeom prst="roundRect">
            <a:avLst>
              <a:gd name="adj" fmla="val 30769"/>
            </a:avLst>
          </a:prstGeom>
          <a:solidFill>
            <a:srgbClr val="E6115E"/>
          </a:solidFill>
          <a:ln w="12700">
            <a:solidFill>
              <a:srgbClr val="E6115E"/>
            </a:solidFill>
            <a:prstDash val="solid"/>
          </a:ln>
        </p:spPr>
      </p:sp>
      <p:sp>
        <p:nvSpPr>
          <p:cNvPr id="16" name="Text 14"/>
          <p:cNvSpPr/>
          <p:nvPr/>
        </p:nvSpPr>
        <p:spPr>
          <a:xfrm>
            <a:off x="1042416" y="2395728"/>
            <a:ext cx="4791456"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Checklist de salida</a:t>
            </a:r>
            <a:endParaRPr lang="en-US" sz="1500" dirty="0"/>
          </a:p>
        </p:txBody>
      </p:sp>
      <p:sp>
        <p:nvSpPr>
          <p:cNvPr id="17" name="Text 15"/>
          <p:cNvSpPr/>
          <p:nvPr/>
        </p:nvSpPr>
        <p:spPr>
          <a:xfrm>
            <a:off x="804672" y="2798064"/>
            <a:ext cx="4983480" cy="16459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C9D6F2"/>
                </a:solidFill>
                <a:latin typeface="Calibri" pitchFamily="34" charset="0"/>
                <a:ea typeface="Calibri" pitchFamily="34" charset="-122"/>
                <a:cs typeface="Calibri" pitchFamily="34" charset="-120"/>
              </a:rPr>
              <a:t>Sé construir una tabla de contingencia.</a:t>
            </a:r>
            <a:endParaRPr lang="en-US" sz="1200" dirty="0"/>
          </a:p>
          <a:p>
            <a:pPr marL="342900" indent="-342900">
              <a:spcAft>
                <a:spcPts val="500"/>
              </a:spcAft>
              <a:buSzPct val="100000"/>
              <a:buChar char="•"/>
            </a:pPr>
            <a:r>
              <a:rPr lang="en-US" sz="1200" dirty="0">
                <a:solidFill>
                  <a:srgbClr val="C9D6F2"/>
                </a:solidFill>
                <a:latin typeface="Calibri" pitchFamily="34" charset="0"/>
                <a:ea typeface="Calibri" pitchFamily="34" charset="-122"/>
                <a:cs typeface="Calibri" pitchFamily="34" charset="-120"/>
              </a:rPr>
              <a:t>Entiendo qué significa «esperado».</a:t>
            </a:r>
            <a:endParaRPr lang="en-US" sz="1200" dirty="0"/>
          </a:p>
          <a:p>
            <a:pPr marL="342900" indent="-342900">
              <a:spcAft>
                <a:spcPts val="500"/>
              </a:spcAft>
              <a:buSzPct val="100000"/>
              <a:buChar char="•"/>
            </a:pPr>
            <a:r>
              <a:rPr lang="en-US" sz="1200" dirty="0">
                <a:solidFill>
                  <a:srgbClr val="C9D6F2"/>
                </a:solidFill>
                <a:latin typeface="Calibri" pitchFamily="34" charset="0"/>
                <a:ea typeface="Calibri" pitchFamily="34" charset="-122"/>
                <a:cs typeface="Calibri" pitchFamily="34" charset="-120"/>
              </a:rPr>
              <a:t>Sé calcular un χ² a mano.</a:t>
            </a:r>
            <a:endParaRPr lang="en-US" sz="1200" dirty="0"/>
          </a:p>
          <a:p>
            <a:pPr marL="342900" indent="-342900">
              <a:spcAft>
                <a:spcPts val="500"/>
              </a:spcAft>
              <a:buSzPct val="100000"/>
              <a:buChar char="•"/>
            </a:pPr>
            <a:r>
              <a:rPr lang="en-US" sz="1200" dirty="0">
                <a:solidFill>
                  <a:srgbClr val="C9D6F2"/>
                </a:solidFill>
                <a:latin typeface="Calibri" pitchFamily="34" charset="0"/>
                <a:ea typeface="Calibri" pitchFamily="34" charset="-122"/>
                <a:cs typeface="Calibri" pitchFamily="34" charset="-120"/>
              </a:rPr>
              <a:t>Sé que el χ² crece con el tamaño de muestra.</a:t>
            </a:r>
            <a:endParaRPr lang="en-US" sz="1200" dirty="0"/>
          </a:p>
          <a:p>
            <a:pPr marL="342900" indent="-342900">
              <a:spcAft>
                <a:spcPts val="500"/>
              </a:spcAft>
              <a:buSzPct val="100000"/>
              <a:buChar char="•"/>
            </a:pPr>
            <a:r>
              <a:rPr lang="en-US" sz="1200" dirty="0">
                <a:solidFill>
                  <a:srgbClr val="C9D6F2"/>
                </a:solidFill>
                <a:latin typeface="Calibri" pitchFamily="34" charset="0"/>
                <a:ea typeface="Calibri" pitchFamily="34" charset="-122"/>
                <a:cs typeface="Calibri" pitchFamily="34" charset="-120"/>
              </a:rPr>
              <a:t>Reporto siempre la V junto al p-valor.</a:t>
            </a:r>
            <a:endParaRPr lang="en-US" sz="1200" dirty="0"/>
          </a:p>
        </p:txBody>
      </p:sp>
      <p:sp>
        <p:nvSpPr>
          <p:cNvPr id="18" name="Shape 16"/>
          <p:cNvSpPr/>
          <p:nvPr/>
        </p:nvSpPr>
        <p:spPr>
          <a:xfrm>
            <a:off x="6172200" y="2212848"/>
            <a:ext cx="5468112" cy="2377440"/>
          </a:xfrm>
          <a:prstGeom prst="roundRect">
            <a:avLst>
              <a:gd name="adj" fmla="val 2308"/>
            </a:avLst>
          </a:prstGeom>
          <a:solidFill>
            <a:srgbClr val="061834"/>
          </a:solidFill>
          <a:ln w="12700">
            <a:solidFill>
              <a:srgbClr val="1A3B72"/>
            </a:solidFill>
            <a:prstDash val="solid"/>
          </a:ln>
        </p:spPr>
      </p:sp>
      <p:sp>
        <p:nvSpPr>
          <p:cNvPr id="19" name="Shape 17"/>
          <p:cNvSpPr/>
          <p:nvPr/>
        </p:nvSpPr>
        <p:spPr>
          <a:xfrm>
            <a:off x="6419088" y="2496312"/>
            <a:ext cx="118872" cy="118872"/>
          </a:xfrm>
          <a:prstGeom prst="roundRect">
            <a:avLst>
              <a:gd name="adj" fmla="val 30769"/>
            </a:avLst>
          </a:prstGeom>
          <a:solidFill>
            <a:srgbClr val="E6115E"/>
          </a:solidFill>
          <a:ln w="12700">
            <a:solidFill>
              <a:srgbClr val="E6115E"/>
            </a:solidFill>
            <a:prstDash val="solid"/>
          </a:ln>
        </p:spPr>
      </p:sp>
      <p:sp>
        <p:nvSpPr>
          <p:cNvPr id="20" name="Text 18"/>
          <p:cNvSpPr/>
          <p:nvPr/>
        </p:nvSpPr>
        <p:spPr>
          <a:xfrm>
            <a:off x="6656832" y="2395728"/>
            <a:ext cx="4791456"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Reto para la próxima clase</a:t>
            </a:r>
            <a:endParaRPr lang="en-US" sz="1500" dirty="0"/>
          </a:p>
        </p:txBody>
      </p:sp>
      <p:sp>
        <p:nvSpPr>
          <p:cNvPr id="21" name="Text 19"/>
          <p:cNvSpPr/>
          <p:nvPr/>
        </p:nvSpPr>
        <p:spPr>
          <a:xfrm>
            <a:off x="6419088" y="2798064"/>
            <a:ext cx="4983480" cy="1691640"/>
          </a:xfrm>
          <a:prstGeom prst="rect">
            <a:avLst/>
          </a:prstGeom>
          <a:noFill/>
          <a:ln/>
        </p:spPr>
        <p:txBody>
          <a:bodyPr wrap="square" lIns="0" tIns="0" rIns="0" bIns="0" rtlCol="0" anchor="t"/>
          <a:lstStyle/>
          <a:p>
            <a:pPr algn="l" indent="0" marL="0">
              <a:lnSpc>
                <a:spcPct val="112000"/>
              </a:lnSpc>
              <a:buNone/>
            </a:pPr>
            <a:r>
              <a:rPr lang="en-US" sz="1150" dirty="0">
                <a:solidFill>
                  <a:srgbClr val="C9D6F2"/>
                </a:solidFill>
                <a:latin typeface="Calibri" pitchFamily="34" charset="0"/>
                <a:ea typeface="Calibri" pitchFamily="34" charset="-122"/>
                <a:cs typeface="Calibri" pitchFamily="34" charset="-120"/>
              </a:rPr>
              <a:t>Busca en tu trabajo dos variables categóricas que sospeches relacionadas: canal y resultado, segmento y mora, región y producto.</a:t>
            </a:r>
            <a:endParaRPr lang="en-US" sz="1150" dirty="0"/>
          </a:p>
          <a:p>
            <a:pPr algn="l" indent="0" marL="0">
              <a:lnSpc>
                <a:spcPct val="112000"/>
              </a:lnSpc>
              <a:buNone/>
            </a:pPr>
            <a:endParaRPr lang="en-US" sz="1150" dirty="0"/>
          </a:p>
          <a:p>
            <a:pPr algn="l" indent="0" marL="0">
              <a:lnSpc>
                <a:spcPct val="112000"/>
              </a:lnSpc>
              <a:buNone/>
            </a:pPr>
            <a:r>
              <a:rPr lang="en-US" sz="1150" dirty="0">
                <a:solidFill>
                  <a:srgbClr val="C9D6F2"/>
                </a:solidFill>
                <a:latin typeface="Calibri" pitchFamily="34" charset="0"/>
                <a:ea typeface="Calibri" pitchFamily="34" charset="-122"/>
                <a:cs typeface="Calibri" pitchFamily="34" charset="-120"/>
              </a:rPr>
              <a:t>Construye la tabla, calcula el χ² y la V, y contesta dos preguntas:</a:t>
            </a:r>
            <a:endParaRPr lang="en-US" sz="1150" dirty="0"/>
          </a:p>
          <a:p>
            <a:pPr algn="l" indent="0" marL="0">
              <a:lnSpc>
                <a:spcPct val="112000"/>
              </a:lnSpc>
              <a:buNone/>
            </a:pPr>
            <a:endParaRPr lang="en-US" sz="1150" dirty="0"/>
          </a:p>
          <a:p>
            <a:pPr algn="l" indent="0" marL="0">
              <a:lnSpc>
                <a:spcPct val="112000"/>
              </a:lnSpc>
              <a:buNone/>
            </a:pPr>
            <a:r>
              <a:rPr lang="en-US" sz="1150" dirty="0">
                <a:solidFill>
                  <a:srgbClr val="C9D6F2"/>
                </a:solidFill>
                <a:latin typeface="Calibri" pitchFamily="34" charset="0"/>
                <a:ea typeface="Calibri" pitchFamily="34" charset="-122"/>
                <a:cs typeface="Calibri" pitchFamily="34" charset="-120"/>
              </a:rPr>
              <a:t>¿la relación es significativa?  ¿y es fuerte?</a:t>
            </a:r>
            <a:endParaRPr lang="en-US" sz="1150" dirty="0"/>
          </a:p>
          <a:p>
            <a:pPr algn="l" indent="0" marL="0">
              <a:lnSpc>
                <a:spcPct val="112000"/>
              </a:lnSpc>
              <a:buNone/>
            </a:pPr>
            <a:endParaRPr lang="en-US" sz="1150" dirty="0"/>
          </a:p>
          <a:p>
            <a:pPr algn="l" indent="0" marL="0">
              <a:lnSpc>
                <a:spcPct val="112000"/>
              </a:lnSpc>
              <a:buNone/>
            </a:pPr>
            <a:r>
              <a:rPr lang="en-US" sz="1150" dirty="0">
                <a:solidFill>
                  <a:srgbClr val="C9D6F2"/>
                </a:solidFill>
                <a:latin typeface="Calibri" pitchFamily="34" charset="0"/>
                <a:ea typeface="Calibri" pitchFamily="34" charset="-122"/>
                <a:cs typeface="Calibri" pitchFamily="34" charset="-120"/>
              </a:rPr>
              <a:t>No siempre las dos respuestas coinciden, y ahí está lo interesante.</a:t>
            </a:r>
            <a:endParaRPr lang="en-US" sz="1150" dirty="0"/>
          </a:p>
        </p:txBody>
      </p:sp>
      <p:sp>
        <p:nvSpPr>
          <p:cNvPr id="22" name="Shape 20"/>
          <p:cNvSpPr/>
          <p:nvPr/>
        </p:nvSpPr>
        <p:spPr>
          <a:xfrm>
            <a:off x="548640" y="4800600"/>
            <a:ext cx="11091672" cy="1234440"/>
          </a:xfrm>
          <a:prstGeom prst="roundRect">
            <a:avLst>
              <a:gd name="adj" fmla="val 4444"/>
            </a:avLst>
          </a:prstGeom>
          <a:solidFill>
            <a:srgbClr val="061834"/>
          </a:solidFill>
          <a:ln w="12700">
            <a:solidFill>
              <a:srgbClr val="1A3B72"/>
            </a:solidFill>
            <a:prstDash val="solid"/>
          </a:ln>
        </p:spPr>
      </p:sp>
      <p:sp>
        <p:nvSpPr>
          <p:cNvPr id="23" name="Shape 21"/>
          <p:cNvSpPr/>
          <p:nvPr/>
        </p:nvSpPr>
        <p:spPr>
          <a:xfrm>
            <a:off x="804672" y="5065776"/>
            <a:ext cx="118872" cy="118872"/>
          </a:xfrm>
          <a:prstGeom prst="roundRect">
            <a:avLst>
              <a:gd name="adj" fmla="val 30769"/>
            </a:avLst>
          </a:prstGeom>
          <a:solidFill>
            <a:srgbClr val="E6115E"/>
          </a:solidFill>
          <a:ln w="12700">
            <a:solidFill>
              <a:srgbClr val="E6115E"/>
            </a:solidFill>
            <a:prstDash val="solid"/>
          </a:ln>
        </p:spPr>
      </p:sp>
      <p:sp>
        <p:nvSpPr>
          <p:cNvPr id="24" name="Text 22"/>
          <p:cNvSpPr/>
          <p:nvPr/>
        </p:nvSpPr>
        <p:spPr>
          <a:xfrm>
            <a:off x="1042416" y="4965192"/>
            <a:ext cx="5248656"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Clase 9</a:t>
            </a:r>
            <a:endParaRPr lang="en-US" sz="1500" dirty="0"/>
          </a:p>
        </p:txBody>
      </p:sp>
      <p:sp>
        <p:nvSpPr>
          <p:cNvPr id="25" name="Text 23"/>
          <p:cNvSpPr/>
          <p:nvPr/>
        </p:nvSpPr>
        <p:spPr>
          <a:xfrm>
            <a:off x="804672" y="5330952"/>
            <a:ext cx="10607040" cy="640080"/>
          </a:xfrm>
          <a:prstGeom prst="rect">
            <a:avLst/>
          </a:prstGeom>
          <a:noFill/>
          <a:ln/>
        </p:spPr>
        <p:txBody>
          <a:bodyPr wrap="square" lIns="0" tIns="0" rIns="0" bIns="0" rtlCol="0" anchor="t"/>
          <a:lstStyle/>
          <a:p>
            <a:pPr algn="l" indent="0" marL="0">
              <a:lnSpc>
                <a:spcPct val="110000"/>
              </a:lnSpc>
              <a:buNone/>
            </a:pPr>
            <a:r>
              <a:rPr lang="en-US" sz="1250" dirty="0">
                <a:solidFill>
                  <a:srgbClr val="C9D6F2"/>
                </a:solidFill>
                <a:latin typeface="Calibri" pitchFamily="34" charset="0"/>
                <a:ea typeface="Calibri" pitchFamily="34" charset="-122"/>
                <a:cs typeface="Calibri" pitchFamily="34" charset="-120"/>
              </a:rPr>
              <a:t>Las tres cosas que hoy solo nombramos: la prueba exacta de Fisher para cuando hay casillas con pocos casos, los residuos para saber qué casilla causa la diferencia, y la paradoja de Simpson — donde una relación se invierte al separar los datos por grupos, y que es lo más contraintuitivo del curso.</a:t>
            </a:r>
            <a:endParaRPr lang="en-US" sz="1250" dirty="0"/>
          </a:p>
        </p:txBody>
      </p:sp>
      <p:sp>
        <p:nvSpPr>
          <p:cNvPr id="26" name="Text 24"/>
          <p:cNvSpPr/>
          <p:nvPr/>
        </p:nvSpPr>
        <p:spPr>
          <a:xfrm>
            <a:off x="548640" y="6172200"/>
            <a:ext cx="8229600" cy="320040"/>
          </a:xfrm>
          <a:prstGeom prst="rect">
            <a:avLst/>
          </a:prstGeom>
          <a:noFill/>
          <a:ln/>
        </p:spPr>
        <p:txBody>
          <a:bodyPr wrap="square" lIns="0" tIns="0" rIns="0" bIns="0" rtlCol="0" anchor="ctr"/>
          <a:lstStyle/>
          <a:p>
            <a:pPr indent="0" marL="0">
              <a:buNone/>
            </a:pPr>
            <a:r>
              <a:rPr lang="en-US" sz="1050" i="1" dirty="0">
                <a:solidFill>
                  <a:srgbClr val="7C93C4"/>
                </a:solidFill>
                <a:latin typeface="Calibri" pitchFamily="34" charset="0"/>
                <a:ea typeface="Calibri" pitchFamily="34" charset="-122"/>
                <a:cs typeface="Calibri" pitchFamily="34" charset="-120"/>
              </a:rPr>
              <a:t>Estadística Descriptiva e Inferencial · Módulo 3 · Clase 8</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Clase 8 — Chi cuadrado</dc:title>
  <dc:subject>PptxGenJS Presentation</dc:subject>
  <dc:creator>Rodrigo</dc:creator>
  <cp:lastModifiedBy>Rodrigo</cp:lastModifiedBy>
  <cp:revision>1</cp:revision>
  <dcterms:created xsi:type="dcterms:W3CDTF">2026-08-19T23:37:52Z</dcterms:created>
  <dcterms:modified xsi:type="dcterms:W3CDTF">2026-08-19T23:37:52Z</dcterms:modified>
</cp:coreProperties>
</file>