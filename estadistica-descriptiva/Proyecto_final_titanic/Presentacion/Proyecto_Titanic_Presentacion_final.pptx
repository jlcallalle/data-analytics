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12192000"/>
  <p:embeddedFontLst>
    <p:embeddedFont>
      <p:font typeface="Roboto Mon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CfKVXw+0lDB6If7h/pxOQpyZB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C389CC-2345-43D0-8E41-7139903B3F4B}">
  <a:tblStyle styleId="{18C389CC-2345-43D0-8E41-7139903B3F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Mono-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Mono-italic.fntdata"/><Relationship Id="rId14" Type="http://schemas.openxmlformats.org/officeDocument/2006/relationships/font" Target="fonts/RobotoMono-bold.fntdata"/><Relationship Id="rId17" Type="http://customschemas.google.com/relationships/presentationmetadata" Target="metadata"/><Relationship Id="rId16"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EL ALUMNO: esta portada no cuenta dentro de las 5 slides. Pon los nombres y la fecha, y borra esta nota.</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EL ALUMNO: 30 segundos de exposición para esta slide. Es contexto, no hallazgos. No te extiendas.</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EL ALUMNO: 1 minuto. Si alguna hipótesis falló, dilo: es lo más interesante que puedes contar aquí.</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EL ALUMNO: 2 minutos, es la slide más densa. Recorre la tabla de arriba abajo señalando dónde están los saltos grandes y dónde no pasa nada.</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EL ALUMNO: 2 minutos y medio, la mitad de tu tiempo. No leas la tabla: cuenta la historia. 'Esperábamos X, encontramos Y, y creemos que pasa porque Z.'</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EL ALUMNO: 1 minuto. Cierra con las limitaciones, no con el umbral: deja al público con la impresión de que sabes hasta dónde llegan tus datos. Eso da más credibilidad que cualquier métrica.</a:t>
            </a:r>
            <a:endParaRPr/>
          </a:p>
        </p:txBody>
      </p:sp>
      <p:sp>
        <p:nvSpPr>
          <p:cNvPr id="133" name="Google Shape;13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59"/>
        </a:solidFill>
      </p:bgPr>
    </p:bg>
    <p:spTree>
      <p:nvGrpSpPr>
        <p:cNvPr id="15" name="Shape 15"/>
        <p:cNvGrpSpPr/>
        <p:nvPr/>
      </p:nvGrpSpPr>
      <p:grpSpPr>
        <a:xfrm>
          <a:off x="0" y="0"/>
          <a:ext cx="0" cy="0"/>
          <a:chOff x="0" y="0"/>
          <a:chExt cx="0" cy="0"/>
        </a:xfrm>
      </p:grpSpPr>
      <p:sp>
        <p:nvSpPr>
          <p:cNvPr id="16" name="Google Shape;16;p1"/>
          <p:cNvSpPr/>
          <p:nvPr/>
        </p:nvSpPr>
        <p:spPr>
          <a:xfrm>
            <a:off x="685800" y="1371600"/>
            <a:ext cx="2468880" cy="347472"/>
          </a:xfrm>
          <a:prstGeom prst="roundRect">
            <a:avLst>
              <a:gd fmla="val 50000"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85800" y="1371600"/>
            <a:ext cx="24688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PROYECTO FINAL</a:t>
            </a:r>
            <a:endParaRPr b="0" i="0" sz="1150" u="none" cap="none" strike="noStrike">
              <a:solidFill>
                <a:schemeClr val="dk1"/>
              </a:solidFill>
              <a:latin typeface="Calibri"/>
              <a:ea typeface="Calibri"/>
              <a:cs typeface="Calibri"/>
              <a:sym typeface="Calibri"/>
            </a:endParaRPr>
          </a:p>
        </p:txBody>
      </p:sp>
      <p:sp>
        <p:nvSpPr>
          <p:cNvPr id="18" name="Google Shape;18;p1"/>
          <p:cNvSpPr/>
          <p:nvPr/>
        </p:nvSpPr>
        <p:spPr>
          <a:xfrm>
            <a:off x="685800" y="1920240"/>
            <a:ext cx="7772400" cy="17373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¿Quién sobrevivió</a:t>
            </a:r>
            <a:endParaRPr b="0" i="0" sz="42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al Titanic?</a:t>
            </a:r>
            <a:endParaRPr b="0" i="0" sz="4200" u="none" cap="none" strike="noStrike">
              <a:solidFill>
                <a:schemeClr val="dk1"/>
              </a:solidFill>
              <a:latin typeface="Calibri"/>
              <a:ea typeface="Calibri"/>
              <a:cs typeface="Calibri"/>
              <a:sym typeface="Calibri"/>
            </a:endParaRPr>
          </a:p>
        </p:txBody>
      </p:sp>
      <p:sp>
        <p:nvSpPr>
          <p:cNvPr id="19" name="Google Shape;19;p1"/>
          <p:cNvSpPr/>
          <p:nvPr/>
        </p:nvSpPr>
        <p:spPr>
          <a:xfrm>
            <a:off x="713232" y="3840480"/>
            <a:ext cx="5852160" cy="685800"/>
          </a:xfrm>
          <a:prstGeom prst="roundRect">
            <a:avLst>
              <a:gd fmla="val 8000" name="adj"/>
            </a:avLst>
          </a:prstGeom>
          <a:solidFill>
            <a:srgbClr val="0E2E5E"/>
          </a:solidFill>
          <a:ln cap="flat" cmpd="sng" w="15875">
            <a:solidFill>
              <a:srgbClr val="2E5AA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896112" y="3840480"/>
            <a:ext cx="5486400" cy="68580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400"/>
              <a:buFont typeface="Calibri"/>
              <a:buNone/>
            </a:pPr>
            <a:r>
              <a:rPr i="1" lang="en-US" sz="1600">
                <a:solidFill>
                  <a:srgbClr val="8FA6D4"/>
                </a:solidFill>
                <a:latin typeface="Calibri"/>
                <a:ea typeface="Calibri"/>
                <a:cs typeface="Calibri"/>
                <a:sym typeface="Calibri"/>
              </a:rPr>
              <a:t>Jorge Luis Callalle Torres </a:t>
            </a:r>
            <a:endParaRPr i="1" sz="1600">
              <a:solidFill>
                <a:srgbClr val="8FA6D4"/>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400"/>
              <a:buFont typeface="Calibri"/>
              <a:buNone/>
            </a:pPr>
            <a:r>
              <a:rPr i="1" lang="en-US" sz="1600">
                <a:solidFill>
                  <a:srgbClr val="8FA6D4"/>
                </a:solidFill>
                <a:latin typeface="Calibri"/>
                <a:ea typeface="Calibri"/>
                <a:cs typeface="Calibri"/>
                <a:sym typeface="Calibri"/>
              </a:rPr>
              <a:t>Roberto Javier Mangas Flores</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713232" y="4709160"/>
            <a:ext cx="3657600" cy="548640"/>
          </a:xfrm>
          <a:prstGeom prst="roundRect">
            <a:avLst>
              <a:gd fmla="val 10000" name="adj"/>
            </a:avLst>
          </a:prstGeom>
          <a:solidFill>
            <a:srgbClr val="0E2E5E"/>
          </a:solidFill>
          <a:ln cap="flat" cmpd="sng" w="15875">
            <a:solidFill>
              <a:srgbClr val="2E5AA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896112" y="4709160"/>
            <a:ext cx="3291840" cy="548640"/>
          </a:xfrm>
          <a:prstGeom prst="rect">
            <a:avLst/>
          </a:prstGeom>
          <a:noFill/>
          <a:ln>
            <a:noFill/>
          </a:ln>
        </p:spPr>
        <p:txBody>
          <a:bodyPr anchorCtr="0" anchor="ctr" bIns="0" lIns="0" spcFirstLastPara="1" rIns="0" wrap="square" tIns="0">
            <a:noAutofit/>
          </a:bodyPr>
          <a:lstStyle/>
          <a:p>
            <a:pPr indent="0" lvl="0" marL="0" marR="0" rtl="0" algn="ctr">
              <a:lnSpc>
                <a:spcPct val="114000"/>
              </a:lnSpc>
              <a:spcBef>
                <a:spcPts val="0"/>
              </a:spcBef>
              <a:spcAft>
                <a:spcPts val="0"/>
              </a:spcAft>
              <a:buClr>
                <a:srgbClr val="8FA6D4"/>
              </a:buClr>
              <a:buSzPts val="1200"/>
              <a:buFont typeface="Calibri"/>
              <a:buNone/>
            </a:pPr>
            <a:r>
              <a:rPr i="1" lang="en-US" sz="1200">
                <a:solidFill>
                  <a:srgbClr val="8FA6D4"/>
                </a:solidFill>
                <a:latin typeface="Calibri"/>
                <a:ea typeface="Calibri"/>
                <a:cs typeface="Calibri"/>
                <a:sym typeface="Calibri"/>
              </a:rPr>
              <a:t>02/09/2026</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713232" y="59436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93C4"/>
              </a:buClr>
              <a:buSzPts val="1100"/>
              <a:buFont typeface="Calibri"/>
              <a:buNone/>
            </a:pPr>
            <a:r>
              <a:rPr b="0" i="1" lang="en-US" sz="1100" u="none" cap="none" strike="noStrike">
                <a:solidFill>
                  <a:srgbClr val="7C93C4"/>
                </a:solidFill>
                <a:latin typeface="Calibri"/>
                <a:ea typeface="Calibri"/>
                <a:cs typeface="Calibri"/>
                <a:sym typeface="Calibri"/>
              </a:rPr>
              <a:t>Estadística Descriptiva e Inferencial · 5 slides · 7 minutos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28" name="Shape 28"/>
        <p:cNvGrpSpPr/>
        <p:nvPr/>
      </p:nvGrpSpPr>
      <p:grpSpPr>
        <a:xfrm>
          <a:off x="0" y="0"/>
          <a:ext cx="0" cy="0"/>
          <a:chOff x="0" y="0"/>
          <a:chExt cx="0" cy="0"/>
        </a:xfrm>
      </p:grpSpPr>
      <p:sp>
        <p:nvSpPr>
          <p:cNvPr id="29" name="Google Shape;29;p2"/>
          <p:cNvSpPr/>
          <p:nvPr/>
        </p:nvSpPr>
        <p:spPr>
          <a:xfrm>
            <a:off x="548640" y="365760"/>
            <a:ext cx="2651760" cy="347472"/>
          </a:xfrm>
          <a:prstGeom prst="roundRect">
            <a:avLst>
              <a:gd fmla="val 50000" name="adj"/>
            </a:avLst>
          </a:prstGeom>
          <a:solidFill>
            <a:srgbClr val="1A56E8"/>
          </a:solidFill>
          <a:ln cap="flat" cmpd="sng" w="12700">
            <a:solidFill>
              <a:srgbClr val="1A5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48640" y="36576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SLIDE 1 DE 5</a:t>
            </a:r>
            <a:endParaRPr b="0" i="0" sz="1150" u="none" cap="none" strike="noStrike">
              <a:solidFill>
                <a:schemeClr val="dk1"/>
              </a:solidFill>
              <a:latin typeface="Calibri"/>
              <a:ea typeface="Calibri"/>
              <a:cs typeface="Calibri"/>
              <a:sym typeface="Calibri"/>
            </a:endParaRPr>
          </a:p>
        </p:txBody>
      </p:sp>
      <p:sp>
        <p:nvSpPr>
          <p:cNvPr id="31" name="Google Shape;31;p2"/>
          <p:cNvSpPr/>
          <p:nvPr/>
        </p:nvSpPr>
        <p:spPr>
          <a:xfrm>
            <a:off x="548640" y="786384"/>
            <a:ext cx="11064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3200"/>
              <a:buFont typeface="Calibri"/>
              <a:buNone/>
            </a:pPr>
            <a:r>
              <a:rPr b="1" i="0" lang="en-US" sz="3200" u="none" cap="none" strike="noStrike">
                <a:solidFill>
                  <a:srgbClr val="0A2559"/>
                </a:solidFill>
                <a:latin typeface="Calibri"/>
                <a:ea typeface="Calibri"/>
                <a:cs typeface="Calibri"/>
                <a:sym typeface="Calibri"/>
              </a:rPr>
              <a:t>El problema y los datos</a:t>
            </a:r>
            <a:endParaRPr b="0" i="0" sz="3200" u="none" cap="none" strike="noStrike">
              <a:solidFill>
                <a:schemeClr val="dk1"/>
              </a:solidFill>
              <a:latin typeface="Calibri"/>
              <a:ea typeface="Calibri"/>
              <a:cs typeface="Calibri"/>
              <a:sym typeface="Calibri"/>
            </a:endParaRPr>
          </a:p>
        </p:txBody>
      </p:sp>
      <p:sp>
        <p:nvSpPr>
          <p:cNvPr id="32" name="Google Shape;32;p2"/>
          <p:cNvSpPr/>
          <p:nvPr/>
        </p:nvSpPr>
        <p:spPr>
          <a:xfrm>
            <a:off x="548640" y="1481328"/>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7"/>
              </a:buClr>
              <a:buSzPts val="1400"/>
              <a:buFont typeface="Calibri"/>
              <a:buNone/>
            </a:pPr>
            <a:r>
              <a:rPr b="0" i="1" lang="en-US" sz="1400" u="none" cap="none" strike="noStrike">
                <a:solidFill>
                  <a:srgbClr val="5B6B87"/>
                </a:solidFill>
                <a:latin typeface="Calibri"/>
                <a:ea typeface="Calibri"/>
                <a:cs typeface="Calibri"/>
                <a:sym typeface="Calibri"/>
              </a:rPr>
              <a:t>Qué se predice, con cuántos casos, y qué tan desbalanceados están.</a:t>
            </a:r>
            <a:endParaRPr b="0" i="0" sz="1400" u="none" cap="none" strike="noStrike">
              <a:solidFill>
                <a:schemeClr val="dk1"/>
              </a:solidFill>
              <a:latin typeface="Calibri"/>
              <a:ea typeface="Calibri"/>
              <a:cs typeface="Calibri"/>
              <a:sym typeface="Calibri"/>
            </a:endParaRPr>
          </a:p>
        </p:txBody>
      </p:sp>
      <p:sp>
        <p:nvSpPr>
          <p:cNvPr id="33" name="Google Shape;33;p2"/>
          <p:cNvSpPr/>
          <p:nvPr/>
        </p:nvSpPr>
        <p:spPr>
          <a:xfrm>
            <a:off x="548640" y="2057400"/>
            <a:ext cx="3520440" cy="2834640"/>
          </a:xfrm>
          <a:prstGeom prst="roundRect">
            <a:avLst>
              <a:gd fmla="val 1935"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77240" y="224028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400"/>
              <a:buFont typeface="Calibri"/>
              <a:buNone/>
            </a:pPr>
            <a:r>
              <a:rPr b="1" i="0" lang="en-US" sz="1400" u="none" cap="none" strike="noStrike">
                <a:solidFill>
                  <a:srgbClr val="0A2559"/>
                </a:solidFill>
                <a:latin typeface="Calibri"/>
                <a:ea typeface="Calibri"/>
                <a:cs typeface="Calibri"/>
                <a:sym typeface="Calibri"/>
              </a:rPr>
              <a:t>Qué predecimos</a:t>
            </a:r>
            <a:endParaRPr b="0" i="0" sz="1400" u="none" cap="none" strike="noStrike">
              <a:solidFill>
                <a:schemeClr val="dk1"/>
              </a:solidFill>
              <a:latin typeface="Calibri"/>
              <a:ea typeface="Calibri"/>
              <a:cs typeface="Calibri"/>
              <a:sym typeface="Calibri"/>
            </a:endParaRPr>
          </a:p>
        </p:txBody>
      </p:sp>
      <p:sp>
        <p:nvSpPr>
          <p:cNvPr id="35" name="Google Shape;35;p2"/>
          <p:cNvSpPr/>
          <p:nvPr/>
        </p:nvSpPr>
        <p:spPr>
          <a:xfrm>
            <a:off x="777240" y="2697480"/>
            <a:ext cx="3063240" cy="1965960"/>
          </a:xfrm>
          <a:prstGeom prst="roundRect">
            <a:avLst>
              <a:gd fmla="val 279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960120" y="2697480"/>
            <a:ext cx="2697480" cy="19659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br>
              <a:rPr b="0" i="1" lang="en-US" sz="1100" u="none" cap="none" strike="noStrike">
                <a:latin typeface="Calibri"/>
                <a:ea typeface="Calibri"/>
                <a:cs typeface="Calibri"/>
                <a:sym typeface="Calibri"/>
              </a:rPr>
            </a:br>
            <a:r>
              <a:rPr b="0" i="1" lang="en-US" sz="1100" u="none" cap="none" strike="noStrike">
                <a:latin typeface="Calibri"/>
                <a:ea typeface="Calibri"/>
                <a:cs typeface="Calibri"/>
                <a:sym typeface="Calibri"/>
              </a:rPr>
              <a:t>Se predice </a:t>
            </a:r>
            <a:r>
              <a:rPr i="1" lang="en-US" sz="1100">
                <a:latin typeface="Calibri"/>
                <a:ea typeface="Calibri"/>
                <a:cs typeface="Calibri"/>
                <a:sym typeface="Calibri"/>
              </a:rPr>
              <a:t>cuántos</a:t>
            </a:r>
            <a:r>
              <a:rPr b="0" i="1" lang="en-US" sz="1100" u="none" cap="none" strike="noStrike">
                <a:latin typeface="Calibri"/>
                <a:ea typeface="Calibri"/>
                <a:cs typeface="Calibri"/>
                <a:sym typeface="Calibri"/>
              </a:rPr>
              <a:t> pasajeros sobrevivieron </a:t>
            </a:r>
            <a:r>
              <a:rPr i="1" lang="en-US" sz="1100">
                <a:latin typeface="Calibri"/>
                <a:ea typeface="Calibri"/>
                <a:cs typeface="Calibri"/>
                <a:sym typeface="Calibri"/>
              </a:rPr>
              <a:t>y </a:t>
            </a:r>
            <a:r>
              <a:rPr i="1" lang="en-US" sz="1100">
                <a:latin typeface="Calibri"/>
                <a:ea typeface="Calibri"/>
                <a:cs typeface="Calibri"/>
                <a:sym typeface="Calibri"/>
              </a:rPr>
              <a:t>cuáles</a:t>
            </a:r>
            <a:r>
              <a:rPr i="1" lang="en-US" sz="1100">
                <a:latin typeface="Calibri"/>
                <a:ea typeface="Calibri"/>
                <a:cs typeface="Calibri"/>
                <a:sym typeface="Calibri"/>
              </a:rPr>
              <a:t> </a:t>
            </a:r>
            <a:r>
              <a:rPr b="0" i="1" lang="en-US" sz="1100" u="none" cap="none" strike="noStrike">
                <a:latin typeface="Calibri"/>
                <a:ea typeface="Calibri"/>
                <a:cs typeface="Calibri"/>
                <a:sym typeface="Calibri"/>
              </a:rPr>
              <a:t> no, según estas 4 variables </a:t>
            </a:r>
            <a:endParaRPr b="0" i="1" sz="1100" u="none" cap="none" strike="noStrike">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t/>
            </a:r>
            <a:endParaRPr i="1" sz="1100">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a:latin typeface="Calibri"/>
                <a:ea typeface="Calibri"/>
                <a:cs typeface="Calibri"/>
                <a:sym typeface="Calibri"/>
              </a:rPr>
              <a:t>["sex", "Pclass", "age", "Fare"]</a:t>
            </a:r>
            <a:endParaRPr i="1" sz="1100">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t/>
            </a:r>
            <a:endParaRPr i="1" sz="1100">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a:latin typeface="Calibri"/>
                <a:ea typeface="Calibri"/>
                <a:cs typeface="Calibri"/>
                <a:sym typeface="Calibri"/>
              </a:rPr>
              <a:t>"Survived"</a:t>
            </a:r>
            <a:endParaRPr i="1" sz="1100">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a:latin typeface="Calibri"/>
                <a:ea typeface="Calibri"/>
                <a:cs typeface="Calibri"/>
                <a:sym typeface="Calibri"/>
              </a:rPr>
              <a:t>Sobrevive = 1</a:t>
            </a:r>
            <a:endParaRPr i="1" sz="1100">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a:latin typeface="Calibri"/>
                <a:ea typeface="Calibri"/>
                <a:cs typeface="Calibri"/>
                <a:sym typeface="Calibri"/>
              </a:rPr>
              <a:t>No Sobrevive = 0 </a:t>
            </a:r>
            <a:br>
              <a:rPr i="1" lang="en-US" sz="1100">
                <a:solidFill>
                  <a:srgbClr val="8FA6D4"/>
                </a:solidFill>
                <a:latin typeface="Calibri"/>
                <a:ea typeface="Calibri"/>
                <a:cs typeface="Calibri"/>
                <a:sym typeface="Calibri"/>
              </a:rPr>
            </a:br>
            <a:endParaRPr i="1" sz="1100">
              <a:solidFill>
                <a:srgbClr val="8FA6D4"/>
              </a:solidFill>
              <a:latin typeface="Calibri"/>
              <a:ea typeface="Calibri"/>
              <a:cs typeface="Calibri"/>
              <a:sym typeface="Calibri"/>
            </a:endParaRPr>
          </a:p>
        </p:txBody>
      </p:sp>
      <p:sp>
        <p:nvSpPr>
          <p:cNvPr id="37" name="Google Shape;37;p2"/>
          <p:cNvSpPr/>
          <p:nvPr/>
        </p:nvSpPr>
        <p:spPr>
          <a:xfrm>
            <a:off x="4297680" y="2057400"/>
            <a:ext cx="3520440" cy="2834640"/>
          </a:xfrm>
          <a:prstGeom prst="roundRect">
            <a:avLst>
              <a:gd fmla="val 1935"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526280" y="224028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400"/>
              <a:buFont typeface="Calibri"/>
              <a:buNone/>
            </a:pPr>
            <a:r>
              <a:rPr b="1" i="0" lang="en-US" sz="1400" u="none" cap="none" strike="noStrike">
                <a:solidFill>
                  <a:srgbClr val="0A2559"/>
                </a:solidFill>
                <a:latin typeface="Calibri"/>
                <a:ea typeface="Calibri"/>
                <a:cs typeface="Calibri"/>
                <a:sym typeface="Calibri"/>
              </a:rPr>
              <a:t>Cuántos datos</a:t>
            </a:r>
            <a:endParaRPr b="0" i="0" sz="1400" u="none" cap="none" strike="noStrike">
              <a:solidFill>
                <a:schemeClr val="dk1"/>
              </a:solidFill>
              <a:latin typeface="Calibri"/>
              <a:ea typeface="Calibri"/>
              <a:cs typeface="Calibri"/>
              <a:sym typeface="Calibri"/>
            </a:endParaRPr>
          </a:p>
        </p:txBody>
      </p:sp>
      <p:sp>
        <p:nvSpPr>
          <p:cNvPr id="39" name="Google Shape;39;p2"/>
          <p:cNvSpPr/>
          <p:nvPr/>
        </p:nvSpPr>
        <p:spPr>
          <a:xfrm>
            <a:off x="4526280" y="2697480"/>
            <a:ext cx="3063240" cy="1965960"/>
          </a:xfrm>
          <a:prstGeom prst="roundRect">
            <a:avLst>
              <a:gd fmla="val 279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709160" y="2697480"/>
            <a:ext cx="2697480" cy="19659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i="1" lang="en-US" sz="1100">
                <a:solidFill>
                  <a:schemeClr val="dk1"/>
                </a:solidFill>
                <a:latin typeface="Calibri"/>
                <a:ea typeface="Calibri"/>
                <a:cs typeface="Calibri"/>
                <a:sym typeface="Calibri"/>
              </a:rPr>
              <a:t>891 pasajeros</a:t>
            </a:r>
            <a:endParaRPr i="1" sz="1100">
              <a:solidFill>
                <a:schemeClr val="dk1"/>
              </a:solidFill>
              <a:latin typeface="Calibri"/>
              <a:ea typeface="Calibri"/>
              <a:cs typeface="Calibri"/>
              <a:sym typeface="Calibri"/>
            </a:endParaRPr>
          </a:p>
          <a:p>
            <a:pPr indent="-298450" lvl="0" marL="457200" marR="0" rtl="0" algn="l">
              <a:lnSpc>
                <a:spcPct val="114000"/>
              </a:lnSpc>
              <a:spcBef>
                <a:spcPts val="0"/>
              </a:spcBef>
              <a:spcAft>
                <a:spcPts val="0"/>
              </a:spcAft>
              <a:buClr>
                <a:schemeClr val="dk1"/>
              </a:buClr>
              <a:buSzPts val="1100"/>
              <a:buFont typeface="Calibri"/>
              <a:buChar char="●"/>
            </a:pPr>
            <a:r>
              <a:rPr i="1" lang="en-US" sz="1100">
                <a:solidFill>
                  <a:schemeClr val="dk1"/>
                </a:solidFill>
                <a:latin typeface="Calibri"/>
                <a:ea typeface="Calibri"/>
                <a:cs typeface="Calibri"/>
                <a:sym typeface="Calibri"/>
              </a:rPr>
              <a:t>577 hombres y 314 mujeres</a:t>
            </a:r>
            <a:endParaRPr i="1" sz="1100">
              <a:solidFill>
                <a:schemeClr val="dk1"/>
              </a:solidFill>
              <a:latin typeface="Calibri"/>
              <a:ea typeface="Calibri"/>
              <a:cs typeface="Calibri"/>
              <a:sym typeface="Calibri"/>
            </a:endParaRPr>
          </a:p>
          <a:p>
            <a:pPr indent="0" lvl="0" marL="457200" marR="0" rtl="0" algn="l">
              <a:lnSpc>
                <a:spcPct val="114000"/>
              </a:lnSpc>
              <a:spcBef>
                <a:spcPts val="0"/>
              </a:spcBef>
              <a:spcAft>
                <a:spcPts val="0"/>
              </a:spcAft>
              <a:buNone/>
            </a:pPr>
            <a:r>
              <a:t/>
            </a:r>
            <a:endParaRPr i="1" sz="1100">
              <a:solidFill>
                <a:srgbClr val="8FA6D4"/>
              </a:solidFill>
              <a:latin typeface="Calibri"/>
              <a:ea typeface="Calibri"/>
              <a:cs typeface="Calibri"/>
              <a:sym typeface="Calibri"/>
            </a:endParaRPr>
          </a:p>
        </p:txBody>
      </p:sp>
      <p:sp>
        <p:nvSpPr>
          <p:cNvPr id="41" name="Google Shape;41;p2"/>
          <p:cNvSpPr/>
          <p:nvPr/>
        </p:nvSpPr>
        <p:spPr>
          <a:xfrm>
            <a:off x="8046720" y="2057400"/>
            <a:ext cx="3520440" cy="2834640"/>
          </a:xfrm>
          <a:prstGeom prst="roundRect">
            <a:avLst>
              <a:gd fmla="val 1935"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8275320" y="224028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400"/>
              <a:buFont typeface="Calibri"/>
              <a:buNone/>
            </a:pPr>
            <a:r>
              <a:rPr b="1" i="0" lang="en-US" sz="1400" u="none" cap="none" strike="noStrike">
                <a:solidFill>
                  <a:srgbClr val="0A2559"/>
                </a:solidFill>
                <a:latin typeface="Calibri"/>
                <a:ea typeface="Calibri"/>
                <a:cs typeface="Calibri"/>
                <a:sym typeface="Calibri"/>
              </a:rPr>
              <a:t>Qué tan desbalanceado</a:t>
            </a:r>
            <a:endParaRPr b="0" i="0" sz="1400" u="none" cap="none" strike="noStrike">
              <a:solidFill>
                <a:schemeClr val="dk1"/>
              </a:solidFill>
              <a:latin typeface="Calibri"/>
              <a:ea typeface="Calibri"/>
              <a:cs typeface="Calibri"/>
              <a:sym typeface="Calibri"/>
            </a:endParaRPr>
          </a:p>
        </p:txBody>
      </p:sp>
      <p:sp>
        <p:nvSpPr>
          <p:cNvPr id="43" name="Google Shape;43;p2"/>
          <p:cNvSpPr/>
          <p:nvPr/>
        </p:nvSpPr>
        <p:spPr>
          <a:xfrm>
            <a:off x="8275320" y="2697480"/>
            <a:ext cx="3063240" cy="1965960"/>
          </a:xfrm>
          <a:prstGeom prst="roundRect">
            <a:avLst>
              <a:gd fmla="val 279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458200" y="2697480"/>
            <a:ext cx="2697480" cy="19659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b="0" i="1" lang="en-US" sz="1100" u="none" cap="none" strike="noStrike">
                <a:solidFill>
                  <a:schemeClr val="dk1"/>
                </a:solidFill>
                <a:latin typeface="Calibri"/>
                <a:ea typeface="Calibri"/>
                <a:cs typeface="Calibri"/>
                <a:sym typeface="Calibri"/>
              </a:rPr>
              <a:t>Sobrevivieron: 38.38 %</a:t>
            </a:r>
            <a:endParaRPr b="0" i="1" sz="1100" u="none" cap="none" strike="noStrike">
              <a:solidFill>
                <a:schemeClr val="dk1"/>
              </a:solidFill>
              <a:latin typeface="Calibri"/>
              <a:ea typeface="Calibri"/>
              <a:cs typeface="Calibri"/>
              <a:sym typeface="Calibri"/>
            </a:endParaRPr>
          </a:p>
          <a:p>
            <a:pPr indent="0" lvl="0" marL="0" rtl="0" algn="l">
              <a:lnSpc>
                <a:spcPct val="114000"/>
              </a:lnSpc>
              <a:spcBef>
                <a:spcPts val="0"/>
              </a:spcBef>
              <a:spcAft>
                <a:spcPts val="0"/>
              </a:spcAft>
              <a:buClr>
                <a:schemeClr val="dk1"/>
              </a:buClr>
              <a:buSzPts val="1100"/>
              <a:buFont typeface="Arial"/>
              <a:buNone/>
            </a:pPr>
            <a:r>
              <a:rPr b="0" i="1" lang="en-US" sz="1100" u="none" cap="none" strike="noStrike">
                <a:solidFill>
                  <a:schemeClr val="dk1"/>
                </a:solidFill>
                <a:latin typeface="Calibri"/>
                <a:ea typeface="Calibri"/>
                <a:cs typeface="Calibri"/>
                <a:sym typeface="Calibri"/>
              </a:rPr>
              <a:t>No sobrevivieron: 61.62 %</a:t>
            </a:r>
            <a:endParaRPr b="0" i="1" sz="1100" u="none" cap="none" strike="noStrike">
              <a:solidFill>
                <a:schemeClr val="dk1"/>
              </a:solidFill>
              <a:latin typeface="Calibri"/>
              <a:ea typeface="Calibri"/>
              <a:cs typeface="Calibri"/>
              <a:sym typeface="Calibri"/>
            </a:endParaRPr>
          </a:p>
          <a:p>
            <a:pPr indent="0" lvl="0" marL="0" rtl="0" algn="l">
              <a:lnSpc>
                <a:spcPct val="114000"/>
              </a:lnSpc>
              <a:spcBef>
                <a:spcPts val="0"/>
              </a:spcBef>
              <a:spcAft>
                <a:spcPts val="0"/>
              </a:spcAft>
              <a:buClr>
                <a:schemeClr val="dk1"/>
              </a:buClr>
              <a:buSzPts val="1100"/>
              <a:buFont typeface="Arial"/>
              <a:buNone/>
            </a:pPr>
            <a:r>
              <a:t/>
            </a:r>
            <a:endParaRPr i="1" sz="1100">
              <a:solidFill>
                <a:schemeClr val="dk1"/>
              </a:solidFill>
              <a:latin typeface="Calibri"/>
              <a:ea typeface="Calibri"/>
              <a:cs typeface="Calibri"/>
              <a:sym typeface="Calibri"/>
            </a:endParaRPr>
          </a:p>
          <a:p>
            <a:pPr indent="0" lvl="0" marL="0" rtl="0" algn="l">
              <a:lnSpc>
                <a:spcPct val="114000"/>
              </a:lnSpc>
              <a:spcBef>
                <a:spcPts val="0"/>
              </a:spcBef>
              <a:spcAft>
                <a:spcPts val="0"/>
              </a:spcAft>
              <a:buClr>
                <a:schemeClr val="dk1"/>
              </a:buClr>
              <a:buSzPts val="1100"/>
              <a:buFont typeface="Arial"/>
              <a:buNone/>
            </a:pPr>
            <a:r>
              <a:rPr i="1" lang="en-US" sz="1100">
                <a:solidFill>
                  <a:schemeClr val="dk1"/>
                </a:solidFill>
                <a:latin typeface="Calibri"/>
                <a:ea typeface="Calibri"/>
                <a:cs typeface="Calibri"/>
                <a:sym typeface="Calibri"/>
              </a:rPr>
              <a:t>clase mayoritaria : No sobrevivió = 0</a:t>
            </a:r>
            <a:endParaRPr i="1" sz="1100">
              <a:solidFill>
                <a:schemeClr val="dk1"/>
              </a:solidFill>
              <a:latin typeface="Calibri"/>
              <a:ea typeface="Calibri"/>
              <a:cs typeface="Calibri"/>
              <a:sym typeface="Calibri"/>
            </a:endParaRPr>
          </a:p>
          <a:p>
            <a:pPr indent="0" lvl="0" marL="0" rtl="0" algn="l">
              <a:lnSpc>
                <a:spcPct val="114000"/>
              </a:lnSpc>
              <a:spcBef>
                <a:spcPts val="0"/>
              </a:spcBef>
              <a:spcAft>
                <a:spcPts val="0"/>
              </a:spcAft>
              <a:buClr>
                <a:schemeClr val="dk1"/>
              </a:buClr>
              <a:buSzPts val="1100"/>
              <a:buFont typeface="Arial"/>
              <a:buNone/>
            </a:pPr>
            <a:r>
              <a:t/>
            </a:r>
            <a:endParaRPr i="1" sz="1100">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t/>
            </a:r>
            <a:endParaRPr i="1" sz="1100">
              <a:solidFill>
                <a:srgbClr val="8FA6D4"/>
              </a:solidFill>
              <a:latin typeface="Calibri"/>
              <a:ea typeface="Calibri"/>
              <a:cs typeface="Calibri"/>
              <a:sym typeface="Calibri"/>
            </a:endParaRPr>
          </a:p>
        </p:txBody>
      </p:sp>
      <p:sp>
        <p:nvSpPr>
          <p:cNvPr id="45" name="Google Shape;45;p2"/>
          <p:cNvSpPr/>
          <p:nvPr/>
        </p:nvSpPr>
        <p:spPr>
          <a:xfrm>
            <a:off x="548640" y="5120640"/>
            <a:ext cx="11091672" cy="1097280"/>
          </a:xfrm>
          <a:prstGeom prst="roundRect">
            <a:avLst>
              <a:gd fmla="val 5000" name="adj"/>
            </a:avLst>
          </a:prstGeom>
          <a:solidFill>
            <a:srgbClr val="E9EEF8"/>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804672" y="5367528"/>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1042416" y="5266944"/>
            <a:ext cx="707745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400"/>
              <a:buFont typeface="Calibri"/>
              <a:buNone/>
            </a:pPr>
            <a:r>
              <a:rPr b="1" i="0" lang="en-US" sz="1400" u="none" cap="none" strike="noStrike">
                <a:solidFill>
                  <a:srgbClr val="0A2559"/>
                </a:solidFill>
                <a:latin typeface="Calibri"/>
                <a:ea typeface="Calibri"/>
                <a:cs typeface="Calibri"/>
                <a:sym typeface="Calibri"/>
              </a:rPr>
              <a:t>El punto que no puede faltar en esta slide</a:t>
            </a:r>
            <a:endParaRPr b="0" i="0" sz="1400" u="none" cap="none" strike="noStrike">
              <a:solidFill>
                <a:schemeClr val="dk1"/>
              </a:solidFill>
              <a:latin typeface="Calibri"/>
              <a:ea typeface="Calibri"/>
              <a:cs typeface="Calibri"/>
              <a:sym typeface="Calibri"/>
            </a:endParaRPr>
          </a:p>
        </p:txBody>
      </p:sp>
      <p:sp>
        <p:nvSpPr>
          <p:cNvPr id="48" name="Google Shape;48;p2"/>
          <p:cNvSpPr/>
          <p:nvPr/>
        </p:nvSpPr>
        <p:spPr>
          <a:xfrm>
            <a:off x="804672" y="5614416"/>
            <a:ext cx="10515600"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C3A55"/>
              </a:buClr>
              <a:buSzPts val="1200"/>
              <a:buFont typeface="Calibri"/>
              <a:buNone/>
            </a:pPr>
            <a:r>
              <a:rPr b="0" i="0" lang="en-US" sz="1200" u="none" cap="none" strike="noStrike">
                <a:solidFill>
                  <a:srgbClr val="2C3A55"/>
                </a:solidFill>
                <a:latin typeface="Calibri"/>
                <a:ea typeface="Calibri"/>
                <a:cs typeface="Calibri"/>
                <a:sym typeface="Calibri"/>
              </a:rPr>
              <a:t>La comparación contra la regla trivial. Si no dices qué acertaría un modelo que no mira ningún dato, nadie puede juzgar si el tuyo sirve.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53" name="Shape 53"/>
        <p:cNvGrpSpPr/>
        <p:nvPr/>
      </p:nvGrpSpPr>
      <p:grpSpPr>
        <a:xfrm>
          <a:off x="0" y="0"/>
          <a:ext cx="0" cy="0"/>
          <a:chOff x="0" y="0"/>
          <a:chExt cx="0" cy="0"/>
        </a:xfrm>
      </p:grpSpPr>
      <p:sp>
        <p:nvSpPr>
          <p:cNvPr id="54" name="Google Shape;54;p3"/>
          <p:cNvSpPr/>
          <p:nvPr/>
        </p:nvSpPr>
        <p:spPr>
          <a:xfrm>
            <a:off x="548640" y="365760"/>
            <a:ext cx="2651760" cy="347472"/>
          </a:xfrm>
          <a:prstGeom prst="roundRect">
            <a:avLst>
              <a:gd fmla="val 50000" name="adj"/>
            </a:avLst>
          </a:prstGeom>
          <a:solidFill>
            <a:srgbClr val="1A56E8"/>
          </a:solidFill>
          <a:ln cap="flat" cmpd="sng" w="12700">
            <a:solidFill>
              <a:srgbClr val="1A5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548640" y="36576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SLIDE 2 DE 5</a:t>
            </a:r>
            <a:endParaRPr b="0" i="0" sz="1150" u="none" cap="none" strike="noStrike">
              <a:solidFill>
                <a:schemeClr val="dk1"/>
              </a:solidFill>
              <a:latin typeface="Calibri"/>
              <a:ea typeface="Calibri"/>
              <a:cs typeface="Calibri"/>
              <a:sym typeface="Calibri"/>
            </a:endParaRPr>
          </a:p>
        </p:txBody>
      </p:sp>
      <p:sp>
        <p:nvSpPr>
          <p:cNvPr id="56" name="Google Shape;56;p3"/>
          <p:cNvSpPr/>
          <p:nvPr/>
        </p:nvSpPr>
        <p:spPr>
          <a:xfrm>
            <a:off x="548640" y="786384"/>
            <a:ext cx="11064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3200"/>
              <a:buFont typeface="Calibri"/>
              <a:buNone/>
            </a:pPr>
            <a:r>
              <a:rPr b="1" i="0" lang="en-US" sz="3200" u="none" cap="none" strike="noStrike">
                <a:solidFill>
                  <a:srgbClr val="0A2559"/>
                </a:solidFill>
                <a:latin typeface="Calibri"/>
                <a:ea typeface="Calibri"/>
                <a:cs typeface="Calibri"/>
                <a:sym typeface="Calibri"/>
              </a:rPr>
              <a:t>Lo que vimos antes de modelar</a:t>
            </a:r>
            <a:endParaRPr b="0" i="0" sz="3200" u="none" cap="none" strike="noStrike">
              <a:solidFill>
                <a:schemeClr val="dk1"/>
              </a:solidFill>
              <a:latin typeface="Calibri"/>
              <a:ea typeface="Calibri"/>
              <a:cs typeface="Calibri"/>
              <a:sym typeface="Calibri"/>
            </a:endParaRPr>
          </a:p>
        </p:txBody>
      </p:sp>
      <p:sp>
        <p:nvSpPr>
          <p:cNvPr id="57" name="Google Shape;57;p3"/>
          <p:cNvSpPr/>
          <p:nvPr/>
        </p:nvSpPr>
        <p:spPr>
          <a:xfrm>
            <a:off x="548640" y="1481328"/>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7"/>
              </a:buClr>
              <a:buSzPts val="1400"/>
              <a:buFont typeface="Calibri"/>
              <a:buNone/>
            </a:pPr>
            <a:r>
              <a:rPr b="0" i="1" lang="en-US" sz="1400" u="none" cap="none" strike="noStrike">
                <a:solidFill>
                  <a:srgbClr val="5B6B87"/>
                </a:solidFill>
                <a:latin typeface="Calibri"/>
                <a:ea typeface="Calibri"/>
                <a:cs typeface="Calibri"/>
                <a:sym typeface="Calibri"/>
              </a:rPr>
              <a:t>Tus tres hipótesis, y si se cumplieron o no.</a:t>
            </a:r>
            <a:endParaRPr b="0" i="0" sz="1400" u="none" cap="none" strike="noStrike">
              <a:solidFill>
                <a:schemeClr val="dk1"/>
              </a:solidFill>
              <a:latin typeface="Calibri"/>
              <a:ea typeface="Calibri"/>
              <a:cs typeface="Calibri"/>
              <a:sym typeface="Calibri"/>
            </a:endParaRPr>
          </a:p>
        </p:txBody>
      </p:sp>
      <p:sp>
        <p:nvSpPr>
          <p:cNvPr id="58" name="Google Shape;58;p3"/>
          <p:cNvSpPr/>
          <p:nvPr/>
        </p:nvSpPr>
        <p:spPr>
          <a:xfrm>
            <a:off x="548640" y="2103120"/>
            <a:ext cx="6675120" cy="868680"/>
          </a:xfrm>
          <a:prstGeom prst="roundRect">
            <a:avLst>
              <a:gd fmla="val 6316"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777240" y="2194560"/>
            <a:ext cx="1371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200"/>
              <a:buFont typeface="Calibri"/>
              <a:buNone/>
            </a:pPr>
            <a:r>
              <a:rPr b="1" i="0" lang="en-US" sz="1200" u="none" cap="none" strike="noStrike">
                <a:solidFill>
                  <a:srgbClr val="0A2559"/>
                </a:solidFill>
                <a:latin typeface="Calibri"/>
                <a:ea typeface="Calibri"/>
                <a:cs typeface="Calibri"/>
                <a:sym typeface="Calibri"/>
              </a:rPr>
              <a:t>Hipótesis 1</a:t>
            </a:r>
            <a:endParaRPr b="0" i="0" sz="1200" u="none" cap="none" strike="noStrike">
              <a:solidFill>
                <a:schemeClr val="dk1"/>
              </a:solidFill>
              <a:latin typeface="Calibri"/>
              <a:ea typeface="Calibri"/>
              <a:cs typeface="Calibri"/>
              <a:sym typeface="Calibri"/>
            </a:endParaRPr>
          </a:p>
        </p:txBody>
      </p:sp>
      <p:sp>
        <p:nvSpPr>
          <p:cNvPr id="60" name="Google Shape;60;p3"/>
          <p:cNvSpPr/>
          <p:nvPr/>
        </p:nvSpPr>
        <p:spPr>
          <a:xfrm>
            <a:off x="2240280" y="2212848"/>
            <a:ext cx="3017520" cy="640080"/>
          </a:xfrm>
          <a:prstGeom prst="roundRect">
            <a:avLst>
              <a:gd fmla="val 857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2263200" y="2212850"/>
            <a:ext cx="2811600" cy="64020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050"/>
              <a:buFont typeface="Calibri"/>
              <a:buNone/>
            </a:pPr>
            <a:r>
              <a:rPr lang="en-US" sz="1200">
                <a:solidFill>
                  <a:srgbClr val="1F1F1F"/>
                </a:solidFill>
                <a:highlight>
                  <a:srgbClr val="FFFFFF"/>
                </a:highlight>
                <a:latin typeface="Calibri"/>
                <a:ea typeface="Calibri"/>
                <a:cs typeface="Calibri"/>
                <a:sym typeface="Calibri"/>
              </a:rPr>
              <a:t>Las mujeres tendrán mayor probabilidad de sobrevivir que los hombres</a:t>
            </a:r>
            <a:r>
              <a:rPr lang="en-US" sz="1200">
                <a:solidFill>
                  <a:schemeClr val="dk1"/>
                </a:solidFill>
                <a:latin typeface="Calibri"/>
                <a:ea typeface="Calibri"/>
                <a:cs typeface="Calibri"/>
                <a:sym typeface="Calibri"/>
              </a:rPr>
              <a:t> </a:t>
            </a:r>
            <a:endParaRPr i="0" sz="1200" u="none" cap="none" strike="noStrike">
              <a:solidFill>
                <a:schemeClr val="dk1"/>
              </a:solidFill>
              <a:latin typeface="Calibri"/>
              <a:ea typeface="Calibri"/>
              <a:cs typeface="Calibri"/>
              <a:sym typeface="Calibri"/>
            </a:endParaRPr>
          </a:p>
        </p:txBody>
      </p:sp>
      <p:sp>
        <p:nvSpPr>
          <p:cNvPr id="62" name="Google Shape;62;p3"/>
          <p:cNvSpPr/>
          <p:nvPr/>
        </p:nvSpPr>
        <p:spPr>
          <a:xfrm>
            <a:off x="5394960" y="2212848"/>
            <a:ext cx="1691640" cy="640080"/>
          </a:xfrm>
          <a:prstGeom prst="roundRect">
            <a:avLst>
              <a:gd fmla="val 857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5577840" y="2212848"/>
            <a:ext cx="1325880" cy="640080"/>
          </a:xfrm>
          <a:prstGeom prst="rect">
            <a:avLst/>
          </a:prstGeom>
          <a:noFill/>
          <a:ln>
            <a:noFill/>
          </a:ln>
        </p:spPr>
        <p:txBody>
          <a:bodyPr anchorCtr="0" anchor="ctr" bIns="0" lIns="0" spcFirstLastPara="1" rIns="0" wrap="square" tIns="0">
            <a:noAutofit/>
          </a:bodyPr>
          <a:lstStyle/>
          <a:p>
            <a:pPr indent="0" lvl="0" marL="0" marR="0" rtl="0" algn="ctr">
              <a:lnSpc>
                <a:spcPct val="114000"/>
              </a:lnSpc>
              <a:spcBef>
                <a:spcPts val="0"/>
              </a:spcBef>
              <a:spcAft>
                <a:spcPts val="0"/>
              </a:spcAft>
              <a:buClr>
                <a:srgbClr val="8FA6D4"/>
              </a:buClr>
              <a:buSzPts val="1050"/>
              <a:buFont typeface="Calibri"/>
              <a:buNone/>
            </a:pPr>
            <a:r>
              <a:rPr i="1" lang="en-US" sz="1200">
                <a:latin typeface="Calibri"/>
                <a:ea typeface="Calibri"/>
                <a:cs typeface="Calibri"/>
                <a:sym typeface="Calibri"/>
              </a:rPr>
              <a:t>si</a:t>
            </a:r>
            <a:endParaRPr i="0" sz="1200" u="none" cap="none" strike="noStrike">
              <a:latin typeface="Calibri"/>
              <a:ea typeface="Calibri"/>
              <a:cs typeface="Calibri"/>
              <a:sym typeface="Calibri"/>
            </a:endParaRPr>
          </a:p>
        </p:txBody>
      </p:sp>
      <p:sp>
        <p:nvSpPr>
          <p:cNvPr id="64" name="Google Shape;64;p3"/>
          <p:cNvSpPr/>
          <p:nvPr/>
        </p:nvSpPr>
        <p:spPr>
          <a:xfrm>
            <a:off x="548640" y="3063240"/>
            <a:ext cx="6675120" cy="868680"/>
          </a:xfrm>
          <a:prstGeom prst="roundRect">
            <a:avLst>
              <a:gd fmla="val 6316" name="adj"/>
            </a:avLst>
          </a:prstGeom>
          <a:solidFill>
            <a:srgbClr val="E9EEF8"/>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777240" y="3154680"/>
            <a:ext cx="1371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200"/>
              <a:buFont typeface="Calibri"/>
              <a:buNone/>
            </a:pPr>
            <a:r>
              <a:rPr b="1" i="0" lang="en-US" sz="1200" u="none" cap="none" strike="noStrike">
                <a:solidFill>
                  <a:srgbClr val="0A2559"/>
                </a:solidFill>
                <a:latin typeface="Calibri"/>
                <a:ea typeface="Calibri"/>
                <a:cs typeface="Calibri"/>
                <a:sym typeface="Calibri"/>
              </a:rPr>
              <a:t>Hipótesis 2</a:t>
            </a:r>
            <a:endParaRPr b="0" i="0" sz="1200" u="none" cap="none" strike="noStrike">
              <a:solidFill>
                <a:schemeClr val="dk1"/>
              </a:solidFill>
              <a:latin typeface="Calibri"/>
              <a:ea typeface="Calibri"/>
              <a:cs typeface="Calibri"/>
              <a:sym typeface="Calibri"/>
            </a:endParaRPr>
          </a:p>
        </p:txBody>
      </p:sp>
      <p:sp>
        <p:nvSpPr>
          <p:cNvPr id="66" name="Google Shape;66;p3"/>
          <p:cNvSpPr/>
          <p:nvPr/>
        </p:nvSpPr>
        <p:spPr>
          <a:xfrm>
            <a:off x="2240280" y="3172968"/>
            <a:ext cx="3017520" cy="640080"/>
          </a:xfrm>
          <a:prstGeom prst="roundRect">
            <a:avLst>
              <a:gd fmla="val 857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2263199" y="3227825"/>
            <a:ext cx="3017400" cy="685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600"/>
              </a:spcBef>
              <a:spcAft>
                <a:spcPts val="0"/>
              </a:spcAft>
              <a:buClr>
                <a:schemeClr val="dk1"/>
              </a:buClr>
              <a:buSzPts val="1100"/>
              <a:buFont typeface="Arial"/>
              <a:buNone/>
            </a:pPr>
            <a:r>
              <a:rPr lang="en-US" sz="1100">
                <a:solidFill>
                  <a:srgbClr val="1F1F1F"/>
                </a:solidFill>
                <a:highlight>
                  <a:srgbClr val="FFFFFF"/>
                </a:highlight>
                <a:latin typeface="Calibri"/>
                <a:ea typeface="Calibri"/>
                <a:cs typeface="Calibri"/>
                <a:sym typeface="Calibri"/>
              </a:rPr>
              <a:t>Los pasajeros de primera clase tendrán mayor probabilidad de sobrevivir que los de tercera clase.</a:t>
            </a:r>
            <a:endParaRPr sz="1100">
              <a:solidFill>
                <a:srgbClr val="1F1F1F"/>
              </a:solidFill>
              <a:highlight>
                <a:srgbClr val="FFFFFF"/>
              </a:highlight>
              <a:latin typeface="Calibri"/>
              <a:ea typeface="Calibri"/>
              <a:cs typeface="Calibri"/>
              <a:sym typeface="Calibri"/>
            </a:endParaRPr>
          </a:p>
          <a:p>
            <a:pPr indent="0" lvl="0" marL="0" marR="0" rtl="0" algn="l">
              <a:lnSpc>
                <a:spcPct val="114000"/>
              </a:lnSpc>
              <a:spcBef>
                <a:spcPts val="600"/>
              </a:spcBef>
              <a:spcAft>
                <a:spcPts val="0"/>
              </a:spcAft>
              <a:buClr>
                <a:srgbClr val="8FA6D4"/>
              </a:buClr>
              <a:buSzPts val="1050"/>
              <a:buFont typeface="Calibri"/>
              <a:buNone/>
            </a:pPr>
            <a:r>
              <a:t/>
            </a:r>
            <a:endParaRPr i="1" sz="1050">
              <a:solidFill>
                <a:srgbClr val="8FA6D4"/>
              </a:solidFill>
              <a:latin typeface="Calibri"/>
              <a:ea typeface="Calibri"/>
              <a:cs typeface="Calibri"/>
              <a:sym typeface="Calibri"/>
            </a:endParaRPr>
          </a:p>
        </p:txBody>
      </p:sp>
      <p:sp>
        <p:nvSpPr>
          <p:cNvPr id="68" name="Google Shape;68;p3"/>
          <p:cNvSpPr/>
          <p:nvPr/>
        </p:nvSpPr>
        <p:spPr>
          <a:xfrm>
            <a:off x="5394960" y="3172968"/>
            <a:ext cx="1691640" cy="640080"/>
          </a:xfrm>
          <a:prstGeom prst="roundRect">
            <a:avLst>
              <a:gd fmla="val 857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5577840" y="3172968"/>
            <a:ext cx="1325880" cy="640080"/>
          </a:xfrm>
          <a:prstGeom prst="rect">
            <a:avLst/>
          </a:prstGeom>
          <a:noFill/>
          <a:ln>
            <a:noFill/>
          </a:ln>
        </p:spPr>
        <p:txBody>
          <a:bodyPr anchorCtr="0" anchor="ctr" bIns="0" lIns="0" spcFirstLastPara="1" rIns="0" wrap="square" tIns="0">
            <a:noAutofit/>
          </a:bodyPr>
          <a:lstStyle/>
          <a:p>
            <a:pPr indent="0" lvl="0" marL="0" rtl="0" algn="ctr">
              <a:lnSpc>
                <a:spcPct val="114000"/>
              </a:lnSpc>
              <a:spcBef>
                <a:spcPts val="0"/>
              </a:spcBef>
              <a:spcAft>
                <a:spcPts val="0"/>
              </a:spcAft>
              <a:buClr>
                <a:srgbClr val="8FA6D4"/>
              </a:buClr>
              <a:buSzPts val="1050"/>
              <a:buFont typeface="Calibri"/>
              <a:buNone/>
            </a:pPr>
            <a:r>
              <a:rPr i="1" lang="en-US" sz="1200">
                <a:solidFill>
                  <a:schemeClr val="dk1"/>
                </a:solidFill>
                <a:latin typeface="Calibri"/>
                <a:ea typeface="Calibri"/>
                <a:cs typeface="Calibri"/>
                <a:sym typeface="Calibri"/>
              </a:rPr>
              <a:t>si</a:t>
            </a:r>
            <a:endParaRPr sz="1200">
              <a:solidFill>
                <a:schemeClr val="dk1"/>
              </a:solidFill>
              <a:latin typeface="Calibri"/>
              <a:ea typeface="Calibri"/>
              <a:cs typeface="Calibri"/>
              <a:sym typeface="Calibri"/>
            </a:endParaRPr>
          </a:p>
          <a:p>
            <a:pPr indent="0" lvl="0" marL="0" marR="0" rtl="0" algn="ctr">
              <a:lnSpc>
                <a:spcPct val="114000"/>
              </a:lnSpc>
              <a:spcBef>
                <a:spcPts val="0"/>
              </a:spcBef>
              <a:spcAft>
                <a:spcPts val="0"/>
              </a:spcAft>
              <a:buClr>
                <a:srgbClr val="8FA6D4"/>
              </a:buClr>
              <a:buSzPts val="1050"/>
              <a:buFont typeface="Calibri"/>
              <a:buNone/>
            </a:pPr>
            <a:r>
              <a:t/>
            </a:r>
            <a:endParaRPr i="1" sz="1050">
              <a:solidFill>
                <a:srgbClr val="8FA6D4"/>
              </a:solidFill>
              <a:latin typeface="Calibri"/>
              <a:ea typeface="Calibri"/>
              <a:cs typeface="Calibri"/>
              <a:sym typeface="Calibri"/>
            </a:endParaRPr>
          </a:p>
        </p:txBody>
      </p:sp>
      <p:sp>
        <p:nvSpPr>
          <p:cNvPr id="70" name="Google Shape;70;p3"/>
          <p:cNvSpPr/>
          <p:nvPr/>
        </p:nvSpPr>
        <p:spPr>
          <a:xfrm>
            <a:off x="548640" y="4023360"/>
            <a:ext cx="6675120" cy="868680"/>
          </a:xfrm>
          <a:prstGeom prst="roundRect">
            <a:avLst>
              <a:gd fmla="val 6316"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777240" y="4114800"/>
            <a:ext cx="1371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200"/>
              <a:buFont typeface="Calibri"/>
              <a:buNone/>
            </a:pPr>
            <a:r>
              <a:rPr b="1" i="0" lang="en-US" sz="1200" u="none" cap="none" strike="noStrike">
                <a:solidFill>
                  <a:srgbClr val="0A2559"/>
                </a:solidFill>
                <a:latin typeface="Calibri"/>
                <a:ea typeface="Calibri"/>
                <a:cs typeface="Calibri"/>
                <a:sym typeface="Calibri"/>
              </a:rPr>
              <a:t>Hipótesis 3</a:t>
            </a:r>
            <a:endParaRPr b="0" i="0" sz="1200" u="none" cap="none" strike="noStrike">
              <a:solidFill>
                <a:schemeClr val="dk1"/>
              </a:solidFill>
              <a:latin typeface="Calibri"/>
              <a:ea typeface="Calibri"/>
              <a:cs typeface="Calibri"/>
              <a:sym typeface="Calibri"/>
            </a:endParaRPr>
          </a:p>
        </p:txBody>
      </p:sp>
      <p:sp>
        <p:nvSpPr>
          <p:cNvPr id="72" name="Google Shape;72;p3"/>
          <p:cNvSpPr/>
          <p:nvPr/>
        </p:nvSpPr>
        <p:spPr>
          <a:xfrm>
            <a:off x="2240280" y="4133088"/>
            <a:ext cx="3017520" cy="640080"/>
          </a:xfrm>
          <a:prstGeom prst="roundRect">
            <a:avLst>
              <a:gd fmla="val 857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240275" y="4133100"/>
            <a:ext cx="3017400" cy="64020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050"/>
              <a:buFont typeface="Calibri"/>
              <a:buNone/>
            </a:pPr>
            <a:r>
              <a:rPr lang="en-US" sz="1000">
                <a:solidFill>
                  <a:srgbClr val="1F1F1F"/>
                </a:solidFill>
                <a:highlight>
                  <a:srgbClr val="FFFFFF"/>
                </a:highlight>
                <a:latin typeface="Calibri"/>
                <a:ea typeface="Calibri"/>
                <a:cs typeface="Calibri"/>
                <a:sym typeface="Calibri"/>
              </a:rPr>
              <a:t>Los pasajeros que pagaron tarifas más altas tenderán a tener mayor probabilidad de sobrevivir, aunque parte de ese efecto puede estar relacionado con la clase del boleto</a:t>
            </a:r>
            <a:r>
              <a:rPr lang="en-US" sz="1100">
                <a:solidFill>
                  <a:schemeClr val="dk1"/>
                </a:solidFill>
                <a:latin typeface="Calibri"/>
                <a:ea typeface="Calibri"/>
                <a:cs typeface="Calibri"/>
                <a:sym typeface="Calibri"/>
              </a:rPr>
              <a:t> </a:t>
            </a:r>
            <a:endParaRPr i="0" sz="1100" u="none" cap="none" strike="noStrike">
              <a:solidFill>
                <a:schemeClr val="dk1"/>
              </a:solidFill>
              <a:latin typeface="Calibri"/>
              <a:ea typeface="Calibri"/>
              <a:cs typeface="Calibri"/>
              <a:sym typeface="Calibri"/>
            </a:endParaRPr>
          </a:p>
        </p:txBody>
      </p:sp>
      <p:sp>
        <p:nvSpPr>
          <p:cNvPr id="74" name="Google Shape;74;p3"/>
          <p:cNvSpPr/>
          <p:nvPr/>
        </p:nvSpPr>
        <p:spPr>
          <a:xfrm>
            <a:off x="5394960" y="4133088"/>
            <a:ext cx="1691640" cy="640080"/>
          </a:xfrm>
          <a:prstGeom prst="roundRect">
            <a:avLst>
              <a:gd fmla="val 857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5577840" y="4133088"/>
            <a:ext cx="1325880" cy="640080"/>
          </a:xfrm>
          <a:prstGeom prst="rect">
            <a:avLst/>
          </a:prstGeom>
          <a:noFill/>
          <a:ln>
            <a:noFill/>
          </a:ln>
        </p:spPr>
        <p:txBody>
          <a:bodyPr anchorCtr="0" anchor="ctr" bIns="0" lIns="0" spcFirstLastPara="1" rIns="0" wrap="square" tIns="0">
            <a:noAutofit/>
          </a:bodyPr>
          <a:lstStyle/>
          <a:p>
            <a:pPr indent="0" lvl="0" marL="0" rtl="0" algn="ctr">
              <a:lnSpc>
                <a:spcPct val="114000"/>
              </a:lnSpc>
              <a:spcBef>
                <a:spcPts val="0"/>
              </a:spcBef>
              <a:spcAft>
                <a:spcPts val="0"/>
              </a:spcAft>
              <a:buClr>
                <a:srgbClr val="8FA6D4"/>
              </a:buClr>
              <a:buSzPts val="1050"/>
              <a:buFont typeface="Calibri"/>
              <a:buNone/>
            </a:pPr>
            <a:r>
              <a:rPr i="1" lang="en-US" sz="1100">
                <a:solidFill>
                  <a:schemeClr val="dk1"/>
                </a:solidFill>
                <a:latin typeface="Calibri"/>
                <a:ea typeface="Calibri"/>
                <a:cs typeface="Calibri"/>
                <a:sym typeface="Calibri"/>
              </a:rPr>
              <a:t>si, parcialmente</a:t>
            </a:r>
            <a:endParaRPr sz="1100">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050"/>
              <a:buFont typeface="Calibri"/>
              <a:buNone/>
            </a:pPr>
            <a:r>
              <a:t/>
            </a:r>
            <a:endParaRPr i="1" sz="1050">
              <a:solidFill>
                <a:srgbClr val="8FA6D4"/>
              </a:solidFill>
              <a:latin typeface="Calibri"/>
              <a:ea typeface="Calibri"/>
              <a:cs typeface="Calibri"/>
              <a:sym typeface="Calibri"/>
            </a:endParaRPr>
          </a:p>
        </p:txBody>
      </p:sp>
      <p:sp>
        <p:nvSpPr>
          <p:cNvPr id="76" name="Google Shape;76;p3"/>
          <p:cNvSpPr/>
          <p:nvPr/>
        </p:nvSpPr>
        <p:spPr>
          <a:xfrm>
            <a:off x="7406640" y="2103120"/>
            <a:ext cx="4233672" cy="2788920"/>
          </a:xfrm>
          <a:prstGeom prst="roundRect">
            <a:avLst>
              <a:gd fmla="val 1967"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7653528" y="2386584"/>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7891272" y="2286000"/>
            <a:ext cx="351129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Y un gráfico</a:t>
            </a:r>
            <a:endParaRPr b="0" i="0" sz="1400" u="none" cap="none" strike="noStrike">
              <a:solidFill>
                <a:schemeClr val="dk1"/>
              </a:solidFill>
              <a:latin typeface="Calibri"/>
              <a:ea typeface="Calibri"/>
              <a:cs typeface="Calibri"/>
              <a:sym typeface="Calibri"/>
            </a:endParaRPr>
          </a:p>
        </p:txBody>
      </p:sp>
      <p:sp>
        <p:nvSpPr>
          <p:cNvPr id="79" name="Google Shape;79;p3"/>
          <p:cNvSpPr/>
          <p:nvPr/>
        </p:nvSpPr>
        <p:spPr>
          <a:xfrm>
            <a:off x="7653528" y="2651760"/>
            <a:ext cx="3749040" cy="2057400"/>
          </a:xfrm>
          <a:prstGeom prst="roundRect">
            <a:avLst>
              <a:gd fmla="val 2667" name="adj"/>
            </a:avLst>
          </a:prstGeom>
          <a:solidFill>
            <a:srgbClr val="0E2E5E"/>
          </a:solidFill>
          <a:ln cap="flat" cmpd="sng" w="15875">
            <a:solidFill>
              <a:srgbClr val="2E5AA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836408" y="2651760"/>
            <a:ext cx="3383280" cy="2057400"/>
          </a:xfrm>
          <a:prstGeom prst="rect">
            <a:avLst/>
          </a:prstGeom>
          <a:noFill/>
          <a:ln>
            <a:noFill/>
          </a:ln>
        </p:spPr>
        <p:txBody>
          <a:bodyPr anchorCtr="0" anchor="ctr" bIns="0" lIns="0" spcFirstLastPara="1" rIns="0" wrap="square" tIns="0">
            <a:noAutofit/>
          </a:bodyPr>
          <a:lstStyle/>
          <a:p>
            <a:pPr indent="0" lvl="0" marL="0" marR="0" rtl="0" algn="ctr">
              <a:lnSpc>
                <a:spcPct val="114000"/>
              </a:lnSpc>
              <a:spcBef>
                <a:spcPts val="0"/>
              </a:spcBef>
              <a:spcAft>
                <a:spcPts val="0"/>
              </a:spcAft>
              <a:buClr>
                <a:srgbClr val="8FA6D4"/>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81" name="Google Shape;81;p3"/>
          <p:cNvSpPr/>
          <p:nvPr/>
        </p:nvSpPr>
        <p:spPr>
          <a:xfrm>
            <a:off x="548640" y="5120640"/>
            <a:ext cx="11091672" cy="1097280"/>
          </a:xfrm>
          <a:prstGeom prst="roundRect">
            <a:avLst>
              <a:gd fmla="val 5000" name="adj"/>
            </a:avLst>
          </a:prstGeom>
          <a:solidFill>
            <a:srgbClr val="E9EEF8"/>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804672" y="5367528"/>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1042416" y="5266944"/>
            <a:ext cx="707745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400"/>
              <a:buFont typeface="Calibri"/>
              <a:buNone/>
            </a:pPr>
            <a:r>
              <a:rPr b="1" i="0" lang="en-US" sz="1400" u="none" cap="none" strike="noStrike">
                <a:solidFill>
                  <a:srgbClr val="0A2559"/>
                </a:solidFill>
                <a:latin typeface="Calibri"/>
                <a:ea typeface="Calibri"/>
                <a:cs typeface="Calibri"/>
                <a:sym typeface="Calibri"/>
              </a:rPr>
              <a:t>Lo que se valora aquí</a:t>
            </a:r>
            <a:endParaRPr b="0" i="0" sz="1400" u="none" cap="none" strike="noStrike">
              <a:solidFill>
                <a:schemeClr val="dk1"/>
              </a:solidFill>
              <a:latin typeface="Calibri"/>
              <a:ea typeface="Calibri"/>
              <a:cs typeface="Calibri"/>
              <a:sym typeface="Calibri"/>
            </a:endParaRPr>
          </a:p>
        </p:txBody>
      </p:sp>
      <p:sp>
        <p:nvSpPr>
          <p:cNvPr id="84" name="Google Shape;84;p3"/>
          <p:cNvSpPr/>
          <p:nvPr/>
        </p:nvSpPr>
        <p:spPr>
          <a:xfrm>
            <a:off x="804672" y="5614416"/>
            <a:ext cx="10515600"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C3A55"/>
              </a:buClr>
              <a:buSzPts val="1200"/>
              <a:buFont typeface="Calibri"/>
              <a:buNone/>
            </a:pPr>
            <a:r>
              <a:rPr b="0" i="0" lang="en-US" sz="1200" u="none" cap="none" strike="noStrike">
                <a:solidFill>
                  <a:srgbClr val="2C3A55"/>
                </a:solidFill>
                <a:latin typeface="Calibri"/>
                <a:ea typeface="Calibri"/>
                <a:cs typeface="Calibri"/>
                <a:sym typeface="Calibri"/>
              </a:rPr>
              <a:t>Que hayas escrito las hipótesis ANTES de modelar, y que reconozcas cuál se cayó. Equivocarse en una hipótesis no resta: esconderlo sí.</a:t>
            </a:r>
            <a:endParaRPr b="0" i="0" sz="1200" u="none" cap="none" strike="noStrike">
              <a:solidFill>
                <a:schemeClr val="dk1"/>
              </a:solidFill>
              <a:latin typeface="Calibri"/>
              <a:ea typeface="Calibri"/>
              <a:cs typeface="Calibri"/>
              <a:sym typeface="Calibri"/>
            </a:endParaRPr>
          </a:p>
        </p:txBody>
      </p:sp>
      <p:pic>
        <p:nvPicPr>
          <p:cNvPr id="85" name="Google Shape;85;p3"/>
          <p:cNvPicPr preferRelativeResize="0"/>
          <p:nvPr/>
        </p:nvPicPr>
        <p:blipFill>
          <a:blip r:embed="rId3">
            <a:alphaModFix/>
          </a:blip>
          <a:stretch>
            <a:fillRect/>
          </a:stretch>
        </p:blipFill>
        <p:spPr>
          <a:xfrm>
            <a:off x="7831827" y="2580762"/>
            <a:ext cx="3383300" cy="21993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90" name="Shape 90"/>
        <p:cNvGrpSpPr/>
        <p:nvPr/>
      </p:nvGrpSpPr>
      <p:grpSpPr>
        <a:xfrm>
          <a:off x="0" y="0"/>
          <a:ext cx="0" cy="0"/>
          <a:chOff x="0" y="0"/>
          <a:chExt cx="0" cy="0"/>
        </a:xfrm>
      </p:grpSpPr>
      <p:sp>
        <p:nvSpPr>
          <p:cNvPr id="91" name="Google Shape;91;p4"/>
          <p:cNvSpPr/>
          <p:nvPr/>
        </p:nvSpPr>
        <p:spPr>
          <a:xfrm>
            <a:off x="548640" y="365760"/>
            <a:ext cx="2651760" cy="347472"/>
          </a:xfrm>
          <a:prstGeom prst="roundRect">
            <a:avLst>
              <a:gd fmla="val 50000" name="adj"/>
            </a:avLst>
          </a:prstGeom>
          <a:solidFill>
            <a:srgbClr val="1A56E8"/>
          </a:solidFill>
          <a:ln cap="flat" cmpd="sng" w="12700">
            <a:solidFill>
              <a:srgbClr val="1A5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548640" y="36576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SLIDE 3 DE 5</a:t>
            </a:r>
            <a:endParaRPr b="0" i="0" sz="1150" u="none" cap="none" strike="noStrike">
              <a:solidFill>
                <a:schemeClr val="dk1"/>
              </a:solidFill>
              <a:latin typeface="Calibri"/>
              <a:ea typeface="Calibri"/>
              <a:cs typeface="Calibri"/>
              <a:sym typeface="Calibri"/>
            </a:endParaRPr>
          </a:p>
        </p:txBody>
      </p:sp>
      <p:sp>
        <p:nvSpPr>
          <p:cNvPr id="93" name="Google Shape;93;p4"/>
          <p:cNvSpPr/>
          <p:nvPr/>
        </p:nvSpPr>
        <p:spPr>
          <a:xfrm>
            <a:off x="548640" y="786384"/>
            <a:ext cx="11064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3200"/>
              <a:buFont typeface="Calibri"/>
              <a:buNone/>
            </a:pPr>
            <a:r>
              <a:rPr b="1" i="0" lang="en-US" sz="3200" u="none" cap="none" strike="noStrike">
                <a:solidFill>
                  <a:srgbClr val="0A2559"/>
                </a:solidFill>
                <a:latin typeface="Calibri"/>
                <a:ea typeface="Calibri"/>
                <a:cs typeface="Calibri"/>
                <a:sym typeface="Calibri"/>
              </a:rPr>
              <a:t>Los seis modelos, y qué aportó cada variable</a:t>
            </a:r>
            <a:endParaRPr b="0" i="0" sz="3200" u="none" cap="none" strike="noStrike">
              <a:solidFill>
                <a:schemeClr val="dk1"/>
              </a:solidFill>
              <a:latin typeface="Calibri"/>
              <a:ea typeface="Calibri"/>
              <a:cs typeface="Calibri"/>
              <a:sym typeface="Calibri"/>
            </a:endParaRPr>
          </a:p>
        </p:txBody>
      </p:sp>
      <p:sp>
        <p:nvSpPr>
          <p:cNvPr id="94" name="Google Shape;94;p4"/>
          <p:cNvSpPr/>
          <p:nvPr/>
        </p:nvSpPr>
        <p:spPr>
          <a:xfrm>
            <a:off x="548640" y="1481328"/>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7"/>
              </a:buClr>
              <a:buSzPts val="1400"/>
              <a:buFont typeface="Calibri"/>
              <a:buNone/>
            </a:pPr>
            <a:r>
              <a:rPr b="0" i="1" lang="en-US" sz="1400" u="none" cap="none" strike="noStrike">
                <a:solidFill>
                  <a:srgbClr val="5B6B87"/>
                </a:solidFill>
                <a:latin typeface="Calibri"/>
                <a:ea typeface="Calibri"/>
                <a:cs typeface="Calibri"/>
                <a:sym typeface="Calibri"/>
              </a:rPr>
              <a:t>La tabla completa, con las métricas en prueba.</a:t>
            </a:r>
            <a:endParaRPr b="0" i="0" sz="1400" u="none" cap="none" strike="noStrike">
              <a:solidFill>
                <a:schemeClr val="dk1"/>
              </a:solidFill>
              <a:latin typeface="Calibri"/>
              <a:ea typeface="Calibri"/>
              <a:cs typeface="Calibri"/>
              <a:sym typeface="Calibri"/>
            </a:endParaRPr>
          </a:p>
        </p:txBody>
      </p:sp>
      <p:graphicFrame>
        <p:nvGraphicFramePr>
          <p:cNvPr id="95" name="Google Shape;95;p4"/>
          <p:cNvGraphicFramePr/>
          <p:nvPr/>
        </p:nvGraphicFramePr>
        <p:xfrm>
          <a:off x="548640" y="2057400"/>
          <a:ext cx="3000000" cy="3000000"/>
        </p:xfrm>
        <a:graphic>
          <a:graphicData uri="http://schemas.openxmlformats.org/drawingml/2006/table">
            <a:tbl>
              <a:tblPr>
                <a:noFill/>
                <a:tableStyleId>{18C389CC-2345-43D0-8E41-7139903B3F4B}</a:tableStyleId>
              </a:tblPr>
              <a:tblGrid>
                <a:gridCol w="1097275"/>
                <a:gridCol w="2743200"/>
                <a:gridCol w="1645925"/>
                <a:gridCol w="1463050"/>
              </a:tblGrid>
              <a:tr h="48125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Modelo</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0A255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Variable que se agrega</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0A255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AUC en prueba</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0A255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Ganancia de AUC</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0A2559"/>
                    </a:solidFill>
                  </a:tcPr>
                </a:tc>
              </a:tr>
              <a:tr h="481250">
                <a:tc>
                  <a:txBody>
                    <a:bodyPr/>
                    <a:lstStyle/>
                    <a:p>
                      <a:pPr indent="0" lvl="0" marL="0" marR="0" rtl="0" algn="ctr">
                        <a:spcBef>
                          <a:spcPts val="0"/>
                        </a:spcBef>
                        <a:spcAft>
                          <a:spcPts val="0"/>
                        </a:spcAft>
                        <a:buClr>
                          <a:srgbClr val="2C3A55"/>
                        </a:buClr>
                        <a:buSzPts val="1150"/>
                        <a:buFont typeface="Calibri"/>
                        <a:buNone/>
                      </a:pPr>
                      <a:r>
                        <a:rPr b="1" lang="en-US" sz="1150" u="none" cap="none" strike="noStrike">
                          <a:solidFill>
                            <a:srgbClr val="2C3A55"/>
                          </a:solidFill>
                          <a:latin typeface="Calibri"/>
                          <a:ea typeface="Calibri"/>
                          <a:cs typeface="Calibri"/>
                          <a:sym typeface="Calibri"/>
                        </a:rPr>
                        <a:t>M0</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C3A55"/>
                        </a:buClr>
                        <a:buSzPts val="1150"/>
                        <a:buFont typeface="Calibri"/>
                        <a:buNone/>
                      </a:pPr>
                      <a:r>
                        <a:rPr lang="en-US" sz="1150" u="none" cap="none" strike="noStrike">
                          <a:solidFill>
                            <a:srgbClr val="2C3A55"/>
                          </a:solidFill>
                          <a:latin typeface="Calibri"/>
                          <a:ea typeface="Calibri"/>
                          <a:cs typeface="Calibri"/>
                          <a:sym typeface="Calibri"/>
                        </a:rPr>
                        <a:t>ninguna (regla trivial)</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E9EEF8"/>
                    </a:solidFill>
                  </a:tcPr>
                </a:tc>
                <a:tc>
                  <a:txBody>
                    <a:bodyPr/>
                    <a:lstStyle/>
                    <a:p>
                      <a:pPr indent="0" lvl="0" marL="0" marR="0" rtl="0" algn="ctr">
                        <a:spcBef>
                          <a:spcPts val="0"/>
                        </a:spcBef>
                        <a:spcAft>
                          <a:spcPts val="0"/>
                        </a:spcAft>
                        <a:buClr>
                          <a:srgbClr val="2C3A55"/>
                        </a:buClr>
                        <a:buSzPts val="1150"/>
                        <a:buFont typeface="Calibri"/>
                        <a:buNone/>
                      </a:pPr>
                      <a:r>
                        <a:rPr lang="en-US" sz="1150">
                          <a:solidFill>
                            <a:schemeClr val="dk1"/>
                          </a:solidFill>
                          <a:latin typeface="Calibri"/>
                          <a:ea typeface="Calibri"/>
                          <a:cs typeface="Calibri"/>
                          <a:sym typeface="Calibri"/>
                        </a:rPr>
                        <a:t>.5000</a:t>
                      </a:r>
                      <a:endParaRPr sz="1150" u="none" cap="none" strike="noStrike">
                        <a:solidFill>
                          <a:schemeClr val="dk1"/>
                        </a:solidFill>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C3A55"/>
                        </a:buClr>
                        <a:buSzPts val="1150"/>
                        <a:buFont typeface="Calibri"/>
                        <a:buNone/>
                      </a:pPr>
                      <a:r>
                        <a:rPr lang="en-US" sz="1150" u="none" cap="none" strike="noStrike">
                          <a:solidFill>
                            <a:srgbClr val="2C3A55"/>
                          </a:solidFill>
                          <a:latin typeface="Calibri"/>
                          <a:ea typeface="Calibri"/>
                          <a:cs typeface="Calibri"/>
                          <a:sym typeface="Calibri"/>
                        </a:rPr>
                        <a:t>—</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r>
              <a:tr h="481250">
                <a:tc>
                  <a:txBody>
                    <a:bodyPr/>
                    <a:lstStyle/>
                    <a:p>
                      <a:pPr indent="0" lvl="0" marL="0" marR="0" rtl="0" algn="ctr">
                        <a:spcBef>
                          <a:spcPts val="0"/>
                        </a:spcBef>
                        <a:spcAft>
                          <a:spcPts val="0"/>
                        </a:spcAft>
                        <a:buClr>
                          <a:srgbClr val="2C3A55"/>
                        </a:buClr>
                        <a:buSzPts val="1150"/>
                        <a:buFont typeface="Calibri"/>
                        <a:buNone/>
                      </a:pPr>
                      <a:r>
                        <a:rPr b="1" lang="en-US" sz="1150" u="none" cap="none" strike="noStrike">
                          <a:solidFill>
                            <a:srgbClr val="2C3A55"/>
                          </a:solidFill>
                          <a:latin typeface="Calibri"/>
                          <a:ea typeface="Calibri"/>
                          <a:cs typeface="Calibri"/>
                          <a:sym typeface="Calibri"/>
                        </a:rPr>
                        <a:t>M1</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sex</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E9EEF8"/>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0.7580</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0.258</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r>
              <a:tr h="481250">
                <a:tc>
                  <a:txBody>
                    <a:bodyPr/>
                    <a:lstStyle/>
                    <a:p>
                      <a:pPr indent="0" lvl="0" marL="0" marR="0" rtl="0" algn="ctr">
                        <a:spcBef>
                          <a:spcPts val="0"/>
                        </a:spcBef>
                        <a:spcAft>
                          <a:spcPts val="0"/>
                        </a:spcAft>
                        <a:buClr>
                          <a:srgbClr val="2C3A55"/>
                        </a:buClr>
                        <a:buSzPts val="1150"/>
                        <a:buFont typeface="Calibri"/>
                        <a:buNone/>
                      </a:pPr>
                      <a:r>
                        <a:rPr b="1" lang="en-US" sz="1150" u="none" cap="none" strike="noStrike">
                          <a:solidFill>
                            <a:srgbClr val="2C3A55"/>
                          </a:solidFill>
                          <a:latin typeface="Calibri"/>
                          <a:ea typeface="Calibri"/>
                          <a:cs typeface="Calibri"/>
                          <a:sym typeface="Calibri"/>
                        </a:rPr>
                        <a:t>M2</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sex, PClass</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E9EEF8"/>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.8301</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.0721</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r>
              <a:tr h="481250">
                <a:tc>
                  <a:txBody>
                    <a:bodyPr/>
                    <a:lstStyle/>
                    <a:p>
                      <a:pPr indent="0" lvl="0" marL="0" marR="0" rtl="0" algn="ctr">
                        <a:spcBef>
                          <a:spcPts val="0"/>
                        </a:spcBef>
                        <a:spcAft>
                          <a:spcPts val="0"/>
                        </a:spcAft>
                        <a:buClr>
                          <a:srgbClr val="2C3A55"/>
                        </a:buClr>
                        <a:buSzPts val="1150"/>
                        <a:buFont typeface="Calibri"/>
                        <a:buNone/>
                      </a:pPr>
                      <a:r>
                        <a:rPr b="1" lang="en-US" sz="1150" u="none" cap="none" strike="noStrike">
                          <a:solidFill>
                            <a:srgbClr val="2C3A55"/>
                          </a:solidFill>
                          <a:latin typeface="Calibri"/>
                          <a:ea typeface="Calibri"/>
                          <a:cs typeface="Calibri"/>
                          <a:sym typeface="Calibri"/>
                        </a:rPr>
                        <a:t>M3</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50"/>
                        <a:buFont typeface="Calibri"/>
                        <a:buNone/>
                      </a:pPr>
                      <a:r>
                        <a:rPr lang="en-US" sz="1150">
                          <a:solidFill>
                            <a:schemeClr val="dk1"/>
                          </a:solidFill>
                          <a:latin typeface="Calibri"/>
                          <a:ea typeface="Calibri"/>
                          <a:cs typeface="Calibri"/>
                          <a:sym typeface="Calibri"/>
                        </a:rPr>
                        <a:t>sex, PClass, age</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E9EEF8"/>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.8375</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.0074</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r>
              <a:tr h="481250">
                <a:tc>
                  <a:txBody>
                    <a:bodyPr/>
                    <a:lstStyle/>
                    <a:p>
                      <a:pPr indent="0" lvl="0" marL="0" marR="0" rtl="0" algn="ctr">
                        <a:spcBef>
                          <a:spcPts val="0"/>
                        </a:spcBef>
                        <a:spcAft>
                          <a:spcPts val="0"/>
                        </a:spcAft>
                        <a:buClr>
                          <a:srgbClr val="2C3A55"/>
                        </a:buClr>
                        <a:buSzPts val="1150"/>
                        <a:buFont typeface="Calibri"/>
                        <a:buNone/>
                      </a:pPr>
                      <a:r>
                        <a:rPr b="1" lang="en-US" sz="1150" u="none" cap="none" strike="noStrike">
                          <a:solidFill>
                            <a:srgbClr val="2C3A55"/>
                          </a:solidFill>
                          <a:latin typeface="Calibri"/>
                          <a:ea typeface="Calibri"/>
                          <a:cs typeface="Calibri"/>
                          <a:sym typeface="Calibri"/>
                        </a:rPr>
                        <a:t>M4</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50"/>
                        <a:buFont typeface="Calibri"/>
                        <a:buNone/>
                      </a:pPr>
                      <a:r>
                        <a:rPr lang="en-US" sz="1150">
                          <a:solidFill>
                            <a:schemeClr val="dk1"/>
                          </a:solidFill>
                          <a:latin typeface="Calibri"/>
                          <a:ea typeface="Calibri"/>
                          <a:cs typeface="Calibri"/>
                          <a:sym typeface="Calibri"/>
                        </a:rPr>
                        <a:t>sex, PClass, age, Fare</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E9EEF8"/>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.8395</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.0002</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r>
            </a:tbl>
          </a:graphicData>
        </a:graphic>
      </p:graphicFrame>
      <p:sp>
        <p:nvSpPr>
          <p:cNvPr id="96" name="Google Shape;96;p4"/>
          <p:cNvSpPr/>
          <p:nvPr/>
        </p:nvSpPr>
        <p:spPr>
          <a:xfrm>
            <a:off x="7635240" y="2057400"/>
            <a:ext cx="4005072" cy="1600200"/>
          </a:xfrm>
          <a:prstGeom prst="roundRect">
            <a:avLst>
              <a:gd fmla="val 3429"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7882128" y="2322576"/>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8119872" y="2221992"/>
            <a:ext cx="332841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La variable que más aportó</a:t>
            </a:r>
            <a:endParaRPr b="0" i="0" sz="1400" u="none" cap="none" strike="noStrike">
              <a:solidFill>
                <a:schemeClr val="dk1"/>
              </a:solidFill>
              <a:latin typeface="Calibri"/>
              <a:ea typeface="Calibri"/>
              <a:cs typeface="Calibri"/>
              <a:sym typeface="Calibri"/>
            </a:endParaRPr>
          </a:p>
        </p:txBody>
      </p:sp>
      <p:sp>
        <p:nvSpPr>
          <p:cNvPr id="99" name="Google Shape;99;p4"/>
          <p:cNvSpPr/>
          <p:nvPr/>
        </p:nvSpPr>
        <p:spPr>
          <a:xfrm>
            <a:off x="7882128" y="2587752"/>
            <a:ext cx="3566160" cy="932688"/>
          </a:xfrm>
          <a:prstGeom prst="roundRect">
            <a:avLst>
              <a:gd fmla="val 5882" name="adj"/>
            </a:avLst>
          </a:prstGeom>
          <a:solidFill>
            <a:srgbClr val="0E2E5E"/>
          </a:solidFill>
          <a:ln cap="flat" cmpd="sng" w="15875">
            <a:solidFill>
              <a:srgbClr val="2E5AA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8065008" y="2587752"/>
            <a:ext cx="3200400" cy="932688"/>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i="1" lang="en-US" sz="1100">
                <a:solidFill>
                  <a:srgbClr val="8FA6D4"/>
                </a:solidFill>
                <a:latin typeface="Calibri"/>
                <a:ea typeface="Calibri"/>
                <a:cs typeface="Calibri"/>
                <a:sym typeface="Calibri"/>
              </a:rPr>
              <a:t>“sex” - aportación de 0.258</a:t>
            </a:r>
            <a:endParaRPr b="0" i="0" sz="1100" u="none" cap="none" strike="noStrike">
              <a:solidFill>
                <a:schemeClr val="dk1"/>
              </a:solidFill>
              <a:latin typeface="Calibri"/>
              <a:ea typeface="Calibri"/>
              <a:cs typeface="Calibri"/>
              <a:sym typeface="Calibri"/>
            </a:endParaRPr>
          </a:p>
        </p:txBody>
      </p:sp>
      <p:sp>
        <p:nvSpPr>
          <p:cNvPr id="101" name="Google Shape;101;p4"/>
          <p:cNvSpPr/>
          <p:nvPr/>
        </p:nvSpPr>
        <p:spPr>
          <a:xfrm>
            <a:off x="7635240" y="3840480"/>
            <a:ext cx="4005072" cy="1600200"/>
          </a:xfrm>
          <a:prstGeom prst="roundRect">
            <a:avLst>
              <a:gd fmla="val 342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7882128" y="4105656"/>
            <a:ext cx="118872" cy="118872"/>
          </a:xfrm>
          <a:prstGeom prst="roundRect">
            <a:avLst>
              <a:gd fmla="val 30769"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8119872" y="4005072"/>
            <a:ext cx="332841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La que NO aportó</a:t>
            </a:r>
            <a:endParaRPr b="0" i="0" sz="1400" u="none" cap="none" strike="noStrike">
              <a:solidFill>
                <a:schemeClr val="dk1"/>
              </a:solidFill>
              <a:latin typeface="Calibri"/>
              <a:ea typeface="Calibri"/>
              <a:cs typeface="Calibri"/>
              <a:sym typeface="Calibri"/>
            </a:endParaRPr>
          </a:p>
        </p:txBody>
      </p:sp>
      <p:sp>
        <p:nvSpPr>
          <p:cNvPr id="104" name="Google Shape;104;p4"/>
          <p:cNvSpPr/>
          <p:nvPr/>
        </p:nvSpPr>
        <p:spPr>
          <a:xfrm>
            <a:off x="7882128" y="4370832"/>
            <a:ext cx="3566160" cy="932688"/>
          </a:xfrm>
          <a:prstGeom prst="roundRect">
            <a:avLst>
              <a:gd fmla="val 5882" name="adj"/>
            </a:avLst>
          </a:prstGeom>
          <a:solidFill>
            <a:srgbClr val="C40D51"/>
          </a:solidFill>
          <a:ln cap="flat" cmpd="sng" w="15875">
            <a:solidFill>
              <a:srgbClr val="FF8FBB"/>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8065008" y="4370832"/>
            <a:ext cx="3200400" cy="932688"/>
          </a:xfrm>
          <a:prstGeom prst="rect">
            <a:avLst/>
          </a:prstGeom>
          <a:noFill/>
          <a:ln>
            <a:noFill/>
          </a:ln>
        </p:spPr>
        <p:txBody>
          <a:bodyPr anchorCtr="0" anchor="ctr" bIns="0" lIns="0" spcFirstLastPara="1" rIns="0" wrap="square" tIns="0">
            <a:noAutofit/>
          </a:bodyPr>
          <a:lstStyle/>
          <a:p>
            <a:pPr indent="0" lvl="0" marL="0" marR="0" rtl="0" algn="just">
              <a:lnSpc>
                <a:spcPct val="114000"/>
              </a:lnSpc>
              <a:spcBef>
                <a:spcPts val="0"/>
              </a:spcBef>
              <a:spcAft>
                <a:spcPts val="0"/>
              </a:spcAft>
              <a:buClr>
                <a:srgbClr val="FFE9F1"/>
              </a:buClr>
              <a:buSzPts val="1050"/>
              <a:buFont typeface="Calibri"/>
              <a:buNone/>
            </a:pPr>
            <a:r>
              <a:rPr i="1" lang="en-US" sz="1050">
                <a:solidFill>
                  <a:srgbClr val="FFE9F1"/>
                </a:solidFill>
                <a:latin typeface="Calibri"/>
                <a:ea typeface="Calibri"/>
                <a:cs typeface="Calibri"/>
                <a:sym typeface="Calibri"/>
              </a:rPr>
              <a:t>“Fare” - .0002</a:t>
            </a:r>
            <a:endParaRPr i="1" sz="1050">
              <a:solidFill>
                <a:srgbClr val="FFE9F1"/>
              </a:solidFill>
              <a:latin typeface="Calibri"/>
              <a:ea typeface="Calibri"/>
              <a:cs typeface="Calibri"/>
              <a:sym typeface="Calibri"/>
            </a:endParaRPr>
          </a:p>
          <a:p>
            <a:pPr indent="0" lvl="0" marL="0" marR="0" rtl="0" algn="just">
              <a:lnSpc>
                <a:spcPct val="114000"/>
              </a:lnSpc>
              <a:spcBef>
                <a:spcPts val="0"/>
              </a:spcBef>
              <a:spcAft>
                <a:spcPts val="0"/>
              </a:spcAft>
              <a:buClr>
                <a:srgbClr val="FFE9F1"/>
              </a:buClr>
              <a:buSzPts val="1050"/>
              <a:buFont typeface="Calibri"/>
              <a:buNone/>
            </a:pPr>
            <a:r>
              <a:t/>
            </a:r>
            <a:endParaRPr i="1" sz="1050">
              <a:solidFill>
                <a:srgbClr val="FFE9F1"/>
              </a:solidFill>
              <a:latin typeface="Calibri"/>
              <a:ea typeface="Calibri"/>
              <a:cs typeface="Calibri"/>
              <a:sym typeface="Calibri"/>
            </a:endParaRPr>
          </a:p>
          <a:p>
            <a:pPr indent="0" lvl="0" marL="0" marR="0" rtl="0" algn="just">
              <a:lnSpc>
                <a:spcPct val="114000"/>
              </a:lnSpc>
              <a:spcBef>
                <a:spcPts val="0"/>
              </a:spcBef>
              <a:spcAft>
                <a:spcPts val="0"/>
              </a:spcAft>
              <a:buClr>
                <a:srgbClr val="FFE9F1"/>
              </a:buClr>
              <a:buSzPts val="1050"/>
              <a:buFont typeface="Calibri"/>
              <a:buNone/>
            </a:pPr>
            <a:r>
              <a:rPr i="1" lang="en-US" sz="1050">
                <a:solidFill>
                  <a:srgbClr val="FFE9F1"/>
                </a:solidFill>
                <a:latin typeface="Calibri"/>
                <a:ea typeface="Calibri"/>
                <a:cs typeface="Calibri"/>
                <a:sym typeface="Calibri"/>
              </a:rPr>
              <a:t>Se identifica que la tarifa (fare) ya se encuentra relacionada con la variable (PClass) - Mayor tarifa, mayor clase</a:t>
            </a:r>
            <a:endParaRPr i="1" sz="1050">
              <a:solidFill>
                <a:srgbClr val="FFE9F1"/>
              </a:solidFill>
              <a:latin typeface="Calibri"/>
              <a:ea typeface="Calibri"/>
              <a:cs typeface="Calibri"/>
              <a:sym typeface="Calibri"/>
            </a:endParaRPr>
          </a:p>
        </p:txBody>
      </p:sp>
      <p:sp>
        <p:nvSpPr>
          <p:cNvPr id="106" name="Google Shape;106;p4"/>
          <p:cNvSpPr/>
          <p:nvPr/>
        </p:nvSpPr>
        <p:spPr>
          <a:xfrm>
            <a:off x="548640" y="5120640"/>
            <a:ext cx="6949440" cy="1097280"/>
          </a:xfrm>
          <a:prstGeom prst="roundRect">
            <a:avLst>
              <a:gd fmla="val 5000" name="adj"/>
            </a:avLst>
          </a:prstGeom>
          <a:solidFill>
            <a:srgbClr val="E9EEF8"/>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804672" y="5367528"/>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1042416" y="5266944"/>
            <a:ext cx="570585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400"/>
              <a:buFont typeface="Calibri"/>
              <a:buNone/>
            </a:pPr>
            <a:r>
              <a:rPr b="1" i="0" lang="en-US" sz="1400" u="none" cap="none" strike="noStrike">
                <a:solidFill>
                  <a:srgbClr val="0A2559"/>
                </a:solidFill>
                <a:latin typeface="Calibri"/>
                <a:ea typeface="Calibri"/>
                <a:cs typeface="Calibri"/>
                <a:sym typeface="Calibri"/>
              </a:rPr>
              <a:t>Cuidado con esto</a:t>
            </a:r>
            <a:endParaRPr b="0" i="0" sz="1400" u="none" cap="none" strike="noStrike">
              <a:solidFill>
                <a:schemeClr val="dk1"/>
              </a:solidFill>
              <a:latin typeface="Calibri"/>
              <a:ea typeface="Calibri"/>
              <a:cs typeface="Calibri"/>
              <a:sym typeface="Calibri"/>
            </a:endParaRPr>
          </a:p>
        </p:txBody>
      </p:sp>
      <p:sp>
        <p:nvSpPr>
          <p:cNvPr id="109" name="Google Shape;109;p4"/>
          <p:cNvSpPr/>
          <p:nvPr/>
        </p:nvSpPr>
        <p:spPr>
          <a:xfrm>
            <a:off x="804672" y="5614416"/>
            <a:ext cx="6446520"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C3A55"/>
              </a:buClr>
              <a:buSzPts val="1150"/>
              <a:buFont typeface="Calibri"/>
              <a:buNone/>
            </a:pPr>
            <a:r>
              <a:rPr b="0" i="0" lang="en-US" sz="1150" u="none" cap="none" strike="noStrike">
                <a:solidFill>
                  <a:srgbClr val="2C3A55"/>
                </a:solidFill>
                <a:latin typeface="Calibri"/>
                <a:ea typeface="Calibri"/>
                <a:cs typeface="Calibri"/>
                <a:sym typeface="Calibri"/>
              </a:rPr>
              <a:t>Todas las métricas de esta tabla tienen que ser de PRUEBA. Si reportas las de entrenamiento, la tabla no significa nada.</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114" name="Shape 114"/>
        <p:cNvGrpSpPr/>
        <p:nvPr/>
      </p:nvGrpSpPr>
      <p:grpSpPr>
        <a:xfrm>
          <a:off x="0" y="0"/>
          <a:ext cx="0" cy="0"/>
          <a:chOff x="0" y="0"/>
          <a:chExt cx="0" cy="0"/>
        </a:xfrm>
      </p:grpSpPr>
      <p:sp>
        <p:nvSpPr>
          <p:cNvPr id="115" name="Google Shape;115;p5"/>
          <p:cNvSpPr/>
          <p:nvPr/>
        </p:nvSpPr>
        <p:spPr>
          <a:xfrm>
            <a:off x="548640" y="365760"/>
            <a:ext cx="4023360" cy="347472"/>
          </a:xfrm>
          <a:prstGeom prst="roundRect">
            <a:avLst>
              <a:gd fmla="val 50000"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548640" y="365760"/>
            <a:ext cx="40233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SLIDE 4 DE 5 · LA MÁS IMPORTANTE</a:t>
            </a:r>
            <a:endParaRPr b="0" i="0" sz="1150" u="none" cap="none" strike="noStrike">
              <a:solidFill>
                <a:schemeClr val="dk1"/>
              </a:solidFill>
              <a:latin typeface="Calibri"/>
              <a:ea typeface="Calibri"/>
              <a:cs typeface="Calibri"/>
              <a:sym typeface="Calibri"/>
            </a:endParaRPr>
          </a:p>
        </p:txBody>
      </p:sp>
      <p:sp>
        <p:nvSpPr>
          <p:cNvPr id="117" name="Google Shape;117;p5"/>
          <p:cNvSpPr/>
          <p:nvPr/>
        </p:nvSpPr>
        <p:spPr>
          <a:xfrm>
            <a:off x="548640" y="786384"/>
            <a:ext cx="11064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3200"/>
              <a:buFont typeface="Calibri"/>
              <a:buNone/>
            </a:pPr>
            <a:r>
              <a:rPr b="1" i="0" lang="en-US" sz="3200" u="none" cap="none" strike="noStrike">
                <a:solidFill>
                  <a:srgbClr val="0A2559"/>
                </a:solidFill>
                <a:latin typeface="Calibri"/>
                <a:ea typeface="Calibri"/>
                <a:cs typeface="Calibri"/>
                <a:sym typeface="Calibri"/>
              </a:rPr>
              <a:t>El hallazgo</a:t>
            </a:r>
            <a:endParaRPr b="0" i="0" sz="3200" u="none" cap="none" strike="noStrike">
              <a:solidFill>
                <a:schemeClr val="dk1"/>
              </a:solidFill>
              <a:latin typeface="Calibri"/>
              <a:ea typeface="Calibri"/>
              <a:cs typeface="Calibri"/>
              <a:sym typeface="Calibri"/>
            </a:endParaRPr>
          </a:p>
        </p:txBody>
      </p:sp>
      <p:sp>
        <p:nvSpPr>
          <p:cNvPr id="118" name="Google Shape;118;p5"/>
          <p:cNvSpPr/>
          <p:nvPr/>
        </p:nvSpPr>
        <p:spPr>
          <a:xfrm>
            <a:off x="548640" y="1481328"/>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7"/>
              </a:buClr>
              <a:buSzPts val="1400"/>
              <a:buFont typeface="Calibri"/>
              <a:buNone/>
            </a:pPr>
            <a:r>
              <a:rPr b="0" i="1" lang="en-US" sz="1400" u="none" cap="none" strike="noStrike">
                <a:solidFill>
                  <a:srgbClr val="5B6B87"/>
                </a:solidFill>
                <a:latin typeface="Calibri"/>
                <a:ea typeface="Calibri"/>
                <a:cs typeface="Calibri"/>
                <a:sym typeface="Calibri"/>
              </a:rPr>
              <a:t>Un coeficiente que cambió al agregar otra variable, y por qué.</a:t>
            </a:r>
            <a:endParaRPr b="0" i="0" sz="1400" u="none" cap="none" strike="noStrike">
              <a:solidFill>
                <a:schemeClr val="dk1"/>
              </a:solidFill>
              <a:latin typeface="Calibri"/>
              <a:ea typeface="Calibri"/>
              <a:cs typeface="Calibri"/>
              <a:sym typeface="Calibri"/>
            </a:endParaRPr>
          </a:p>
        </p:txBody>
      </p:sp>
      <p:graphicFrame>
        <p:nvGraphicFramePr>
          <p:cNvPr id="119" name="Google Shape;119;p5"/>
          <p:cNvGraphicFramePr/>
          <p:nvPr/>
        </p:nvGraphicFramePr>
        <p:xfrm>
          <a:off x="548640" y="2103120"/>
          <a:ext cx="3000000" cy="3000000"/>
        </p:xfrm>
        <a:graphic>
          <a:graphicData uri="http://schemas.openxmlformats.org/drawingml/2006/table">
            <a:tbl>
              <a:tblPr>
                <a:noFill/>
                <a:tableStyleId>{18C389CC-2345-43D0-8E41-7139903B3F4B}</a:tableStyleId>
              </a:tblPr>
              <a:tblGrid>
                <a:gridCol w="1851825"/>
                <a:gridCol w="1446625"/>
                <a:gridCol w="1385175"/>
                <a:gridCol w="1168500"/>
              </a:tblGrid>
              <a:tr h="457200">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Modelo</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0A2559"/>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Coeficiente de la variable</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0A2559"/>
                    </a:solidFill>
                  </a:tcPr>
                </a:tc>
                <a:tc>
                  <a:txBody>
                    <a:bodyPr/>
                    <a:lstStyle/>
                    <a:p>
                      <a:pPr indent="0" lvl="0" marL="0" marR="0" rtl="0" algn="ctr">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Odds ratio</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0A2559"/>
                    </a:solidFill>
                  </a:tcPr>
                </a:tc>
                <a:tc>
                  <a:txBody>
                    <a:bodyPr/>
                    <a:lstStyle/>
                    <a:p>
                      <a:pPr indent="0" lvl="0" marL="0" marR="0" rtl="0" algn="ctr">
                        <a:spcBef>
                          <a:spcPts val="0"/>
                        </a:spcBef>
                        <a:spcAft>
                          <a:spcPts val="0"/>
                        </a:spcAft>
                        <a:buNone/>
                      </a:pPr>
                      <a:r>
                        <a:rPr b="1" lang="en-US" sz="1150">
                          <a:solidFill>
                            <a:srgbClr val="FFFFFF"/>
                          </a:solidFill>
                          <a:latin typeface="Calibri"/>
                          <a:ea typeface="Calibri"/>
                          <a:cs typeface="Calibri"/>
                          <a:sym typeface="Calibri"/>
                        </a:rPr>
                        <a:t>p-valor</a:t>
                      </a:r>
                      <a:endParaRPr b="1" sz="1150">
                        <a:solidFill>
                          <a:srgbClr val="FFFFFF"/>
                        </a:solidFill>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0A2559"/>
                    </a:solidFill>
                  </a:tcPr>
                </a:tc>
              </a:tr>
              <a:tr h="457200">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M2</a:t>
                      </a:r>
                      <a:br>
                        <a:rPr lang="en-US" sz="1150">
                          <a:latin typeface="Calibri"/>
                          <a:ea typeface="Calibri"/>
                          <a:cs typeface="Calibri"/>
                          <a:sym typeface="Calibri"/>
                        </a:rPr>
                      </a:br>
                      <a:r>
                        <a:rPr lang="en-US" sz="1150">
                          <a:latin typeface="Calibri"/>
                          <a:ea typeface="Calibri"/>
                          <a:cs typeface="Calibri"/>
                          <a:sym typeface="Calibri"/>
                        </a:rPr>
                        <a:t>(sex, </a:t>
                      </a:r>
                      <a:r>
                        <a:rPr b="1" lang="en-US" sz="1150">
                          <a:latin typeface="Calibri"/>
                          <a:ea typeface="Calibri"/>
                          <a:cs typeface="Calibri"/>
                          <a:sym typeface="Calibri"/>
                        </a:rPr>
                        <a:t>PClass</a:t>
                      </a:r>
                      <a:r>
                        <a:rPr lang="en-US" sz="1150">
                          <a:latin typeface="Calibri"/>
                          <a:ea typeface="Calibri"/>
                          <a:cs typeface="Calibri"/>
                          <a:sym typeface="Calibri"/>
                        </a:rPr>
                        <a:t>)</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-0.9056</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E9EEF8"/>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0.4043 </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50">
                          <a:latin typeface="Calibri"/>
                          <a:ea typeface="Calibri"/>
                          <a:cs typeface="Calibri"/>
                          <a:sym typeface="Calibri"/>
                        </a:rPr>
                        <a:t>0.0000</a:t>
                      </a:r>
                      <a:endParaRPr sz="1150">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M3</a:t>
                      </a:r>
                      <a:br>
                        <a:rPr lang="en-US" sz="1150">
                          <a:latin typeface="Calibri"/>
                          <a:ea typeface="Calibri"/>
                          <a:cs typeface="Calibri"/>
                          <a:sym typeface="Calibri"/>
                        </a:rPr>
                      </a:br>
                      <a:r>
                        <a:rPr lang="en-US" sz="1150">
                          <a:solidFill>
                            <a:schemeClr val="dk1"/>
                          </a:solidFill>
                          <a:latin typeface="Calibri"/>
                          <a:ea typeface="Calibri"/>
                          <a:cs typeface="Calibri"/>
                          <a:sym typeface="Calibri"/>
                        </a:rPr>
                        <a:t> (sex, </a:t>
                      </a:r>
                      <a:r>
                        <a:rPr b="1" lang="en-US" sz="1150">
                          <a:solidFill>
                            <a:schemeClr val="dk1"/>
                          </a:solidFill>
                          <a:latin typeface="Calibri"/>
                          <a:ea typeface="Calibri"/>
                          <a:cs typeface="Calibri"/>
                          <a:sym typeface="Calibri"/>
                        </a:rPr>
                        <a:t>PClass, </a:t>
                      </a:r>
                      <a:r>
                        <a:rPr lang="en-US" sz="1150">
                          <a:solidFill>
                            <a:schemeClr val="dk1"/>
                          </a:solidFill>
                          <a:latin typeface="Calibri"/>
                          <a:ea typeface="Calibri"/>
                          <a:cs typeface="Calibri"/>
                          <a:sym typeface="Calibri"/>
                        </a:rPr>
                        <a:t>age)</a:t>
                      </a:r>
                      <a:r>
                        <a:rPr lang="en-US" sz="1150">
                          <a:latin typeface="Calibri"/>
                          <a:ea typeface="Calibri"/>
                          <a:cs typeface="Calibri"/>
                          <a:sym typeface="Calibri"/>
                        </a:rPr>
                        <a:t> </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-1.1321 </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E9EEF8"/>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0.3223 </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US" sz="1150">
                          <a:solidFill>
                            <a:schemeClr val="dk1"/>
                          </a:solidFill>
                          <a:latin typeface="Calibri"/>
                          <a:ea typeface="Calibri"/>
                          <a:cs typeface="Calibri"/>
                          <a:sym typeface="Calibri"/>
                        </a:rPr>
                        <a:t>0.0000</a:t>
                      </a:r>
                      <a:endParaRPr sz="1150">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M4 </a:t>
                      </a:r>
                      <a:br>
                        <a:rPr lang="en-US" sz="1150">
                          <a:latin typeface="Calibri"/>
                          <a:ea typeface="Calibri"/>
                          <a:cs typeface="Calibri"/>
                          <a:sym typeface="Calibri"/>
                        </a:rPr>
                      </a:br>
                      <a:r>
                        <a:rPr lang="en-US" sz="1150">
                          <a:latin typeface="Calibri"/>
                          <a:ea typeface="Calibri"/>
                          <a:cs typeface="Calibri"/>
                          <a:sym typeface="Calibri"/>
                        </a:rPr>
                        <a:t>(sex, </a:t>
                      </a:r>
                      <a:r>
                        <a:rPr b="1" lang="en-US" sz="1150">
                          <a:latin typeface="Calibri"/>
                          <a:ea typeface="Calibri"/>
                          <a:cs typeface="Calibri"/>
                          <a:sym typeface="Calibri"/>
                        </a:rPr>
                        <a:t>PClass</a:t>
                      </a:r>
                      <a:r>
                        <a:rPr lang="en-US" sz="1150">
                          <a:latin typeface="Calibri"/>
                          <a:ea typeface="Calibri"/>
                          <a:cs typeface="Calibri"/>
                          <a:sym typeface="Calibri"/>
                        </a:rPr>
                        <a:t>, age, Fare)</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-1.0773 </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E9EEF8"/>
                    </a:solidFill>
                  </a:tcPr>
                </a:tc>
                <a:tc>
                  <a:txBody>
                    <a:bodyPr/>
                    <a:lstStyle/>
                    <a:p>
                      <a:pPr indent="0" lvl="0" marL="0" marR="0" rtl="0" algn="ctr">
                        <a:spcBef>
                          <a:spcPts val="0"/>
                        </a:spcBef>
                        <a:spcAft>
                          <a:spcPts val="0"/>
                        </a:spcAft>
                        <a:buClr>
                          <a:schemeClr val="dk1"/>
                        </a:buClr>
                        <a:buSzPts val="1150"/>
                        <a:buFont typeface="Calibri"/>
                        <a:buNone/>
                      </a:pPr>
                      <a:r>
                        <a:rPr lang="en-US" sz="1150">
                          <a:latin typeface="Calibri"/>
                          <a:ea typeface="Calibri"/>
                          <a:cs typeface="Calibri"/>
                          <a:sym typeface="Calibri"/>
                        </a:rPr>
                        <a:t>0.3405 </a:t>
                      </a:r>
                      <a:endParaRPr sz="1150" u="none" cap="none" strike="noStrike">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rPr lang="en-US" sz="1150">
                          <a:solidFill>
                            <a:schemeClr val="dk1"/>
                          </a:solidFill>
                          <a:latin typeface="Calibri"/>
                          <a:ea typeface="Calibri"/>
                          <a:cs typeface="Calibri"/>
                          <a:sym typeface="Calibri"/>
                        </a:rPr>
                        <a:t>0.5978</a:t>
                      </a:r>
                      <a:endParaRPr sz="1150">
                        <a:latin typeface="Calibri"/>
                        <a:ea typeface="Calibri"/>
                        <a:cs typeface="Calibri"/>
                        <a:sym typeface="Calibri"/>
                      </a:endParaRPr>
                    </a:p>
                  </a:txBody>
                  <a:tcPr marT="64000" marB="64000" marR="64000" marL="64000" anchor="ctr">
                    <a:lnL cap="flat" cmpd="sng" w="12700">
                      <a:solidFill>
                        <a:srgbClr val="D2DBEC"/>
                      </a:solidFill>
                      <a:prstDash val="solid"/>
                      <a:round/>
                      <a:headEnd len="sm" w="sm" type="none"/>
                      <a:tailEnd len="sm" w="sm" type="none"/>
                    </a:lnL>
                    <a:lnR cap="flat" cmpd="sng" w="12700">
                      <a:solidFill>
                        <a:srgbClr val="D2DBEC"/>
                      </a:solidFill>
                      <a:prstDash val="solid"/>
                      <a:round/>
                      <a:headEnd len="sm" w="sm" type="none"/>
                      <a:tailEnd len="sm" w="sm" type="none"/>
                    </a:lnR>
                    <a:lnT cap="flat" cmpd="sng" w="12700">
                      <a:solidFill>
                        <a:srgbClr val="D2DBEC"/>
                      </a:solidFill>
                      <a:prstDash val="solid"/>
                      <a:round/>
                      <a:headEnd len="sm" w="sm" type="none"/>
                      <a:tailEnd len="sm" w="sm" type="none"/>
                    </a:lnT>
                    <a:lnB cap="flat" cmpd="sng" w="12700">
                      <a:solidFill>
                        <a:srgbClr val="D2DBEC"/>
                      </a:solidFill>
                      <a:prstDash val="solid"/>
                      <a:round/>
                      <a:headEnd len="sm" w="sm" type="none"/>
                      <a:tailEnd len="sm" w="sm" type="none"/>
                    </a:lnB>
                    <a:solidFill>
                      <a:srgbClr val="FFFFFF"/>
                    </a:solidFill>
                  </a:tcPr>
                </a:tc>
              </a:tr>
            </a:tbl>
          </a:graphicData>
        </a:graphic>
      </p:graphicFrame>
      <p:sp>
        <p:nvSpPr>
          <p:cNvPr id="120" name="Google Shape;120;p5"/>
          <p:cNvSpPr/>
          <p:nvPr/>
        </p:nvSpPr>
        <p:spPr>
          <a:xfrm>
            <a:off x="548640" y="3977640"/>
            <a:ext cx="5852160" cy="256032"/>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Clr>
                <a:srgbClr val="5B6B87"/>
              </a:buClr>
              <a:buSzPts val="1050"/>
              <a:buFont typeface="Calibri"/>
              <a:buNone/>
            </a:pPr>
            <a:r>
              <a:rPr b="0" i="1" lang="en-US" sz="1050" u="none" cap="none" strike="noStrike">
                <a:solidFill>
                  <a:srgbClr val="5B6B87"/>
                </a:solidFill>
                <a:latin typeface="Calibri"/>
                <a:ea typeface="Calibri"/>
                <a:cs typeface="Calibri"/>
                <a:sym typeface="Calibri"/>
              </a:rPr>
              <a:t>Rellena con la MISMA variable en modelos distintos</a:t>
            </a:r>
            <a:endParaRPr b="0" i="0" sz="1050" u="none" cap="none" strike="noStrike">
              <a:solidFill>
                <a:schemeClr val="dk1"/>
              </a:solidFill>
              <a:latin typeface="Calibri"/>
              <a:ea typeface="Calibri"/>
              <a:cs typeface="Calibri"/>
              <a:sym typeface="Calibri"/>
            </a:endParaRPr>
          </a:p>
        </p:txBody>
      </p:sp>
      <p:sp>
        <p:nvSpPr>
          <p:cNvPr id="121" name="Google Shape;121;p5"/>
          <p:cNvSpPr/>
          <p:nvPr/>
        </p:nvSpPr>
        <p:spPr>
          <a:xfrm>
            <a:off x="6629400" y="1154630"/>
            <a:ext cx="5010900" cy="3051600"/>
          </a:xfrm>
          <a:prstGeom prst="roundRect">
            <a:avLst>
              <a:gd fmla="val 2609"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6876288" y="2386584"/>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7114032" y="1346650"/>
            <a:ext cx="4334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Tu explicación</a:t>
            </a:r>
            <a:endParaRPr b="0" i="0" sz="1500" u="none" cap="none" strike="noStrike">
              <a:solidFill>
                <a:schemeClr val="dk1"/>
              </a:solidFill>
              <a:latin typeface="Calibri"/>
              <a:ea typeface="Calibri"/>
              <a:cs typeface="Calibri"/>
              <a:sym typeface="Calibri"/>
            </a:endParaRPr>
          </a:p>
        </p:txBody>
      </p:sp>
      <p:sp>
        <p:nvSpPr>
          <p:cNvPr id="124" name="Google Shape;124;p5"/>
          <p:cNvSpPr/>
          <p:nvPr/>
        </p:nvSpPr>
        <p:spPr>
          <a:xfrm>
            <a:off x="6876300" y="1639072"/>
            <a:ext cx="4572000" cy="2430000"/>
          </a:xfrm>
          <a:prstGeom prst="roundRect">
            <a:avLst>
              <a:gd fmla="val 3871" name="adj"/>
            </a:avLst>
          </a:prstGeom>
          <a:solidFill>
            <a:srgbClr val="0E2E5E"/>
          </a:solidFill>
          <a:ln cap="flat" cmpd="sng" w="15875">
            <a:solidFill>
              <a:srgbClr val="2E5AA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7059175" y="1639150"/>
            <a:ext cx="4206300" cy="243000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i="1" lang="en-US" sz="1100" u="sng" cap="none" strike="noStrike">
                <a:solidFill>
                  <a:schemeClr val="lt1"/>
                </a:solidFill>
              </a:rPr>
              <a:t>¿Por qué cambia ese coeficiente?</a:t>
            </a:r>
            <a:endParaRPr i="1" sz="1100" u="sng" cap="none" strike="noStrike">
              <a:solidFill>
                <a:schemeClr val="lt1"/>
              </a:solidFill>
            </a:endParaRPr>
          </a:p>
          <a:p>
            <a:pPr indent="0" lvl="0" marL="0" marR="0" rtl="0" algn="l">
              <a:lnSpc>
                <a:spcPct val="114000"/>
              </a:lnSpc>
              <a:spcBef>
                <a:spcPts val="0"/>
              </a:spcBef>
              <a:spcAft>
                <a:spcPts val="0"/>
              </a:spcAft>
              <a:buClr>
                <a:srgbClr val="8FA6D4"/>
              </a:buClr>
              <a:buSzPts val="1100"/>
              <a:buFont typeface="Calibri"/>
              <a:buNone/>
            </a:pPr>
            <a:r>
              <a:rPr lang="en-US" sz="1100">
                <a:solidFill>
                  <a:schemeClr val="lt1"/>
                </a:solidFill>
              </a:rPr>
              <a:t>Cambia porque al agregar nuevas variables, el modelo </a:t>
            </a:r>
            <a:r>
              <a:rPr b="1" lang="en-US" sz="1100">
                <a:solidFill>
                  <a:schemeClr val="lt1"/>
                </a:solidFill>
              </a:rPr>
              <a:t>reparte mejor la explicación</a:t>
            </a:r>
            <a:r>
              <a:rPr lang="en-US" sz="1100">
                <a:solidFill>
                  <a:schemeClr val="lt1"/>
                </a:solidFill>
              </a:rPr>
              <a:t> de la supervivencia. </a:t>
            </a:r>
            <a:endParaRPr i="1" sz="1100">
              <a:solidFill>
                <a:schemeClr val="lt1"/>
              </a:solidFill>
              <a:latin typeface="Calibri"/>
              <a:ea typeface="Calibri"/>
              <a:cs typeface="Calibri"/>
              <a:sym typeface="Calibri"/>
            </a:endParaRPr>
          </a:p>
          <a:p>
            <a:pPr indent="0" lvl="0" marL="0" marR="0" rtl="0" algn="l">
              <a:lnSpc>
                <a:spcPct val="11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u="sng" cap="none" strike="noStrike">
                <a:solidFill>
                  <a:schemeClr val="lt1"/>
                </a:solidFill>
              </a:rPr>
              <a:t>¿Qué relación hay entre las dos</a:t>
            </a:r>
            <a:r>
              <a:rPr lang="en-US" sz="1100" u="sng">
                <a:solidFill>
                  <a:schemeClr val="lt1"/>
                </a:solidFill>
              </a:rPr>
              <a:t> </a:t>
            </a:r>
            <a:r>
              <a:rPr i="1" lang="en-US" sz="1100" u="sng" cap="none" strike="noStrike">
                <a:solidFill>
                  <a:schemeClr val="lt1"/>
                </a:solidFill>
              </a:rPr>
              <a:t>variables que lo explica?</a:t>
            </a:r>
            <a:endParaRPr i="1" sz="1100" u="sng" cap="none" strike="noStrike">
              <a:solidFill>
                <a:schemeClr val="lt1"/>
              </a:solidFill>
            </a:endParaRPr>
          </a:p>
          <a:p>
            <a:pPr indent="0" lvl="0" marL="0" marR="0" rtl="0" algn="l">
              <a:lnSpc>
                <a:spcPct val="114000"/>
              </a:lnSpc>
              <a:spcBef>
                <a:spcPts val="0"/>
              </a:spcBef>
              <a:spcAft>
                <a:spcPts val="0"/>
              </a:spcAft>
              <a:buClr>
                <a:srgbClr val="8FA6D4"/>
              </a:buClr>
              <a:buSzPts val="1100"/>
              <a:buFont typeface="Calibri"/>
              <a:buNone/>
            </a:pPr>
            <a:r>
              <a:rPr lang="en-US" sz="1100">
                <a:solidFill>
                  <a:schemeClr val="lt1"/>
                </a:solidFill>
                <a:latin typeface="Roboto Mono"/>
                <a:ea typeface="Roboto Mono"/>
                <a:cs typeface="Roboto Mono"/>
                <a:sym typeface="Roboto Mono"/>
              </a:rPr>
              <a:t>Pclass</a:t>
            </a:r>
            <a:r>
              <a:rPr lang="en-US" sz="1100">
                <a:solidFill>
                  <a:schemeClr val="lt1"/>
                </a:solidFill>
              </a:rPr>
              <a:t> y </a:t>
            </a:r>
            <a:r>
              <a:rPr lang="en-US" sz="1100">
                <a:solidFill>
                  <a:schemeClr val="lt1"/>
                </a:solidFill>
                <a:latin typeface="Roboto Mono"/>
                <a:ea typeface="Roboto Mono"/>
                <a:cs typeface="Roboto Mono"/>
                <a:sym typeface="Roboto Mono"/>
              </a:rPr>
              <a:t>Fare</a:t>
            </a:r>
            <a:r>
              <a:rPr lang="en-US" sz="1100">
                <a:solidFill>
                  <a:schemeClr val="lt1"/>
                </a:solidFill>
              </a:rPr>
              <a:t> están relacionadas porque la clase del boleto depende en parte del precio pagado. Los pasajeros de primera clase suelen pagar más, mientras que los de tercera clase suelen pagar menos. Por eso, cuando </a:t>
            </a:r>
            <a:r>
              <a:rPr lang="en-US" sz="1100">
                <a:solidFill>
                  <a:schemeClr val="lt1"/>
                </a:solidFill>
                <a:latin typeface="Roboto Mono"/>
                <a:ea typeface="Roboto Mono"/>
                <a:cs typeface="Roboto Mono"/>
                <a:sym typeface="Roboto Mono"/>
              </a:rPr>
              <a:t>Fare</a:t>
            </a:r>
            <a:r>
              <a:rPr lang="en-US" sz="1100">
                <a:solidFill>
                  <a:schemeClr val="lt1"/>
                </a:solidFill>
              </a:rPr>
              <a:t> entra al modelo, el efecto de </a:t>
            </a:r>
            <a:r>
              <a:rPr lang="en-US" sz="1100">
                <a:solidFill>
                  <a:schemeClr val="lt1"/>
                </a:solidFill>
                <a:latin typeface="Roboto Mono"/>
                <a:ea typeface="Roboto Mono"/>
                <a:cs typeface="Roboto Mono"/>
                <a:sym typeface="Roboto Mono"/>
              </a:rPr>
              <a:t>Pclass</a:t>
            </a:r>
            <a:r>
              <a:rPr lang="en-US" sz="1100">
                <a:solidFill>
                  <a:schemeClr val="lt1"/>
                </a:solidFill>
              </a:rPr>
              <a:t> se ajusta. </a:t>
            </a:r>
            <a:endParaRPr i="1" sz="1100">
              <a:solidFill>
                <a:schemeClr val="lt1"/>
              </a:solidFill>
              <a:latin typeface="Calibri"/>
              <a:ea typeface="Calibri"/>
              <a:cs typeface="Calibri"/>
              <a:sym typeface="Calibri"/>
            </a:endParaRPr>
          </a:p>
        </p:txBody>
      </p:sp>
      <p:sp>
        <p:nvSpPr>
          <p:cNvPr id="126" name="Google Shape;126;p5"/>
          <p:cNvSpPr/>
          <p:nvPr/>
        </p:nvSpPr>
        <p:spPr>
          <a:xfrm>
            <a:off x="548640" y="4389120"/>
            <a:ext cx="11091672" cy="960120"/>
          </a:xfrm>
          <a:prstGeom prst="roundRect">
            <a:avLst>
              <a:gd fmla="val 5714"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822960" y="4389120"/>
            <a:ext cx="10607040" cy="960120"/>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Esta slide vale 20 de los 100 puntos. Si la explicas bien, el proyecto está aprobado con holgura.</a:t>
            </a:r>
            <a:endParaRPr b="0" i="0" sz="1400" u="none" cap="none" strike="noStrike">
              <a:solidFill>
                <a:schemeClr val="dk1"/>
              </a:solidFill>
              <a:latin typeface="Calibri"/>
              <a:ea typeface="Calibri"/>
              <a:cs typeface="Calibri"/>
              <a:sym typeface="Calibri"/>
            </a:endParaRPr>
          </a:p>
        </p:txBody>
      </p:sp>
      <p:sp>
        <p:nvSpPr>
          <p:cNvPr id="128" name="Google Shape;128;p5"/>
          <p:cNvSpPr/>
          <p:nvPr/>
        </p:nvSpPr>
        <p:spPr>
          <a:xfrm>
            <a:off x="548640" y="5486400"/>
            <a:ext cx="11091672" cy="777240"/>
          </a:xfrm>
          <a:prstGeom prst="roundRect">
            <a:avLst>
              <a:gd fmla="val 7059"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822960" y="5486400"/>
            <a:ext cx="10607040" cy="77724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2C3A55"/>
              </a:buClr>
              <a:buSzPts val="1150"/>
              <a:buFont typeface="Calibri"/>
              <a:buNone/>
            </a:pPr>
            <a:r>
              <a:rPr b="0" i="0" lang="en-US" sz="1150" u="none" cap="none" strike="noStrike">
                <a:solidFill>
                  <a:srgbClr val="2C3A55"/>
                </a:solidFill>
                <a:latin typeface="Calibri"/>
                <a:ea typeface="Calibri"/>
                <a:cs typeface="Calibri"/>
                <a:sym typeface="Calibri"/>
              </a:rPr>
              <a:t>Pista si te atascas: compara el coeficiente de una variable que parecía no importar cuando estaba sola. Y piensa qué tienen en común esa variable y la que agregaste.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134" name="Shape 134"/>
        <p:cNvGrpSpPr/>
        <p:nvPr/>
      </p:nvGrpSpPr>
      <p:grpSpPr>
        <a:xfrm>
          <a:off x="0" y="0"/>
          <a:ext cx="0" cy="0"/>
          <a:chOff x="0" y="0"/>
          <a:chExt cx="0" cy="0"/>
        </a:xfrm>
      </p:grpSpPr>
      <p:sp>
        <p:nvSpPr>
          <p:cNvPr id="135" name="Google Shape;135;p6"/>
          <p:cNvSpPr/>
          <p:nvPr/>
        </p:nvSpPr>
        <p:spPr>
          <a:xfrm>
            <a:off x="548640" y="365760"/>
            <a:ext cx="2651760" cy="347472"/>
          </a:xfrm>
          <a:prstGeom prst="roundRect">
            <a:avLst>
              <a:gd fmla="val 50000" name="adj"/>
            </a:avLst>
          </a:prstGeom>
          <a:solidFill>
            <a:srgbClr val="1A56E8"/>
          </a:solidFill>
          <a:ln cap="flat" cmpd="sng" w="12700">
            <a:solidFill>
              <a:srgbClr val="1A5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548640" y="36576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SLIDE 5 DE 5</a:t>
            </a:r>
            <a:endParaRPr b="0" i="0" sz="1150" u="none" cap="none" strike="noStrike">
              <a:solidFill>
                <a:schemeClr val="dk1"/>
              </a:solidFill>
              <a:latin typeface="Calibri"/>
              <a:ea typeface="Calibri"/>
              <a:cs typeface="Calibri"/>
              <a:sym typeface="Calibri"/>
            </a:endParaRPr>
          </a:p>
        </p:txBody>
      </p:sp>
      <p:sp>
        <p:nvSpPr>
          <p:cNvPr id="137" name="Google Shape;137;p6"/>
          <p:cNvSpPr/>
          <p:nvPr/>
        </p:nvSpPr>
        <p:spPr>
          <a:xfrm>
            <a:off x="548640" y="786384"/>
            <a:ext cx="11064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3200"/>
              <a:buFont typeface="Calibri"/>
              <a:buNone/>
            </a:pPr>
            <a:r>
              <a:rPr b="1" i="0" lang="en-US" sz="3200" u="none" cap="none" strike="noStrike">
                <a:solidFill>
                  <a:srgbClr val="0A2559"/>
                </a:solidFill>
                <a:latin typeface="Calibri"/>
                <a:ea typeface="Calibri"/>
                <a:cs typeface="Calibri"/>
                <a:sym typeface="Calibri"/>
              </a:rPr>
              <a:t>La decisión y sus límites</a:t>
            </a:r>
            <a:endParaRPr b="0" i="0" sz="3200" u="none" cap="none" strike="noStrike">
              <a:solidFill>
                <a:schemeClr val="dk1"/>
              </a:solidFill>
              <a:latin typeface="Calibri"/>
              <a:ea typeface="Calibri"/>
              <a:cs typeface="Calibri"/>
              <a:sym typeface="Calibri"/>
            </a:endParaRPr>
          </a:p>
        </p:txBody>
      </p:sp>
      <p:sp>
        <p:nvSpPr>
          <p:cNvPr id="138" name="Google Shape;138;p6"/>
          <p:cNvSpPr/>
          <p:nvPr/>
        </p:nvSpPr>
        <p:spPr>
          <a:xfrm>
            <a:off x="548640" y="1481328"/>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7"/>
              </a:buClr>
              <a:buSzPts val="1400"/>
              <a:buFont typeface="Calibri"/>
              <a:buNone/>
            </a:pPr>
            <a:r>
              <a:rPr b="0" i="1" lang="en-US" sz="1400" u="none" cap="none" strike="noStrike">
                <a:solidFill>
                  <a:srgbClr val="5B6B87"/>
                </a:solidFill>
                <a:latin typeface="Calibri"/>
                <a:ea typeface="Calibri"/>
                <a:cs typeface="Calibri"/>
                <a:sym typeface="Calibri"/>
              </a:rPr>
              <a:t>El umbral que elegiste, por qué, y qué no permite concluir tu análisis.</a:t>
            </a:r>
            <a:endParaRPr b="0" i="0" sz="1400" u="none" cap="none" strike="noStrike">
              <a:solidFill>
                <a:schemeClr val="dk1"/>
              </a:solidFill>
              <a:latin typeface="Calibri"/>
              <a:ea typeface="Calibri"/>
              <a:cs typeface="Calibri"/>
              <a:sym typeface="Calibri"/>
            </a:endParaRPr>
          </a:p>
        </p:txBody>
      </p:sp>
      <p:sp>
        <p:nvSpPr>
          <p:cNvPr id="139" name="Google Shape;139;p6"/>
          <p:cNvSpPr/>
          <p:nvPr/>
        </p:nvSpPr>
        <p:spPr>
          <a:xfrm>
            <a:off x="548640" y="2057400"/>
            <a:ext cx="5468112" cy="2103120"/>
          </a:xfrm>
          <a:prstGeom prst="roundRect">
            <a:avLst>
              <a:gd fmla="val 2609"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804672" y="2340864"/>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1042416" y="2240280"/>
            <a:ext cx="479145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El umbral elegido</a:t>
            </a:r>
            <a:endParaRPr b="0" i="0" sz="1500" u="none" cap="none" strike="noStrike">
              <a:solidFill>
                <a:schemeClr val="dk1"/>
              </a:solidFill>
              <a:latin typeface="Calibri"/>
              <a:ea typeface="Calibri"/>
              <a:cs typeface="Calibri"/>
              <a:sym typeface="Calibri"/>
            </a:endParaRPr>
          </a:p>
        </p:txBody>
      </p:sp>
      <p:sp>
        <p:nvSpPr>
          <p:cNvPr id="142" name="Google Shape;142;p6"/>
          <p:cNvSpPr/>
          <p:nvPr/>
        </p:nvSpPr>
        <p:spPr>
          <a:xfrm>
            <a:off x="804672" y="2606040"/>
            <a:ext cx="4983480" cy="548640"/>
          </a:xfrm>
          <a:prstGeom prst="roundRect">
            <a:avLst>
              <a:gd fmla="val 10000" name="adj"/>
            </a:avLst>
          </a:prstGeom>
          <a:solidFill>
            <a:srgbClr val="0E2E5E"/>
          </a:solidFill>
          <a:ln cap="flat" cmpd="sng" w="15875">
            <a:solidFill>
              <a:srgbClr val="2E5AA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987552" y="2606040"/>
            <a:ext cx="4617720" cy="548640"/>
          </a:xfrm>
          <a:prstGeom prst="rect">
            <a:avLst/>
          </a:prstGeom>
          <a:noFill/>
          <a:ln>
            <a:noFill/>
          </a:ln>
        </p:spPr>
        <p:txBody>
          <a:bodyPr anchorCtr="0" anchor="ctr" bIns="0" lIns="0" spcFirstLastPara="1" rIns="0" wrap="square" tIns="0">
            <a:noAutofit/>
          </a:bodyPr>
          <a:lstStyle/>
          <a:p>
            <a:pPr indent="0" lvl="0" marL="0" marR="0" rtl="0" algn="ctr">
              <a:lnSpc>
                <a:spcPct val="114000"/>
              </a:lnSpc>
              <a:spcBef>
                <a:spcPts val="0"/>
              </a:spcBef>
              <a:spcAft>
                <a:spcPts val="0"/>
              </a:spcAft>
              <a:buClr>
                <a:srgbClr val="8FA6D4"/>
              </a:buClr>
              <a:buSzPts val="1500"/>
              <a:buFont typeface="Calibri"/>
              <a:buNone/>
            </a:pPr>
            <a:r>
              <a:rPr lang="en-US" sz="1500">
                <a:solidFill>
                  <a:schemeClr val="lt1"/>
                </a:solidFill>
                <a:latin typeface="Calibri"/>
                <a:ea typeface="Calibri"/>
                <a:cs typeface="Calibri"/>
                <a:sym typeface="Calibri"/>
              </a:rPr>
              <a:t>Umbral elegido: 0.6 </a:t>
            </a:r>
            <a:endParaRPr b="0" i="0" sz="1500" u="none" cap="none" strike="noStrike">
              <a:solidFill>
                <a:schemeClr val="lt1"/>
              </a:solidFill>
              <a:latin typeface="Calibri"/>
              <a:ea typeface="Calibri"/>
              <a:cs typeface="Calibri"/>
              <a:sym typeface="Calibri"/>
            </a:endParaRPr>
          </a:p>
        </p:txBody>
      </p:sp>
      <p:sp>
        <p:nvSpPr>
          <p:cNvPr id="144" name="Google Shape;144;p6"/>
          <p:cNvSpPr/>
          <p:nvPr/>
        </p:nvSpPr>
        <p:spPr>
          <a:xfrm>
            <a:off x="804672" y="3246120"/>
            <a:ext cx="4983480" cy="777240"/>
          </a:xfrm>
          <a:prstGeom prst="roundRect">
            <a:avLst>
              <a:gd fmla="val 7059" name="adj"/>
            </a:avLst>
          </a:prstGeom>
          <a:solidFill>
            <a:srgbClr val="0E2E5E"/>
          </a:solidFill>
          <a:ln cap="flat" cmpd="sng" w="15875">
            <a:solidFill>
              <a:srgbClr val="2E5AA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987552" y="3246120"/>
            <a:ext cx="4617720" cy="7772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i="1" lang="en-US" sz="1100">
                <a:solidFill>
                  <a:schemeClr val="lt1"/>
                </a:solidFill>
                <a:latin typeface="Calibri"/>
                <a:ea typeface="Calibri"/>
                <a:cs typeface="Calibri"/>
                <a:sym typeface="Calibri"/>
              </a:rPr>
              <a:t>Con umbral 0.6, la exactitud es alta: 0.7873, igual que con 0.4, pero tiene menos falsos positivos: FP = 13. Esto es mejor para la aseguradora porque reduce el riesgo de pensar que alguien sobrevivió cuando en realidad falleció.</a:t>
            </a:r>
            <a:endParaRPr b="0" i="0" sz="1100" u="none" cap="none" strike="noStrike">
              <a:solidFill>
                <a:schemeClr val="lt1"/>
              </a:solidFill>
              <a:latin typeface="Calibri"/>
              <a:ea typeface="Calibri"/>
              <a:cs typeface="Calibri"/>
              <a:sym typeface="Calibri"/>
            </a:endParaRPr>
          </a:p>
        </p:txBody>
      </p:sp>
      <p:sp>
        <p:nvSpPr>
          <p:cNvPr id="146" name="Google Shape;146;p6"/>
          <p:cNvSpPr/>
          <p:nvPr/>
        </p:nvSpPr>
        <p:spPr>
          <a:xfrm>
            <a:off x="6172200" y="2057400"/>
            <a:ext cx="5468112" cy="2103120"/>
          </a:xfrm>
          <a:prstGeom prst="roundRect">
            <a:avLst>
              <a:gd fmla="val 2609"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6419088" y="2340864"/>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6656832" y="2240280"/>
            <a:ext cx="479145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500"/>
              <a:buFont typeface="Calibri"/>
              <a:buNone/>
            </a:pPr>
            <a:r>
              <a:rPr b="1" i="0" lang="en-US" sz="1500" u="none" cap="none" strike="noStrike">
                <a:solidFill>
                  <a:srgbClr val="0A2559"/>
                </a:solidFill>
                <a:latin typeface="Calibri"/>
                <a:ea typeface="Calibri"/>
                <a:cs typeface="Calibri"/>
                <a:sym typeface="Calibri"/>
              </a:rPr>
              <a:t>Qué pasa con ese umbral</a:t>
            </a:r>
            <a:endParaRPr b="0" i="0" sz="1500" u="none" cap="none" strike="noStrike">
              <a:solidFill>
                <a:schemeClr val="dk1"/>
              </a:solidFill>
              <a:latin typeface="Calibri"/>
              <a:ea typeface="Calibri"/>
              <a:cs typeface="Calibri"/>
              <a:sym typeface="Calibri"/>
            </a:endParaRPr>
          </a:p>
        </p:txBody>
      </p:sp>
      <p:sp>
        <p:nvSpPr>
          <p:cNvPr id="149" name="Google Shape;149;p6"/>
          <p:cNvSpPr/>
          <p:nvPr/>
        </p:nvSpPr>
        <p:spPr>
          <a:xfrm>
            <a:off x="6419088" y="2606040"/>
            <a:ext cx="4983480" cy="1417320"/>
          </a:xfrm>
          <a:prstGeom prst="roundRect">
            <a:avLst>
              <a:gd fmla="val 3871"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6601968" y="2606040"/>
            <a:ext cx="4617720" cy="141732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i="1" lang="en-US" sz="1100">
                <a:solidFill>
                  <a:schemeClr val="dk1"/>
                </a:solidFill>
                <a:latin typeface="Calibri"/>
                <a:ea typeface="Calibri"/>
                <a:cs typeface="Calibri"/>
                <a:sym typeface="Calibri"/>
              </a:rPr>
              <a:t>Falsos Positivos (FP) = 13</a:t>
            </a:r>
            <a:endParaRPr i="1" sz="1100">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a:solidFill>
                  <a:schemeClr val="dk1"/>
                </a:solidFill>
                <a:latin typeface="Calibri"/>
                <a:ea typeface="Calibri"/>
                <a:cs typeface="Calibri"/>
                <a:sym typeface="Calibri"/>
              </a:rPr>
              <a:t>Falsos negativos (FN) = 44</a:t>
            </a:r>
            <a:endParaRPr i="1" sz="1100">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t/>
            </a:r>
            <a:endParaRPr i="1" sz="1100">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a:solidFill>
                  <a:schemeClr val="dk1"/>
                </a:solidFill>
                <a:latin typeface="Calibri"/>
                <a:ea typeface="Calibri"/>
                <a:cs typeface="Calibri"/>
                <a:sym typeface="Calibri"/>
              </a:rPr>
              <a:t>Exactitud</a:t>
            </a:r>
            <a:r>
              <a:rPr i="1" lang="en-US" sz="1100">
                <a:solidFill>
                  <a:schemeClr val="dk1"/>
                </a:solidFill>
                <a:latin typeface="Calibri"/>
                <a:ea typeface="Calibri"/>
                <a:cs typeface="Calibri"/>
                <a:sym typeface="Calibri"/>
              </a:rPr>
              <a:t>: 0.7873</a:t>
            </a:r>
            <a:endParaRPr i="1" sz="1100">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a:solidFill>
                  <a:schemeClr val="dk1"/>
                </a:solidFill>
                <a:latin typeface="Calibri"/>
                <a:ea typeface="Calibri"/>
                <a:cs typeface="Calibri"/>
                <a:sym typeface="Calibri"/>
              </a:rPr>
              <a:t>Precision = 0.8194</a:t>
            </a:r>
            <a:endParaRPr i="1" sz="1100">
              <a:solidFill>
                <a:schemeClr val="dk1"/>
              </a:solidFill>
              <a:latin typeface="Calibri"/>
              <a:ea typeface="Calibri"/>
              <a:cs typeface="Calibri"/>
              <a:sym typeface="Calibri"/>
            </a:endParaRPr>
          </a:p>
          <a:p>
            <a:pPr indent="0" lvl="0" marL="0" marR="0" rtl="0" algn="l">
              <a:lnSpc>
                <a:spcPct val="114000"/>
              </a:lnSpc>
              <a:spcBef>
                <a:spcPts val="0"/>
              </a:spcBef>
              <a:spcAft>
                <a:spcPts val="0"/>
              </a:spcAft>
              <a:buClr>
                <a:srgbClr val="8FA6D4"/>
              </a:buClr>
              <a:buSzPts val="1100"/>
              <a:buFont typeface="Calibri"/>
              <a:buNone/>
            </a:pPr>
            <a:r>
              <a:rPr i="1" lang="en-US" sz="1100">
                <a:solidFill>
                  <a:schemeClr val="dk1"/>
                </a:solidFill>
                <a:latin typeface="Calibri"/>
                <a:ea typeface="Calibri"/>
                <a:cs typeface="Calibri"/>
                <a:sym typeface="Calibri"/>
              </a:rPr>
              <a:t>Recall = 0.5728</a:t>
            </a:r>
            <a:endParaRPr i="1" sz="1100">
              <a:solidFill>
                <a:schemeClr val="dk1"/>
              </a:solidFill>
              <a:latin typeface="Calibri"/>
              <a:ea typeface="Calibri"/>
              <a:cs typeface="Calibri"/>
              <a:sym typeface="Calibri"/>
            </a:endParaRPr>
          </a:p>
        </p:txBody>
      </p:sp>
      <p:sp>
        <p:nvSpPr>
          <p:cNvPr id="151" name="Google Shape;151;p6"/>
          <p:cNvSpPr/>
          <p:nvPr/>
        </p:nvSpPr>
        <p:spPr>
          <a:xfrm>
            <a:off x="548640" y="4343400"/>
            <a:ext cx="11091672" cy="1874520"/>
          </a:xfrm>
          <a:prstGeom prst="roundRect">
            <a:avLst>
              <a:gd fmla="val 2927" name="adj"/>
            </a:avLst>
          </a:prstGeom>
          <a:solidFill>
            <a:srgbClr val="E9EEF8"/>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804672" y="4608576"/>
            <a:ext cx="118872" cy="118872"/>
          </a:xfrm>
          <a:prstGeom prst="roundRect">
            <a:avLst>
              <a:gd fmla="val 30769"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1042416" y="4507992"/>
            <a:ext cx="707745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500"/>
              <a:buFont typeface="Calibri"/>
              <a:buNone/>
            </a:pPr>
            <a:r>
              <a:rPr b="1" i="0" lang="en-US" sz="1500" u="none" cap="none" strike="noStrike">
                <a:solidFill>
                  <a:srgbClr val="0A2559"/>
                </a:solidFill>
                <a:latin typeface="Calibri"/>
                <a:ea typeface="Calibri"/>
                <a:cs typeface="Calibri"/>
                <a:sym typeface="Calibri"/>
              </a:rPr>
              <a:t>Tres cosas que este análisis NO permite concluir</a:t>
            </a:r>
            <a:endParaRPr b="0" i="0" sz="1500" u="none" cap="none" strike="noStrike">
              <a:solidFill>
                <a:schemeClr val="dk1"/>
              </a:solidFill>
              <a:latin typeface="Calibri"/>
              <a:ea typeface="Calibri"/>
              <a:cs typeface="Calibri"/>
              <a:sym typeface="Calibri"/>
            </a:endParaRPr>
          </a:p>
        </p:txBody>
      </p:sp>
      <p:sp>
        <p:nvSpPr>
          <p:cNvPr id="154" name="Google Shape;154;p6"/>
          <p:cNvSpPr/>
          <p:nvPr/>
        </p:nvSpPr>
        <p:spPr>
          <a:xfrm>
            <a:off x="804672" y="4892040"/>
            <a:ext cx="3383280" cy="1097280"/>
          </a:xfrm>
          <a:prstGeom prst="roundRect">
            <a:avLst>
              <a:gd fmla="val 5000"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987552" y="4892040"/>
            <a:ext cx="3017520" cy="10972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lang="en-US" sz="1200">
                <a:solidFill>
                  <a:srgbClr val="1F1F1F"/>
                </a:solidFill>
                <a:highlight>
                  <a:srgbClr val="FFFFFF"/>
                </a:highlight>
                <a:latin typeface="Calibri"/>
                <a:ea typeface="Calibri"/>
                <a:cs typeface="Calibri"/>
                <a:sym typeface="Calibri"/>
              </a:rPr>
              <a:t> La variable “age” tenía valores faltantes y fueron reemplazados por la mediana.</a:t>
            </a:r>
            <a:r>
              <a:rPr lang="en-US" sz="1100">
                <a:solidFill>
                  <a:schemeClr val="dk1"/>
                </a:solidFill>
                <a:latin typeface="Calibri"/>
                <a:ea typeface="Calibri"/>
                <a:cs typeface="Calibri"/>
                <a:sym typeface="Calibri"/>
              </a:rPr>
              <a:t> </a:t>
            </a:r>
            <a:endParaRPr i="0" sz="1100" u="none" cap="none" strike="noStrike">
              <a:solidFill>
                <a:schemeClr val="dk1"/>
              </a:solidFill>
              <a:latin typeface="Calibri"/>
              <a:ea typeface="Calibri"/>
              <a:cs typeface="Calibri"/>
              <a:sym typeface="Calibri"/>
            </a:endParaRPr>
          </a:p>
        </p:txBody>
      </p:sp>
      <p:sp>
        <p:nvSpPr>
          <p:cNvPr id="156" name="Google Shape;156;p6"/>
          <p:cNvSpPr/>
          <p:nvPr/>
        </p:nvSpPr>
        <p:spPr>
          <a:xfrm>
            <a:off x="4370832" y="4892040"/>
            <a:ext cx="3383280" cy="1097280"/>
          </a:xfrm>
          <a:prstGeom prst="roundRect">
            <a:avLst>
              <a:gd fmla="val 5000"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4553712" y="4892040"/>
            <a:ext cx="3017520" cy="10972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lang="en-US" sz="1200">
                <a:solidFill>
                  <a:srgbClr val="1F1F1F"/>
                </a:solidFill>
                <a:highlight>
                  <a:srgbClr val="FFFFFF"/>
                </a:highlight>
                <a:latin typeface="Calibri"/>
                <a:ea typeface="Calibri"/>
                <a:cs typeface="Calibri"/>
                <a:sym typeface="Calibri"/>
              </a:rPr>
              <a:t>El modelo muestra relaciones entre variables y supervivencia, pero no demuestra causalidad</a:t>
            </a:r>
            <a:r>
              <a:rPr lang="en-US" sz="1100">
                <a:solidFill>
                  <a:schemeClr val="dk1"/>
                </a:solidFill>
                <a:latin typeface="Calibri"/>
                <a:ea typeface="Calibri"/>
                <a:cs typeface="Calibri"/>
                <a:sym typeface="Calibri"/>
              </a:rPr>
              <a:t> </a:t>
            </a:r>
            <a:endParaRPr i="0" sz="1100" u="none" cap="none" strike="noStrike">
              <a:solidFill>
                <a:schemeClr val="dk1"/>
              </a:solidFill>
              <a:latin typeface="Calibri"/>
              <a:ea typeface="Calibri"/>
              <a:cs typeface="Calibri"/>
              <a:sym typeface="Calibri"/>
            </a:endParaRPr>
          </a:p>
        </p:txBody>
      </p:sp>
      <p:sp>
        <p:nvSpPr>
          <p:cNvPr id="158" name="Google Shape;158;p6"/>
          <p:cNvSpPr/>
          <p:nvPr/>
        </p:nvSpPr>
        <p:spPr>
          <a:xfrm>
            <a:off x="7936992" y="4892040"/>
            <a:ext cx="3383280" cy="1097280"/>
          </a:xfrm>
          <a:prstGeom prst="roundRect">
            <a:avLst>
              <a:gd fmla="val 5000" name="adj"/>
            </a:avLst>
          </a:prstGeom>
          <a:solidFill>
            <a:srgbClr val="FBFCFE"/>
          </a:solidFill>
          <a:ln cap="flat" cmpd="sng" w="15875">
            <a:solidFill>
              <a:srgbClr val="C9D8F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8119872" y="4892040"/>
            <a:ext cx="3017520" cy="10972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8FA6D4"/>
              </a:buClr>
              <a:buSzPts val="1100"/>
              <a:buFont typeface="Calibri"/>
              <a:buNone/>
            </a:pPr>
            <a:r>
              <a:rPr lang="en-US" sz="1200">
                <a:solidFill>
                  <a:srgbClr val="1F1F1F"/>
                </a:solidFill>
                <a:highlight>
                  <a:srgbClr val="FFFFFF"/>
                </a:highlight>
                <a:latin typeface="Calibri"/>
                <a:ea typeface="Calibri"/>
                <a:cs typeface="Calibri"/>
                <a:sym typeface="Calibri"/>
              </a:rPr>
              <a:t>El modelo fue entrenado con datos del Titanic, por lo que no necesariamente </a:t>
            </a:r>
            <a:r>
              <a:rPr lang="en-US" sz="1200">
                <a:solidFill>
                  <a:srgbClr val="1F1F1F"/>
                </a:solidFill>
                <a:highlight>
                  <a:srgbClr val="FFFFFF"/>
                </a:highlight>
                <a:latin typeface="Calibri"/>
                <a:ea typeface="Calibri"/>
                <a:cs typeface="Calibri"/>
                <a:sym typeface="Calibri"/>
              </a:rPr>
              <a:t>funcionará</a:t>
            </a:r>
            <a:r>
              <a:rPr lang="en-US" sz="1200">
                <a:solidFill>
                  <a:srgbClr val="1F1F1F"/>
                </a:solidFill>
                <a:highlight>
                  <a:srgbClr val="FFFFFF"/>
                </a:highlight>
                <a:latin typeface="Calibri"/>
                <a:ea typeface="Calibri"/>
                <a:cs typeface="Calibri"/>
                <a:sym typeface="Calibri"/>
              </a:rPr>
              <a:t> igual en otro barco o en otro contexto</a:t>
            </a:r>
            <a:r>
              <a:rPr lang="en-US" sz="1100">
                <a:solidFill>
                  <a:schemeClr val="dk1"/>
                </a:solidFill>
                <a:latin typeface="Calibri"/>
                <a:ea typeface="Calibri"/>
                <a:cs typeface="Calibri"/>
                <a:sym typeface="Calibri"/>
              </a:rPr>
              <a:t> </a:t>
            </a:r>
            <a:endParaRPr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B"/>
        </a:solidFill>
      </p:bgPr>
    </p:bg>
    <p:spTree>
      <p:nvGrpSpPr>
        <p:cNvPr id="164" name="Shape 164"/>
        <p:cNvGrpSpPr/>
        <p:nvPr/>
      </p:nvGrpSpPr>
      <p:grpSpPr>
        <a:xfrm>
          <a:off x="0" y="0"/>
          <a:ext cx="0" cy="0"/>
          <a:chOff x="0" y="0"/>
          <a:chExt cx="0" cy="0"/>
        </a:xfrm>
      </p:grpSpPr>
      <p:sp>
        <p:nvSpPr>
          <p:cNvPr id="165" name="Google Shape;165;p7"/>
          <p:cNvSpPr/>
          <p:nvPr/>
        </p:nvSpPr>
        <p:spPr>
          <a:xfrm>
            <a:off x="548640" y="365760"/>
            <a:ext cx="4754880" cy="347472"/>
          </a:xfrm>
          <a:prstGeom prst="roundRect">
            <a:avLst>
              <a:gd fmla="val 50000" name="adj"/>
            </a:avLst>
          </a:prstGeom>
          <a:solidFill>
            <a:srgbClr val="E6115E"/>
          </a:solidFill>
          <a:ln cap="flat" cmpd="sng" w="12700">
            <a:solidFill>
              <a:srgbClr val="E611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548640" y="365760"/>
            <a:ext cx="47548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BORRA ESTA SLIDE ANTES DE EXPONER</a:t>
            </a:r>
            <a:endParaRPr b="0" i="0" sz="1150" u="none" cap="none" strike="noStrike">
              <a:solidFill>
                <a:schemeClr val="dk1"/>
              </a:solidFill>
              <a:latin typeface="Calibri"/>
              <a:ea typeface="Calibri"/>
              <a:cs typeface="Calibri"/>
              <a:sym typeface="Calibri"/>
            </a:endParaRPr>
          </a:p>
        </p:txBody>
      </p:sp>
      <p:sp>
        <p:nvSpPr>
          <p:cNvPr id="167" name="Google Shape;167;p7"/>
          <p:cNvSpPr/>
          <p:nvPr/>
        </p:nvSpPr>
        <p:spPr>
          <a:xfrm>
            <a:off x="548640" y="786384"/>
            <a:ext cx="11064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3200"/>
              <a:buFont typeface="Calibri"/>
              <a:buNone/>
            </a:pPr>
            <a:r>
              <a:rPr b="1" i="0" lang="en-US" sz="3200" u="none" cap="none" strike="noStrike">
                <a:solidFill>
                  <a:srgbClr val="0A2559"/>
                </a:solidFill>
                <a:latin typeface="Calibri"/>
                <a:ea typeface="Calibri"/>
                <a:cs typeface="Calibri"/>
                <a:sym typeface="Calibri"/>
              </a:rPr>
              <a:t>Cómo usar esta plantilla</a:t>
            </a:r>
            <a:endParaRPr b="0" i="0" sz="3200" u="none" cap="none" strike="noStrike">
              <a:solidFill>
                <a:schemeClr val="dk1"/>
              </a:solidFill>
              <a:latin typeface="Calibri"/>
              <a:ea typeface="Calibri"/>
              <a:cs typeface="Calibri"/>
              <a:sym typeface="Calibri"/>
            </a:endParaRPr>
          </a:p>
        </p:txBody>
      </p:sp>
      <p:sp>
        <p:nvSpPr>
          <p:cNvPr id="168" name="Google Shape;168;p7"/>
          <p:cNvSpPr/>
          <p:nvPr/>
        </p:nvSpPr>
        <p:spPr>
          <a:xfrm>
            <a:off x="548640" y="1481328"/>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7"/>
              </a:buClr>
              <a:buSzPts val="1400"/>
              <a:buFont typeface="Calibri"/>
              <a:buNone/>
            </a:pPr>
            <a:r>
              <a:rPr b="0" i="1" lang="en-US" sz="1400" u="none" cap="none" strike="noStrike">
                <a:solidFill>
                  <a:srgbClr val="5B6B87"/>
                </a:solidFill>
                <a:latin typeface="Calibri"/>
                <a:ea typeface="Calibri"/>
                <a:cs typeface="Calibri"/>
                <a:sym typeface="Calibri"/>
              </a:rPr>
              <a:t>Instrucciones para la pareja. No forma parte de la presentación.</a:t>
            </a:r>
            <a:endParaRPr b="0" i="0" sz="1400" u="none" cap="none" strike="noStrike">
              <a:solidFill>
                <a:schemeClr val="dk1"/>
              </a:solidFill>
              <a:latin typeface="Calibri"/>
              <a:ea typeface="Calibri"/>
              <a:cs typeface="Calibri"/>
              <a:sym typeface="Calibri"/>
            </a:endParaRPr>
          </a:p>
        </p:txBody>
      </p:sp>
      <p:sp>
        <p:nvSpPr>
          <p:cNvPr id="169" name="Google Shape;169;p7"/>
          <p:cNvSpPr/>
          <p:nvPr/>
        </p:nvSpPr>
        <p:spPr>
          <a:xfrm>
            <a:off x="548640" y="2057400"/>
            <a:ext cx="11091672" cy="713232"/>
          </a:xfrm>
          <a:prstGeom prst="roundRect">
            <a:avLst>
              <a:gd fmla="val 7692"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777240" y="2231136"/>
            <a:ext cx="365760" cy="365760"/>
          </a:xfrm>
          <a:prstGeom prst="roundRect">
            <a:avLst>
              <a:gd fmla="val 50000"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777240" y="223113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172" name="Google Shape;172;p7"/>
          <p:cNvSpPr/>
          <p:nvPr/>
        </p:nvSpPr>
        <p:spPr>
          <a:xfrm>
            <a:off x="1280160" y="2130552"/>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250"/>
              <a:buFont typeface="Calibri"/>
              <a:buNone/>
            </a:pPr>
            <a:r>
              <a:rPr b="1" i="0" lang="en-US" sz="1250" u="none" cap="none" strike="noStrike">
                <a:solidFill>
                  <a:srgbClr val="0A2559"/>
                </a:solidFill>
                <a:latin typeface="Calibri"/>
                <a:ea typeface="Calibri"/>
                <a:cs typeface="Calibri"/>
                <a:sym typeface="Calibri"/>
              </a:rPr>
              <a:t>Rellena los recuadros punteados</a:t>
            </a:r>
            <a:endParaRPr b="0" i="0" sz="1250" u="none" cap="none" strike="noStrike">
              <a:solidFill>
                <a:schemeClr val="dk1"/>
              </a:solidFill>
              <a:latin typeface="Calibri"/>
              <a:ea typeface="Calibri"/>
              <a:cs typeface="Calibri"/>
              <a:sym typeface="Calibri"/>
            </a:endParaRPr>
          </a:p>
        </p:txBody>
      </p:sp>
      <p:sp>
        <p:nvSpPr>
          <p:cNvPr id="173" name="Google Shape;173;p7"/>
          <p:cNvSpPr/>
          <p:nvPr/>
        </p:nvSpPr>
        <p:spPr>
          <a:xfrm>
            <a:off x="5120640" y="2167128"/>
            <a:ext cx="6309360" cy="493776"/>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2C3A55"/>
              </a:buClr>
              <a:buSzPts val="1100"/>
              <a:buFont typeface="Calibri"/>
              <a:buNone/>
            </a:pPr>
            <a:r>
              <a:rPr b="0" i="0" lang="en-US" sz="1100" u="none" cap="none" strike="noStrike">
                <a:solidFill>
                  <a:srgbClr val="2C3A55"/>
                </a:solidFill>
                <a:latin typeface="Calibri"/>
                <a:ea typeface="Calibri"/>
                <a:cs typeface="Calibri"/>
                <a:sym typeface="Calibri"/>
              </a:rPr>
              <a:t>Son los huecos. Borra el texto de ayuda y pon tu contenido.</a:t>
            </a:r>
            <a:endParaRPr b="0" i="0" sz="1100" u="none" cap="none" strike="noStrike">
              <a:solidFill>
                <a:schemeClr val="dk1"/>
              </a:solidFill>
              <a:latin typeface="Calibri"/>
              <a:ea typeface="Calibri"/>
              <a:cs typeface="Calibri"/>
              <a:sym typeface="Calibri"/>
            </a:endParaRPr>
          </a:p>
        </p:txBody>
      </p:sp>
      <p:sp>
        <p:nvSpPr>
          <p:cNvPr id="174" name="Google Shape;174;p7"/>
          <p:cNvSpPr/>
          <p:nvPr/>
        </p:nvSpPr>
        <p:spPr>
          <a:xfrm>
            <a:off x="548640" y="2862072"/>
            <a:ext cx="11091672" cy="713232"/>
          </a:xfrm>
          <a:prstGeom prst="roundRect">
            <a:avLst>
              <a:gd fmla="val 7692" name="adj"/>
            </a:avLst>
          </a:prstGeom>
          <a:solidFill>
            <a:srgbClr val="E9EEF8"/>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777240" y="3035808"/>
            <a:ext cx="365760" cy="365760"/>
          </a:xfrm>
          <a:prstGeom prst="roundRect">
            <a:avLst>
              <a:gd fmla="val 50000"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777240" y="303580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177" name="Google Shape;177;p7"/>
          <p:cNvSpPr/>
          <p:nvPr/>
        </p:nvSpPr>
        <p:spPr>
          <a:xfrm>
            <a:off x="1280160" y="2935224"/>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250"/>
              <a:buFont typeface="Calibri"/>
              <a:buNone/>
            </a:pPr>
            <a:r>
              <a:rPr b="1" i="0" lang="en-US" sz="1250" u="none" cap="none" strike="noStrike">
                <a:solidFill>
                  <a:srgbClr val="0A2559"/>
                </a:solidFill>
                <a:latin typeface="Calibri"/>
                <a:ea typeface="Calibri"/>
                <a:cs typeface="Calibri"/>
                <a:sym typeface="Calibri"/>
              </a:rPr>
              <a:t>Respeta las 5 slides</a:t>
            </a:r>
            <a:endParaRPr b="0" i="0" sz="1250" u="none" cap="none" strike="noStrike">
              <a:solidFill>
                <a:schemeClr val="dk1"/>
              </a:solidFill>
              <a:latin typeface="Calibri"/>
              <a:ea typeface="Calibri"/>
              <a:cs typeface="Calibri"/>
              <a:sym typeface="Calibri"/>
            </a:endParaRPr>
          </a:p>
        </p:txBody>
      </p:sp>
      <p:sp>
        <p:nvSpPr>
          <p:cNvPr id="178" name="Google Shape;178;p7"/>
          <p:cNvSpPr/>
          <p:nvPr/>
        </p:nvSpPr>
        <p:spPr>
          <a:xfrm>
            <a:off x="5120640" y="2971800"/>
            <a:ext cx="6309360" cy="493776"/>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2C3A55"/>
              </a:buClr>
              <a:buSzPts val="1100"/>
              <a:buFont typeface="Calibri"/>
              <a:buNone/>
            </a:pPr>
            <a:r>
              <a:rPr b="0" i="0" lang="en-US" sz="1100" u="none" cap="none" strike="noStrike">
                <a:solidFill>
                  <a:srgbClr val="2C3A55"/>
                </a:solidFill>
                <a:latin typeface="Calibri"/>
                <a:ea typeface="Calibri"/>
                <a:cs typeface="Calibri"/>
                <a:sym typeface="Calibri"/>
              </a:rPr>
              <a:t>Ni más ni menos. La portada no cuenta.</a:t>
            </a:r>
            <a:endParaRPr b="0" i="0" sz="1100" u="none" cap="none" strike="noStrike">
              <a:solidFill>
                <a:schemeClr val="dk1"/>
              </a:solidFill>
              <a:latin typeface="Calibri"/>
              <a:ea typeface="Calibri"/>
              <a:cs typeface="Calibri"/>
              <a:sym typeface="Calibri"/>
            </a:endParaRPr>
          </a:p>
        </p:txBody>
      </p:sp>
      <p:sp>
        <p:nvSpPr>
          <p:cNvPr id="179" name="Google Shape;179;p7"/>
          <p:cNvSpPr/>
          <p:nvPr/>
        </p:nvSpPr>
        <p:spPr>
          <a:xfrm>
            <a:off x="548640" y="3666744"/>
            <a:ext cx="11091672" cy="713232"/>
          </a:xfrm>
          <a:prstGeom prst="roundRect">
            <a:avLst>
              <a:gd fmla="val 7692"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777240" y="3840480"/>
            <a:ext cx="365760" cy="365760"/>
          </a:xfrm>
          <a:prstGeom prst="roundRect">
            <a:avLst>
              <a:gd fmla="val 50000"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777240" y="384048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3</a:t>
            </a:r>
            <a:endParaRPr b="0" i="0" sz="1250" u="none" cap="none" strike="noStrike">
              <a:solidFill>
                <a:schemeClr val="dk1"/>
              </a:solidFill>
              <a:latin typeface="Calibri"/>
              <a:ea typeface="Calibri"/>
              <a:cs typeface="Calibri"/>
              <a:sym typeface="Calibri"/>
            </a:endParaRPr>
          </a:p>
        </p:txBody>
      </p:sp>
      <p:sp>
        <p:nvSpPr>
          <p:cNvPr id="182" name="Google Shape;182;p7"/>
          <p:cNvSpPr/>
          <p:nvPr/>
        </p:nvSpPr>
        <p:spPr>
          <a:xfrm>
            <a:off x="1280160" y="3739896"/>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250"/>
              <a:buFont typeface="Calibri"/>
              <a:buNone/>
            </a:pPr>
            <a:r>
              <a:rPr b="1" i="0" lang="en-US" sz="1250" u="none" cap="none" strike="noStrike">
                <a:solidFill>
                  <a:srgbClr val="0A2559"/>
                </a:solidFill>
                <a:latin typeface="Calibri"/>
                <a:ea typeface="Calibri"/>
                <a:cs typeface="Calibri"/>
                <a:sym typeface="Calibri"/>
              </a:rPr>
              <a:t>Reparte los 7 minutos así</a:t>
            </a:r>
            <a:endParaRPr b="0" i="0" sz="1250" u="none" cap="none" strike="noStrike">
              <a:solidFill>
                <a:schemeClr val="dk1"/>
              </a:solidFill>
              <a:latin typeface="Calibri"/>
              <a:ea typeface="Calibri"/>
              <a:cs typeface="Calibri"/>
              <a:sym typeface="Calibri"/>
            </a:endParaRPr>
          </a:p>
        </p:txBody>
      </p:sp>
      <p:sp>
        <p:nvSpPr>
          <p:cNvPr id="183" name="Google Shape;183;p7"/>
          <p:cNvSpPr/>
          <p:nvPr/>
        </p:nvSpPr>
        <p:spPr>
          <a:xfrm>
            <a:off x="5120640" y="3776472"/>
            <a:ext cx="6309360" cy="493776"/>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2C3A55"/>
              </a:buClr>
              <a:buSzPts val="1100"/>
              <a:buFont typeface="Calibri"/>
              <a:buNone/>
            </a:pPr>
            <a:r>
              <a:rPr b="0" i="0" lang="en-US" sz="1100" u="none" cap="none" strike="noStrike">
                <a:solidFill>
                  <a:srgbClr val="2C3A55"/>
                </a:solidFill>
                <a:latin typeface="Calibri"/>
                <a:ea typeface="Calibri"/>
                <a:cs typeface="Calibri"/>
                <a:sym typeface="Calibri"/>
              </a:rPr>
              <a:t>Slide 1: 30 s · Slide 2: 1 min · Slide 3: 2 min · Slide 4: 2.5 min · Slide 5: 1 min</a:t>
            </a:r>
            <a:endParaRPr b="0" i="0" sz="1100" u="none" cap="none" strike="noStrike">
              <a:solidFill>
                <a:schemeClr val="dk1"/>
              </a:solidFill>
              <a:latin typeface="Calibri"/>
              <a:ea typeface="Calibri"/>
              <a:cs typeface="Calibri"/>
              <a:sym typeface="Calibri"/>
            </a:endParaRPr>
          </a:p>
        </p:txBody>
      </p:sp>
      <p:sp>
        <p:nvSpPr>
          <p:cNvPr id="184" name="Google Shape;184;p7"/>
          <p:cNvSpPr/>
          <p:nvPr/>
        </p:nvSpPr>
        <p:spPr>
          <a:xfrm>
            <a:off x="548640" y="4471416"/>
            <a:ext cx="11091672" cy="713232"/>
          </a:xfrm>
          <a:prstGeom prst="roundRect">
            <a:avLst>
              <a:gd fmla="val 7692" name="adj"/>
            </a:avLst>
          </a:prstGeom>
          <a:solidFill>
            <a:srgbClr val="E9EEF8"/>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777240" y="4645152"/>
            <a:ext cx="365760" cy="365760"/>
          </a:xfrm>
          <a:prstGeom prst="roundRect">
            <a:avLst>
              <a:gd fmla="val 50000"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777240" y="46451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187" name="Google Shape;187;p7"/>
          <p:cNvSpPr/>
          <p:nvPr/>
        </p:nvSpPr>
        <p:spPr>
          <a:xfrm>
            <a:off x="1280160" y="4544568"/>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250"/>
              <a:buFont typeface="Calibri"/>
              <a:buNone/>
            </a:pPr>
            <a:r>
              <a:rPr b="1" i="0" lang="en-US" sz="1250" u="none" cap="none" strike="noStrike">
                <a:solidFill>
                  <a:srgbClr val="0A2559"/>
                </a:solidFill>
                <a:latin typeface="Calibri"/>
                <a:ea typeface="Calibri"/>
                <a:cs typeface="Calibri"/>
                <a:sym typeface="Calibri"/>
              </a:rPr>
              <a:t>Los dos exponen</a:t>
            </a:r>
            <a:endParaRPr b="0" i="0" sz="1250" u="none" cap="none" strike="noStrike">
              <a:solidFill>
                <a:schemeClr val="dk1"/>
              </a:solidFill>
              <a:latin typeface="Calibri"/>
              <a:ea typeface="Calibri"/>
              <a:cs typeface="Calibri"/>
              <a:sym typeface="Calibri"/>
            </a:endParaRPr>
          </a:p>
        </p:txBody>
      </p:sp>
      <p:sp>
        <p:nvSpPr>
          <p:cNvPr id="188" name="Google Shape;188;p7"/>
          <p:cNvSpPr/>
          <p:nvPr/>
        </p:nvSpPr>
        <p:spPr>
          <a:xfrm>
            <a:off x="5120640" y="4581144"/>
            <a:ext cx="6309360" cy="493776"/>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2C3A55"/>
              </a:buClr>
              <a:buSzPts val="1100"/>
              <a:buFont typeface="Calibri"/>
              <a:buNone/>
            </a:pPr>
            <a:r>
              <a:rPr b="0" i="0" lang="en-US" sz="1100" u="none" cap="none" strike="noStrike">
                <a:solidFill>
                  <a:srgbClr val="2C3A55"/>
                </a:solidFill>
                <a:latin typeface="Calibri"/>
                <a:ea typeface="Calibri"/>
                <a:cs typeface="Calibri"/>
                <a:sym typeface="Calibri"/>
              </a:rPr>
              <a:t>Repártanse las slides. Se evalúa a la pareja, no a uno.</a:t>
            </a:r>
            <a:endParaRPr b="0" i="0" sz="1100" u="none" cap="none" strike="noStrike">
              <a:solidFill>
                <a:schemeClr val="dk1"/>
              </a:solidFill>
              <a:latin typeface="Calibri"/>
              <a:ea typeface="Calibri"/>
              <a:cs typeface="Calibri"/>
              <a:sym typeface="Calibri"/>
            </a:endParaRPr>
          </a:p>
        </p:txBody>
      </p:sp>
      <p:sp>
        <p:nvSpPr>
          <p:cNvPr id="189" name="Google Shape;189;p7"/>
          <p:cNvSpPr/>
          <p:nvPr/>
        </p:nvSpPr>
        <p:spPr>
          <a:xfrm>
            <a:off x="548640" y="5276088"/>
            <a:ext cx="11091672" cy="713232"/>
          </a:xfrm>
          <a:prstGeom prst="roundRect">
            <a:avLst>
              <a:gd fmla="val 7692"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777240" y="5449824"/>
            <a:ext cx="365760" cy="365760"/>
          </a:xfrm>
          <a:prstGeom prst="roundRect">
            <a:avLst>
              <a:gd fmla="val 50000" name="adj"/>
            </a:avLst>
          </a:prstGeom>
          <a:solidFill>
            <a:srgbClr val="0A2559"/>
          </a:solidFill>
          <a:ln cap="flat" cmpd="sng" w="12700">
            <a:solidFill>
              <a:srgbClr val="0A25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777240" y="544982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5</a:t>
            </a:r>
            <a:endParaRPr b="0" i="0" sz="1250" u="none" cap="none" strike="noStrike">
              <a:solidFill>
                <a:schemeClr val="dk1"/>
              </a:solidFill>
              <a:latin typeface="Calibri"/>
              <a:ea typeface="Calibri"/>
              <a:cs typeface="Calibri"/>
              <a:sym typeface="Calibri"/>
            </a:endParaRPr>
          </a:p>
        </p:txBody>
      </p:sp>
      <p:sp>
        <p:nvSpPr>
          <p:cNvPr id="192" name="Google Shape;192;p7"/>
          <p:cNvSpPr/>
          <p:nvPr/>
        </p:nvSpPr>
        <p:spPr>
          <a:xfrm>
            <a:off x="1280160" y="5349240"/>
            <a:ext cx="3657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559"/>
              </a:buClr>
              <a:buSzPts val="1250"/>
              <a:buFont typeface="Calibri"/>
              <a:buNone/>
            </a:pPr>
            <a:r>
              <a:rPr b="1" i="0" lang="en-US" sz="1250" u="none" cap="none" strike="noStrike">
                <a:solidFill>
                  <a:srgbClr val="0A2559"/>
                </a:solidFill>
                <a:latin typeface="Calibri"/>
                <a:ea typeface="Calibri"/>
                <a:cs typeface="Calibri"/>
                <a:sym typeface="Calibri"/>
              </a:rPr>
              <a:t>Cuenta una historia, no leas</a:t>
            </a:r>
            <a:endParaRPr b="0" i="0" sz="1250" u="none" cap="none" strike="noStrike">
              <a:solidFill>
                <a:schemeClr val="dk1"/>
              </a:solidFill>
              <a:latin typeface="Calibri"/>
              <a:ea typeface="Calibri"/>
              <a:cs typeface="Calibri"/>
              <a:sym typeface="Calibri"/>
            </a:endParaRPr>
          </a:p>
        </p:txBody>
      </p:sp>
      <p:sp>
        <p:nvSpPr>
          <p:cNvPr id="193" name="Google Shape;193;p7"/>
          <p:cNvSpPr/>
          <p:nvPr/>
        </p:nvSpPr>
        <p:spPr>
          <a:xfrm>
            <a:off x="5120640" y="5385816"/>
            <a:ext cx="6309360" cy="493776"/>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2C3A55"/>
              </a:buClr>
              <a:buSzPts val="1100"/>
              <a:buFont typeface="Calibri"/>
              <a:buNone/>
            </a:pPr>
            <a:r>
              <a:rPr b="0" i="0" lang="en-US" sz="1100" u="none" cap="none" strike="noStrike">
                <a:solidFill>
                  <a:srgbClr val="2C3A55"/>
                </a:solidFill>
                <a:latin typeface="Calibri"/>
                <a:ea typeface="Calibri"/>
                <a:cs typeface="Calibri"/>
                <a:sym typeface="Calibri"/>
              </a:rPr>
              <a:t>Sobre todo en la slide 4: qué esperaban, qué encontraron, por qué creen que pasa.</a:t>
            </a:r>
            <a:endParaRPr b="0" i="0" sz="1100" u="none" cap="none" strike="noStrike">
              <a:solidFill>
                <a:schemeClr val="dk1"/>
              </a:solidFill>
              <a:latin typeface="Calibri"/>
              <a:ea typeface="Calibri"/>
              <a:cs typeface="Calibri"/>
              <a:sym typeface="Calibri"/>
            </a:endParaRPr>
          </a:p>
        </p:txBody>
      </p:sp>
      <p:sp>
        <p:nvSpPr>
          <p:cNvPr id="194" name="Google Shape;194;p7"/>
          <p:cNvSpPr/>
          <p:nvPr/>
        </p:nvSpPr>
        <p:spPr>
          <a:xfrm>
            <a:off x="548640" y="6172200"/>
            <a:ext cx="11091672" cy="0"/>
          </a:xfrm>
          <a:prstGeom prst="roundRect">
            <a:avLst>
              <a:gd fmla="val 16667" name="adj"/>
            </a:avLst>
          </a:prstGeom>
          <a:solidFill>
            <a:srgbClr val="FFFFFF"/>
          </a:solidFill>
          <a:ln cap="flat" cmpd="sng" w="12700">
            <a:solidFill>
              <a:srgbClr val="D2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548640" y="6217920"/>
            <a:ext cx="11064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7"/>
              </a:buClr>
              <a:buSzPts val="1050"/>
              <a:buFont typeface="Calibri"/>
              <a:buNone/>
            </a:pPr>
            <a:r>
              <a:rPr b="0" i="1" lang="en-US" sz="1050" u="none" cap="none" strike="noStrike">
                <a:solidFill>
                  <a:srgbClr val="5B6B87"/>
                </a:solidFill>
                <a:latin typeface="Calibri"/>
                <a:ea typeface="Calibri"/>
                <a:cs typeface="Calibri"/>
                <a:sym typeface="Calibri"/>
              </a:rPr>
              <a:t>Recuerda: no se evalúa qué tan bueno es tu modelo, sino qué entendiste. La slide 4 es la que más pesa.</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2026-08-29T00:15:37Z</dcterms:created>
  <dc:creator>Rodrigo</dc:creator>
</cp:coreProperties>
</file>