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charts/chart5.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98"/>
    <p:restoredTop sz="94610"/>
  </p:normalViewPr>
  <p:slideViewPr>
    <p:cSldViewPr snapToGrid="0" snapToObjects="1">
      <p:cViewPr varScale="1">
        <p:scale>
          <a:sx n="155" d="100"/>
          <a:sy n="155" d="100"/>
        </p:scale>
        <p:origin x="7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E2148"/>
                </a:solidFill>
                <a:latin typeface="Arial"/>
              </a:defRPr>
            </a:pPr>
            <a:r>
              <a:rPr lang="en-US" sz="1200" b="0" i="0" u="none" strike="noStrike">
                <a:solidFill>
                  <a:srgbClr val="0E2148"/>
                </a:solidFill>
                <a:latin typeface="Arial"/>
              </a:rPr>
              <a:t>6 barras de 20 días — todavía es un histograma</a:t>
            </a:r>
          </a:p>
        </c:rich>
      </c:tx>
      <c:overlay val="0"/>
    </c:title>
    <c:autoTitleDeleted val="0"/>
    <c:plotArea>
      <c:layout/>
      <c:barChart>
        <c:barDir val="col"/>
        <c:grouping val="clustered"/>
        <c:varyColors val="0"/>
        <c:ser>
          <c:idx val="0"/>
          <c:order val="0"/>
          <c:tx>
            <c:strRef>
              <c:f>Sheet1!$B$1</c:f>
              <c:strCache>
                <c:ptCount val="1"/>
                <c:pt idx="0">
                  <c:v>densidad</c:v>
                </c:pt>
              </c:strCache>
            </c:strRef>
          </c:tx>
          <c:spPr>
            <a:solidFill>
              <a:srgbClr val="2D6CDF"/>
            </a:solidFill>
            <a:effectLst/>
          </c:spPr>
          <c:invertIfNegative val="0"/>
          <c:cat>
            <c:strRef>
              <c:f>Sheet1!$A$2:$A$7</c:f>
              <c:strCache>
                <c:ptCount val="6"/>
                <c:pt idx="0">
                  <c:v>0</c:v>
                </c:pt>
                <c:pt idx="1">
                  <c:v>20</c:v>
                </c:pt>
                <c:pt idx="2">
                  <c:v>40</c:v>
                </c:pt>
                <c:pt idx="3">
                  <c:v>60</c:v>
                </c:pt>
                <c:pt idx="4">
                  <c:v>80</c:v>
                </c:pt>
                <c:pt idx="5">
                  <c:v>100</c:v>
                </c:pt>
              </c:strCache>
            </c:strRef>
          </c:cat>
          <c:val>
            <c:numRef>
              <c:f>Sheet1!$B$2:$B$7</c:f>
              <c:numCache>
                <c:formatCode>General</c:formatCode>
                <c:ptCount val="6"/>
                <c:pt idx="0">
                  <c:v>2.4329144048370398E-2</c:v>
                </c:pt>
                <c:pt idx="1">
                  <c:v>1.2490999045843266E-2</c:v>
                </c:pt>
                <c:pt idx="2">
                  <c:v>6.4130927439557004E-3</c:v>
                </c:pt>
                <c:pt idx="3">
                  <c:v>3.2925916006905586E-3</c:v>
                </c:pt>
                <c:pt idx="4">
                  <c:v>1.6904728937774561E-3</c:v>
                </c:pt>
                <c:pt idx="5">
                  <c:v>8.6791772292590941E-4</c:v>
                </c:pt>
              </c:numCache>
            </c:numRef>
          </c:val>
          <c:extLst>
            <c:ext xmlns:c16="http://schemas.microsoft.com/office/drawing/2014/chart" uri="{C3380CC4-5D6E-409C-BE32-E72D297353CC}">
              <c16:uniqueId val="{00000000-DD63-6C4C-AE4F-D18566087B65}"/>
            </c:ext>
          </c:extLst>
        </c:ser>
        <c:dLbls>
          <c:showLegendKey val="0"/>
          <c:showVal val="0"/>
          <c:showCatName val="0"/>
          <c:showSerName val="0"/>
          <c:showPercent val="0"/>
          <c:showBubbleSize val="0"/>
        </c:dLbls>
        <c:gapWidth val="12"/>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C9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C99"/>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E2148"/>
                </a:solidFill>
                <a:latin typeface="Arial"/>
              </a:defRPr>
            </a:pPr>
            <a:r>
              <a:rPr lang="en-US" sz="1200" b="0" i="0" u="none" strike="noStrike">
                <a:solidFill>
                  <a:srgbClr val="0E2148"/>
                </a:solidFill>
                <a:latin typeface="Arial"/>
              </a:rPr>
              <a:t>30 barras de 4 días — ya se ve la curva f(x)</a:t>
            </a:r>
          </a:p>
        </c:rich>
      </c:tx>
      <c:overlay val="0"/>
    </c:title>
    <c:autoTitleDeleted val="0"/>
    <c:plotArea>
      <c:layout/>
      <c:barChart>
        <c:barDir val="col"/>
        <c:grouping val="clustered"/>
        <c:varyColors val="0"/>
        <c:ser>
          <c:idx val="0"/>
          <c:order val="0"/>
          <c:tx>
            <c:strRef>
              <c:f>Sheet1!$B$1</c:f>
              <c:strCache>
                <c:ptCount val="1"/>
                <c:pt idx="0">
                  <c:v>densidad</c:v>
                </c:pt>
              </c:strCache>
            </c:strRef>
          </c:tx>
          <c:spPr>
            <a:solidFill>
              <a:srgbClr val="E23C8A"/>
            </a:solidFill>
            <a:effectLst/>
          </c:spPr>
          <c:invertIfNegative val="0"/>
          <c:cat>
            <c:strRef>
              <c:f>Sheet1!$A$2:$A$31</c:f>
              <c:strCache>
                <c:ptCount val="30"/>
                <c:pt idx="0">
                  <c:v>0</c:v>
                </c:pt>
                <c:pt idx="5">
                  <c:v>20</c:v>
                </c:pt>
                <c:pt idx="10">
                  <c:v>40</c:v>
                </c:pt>
                <c:pt idx="15">
                  <c:v>60</c:v>
                </c:pt>
                <c:pt idx="20">
                  <c:v>80</c:v>
                </c:pt>
                <c:pt idx="25">
                  <c:v>100</c:v>
                </c:pt>
              </c:strCache>
            </c:strRef>
          </c:cat>
          <c:val>
            <c:numRef>
              <c:f>Sheet1!$B$2:$B$31</c:f>
              <c:numCache>
                <c:formatCode>General</c:formatCode>
                <c:ptCount val="30"/>
                <c:pt idx="0">
                  <c:v>3.1206670239263129E-2</c:v>
                </c:pt>
                <c:pt idx="1">
                  <c:v>2.7311245169574699E-2</c:v>
                </c:pt>
                <c:pt idx="2">
                  <c:v>2.390207308225234E-2</c:v>
                </c:pt>
                <c:pt idx="3">
                  <c:v>2.0918456631401877E-2</c:v>
                </c:pt>
                <c:pt idx="4">
                  <c:v>1.830727511935995E-2</c:v>
                </c:pt>
                <c:pt idx="5">
                  <c:v>1.6022038728842614E-2</c:v>
                </c:pt>
                <c:pt idx="6">
                  <c:v>1.4022060812155845E-2</c:v>
                </c:pt>
                <c:pt idx="7">
                  <c:v>1.2271733500796439E-2</c:v>
                </c:pt>
                <c:pt idx="8">
                  <c:v>1.0739893738302586E-2</c:v>
                </c:pt>
                <c:pt idx="9">
                  <c:v>9.3992684491188416E-3</c:v>
                </c:pt>
                <c:pt idx="10">
                  <c:v>8.2259889651909723E-3</c:v>
                </c:pt>
                <c:pt idx="11">
                  <c:v>7.1991660650768674E-3</c:v>
                </c:pt>
                <c:pt idx="12">
                  <c:v>6.3005180595146482E-3</c:v>
                </c:pt>
                <c:pt idx="13">
                  <c:v>5.5140453018354962E-3</c:v>
                </c:pt>
                <c:pt idx="14">
                  <c:v>4.8257453281605189E-3</c:v>
                </c:pt>
                <c:pt idx="15">
                  <c:v>4.223363555702242E-3</c:v>
                </c:pt>
                <c:pt idx="16">
                  <c:v>3.6961751005689658E-3</c:v>
                </c:pt>
                <c:pt idx="17">
                  <c:v>3.2347938305288537E-3</c:v>
                </c:pt>
                <c:pt idx="18">
                  <c:v>2.8310052530835517E-3</c:v>
                </c:pt>
                <c:pt idx="19">
                  <c:v>2.4776202635691802E-3</c:v>
                </c:pt>
                <c:pt idx="20">
                  <c:v>2.1683471493958995E-3</c:v>
                </c:pt>
                <c:pt idx="21">
                  <c:v>1.8976795715741068E-3</c:v>
                </c:pt>
                <c:pt idx="22">
                  <c:v>1.6607985291345051E-3</c:v>
                </c:pt>
                <c:pt idx="23">
                  <c:v>1.4534865610043302E-3</c:v>
                </c:pt>
                <c:pt idx="24">
                  <c:v>1.2720526577784386E-3</c:v>
                </c:pt>
                <c:pt idx="25">
                  <c:v>1.1132665465053704E-3</c:v>
                </c:pt>
                <c:pt idx="26">
                  <c:v>9.7430117848459896E-4</c:v>
                </c:pt>
                <c:pt idx="27">
                  <c:v>8.5268239612179553E-4</c:v>
                </c:pt>
                <c:pt idx="28">
                  <c:v>7.4624488270341738E-4</c:v>
                </c:pt>
                <c:pt idx="29">
                  <c:v>6.5309361081436479E-4</c:v>
                </c:pt>
              </c:numCache>
            </c:numRef>
          </c:val>
          <c:extLst>
            <c:ext xmlns:c16="http://schemas.microsoft.com/office/drawing/2014/chart" uri="{C3380CC4-5D6E-409C-BE32-E72D297353CC}">
              <c16:uniqueId val="{00000000-720C-B343-8446-63FC0AAEF0D7}"/>
            </c:ext>
          </c:extLst>
        </c:ser>
        <c:dLbls>
          <c:showLegendKey val="0"/>
          <c:showVal val="0"/>
          <c:showCatName val="0"/>
          <c:showSerName val="0"/>
          <c:showPercent val="0"/>
          <c:showBubbleSize val="0"/>
        </c:dLbls>
        <c:gapWidth val="6"/>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C9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C99"/>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E2148"/>
                </a:solidFill>
                <a:latin typeface="Arial"/>
              </a:defRPr>
            </a:pPr>
            <a:r>
              <a:rPr lang="en-US" sz="1200" b="0" i="0" u="none" strike="noStrike">
                <a:solidFill>
                  <a:srgbClr val="0E2148"/>
                </a:solidFill>
                <a:latin typeface="Arial"/>
              </a:rPr>
              <a:t>Días entre alertas: acumulada de Exp(media 30)</a:t>
            </a:r>
          </a:p>
        </c:rich>
      </c:tx>
      <c:overlay val="0"/>
    </c:title>
    <c:autoTitleDeleted val="0"/>
    <c:plotArea>
      <c:layout/>
      <c:lineChart>
        <c:grouping val="standard"/>
        <c:varyColors val="0"/>
        <c:ser>
          <c:idx val="0"/>
          <c:order val="0"/>
          <c:tx>
            <c:strRef>
              <c:f>Sheet1!$B$1</c:f>
              <c:strCache>
                <c:ptCount val="1"/>
                <c:pt idx="0">
                  <c:v>F(x)</c:v>
                </c:pt>
              </c:strCache>
            </c:strRef>
          </c:tx>
          <c:spPr>
            <a:ln w="38100" cap="flat">
              <a:solidFill>
                <a:srgbClr val="2D6CDF"/>
              </a:solidFill>
              <a:prstDash val="solid"/>
              <a:round/>
            </a:ln>
            <a:effectLst/>
          </c:spPr>
          <c:marker>
            <c:symbol val="circle"/>
            <c:size val="6"/>
            <c:spPr>
              <a:solidFill>
                <a:srgbClr val="2D6CDF"/>
              </a:solidFill>
              <a:ln w="9525" cap="flat">
                <a:solidFill>
                  <a:srgbClr val="2D6CDF"/>
                </a:solidFill>
                <a:prstDash val="solid"/>
                <a:round/>
              </a:ln>
              <a:effectLst/>
            </c:spPr>
          </c:marker>
          <c:cat>
            <c:strRef>
              <c:f>Sheet1!$A$2:$A$62</c:f>
              <c:strCache>
                <c:ptCount val="61"/>
                <c:pt idx="0">
                  <c:v>0</c:v>
                </c:pt>
                <c:pt idx="10">
                  <c:v>20</c:v>
                </c:pt>
                <c:pt idx="20">
                  <c:v>40</c:v>
                </c:pt>
                <c:pt idx="30">
                  <c:v>60</c:v>
                </c:pt>
                <c:pt idx="40">
                  <c:v>80</c:v>
                </c:pt>
                <c:pt idx="50">
                  <c:v>100</c:v>
                </c:pt>
                <c:pt idx="60">
                  <c:v>120</c:v>
                </c:pt>
              </c:strCache>
            </c:strRef>
          </c:cat>
          <c:val>
            <c:numRef>
              <c:f>Sheet1!$B$2:$B$62</c:f>
              <c:numCache>
                <c:formatCode>General</c:formatCode>
                <c:ptCount val="61"/>
                <c:pt idx="0">
                  <c:v>0</c:v>
                </c:pt>
                <c:pt idx="1">
                  <c:v>6.4493014968382223E-2</c:v>
                </c:pt>
                <c:pt idx="2">
                  <c:v>0.12482668095705252</c:v>
                </c:pt>
                <c:pt idx="3">
                  <c:v>0.18126924692201818</c:v>
                </c:pt>
                <c:pt idx="4">
                  <c:v>0.23407166163535131</c:v>
                </c:pt>
                <c:pt idx="5">
                  <c:v>0.28346868942621073</c:v>
                </c:pt>
                <c:pt idx="6">
                  <c:v>0.32967995396436067</c:v>
                </c:pt>
                <c:pt idx="7">
                  <c:v>0.37291091472694382</c:v>
                </c:pt>
                <c:pt idx="8">
                  <c:v>0.41335378048996818</c:v>
                </c:pt>
                <c:pt idx="9">
                  <c:v>0.4511883639059735</c:v>
                </c:pt>
                <c:pt idx="10">
                  <c:v>0.48658288096740798</c:v>
                </c:pt>
                <c:pt idx="11">
                  <c:v>0.51969469891020059</c:v>
                </c:pt>
                <c:pt idx="12">
                  <c:v>0.55067103588277844</c:v>
                </c:pt>
                <c:pt idx="13">
                  <c:v>0.5796496154913181</c:v>
                </c:pt>
                <c:pt idx="14">
                  <c:v>0.60675927913140182</c:v>
                </c:pt>
                <c:pt idx="15">
                  <c:v>0.63212055882855767</c:v>
                </c:pt>
                <c:pt idx="16">
                  <c:v>0.65584621313458757</c:v>
                </c:pt>
                <c:pt idx="17">
                  <c:v>0.67804172846232413</c:v>
                </c:pt>
                <c:pt idx="18">
                  <c:v>0.69880578808779792</c:v>
                </c:pt>
                <c:pt idx="19">
                  <c:v>0.71823071090504165</c:v>
                </c:pt>
                <c:pt idx="20">
                  <c:v>0.73640286188427329</c:v>
                </c:pt>
                <c:pt idx="21">
                  <c:v>0.75340303605839354</c:v>
                </c:pt>
                <c:pt idx="22">
                  <c:v>0.76930681774503717</c:v>
                </c:pt>
                <c:pt idx="23">
                  <c:v>0.78418491660131018</c:v>
                </c:pt>
                <c:pt idx="24">
                  <c:v>0.79810348200534464</c:v>
                </c:pt>
                <c:pt idx="25">
                  <c:v>0.81112439716243823</c:v>
                </c:pt>
                <c:pt idx="26">
                  <c:v>0.82330555424340324</c:v>
                </c:pt>
                <c:pt idx="27">
                  <c:v>0.83470111177841344</c:v>
                </c:pt>
                <c:pt idx="28">
                  <c:v>0.84536173545074522</c:v>
                </c:pt>
                <c:pt idx="29">
                  <c:v>0.85533482336100497</c:v>
                </c:pt>
                <c:pt idx="30">
                  <c:v>0.8646647167633873</c:v>
                </c:pt>
                <c:pt idx="31">
                  <c:v>0.8733928972109164</c:v>
                </c:pt>
                <c:pt idx="32">
                  <c:v>0.88155817098619627</c:v>
                </c:pt>
                <c:pt idx="33">
                  <c:v>0.8891968416376661</c:v>
                </c:pt>
                <c:pt idx="34">
                  <c:v>0.89634287138847213</c:v>
                </c:pt>
                <c:pt idx="35">
                  <c:v>0.9030280321355949</c:v>
                </c:pt>
                <c:pt idx="36">
                  <c:v>0.90928204671058754</c:v>
                </c:pt>
                <c:pt idx="37">
                  <c:v>0.91513272102998255</c:v>
                </c:pt>
                <c:pt idx="38">
                  <c:v>0.92060606772292175</c:v>
                </c:pt>
                <c:pt idx="39">
                  <c:v>0.92572642178566611</c:v>
                </c:pt>
                <c:pt idx="40">
                  <c:v>0.93051654877719847</c:v>
                </c:pt>
                <c:pt idx="41">
                  <c:v>0.9349977460369655</c:v>
                </c:pt>
                <c:pt idx="42">
                  <c:v>0.93918993737478207</c:v>
                </c:pt>
                <c:pt idx="43">
                  <c:v>0.94311176165389843</c:v>
                </c:pt>
                <c:pt idx="44">
                  <c:v>0.9467806556610785</c:v>
                </c:pt>
                <c:pt idx="45">
                  <c:v>0.95021293163213605</c:v>
                </c:pt>
                <c:pt idx="46">
                  <c:v>0.95342384977761652</c:v>
                </c:pt>
                <c:pt idx="47">
                  <c:v>0.95642768613107831</c:v>
                </c:pt>
                <c:pt idx="48">
                  <c:v>0.95923779602163384</c:v>
                </c:pt>
                <c:pt idx="49">
                  <c:v>0.96186667345295485</c:v>
                </c:pt>
                <c:pt idx="50">
                  <c:v>0.96432600665274759</c:v>
                </c:pt>
                <c:pt idx="51">
                  <c:v>0.96662673003967392</c:v>
                </c:pt>
                <c:pt idx="52">
                  <c:v>0.96877907283876907</c:v>
                </c:pt>
                <c:pt idx="53">
                  <c:v>0.97079260456150518</c:v>
                </c:pt>
                <c:pt idx="54">
                  <c:v>0.97267627755270747</c:v>
                </c:pt>
                <c:pt idx="55">
                  <c:v>0.97443846679349255</c:v>
                </c:pt>
                <c:pt idx="56">
                  <c:v>0.97608700713719465</c:v>
                </c:pt>
                <c:pt idx="57">
                  <c:v>0.97762922814383435</c:v>
                </c:pt>
                <c:pt idx="58">
                  <c:v>0.97907198666800832</c:v>
                </c:pt>
                <c:pt idx="59">
                  <c:v>0.980421697345087</c:v>
                </c:pt>
                <c:pt idx="60">
                  <c:v>0.98168436111126578</c:v>
                </c:pt>
              </c:numCache>
            </c:numRef>
          </c:val>
          <c:smooth val="1"/>
          <c:extLst>
            <c:ext xmlns:c16="http://schemas.microsoft.com/office/drawing/2014/chart" uri="{C3380CC4-5D6E-409C-BE32-E72D297353CC}">
              <c16:uniqueId val="{00000000-4335-6749-95A6-916762DE4DD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000" b="0" i="0" u="none" strike="noStrike">
                    <a:solidFill>
                      <a:srgbClr val="6B7C99"/>
                    </a:solidFill>
                    <a:latin typeface="Arial"/>
                  </a:defRPr>
                </a:pPr>
                <a:r>
                  <a:rPr lang="en-US" sz="1000" b="0" i="0" u="none" strike="noStrike">
                    <a:solidFill>
                      <a:srgbClr val="6B7C99"/>
                    </a:solidFill>
                    <a:latin typeface="Arial"/>
                  </a:rPr>
                  <a:t>días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C99"/>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C99"/>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E2148"/>
                </a:solidFill>
                <a:latin typeface="Arial"/>
              </a:defRPr>
            </a:pPr>
            <a:r>
              <a:rPr lang="en-US" sz="1200" b="0" i="0" u="none" strike="noStrike">
                <a:solidFill>
                  <a:srgbClr val="0E2148"/>
                </a:solidFill>
                <a:latin typeface="Arial"/>
              </a:rPr>
              <a:t>Dos densidades uniformes: la altura depende del ancho</a:t>
            </a:r>
          </a:p>
        </c:rich>
      </c:tx>
      <c:overlay val="0"/>
    </c:title>
    <c:autoTitleDeleted val="0"/>
    <c:plotArea>
      <c:layout/>
      <c:lineChart>
        <c:grouping val="standard"/>
        <c:varyColors val="0"/>
        <c:ser>
          <c:idx val="0"/>
          <c:order val="0"/>
          <c:tx>
            <c:strRef>
              <c:f>Sheet1!$B$1</c:f>
              <c:strCache>
                <c:ptCount val="1"/>
                <c:pt idx="0">
                  <c:v>U(0, 1)</c:v>
                </c:pt>
              </c:strCache>
            </c:strRef>
          </c:tx>
          <c:spPr>
            <a:ln w="38100" cap="flat">
              <a:solidFill>
                <a:srgbClr val="2D6CDF"/>
              </a:solidFill>
              <a:prstDash val="solid"/>
              <a:round/>
            </a:ln>
            <a:effectLst/>
          </c:spPr>
          <c:marker>
            <c:symbol val="circle"/>
            <c:size val="6"/>
            <c:spPr>
              <a:solidFill>
                <a:srgbClr val="2D6CDF"/>
              </a:solidFill>
              <a:ln w="9525" cap="flat">
                <a:solidFill>
                  <a:srgbClr val="2D6CDF"/>
                </a:solidFill>
                <a:prstDash val="solid"/>
                <a:round/>
              </a:ln>
              <a:effectLst/>
            </c:spPr>
          </c:marker>
          <c:cat>
            <c:strRef>
              <c:f>Sheet1!$A$2:$A$50</c:f>
              <c:strCache>
                <c:ptCount val="49"/>
                <c:pt idx="0">
                  <c:v>0.0</c:v>
                </c:pt>
                <c:pt idx="8">
                  <c:v>0.2</c:v>
                </c:pt>
                <c:pt idx="16">
                  <c:v>0.4</c:v>
                </c:pt>
                <c:pt idx="24">
                  <c:v>0.6</c:v>
                </c:pt>
                <c:pt idx="32">
                  <c:v>0.8</c:v>
                </c:pt>
                <c:pt idx="40">
                  <c:v>1.0</c:v>
                </c:pt>
                <c:pt idx="48">
                  <c:v>1.2</c:v>
                </c:pt>
              </c:strCache>
            </c:strRef>
          </c:cat>
          <c:val>
            <c:numRef>
              <c:f>Sheet1!$B$2:$B$50</c:f>
              <c:numCache>
                <c:formatCode>General</c:formatCode>
                <c:ptCount val="49"/>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0</c:v>
                </c:pt>
                <c:pt idx="42">
                  <c:v>0</c:v>
                </c:pt>
                <c:pt idx="43">
                  <c:v>0</c:v>
                </c:pt>
                <c:pt idx="44">
                  <c:v>0</c:v>
                </c:pt>
                <c:pt idx="45">
                  <c:v>0</c:v>
                </c:pt>
                <c:pt idx="46">
                  <c:v>0</c:v>
                </c:pt>
                <c:pt idx="47">
                  <c:v>0</c:v>
                </c:pt>
                <c:pt idx="48">
                  <c:v>0</c:v>
                </c:pt>
              </c:numCache>
            </c:numRef>
          </c:val>
          <c:smooth val="0"/>
          <c:extLst>
            <c:ext xmlns:c16="http://schemas.microsoft.com/office/drawing/2014/chart" uri="{C3380CC4-5D6E-409C-BE32-E72D297353CC}">
              <c16:uniqueId val="{00000000-E808-F84B-AC35-8B6D64603619}"/>
            </c:ext>
          </c:extLst>
        </c:ser>
        <c:ser>
          <c:idx val="1"/>
          <c:order val="1"/>
          <c:tx>
            <c:strRef>
              <c:f>Sheet1!$C$1</c:f>
              <c:strCache>
                <c:ptCount val="1"/>
                <c:pt idx="0">
                  <c:v>U(0, 0.5)</c:v>
                </c:pt>
              </c:strCache>
            </c:strRef>
          </c:tx>
          <c:spPr>
            <a:ln w="38100" cap="flat">
              <a:solidFill>
                <a:srgbClr val="E23C8A"/>
              </a:solidFill>
              <a:prstDash val="solid"/>
              <a:round/>
            </a:ln>
            <a:effectLst/>
          </c:spPr>
          <c:marker>
            <c:symbol val="circle"/>
            <c:size val="6"/>
            <c:spPr>
              <a:solidFill>
                <a:srgbClr val="E23C8A"/>
              </a:solidFill>
              <a:ln w="9525" cap="flat">
                <a:solidFill>
                  <a:srgbClr val="E23C8A"/>
                </a:solidFill>
                <a:prstDash val="solid"/>
                <a:round/>
              </a:ln>
              <a:effectLst/>
            </c:spPr>
          </c:marker>
          <c:cat>
            <c:strRef>
              <c:f>Sheet1!$A$2:$A$50</c:f>
              <c:strCache>
                <c:ptCount val="49"/>
                <c:pt idx="0">
                  <c:v>0.0</c:v>
                </c:pt>
                <c:pt idx="8">
                  <c:v>0.2</c:v>
                </c:pt>
                <c:pt idx="16">
                  <c:v>0.4</c:v>
                </c:pt>
                <c:pt idx="24">
                  <c:v>0.6</c:v>
                </c:pt>
                <c:pt idx="32">
                  <c:v>0.8</c:v>
                </c:pt>
                <c:pt idx="40">
                  <c:v>1.0</c:v>
                </c:pt>
                <c:pt idx="48">
                  <c:v>1.2</c:v>
                </c:pt>
              </c:strCache>
            </c:strRef>
          </c:cat>
          <c:val>
            <c:numRef>
              <c:f>Sheet1!$C$2:$C$50</c:f>
              <c:numCache>
                <c:formatCode>General</c:formatCode>
                <c:ptCount val="49"/>
                <c:pt idx="0">
                  <c:v>2</c:v>
                </c:pt>
                <c:pt idx="1">
                  <c:v>2</c:v>
                </c:pt>
                <c:pt idx="2">
                  <c:v>2</c:v>
                </c:pt>
                <c:pt idx="3">
                  <c:v>2</c:v>
                </c:pt>
                <c:pt idx="4">
                  <c:v>2</c:v>
                </c:pt>
                <c:pt idx="5">
                  <c:v>2</c:v>
                </c:pt>
                <c:pt idx="6">
                  <c:v>2</c:v>
                </c:pt>
                <c:pt idx="7">
                  <c:v>2</c:v>
                </c:pt>
                <c:pt idx="8">
                  <c:v>2</c:v>
                </c:pt>
                <c:pt idx="9">
                  <c:v>2</c:v>
                </c:pt>
                <c:pt idx="10">
                  <c:v>2</c:v>
                </c:pt>
                <c:pt idx="11">
                  <c:v>2</c:v>
                </c:pt>
                <c:pt idx="12">
                  <c:v>2</c:v>
                </c:pt>
                <c:pt idx="13">
                  <c:v>2</c:v>
                </c:pt>
                <c:pt idx="14">
                  <c:v>2</c:v>
                </c:pt>
                <c:pt idx="15">
                  <c:v>2</c:v>
                </c:pt>
                <c:pt idx="16">
                  <c:v>2</c:v>
                </c:pt>
                <c:pt idx="17">
                  <c:v>2</c:v>
                </c:pt>
                <c:pt idx="18">
                  <c:v>2</c:v>
                </c:pt>
                <c:pt idx="19">
                  <c:v>2</c:v>
                </c:pt>
                <c:pt idx="20">
                  <c:v>2</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numCache>
            </c:numRef>
          </c:val>
          <c:smooth val="0"/>
          <c:extLst>
            <c:ext xmlns:c16="http://schemas.microsoft.com/office/drawing/2014/chart" uri="{C3380CC4-5D6E-409C-BE32-E72D297353CC}">
              <c16:uniqueId val="{00000001-E808-F84B-AC35-8B6D64603619}"/>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C99"/>
                </a:solidFill>
                <a:latin typeface="Arial"/>
              </a:defRPr>
            </a:pPr>
            <a:endParaRPr lang="en-US"/>
          </a:p>
        </c:txPr>
        <c:crossAx val="2094734552"/>
        <c:crosses val="autoZero"/>
        <c:auto val="1"/>
        <c:lblAlgn val="ctr"/>
        <c:lblOffset val="100"/>
        <c:noMultiLvlLbl val="1"/>
      </c:catAx>
      <c:valAx>
        <c:axId val="2094734552"/>
        <c:scaling>
          <c:orientation val="minMax"/>
          <c:max val="2.4"/>
          <c:min val="0"/>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C99"/>
                </a:solidFill>
                <a:latin typeface="Arial"/>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000">
              <a:solidFill>
                <a:srgbClr val="6B7C99"/>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E2148"/>
                </a:solidFill>
                <a:latin typeface="Arial"/>
              </a:defRPr>
            </a:pPr>
            <a:r>
              <a:rPr lang="en-US" sz="1200" b="0" i="0" u="none" strike="noStrike">
                <a:solidFill>
                  <a:srgbClr val="0E2148"/>
                </a:solidFill>
                <a:latin typeface="Arial"/>
              </a:rPr>
              <a:t>Densidad exponencial para tres tiempos medios</a:t>
            </a:r>
          </a:p>
        </c:rich>
      </c:tx>
      <c:overlay val="0"/>
    </c:title>
    <c:autoTitleDeleted val="0"/>
    <c:plotArea>
      <c:layout/>
      <c:lineChart>
        <c:grouping val="standard"/>
        <c:varyColors val="0"/>
        <c:ser>
          <c:idx val="0"/>
          <c:order val="0"/>
          <c:tx>
            <c:strRef>
              <c:f>Sheet1!$B$1</c:f>
              <c:strCache>
                <c:ptCount val="1"/>
                <c:pt idx="0">
                  <c:v>media 10 días</c:v>
                </c:pt>
              </c:strCache>
            </c:strRef>
          </c:tx>
          <c:spPr>
            <a:ln w="31750" cap="flat">
              <a:solidFill>
                <a:srgbClr val="2D6CDF"/>
              </a:solidFill>
              <a:prstDash val="solid"/>
              <a:round/>
            </a:ln>
            <a:effectLst/>
          </c:spPr>
          <c:marker>
            <c:symbol val="circle"/>
            <c:size val="6"/>
            <c:spPr>
              <a:solidFill>
                <a:srgbClr val="2D6CDF"/>
              </a:solidFill>
              <a:ln w="9525" cap="flat">
                <a:solidFill>
                  <a:srgbClr val="2D6CDF"/>
                </a:solidFill>
                <a:prstDash val="solid"/>
                <a:round/>
              </a:ln>
              <a:effectLst/>
            </c:spPr>
          </c:marker>
          <c:cat>
            <c:strRef>
              <c:f>Sheet1!$A$2:$A$52</c:f>
              <c:strCache>
                <c:ptCount val="51"/>
                <c:pt idx="0">
                  <c:v>0</c:v>
                </c:pt>
                <c:pt idx="10">
                  <c:v>20</c:v>
                </c:pt>
                <c:pt idx="20">
                  <c:v>40</c:v>
                </c:pt>
                <c:pt idx="30">
                  <c:v>60</c:v>
                </c:pt>
                <c:pt idx="40">
                  <c:v>80</c:v>
                </c:pt>
                <c:pt idx="50">
                  <c:v>100</c:v>
                </c:pt>
              </c:strCache>
            </c:strRef>
          </c:cat>
          <c:val>
            <c:numRef>
              <c:f>Sheet1!$B$2:$B$52</c:f>
              <c:numCache>
                <c:formatCode>General</c:formatCode>
                <c:ptCount val="51"/>
                <c:pt idx="0">
                  <c:v>0.1</c:v>
                </c:pt>
                <c:pt idx="1">
                  <c:v>8.1873075307798193E-2</c:v>
                </c:pt>
                <c:pt idx="2">
                  <c:v>6.7032004603563941E-2</c:v>
                </c:pt>
                <c:pt idx="3">
                  <c:v>5.4881163609402643E-2</c:v>
                </c:pt>
                <c:pt idx="4">
                  <c:v>4.4932896411722156E-2</c:v>
                </c:pt>
                <c:pt idx="5">
                  <c:v>3.6787944117144235E-2</c:v>
                </c:pt>
                <c:pt idx="6">
                  <c:v>3.0119421191220203E-2</c:v>
                </c:pt>
                <c:pt idx="7">
                  <c:v>2.4659696394160643E-2</c:v>
                </c:pt>
                <c:pt idx="8">
                  <c:v>2.0189651799465538E-2</c:v>
                </c:pt>
                <c:pt idx="9">
                  <c:v>1.6529888822158653E-2</c:v>
                </c:pt>
                <c:pt idx="10">
                  <c:v>1.3533528323661271E-2</c:v>
                </c:pt>
                <c:pt idx="11">
                  <c:v>1.1080315836233388E-2</c:v>
                </c:pt>
                <c:pt idx="12">
                  <c:v>9.0717953289412481E-3</c:v>
                </c:pt>
                <c:pt idx="13">
                  <c:v>7.4273578214333882E-3</c:v>
                </c:pt>
                <c:pt idx="14">
                  <c:v>6.0810062625217959E-3</c:v>
                </c:pt>
                <c:pt idx="15">
                  <c:v>4.9787068367863948E-3</c:v>
                </c:pt>
                <c:pt idx="16">
                  <c:v>4.0762203978366206E-3</c:v>
                </c:pt>
                <c:pt idx="17">
                  <c:v>3.3373269960326069E-3</c:v>
                </c:pt>
                <c:pt idx="18">
                  <c:v>2.7323722447292562E-3</c:v>
                </c:pt>
                <c:pt idx="19">
                  <c:v>2.2370771856165591E-3</c:v>
                </c:pt>
                <c:pt idx="20">
                  <c:v>1.831563888873418E-3</c:v>
                </c:pt>
                <c:pt idx="21">
                  <c:v>1.4995576820477704E-3</c:v>
                </c:pt>
                <c:pt idx="22">
                  <c:v>1.2277339903068439E-3</c:v>
                </c:pt>
                <c:pt idx="23">
                  <c:v>1.0051835744633575E-3</c:v>
                </c:pt>
                <c:pt idx="24">
                  <c:v>8.2297470490200241E-4</c:v>
                </c:pt>
                <c:pt idx="25">
                  <c:v>6.7379469990854672E-4</c:v>
                </c:pt>
                <c:pt idx="26">
                  <c:v>5.5165644207607722E-4</c:v>
                </c:pt>
                <c:pt idx="27">
                  <c:v>4.5165809426126662E-4</c:v>
                </c:pt>
                <c:pt idx="28">
                  <c:v>3.6978637164829291E-4</c:v>
                </c:pt>
                <c:pt idx="29">
                  <c:v>3.0275547453758131E-4</c:v>
                </c:pt>
                <c:pt idx="30">
                  <c:v>2.4787521766663585E-4</c:v>
                </c:pt>
                <c:pt idx="31">
                  <c:v>2.0294306362957342E-4</c:v>
                </c:pt>
                <c:pt idx="32">
                  <c:v>1.661557273173934E-4</c:v>
                </c:pt>
                <c:pt idx="33">
                  <c:v>1.3603680375478926E-4</c:v>
                </c:pt>
                <c:pt idx="34">
                  <c:v>1.1137751478448025E-4</c:v>
                </c:pt>
                <c:pt idx="35">
                  <c:v>9.1188196555451624E-5</c:v>
                </c:pt>
                <c:pt idx="36">
                  <c:v>7.4658580837667923E-5</c:v>
                </c:pt>
                <c:pt idx="37">
                  <c:v>6.1125276112957227E-5</c:v>
                </c:pt>
                <c:pt idx="38">
                  <c:v>5.004514334406104E-5</c:v>
                </c:pt>
                <c:pt idx="39">
                  <c:v>4.0973497897978647E-5</c:v>
                </c:pt>
                <c:pt idx="40">
                  <c:v>3.3546262790251189E-5</c:v>
                </c:pt>
                <c:pt idx="41">
                  <c:v>2.7465356997214206E-5</c:v>
                </c:pt>
                <c:pt idx="42">
                  <c:v>2.2486732417884819E-5</c:v>
                </c:pt>
                <c:pt idx="43">
                  <c:v>1.8410579366757919E-5</c:v>
                </c:pt>
                <c:pt idx="44">
                  <c:v>1.5073307509547651E-5</c:v>
                </c:pt>
                <c:pt idx="45">
                  <c:v>1.2340980408667957E-5</c:v>
                </c:pt>
                <c:pt idx="46">
                  <c:v>1.0103940183709325E-5</c:v>
                </c:pt>
                <c:pt idx="47">
                  <c:v>8.2724065556632225E-6</c:v>
                </c:pt>
                <c:pt idx="48">
                  <c:v>6.772873649085378E-6</c:v>
                </c:pt>
                <c:pt idx="49">
                  <c:v>5.545159943217695E-6</c:v>
                </c:pt>
                <c:pt idx="50">
                  <c:v>4.5399929762484852E-6</c:v>
                </c:pt>
              </c:numCache>
            </c:numRef>
          </c:val>
          <c:smooth val="1"/>
          <c:extLst>
            <c:ext xmlns:c16="http://schemas.microsoft.com/office/drawing/2014/chart" uri="{C3380CC4-5D6E-409C-BE32-E72D297353CC}">
              <c16:uniqueId val="{00000000-E8EF-694F-A663-187CABEDD5BD}"/>
            </c:ext>
          </c:extLst>
        </c:ser>
        <c:ser>
          <c:idx val="1"/>
          <c:order val="1"/>
          <c:tx>
            <c:strRef>
              <c:f>Sheet1!$C$1</c:f>
              <c:strCache>
                <c:ptCount val="1"/>
                <c:pt idx="0">
                  <c:v>media 30 días</c:v>
                </c:pt>
              </c:strCache>
            </c:strRef>
          </c:tx>
          <c:spPr>
            <a:ln w="31750" cap="flat">
              <a:solidFill>
                <a:srgbClr val="E23C8A"/>
              </a:solidFill>
              <a:prstDash val="solid"/>
              <a:round/>
            </a:ln>
            <a:effectLst/>
          </c:spPr>
          <c:marker>
            <c:symbol val="circle"/>
            <c:size val="6"/>
            <c:spPr>
              <a:solidFill>
                <a:srgbClr val="E23C8A"/>
              </a:solidFill>
              <a:ln w="9525" cap="flat">
                <a:solidFill>
                  <a:srgbClr val="E23C8A"/>
                </a:solidFill>
                <a:prstDash val="solid"/>
                <a:round/>
              </a:ln>
              <a:effectLst/>
            </c:spPr>
          </c:marker>
          <c:cat>
            <c:strRef>
              <c:f>Sheet1!$A$2:$A$52</c:f>
              <c:strCache>
                <c:ptCount val="51"/>
                <c:pt idx="0">
                  <c:v>0</c:v>
                </c:pt>
                <c:pt idx="10">
                  <c:v>20</c:v>
                </c:pt>
                <c:pt idx="20">
                  <c:v>40</c:v>
                </c:pt>
                <c:pt idx="30">
                  <c:v>60</c:v>
                </c:pt>
                <c:pt idx="40">
                  <c:v>80</c:v>
                </c:pt>
                <c:pt idx="50">
                  <c:v>100</c:v>
                </c:pt>
              </c:strCache>
            </c:strRef>
          </c:cat>
          <c:val>
            <c:numRef>
              <c:f>Sheet1!$C$2:$C$52</c:f>
              <c:numCache>
                <c:formatCode>General</c:formatCode>
                <c:ptCount val="51"/>
                <c:pt idx="0">
                  <c:v>3.3333333333333333E-2</c:v>
                </c:pt>
                <c:pt idx="1">
                  <c:v>3.1183566167720594E-2</c:v>
                </c:pt>
                <c:pt idx="2">
                  <c:v>2.917244396809825E-2</c:v>
                </c:pt>
                <c:pt idx="3">
                  <c:v>2.7291025102599394E-2</c:v>
                </c:pt>
                <c:pt idx="4">
                  <c:v>2.5530944612154955E-2</c:v>
                </c:pt>
                <c:pt idx="5">
                  <c:v>2.388437701912631E-2</c:v>
                </c:pt>
                <c:pt idx="6">
                  <c:v>2.2344001534521311E-2</c:v>
                </c:pt>
                <c:pt idx="7">
                  <c:v>2.0902969509101872E-2</c:v>
                </c:pt>
                <c:pt idx="8">
                  <c:v>1.9554873983667728E-2</c:v>
                </c:pt>
                <c:pt idx="9">
                  <c:v>1.8293721203134217E-2</c:v>
                </c:pt>
                <c:pt idx="10">
                  <c:v>1.7113903967753068E-2</c:v>
                </c:pt>
                <c:pt idx="11">
                  <c:v>1.6010176702993314E-2</c:v>
                </c:pt>
                <c:pt idx="12">
                  <c:v>1.4977632137240718E-2</c:v>
                </c:pt>
                <c:pt idx="13">
                  <c:v>1.401167948362273E-2</c:v>
                </c:pt>
                <c:pt idx="14">
                  <c:v>1.3108024028953275E-2</c:v>
                </c:pt>
                <c:pt idx="15">
                  <c:v>1.2262648039048078E-2</c:v>
                </c:pt>
                <c:pt idx="16">
                  <c:v>1.1471792895513748E-2</c:v>
                </c:pt>
                <c:pt idx="17">
                  <c:v>1.0731942384589197E-2</c:v>
                </c:pt>
                <c:pt idx="18">
                  <c:v>1.003980706374007E-2</c:v>
                </c:pt>
                <c:pt idx="19">
                  <c:v>9.3923096364986122E-3</c:v>
                </c:pt>
                <c:pt idx="20">
                  <c:v>8.7865712705242262E-3</c:v>
                </c:pt>
                <c:pt idx="21">
                  <c:v>8.2198987980535501E-3</c:v>
                </c:pt>
                <c:pt idx="22">
                  <c:v>7.689772741832095E-3</c:v>
                </c:pt>
                <c:pt idx="23">
                  <c:v>7.1938361132896601E-3</c:v>
                </c:pt>
                <c:pt idx="24">
                  <c:v>6.7298839331551797E-3</c:v>
                </c:pt>
                <c:pt idx="25">
                  <c:v>6.2958534279187279E-3</c:v>
                </c:pt>
                <c:pt idx="26">
                  <c:v>5.8898148585532243E-3</c:v>
                </c:pt>
                <c:pt idx="27">
                  <c:v>5.5099629407195511E-3</c:v>
                </c:pt>
                <c:pt idx="28">
                  <c:v>5.1546088183084936E-3</c:v>
                </c:pt>
                <c:pt idx="29">
                  <c:v>4.8221725546331688E-3</c:v>
                </c:pt>
                <c:pt idx="30">
                  <c:v>4.5111761078870903E-3</c:v>
                </c:pt>
                <c:pt idx="31">
                  <c:v>4.2202367596361201E-3</c:v>
                </c:pt>
                <c:pt idx="32">
                  <c:v>3.9480609671267899E-3</c:v>
                </c:pt>
                <c:pt idx="33">
                  <c:v>3.6934386120777954E-3</c:v>
                </c:pt>
                <c:pt idx="34">
                  <c:v>3.4552376203842616E-3</c:v>
                </c:pt>
                <c:pt idx="35">
                  <c:v>3.2323989288135018E-3</c:v>
                </c:pt>
                <c:pt idx="36">
                  <c:v>3.0239317763137504E-3</c:v>
                </c:pt>
                <c:pt idx="37">
                  <c:v>2.8289092990005805E-3</c:v>
                </c:pt>
                <c:pt idx="38">
                  <c:v>2.6464644092359406E-3</c:v>
                </c:pt>
                <c:pt idx="39">
                  <c:v>2.4757859404777958E-3</c:v>
                </c:pt>
                <c:pt idx="40">
                  <c:v>2.3161150407600513E-3</c:v>
                </c:pt>
                <c:pt idx="41">
                  <c:v>2.1667417987678178E-3</c:v>
                </c:pt>
                <c:pt idx="42">
                  <c:v>2.0270020875072657E-3</c:v>
                </c:pt>
                <c:pt idx="43">
                  <c:v>1.8962746115367172E-3</c:v>
                </c:pt>
                <c:pt idx="44">
                  <c:v>1.7739781446307167E-3</c:v>
                </c:pt>
                <c:pt idx="45">
                  <c:v>1.6595689455954647E-3</c:v>
                </c:pt>
                <c:pt idx="46">
                  <c:v>1.5525383407461145E-3</c:v>
                </c:pt>
                <c:pt idx="47">
                  <c:v>1.4524104622973878E-3</c:v>
                </c:pt>
                <c:pt idx="48">
                  <c:v>1.3587401326122068E-3</c:v>
                </c:pt>
                <c:pt idx="49">
                  <c:v>1.2711108849015064E-3</c:v>
                </c:pt>
                <c:pt idx="50">
                  <c:v>1.1891331115750799E-3</c:v>
                </c:pt>
              </c:numCache>
            </c:numRef>
          </c:val>
          <c:smooth val="1"/>
          <c:extLst>
            <c:ext xmlns:c16="http://schemas.microsoft.com/office/drawing/2014/chart" uri="{C3380CC4-5D6E-409C-BE32-E72D297353CC}">
              <c16:uniqueId val="{00000001-E8EF-694F-A663-187CABEDD5BD}"/>
            </c:ext>
          </c:extLst>
        </c:ser>
        <c:ser>
          <c:idx val="2"/>
          <c:order val="2"/>
          <c:tx>
            <c:strRef>
              <c:f>Sheet1!$D$1</c:f>
              <c:strCache>
                <c:ptCount val="1"/>
                <c:pt idx="0">
                  <c:v>media 60 días</c:v>
                </c:pt>
              </c:strCache>
            </c:strRef>
          </c:tx>
          <c:spPr>
            <a:ln w="31750" cap="flat">
              <a:solidFill>
                <a:srgbClr val="7FA6E8"/>
              </a:solidFill>
              <a:prstDash val="solid"/>
              <a:round/>
            </a:ln>
            <a:effectLst/>
          </c:spPr>
          <c:marker>
            <c:symbol val="circle"/>
            <c:size val="6"/>
            <c:spPr>
              <a:solidFill>
                <a:srgbClr val="7FA6E8"/>
              </a:solidFill>
              <a:ln w="9525" cap="flat">
                <a:solidFill>
                  <a:srgbClr val="7FA6E8"/>
                </a:solidFill>
                <a:prstDash val="solid"/>
                <a:round/>
              </a:ln>
              <a:effectLst/>
            </c:spPr>
          </c:marker>
          <c:cat>
            <c:strRef>
              <c:f>Sheet1!$A$2:$A$52</c:f>
              <c:strCache>
                <c:ptCount val="51"/>
                <c:pt idx="0">
                  <c:v>0</c:v>
                </c:pt>
                <c:pt idx="10">
                  <c:v>20</c:v>
                </c:pt>
                <c:pt idx="20">
                  <c:v>40</c:v>
                </c:pt>
                <c:pt idx="30">
                  <c:v>60</c:v>
                </c:pt>
                <c:pt idx="40">
                  <c:v>80</c:v>
                </c:pt>
                <c:pt idx="50">
                  <c:v>100</c:v>
                </c:pt>
              </c:strCache>
            </c:strRef>
          </c:cat>
          <c:val>
            <c:numRef>
              <c:f>Sheet1!$D$2:$D$52</c:f>
              <c:numCache>
                <c:formatCode>General</c:formatCode>
                <c:ptCount val="51"/>
                <c:pt idx="0">
                  <c:v>1.6666666666666666E-2</c:v>
                </c:pt>
                <c:pt idx="1">
                  <c:v>1.6120268341366765E-2</c:v>
                </c:pt>
                <c:pt idx="2">
                  <c:v>1.5591783083860297E-2</c:v>
                </c:pt>
                <c:pt idx="3">
                  <c:v>1.5080623633932658E-2</c:v>
                </c:pt>
                <c:pt idx="4">
                  <c:v>1.4586221984049125E-2</c:v>
                </c:pt>
                <c:pt idx="5">
                  <c:v>1.4108028748176901E-2</c:v>
                </c:pt>
                <c:pt idx="6">
                  <c:v>1.3645512551299697E-2</c:v>
                </c:pt>
                <c:pt idx="7">
                  <c:v>1.3198159438946361E-2</c:v>
                </c:pt>
                <c:pt idx="8">
                  <c:v>1.2765472306077478E-2</c:v>
                </c:pt>
                <c:pt idx="9">
                  <c:v>1.2346970344695297E-2</c:v>
                </c:pt>
                <c:pt idx="10">
                  <c:v>1.1942188509563155E-2</c:v>
                </c:pt>
                <c:pt idx="11">
                  <c:v>1.1550677001440692E-2</c:v>
                </c:pt>
                <c:pt idx="12">
                  <c:v>1.1172000767260656E-2</c:v>
                </c:pt>
                <c:pt idx="13">
                  <c:v>1.0805739016691828E-2</c:v>
                </c:pt>
                <c:pt idx="14">
                  <c:v>1.0451484754550936E-2</c:v>
                </c:pt>
                <c:pt idx="15">
                  <c:v>1.0108844328543891E-2</c:v>
                </c:pt>
                <c:pt idx="16">
                  <c:v>9.7774369918338638E-3</c:v>
                </c:pt>
                <c:pt idx="17">
                  <c:v>9.4568944799500645E-3</c:v>
                </c:pt>
                <c:pt idx="18">
                  <c:v>9.1468606015671083E-3</c:v>
                </c:pt>
                <c:pt idx="19">
                  <c:v>8.8469908427002333E-3</c:v>
                </c:pt>
                <c:pt idx="20">
                  <c:v>8.5569519838765342E-3</c:v>
                </c:pt>
                <c:pt idx="21">
                  <c:v>8.2764217298568251E-3</c:v>
                </c:pt>
                <c:pt idx="22">
                  <c:v>8.0050883514966569E-3</c:v>
                </c:pt>
                <c:pt idx="23">
                  <c:v>7.7426503393485252E-3</c:v>
                </c:pt>
                <c:pt idx="24">
                  <c:v>7.4888160686203591E-3</c:v>
                </c:pt>
                <c:pt idx="25">
                  <c:v>7.2433034751179697E-3</c:v>
                </c:pt>
                <c:pt idx="26">
                  <c:v>7.0058397418113648E-3</c:v>
                </c:pt>
                <c:pt idx="27">
                  <c:v>6.7761609956766521E-3</c:v>
                </c:pt>
                <c:pt idx="28">
                  <c:v>6.5540120144766375E-3</c:v>
                </c:pt>
                <c:pt idx="29">
                  <c:v>6.3391459431543099E-3</c:v>
                </c:pt>
                <c:pt idx="30">
                  <c:v>6.1313240195240391E-3</c:v>
                </c:pt>
                <c:pt idx="31">
                  <c:v>5.9303153089556998E-3</c:v>
                </c:pt>
                <c:pt idx="32">
                  <c:v>5.735896447756874E-3</c:v>
                </c:pt>
                <c:pt idx="33">
                  <c:v>5.5478513949679918E-3</c:v>
                </c:pt>
                <c:pt idx="34">
                  <c:v>5.3659711922945984E-3</c:v>
                </c:pt>
                <c:pt idx="35">
                  <c:v>5.1900537319099615E-3</c:v>
                </c:pt>
                <c:pt idx="36">
                  <c:v>5.019903531870035E-3</c:v>
                </c:pt>
                <c:pt idx="37">
                  <c:v>4.8553315188911835E-3</c:v>
                </c:pt>
                <c:pt idx="38">
                  <c:v>4.6961548182493061E-3</c:v>
                </c:pt>
                <c:pt idx="39">
                  <c:v>4.5421965505668769E-3</c:v>
                </c:pt>
                <c:pt idx="40">
                  <c:v>4.3932856352621131E-3</c:v>
                </c:pt>
                <c:pt idx="41">
                  <c:v>4.2492566004418324E-3</c:v>
                </c:pt>
                <c:pt idx="42">
                  <c:v>4.1099493990267751E-3</c:v>
                </c:pt>
                <c:pt idx="43">
                  <c:v>3.9752092309050403E-3</c:v>
                </c:pt>
                <c:pt idx="44">
                  <c:v>3.8448863709160475E-3</c:v>
                </c:pt>
                <c:pt idx="45">
                  <c:v>3.7188360024738303E-3</c:v>
                </c:pt>
                <c:pt idx="46">
                  <c:v>3.59691805664483E-3</c:v>
                </c:pt>
                <c:pt idx="47">
                  <c:v>3.4789970565013272E-3</c:v>
                </c:pt>
                <c:pt idx="48">
                  <c:v>3.3649419665775899E-3</c:v>
                </c:pt>
                <c:pt idx="49">
                  <c:v>3.2546260472614292E-3</c:v>
                </c:pt>
                <c:pt idx="50">
                  <c:v>3.147926713959364E-3</c:v>
                </c:pt>
              </c:numCache>
            </c:numRef>
          </c:val>
          <c:smooth val="1"/>
          <c:extLst>
            <c:ext xmlns:c16="http://schemas.microsoft.com/office/drawing/2014/chart" uri="{C3380CC4-5D6E-409C-BE32-E72D297353CC}">
              <c16:uniqueId val="{00000002-E8EF-694F-A663-187CABEDD5B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000" b="0" i="0" u="none" strike="noStrike">
                    <a:solidFill>
                      <a:srgbClr val="6B7C99"/>
                    </a:solidFill>
                    <a:latin typeface="Arial"/>
                  </a:defRPr>
                </a:pPr>
                <a:r>
                  <a:rPr lang="en-US" sz="1000" b="0" i="0" u="none" strike="noStrike">
                    <a:solidFill>
                      <a:srgbClr val="6B7C99"/>
                    </a:solidFill>
                    <a:latin typeface="Arial"/>
                  </a:rPr>
                  <a:t>días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C9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DCE3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C99"/>
                </a:solidFill>
                <a:latin typeface="Arial"/>
              </a:defRPr>
            </a:pPr>
            <a:endParaRPr lang="en-US"/>
          </a:p>
        </c:txPr>
        <c:crossAx val="2094734554"/>
        <c:crosses val="autoZero"/>
        <c:crossBetween val="between"/>
      </c:valAx>
      <c:spPr>
        <a:noFill/>
        <a:ln w="12700" cap="flat">
          <a:solidFill>
            <a:srgbClr val="FFFFFF"/>
          </a:solidFill>
        </a:ln>
        <a:effectLst/>
      </c:spPr>
    </c:plotArea>
    <c:legend>
      <c:legendPos val="b"/>
      <c:overlay val="0"/>
      <c:txPr>
        <a:bodyPr/>
        <a:lstStyle/>
        <a:p>
          <a:pPr>
            <a:defRPr sz="1000">
              <a:solidFill>
                <a:srgbClr val="6B7C99"/>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7885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(2 min). No repetir la presentación personal. Abrir con una pregunta directa: '¿cuántos fraudes hay en 1000 transacciones?' la respondimos la clase pasada. '¿cuánto tiempo pasa entre dos fraudes?' NO la podemos responder todavía. Eso es la clase de hoy. Pedir que abran Colab ANTES de empezar.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Preguntar en voz alta por la tercera tarjeta: '¿cuál usarían para contar reclamos por día?' (Poisson). Dejar claro que hoy NO se descarta nada de la clase 1: se extiende. La exponencial de hoy es la hermana gemela de la Poisson de la semana pasada.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Que el grupo complete la columna derecha con un ejemplo de su propio trabajo antes de avanzar. Insistir: 'tiempo', 'monto', 'peso', 'temperatura', 'latencia' — cualquier cosa que se mide con un instrumento, no que se cuenta con los dedos.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Rápido. Solo marcar que el bloque 04 es el que más les va a servir en el trabajo y el que reaparece en la clase 12 (tamaño de muestra).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Analogía del pan: ¿cuánto pesa una rebanada de grosor cero? Cero. Pero el pan pesa 800 g. El peso vive en el grosor, no en el corte. Advertir: el detalle de ≤ vs &lt; parece trivial hoy, pero les va a ahorrar errores en la clase 7 cuando calculen p-valores.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Eje X = días entre alertas AML, tiempo medio 30 días. Preguntar por qué NO se grafica la probabilidad del bin directamente: porque al partir el bin en dos, la probabilidad se parte a la mitad y el gráfico se aplasta. Dividir por el ancho es lo que estabiliza la altura. Este es el gráfico que van a reproducir en el Colab con el dataset real.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Escribir en la pizarra las unidades: si X está en días, f(x) está en 1/días. Eso mata la confusión de raíz. Pedirles el caso de la Uniforme(0, 0.5) resuelto mentalmente: base 0.5 × altura 2 = 1.</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Leer el gráfico juntos: en x=30 la curva va por 0.63 — es decir, el 63 % de los intervalos entre alertas dura menos que el promedio. Ese dato desconcierta y es la mejor entrada al tema de asimetría. Pregunta para el grupo: ¿por qué no es 0.50?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Que noten el salto de la tabla: del 95 % al 99.9 % el cuantil se multiplica por 2.3, y frente a la media por casi 7. Ahí está la razón por la que las colas se modelan aparte. Este ejemplo se retoma en la clase 6 cuando aparezcan los intervalos de confianza — mismo objeto matemático, otro uso.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No derivar nada. La tabla es para que dejen de tenerle miedo a la integral: es una suma con infinitos términos. Mencionar Cauchy solo como cultura general — se retoma si alguien pregunta por colas pesadas.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La barra magenta es la prueba visual de que f(x)&gt;1 es legítimo — conectar explícitamente con la trampa de la slide 7. Adelantar el inverse transform sampling: es el ejercicio 3 del notebook y suele ser el momento 'ajá' de la sesión.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Mostrar que las tres curvas arrancan alto y caen: el tiempo de espera más probable siempre es 'poquito'. Contraintuitivo y cierto. Conectar con la slide 8: por eso el 63 % de las esperas es menor que la media. Ejemplo de riesgo: tiempo entre alertas AML por analista.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La mejor manera de que se les quede: preguntar '¿un cliente que lleva 5 años sin caer en default es igual de riesgoso que uno nuevo?'. Todos dicen no. Perfecto: acaban de rechazar el supuesto de falta de memoria por su cuenta. Este es el gancho para la clase de supervivencia si el curso se extiende.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No entrar en las fórmulas de Weibull y Gamma: solo el criterio de elección. La regla práctica que deben salir sabiendo: si el riesgo cambia con la edad, no es exponencial. Lognormal se retoma en la clase 3 cuando aparezca la normal.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Esta es la slide que van a fotografiar. Dejarla en pantalla mientras se pasa al Colab. Pedir un ejemplo propio por participante si el grupo es chico.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Contar una anécdota real y breve del error 3 o 4 — funciona mucho mejor que la lista. Cerrar aquí la parte teórica: son 40 min exactos si no se estiraron las preguntas.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de explicación y a trabajar. Los bloques 1 y 2 son guiados; el 3 y el 4 son en parejas. Circular durante el bloque 3: el inverse transform es donde se atascan. El bloque 4 no tiene respuesta única — se evalúa el argumento, no el número.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Cerrar con el reto: es corto, personal y garantiza que lleguen a la clase 3 con la intuición de asimetría ya instalada. Recordar que la solución del notebook se libera hoy mismo.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148"/>
        </a:solidFill>
        <a:effectLst/>
      </p:bgPr>
    </p:bg>
    <p:spTree>
      <p:nvGrpSpPr>
        <p:cNvPr id="1" name=""/>
        <p:cNvGrpSpPr/>
        <p:nvPr/>
      </p:nvGrpSpPr>
      <p:grpSpPr>
        <a:xfrm>
          <a:off x="0" y="0"/>
          <a:ext cx="0" cy="0"/>
          <a:chOff x="0" y="0"/>
          <a:chExt cx="0" cy="0"/>
        </a:xfrm>
      </p:grpSpPr>
      <p:sp>
        <p:nvSpPr>
          <p:cNvPr id="2" name="Shape 0"/>
          <p:cNvSpPr/>
          <p:nvPr/>
        </p:nvSpPr>
        <p:spPr>
          <a:xfrm>
            <a:off x="8778240" y="-1463040"/>
            <a:ext cx="5120640" cy="5120640"/>
          </a:xfrm>
          <a:prstGeom prst="ellipse">
            <a:avLst/>
          </a:prstGeom>
          <a:solidFill>
            <a:srgbClr val="2D6CDF">
              <a:alpha val="45000"/>
            </a:srgbClr>
          </a:solidFill>
          <a:ln w="12700">
            <a:solidFill>
              <a:srgbClr val="2D6CDF">
                <a:alpha val="0"/>
              </a:srgbClr>
            </a:solidFill>
            <a:prstDash val="solid"/>
          </a:ln>
        </p:spPr>
      </p:sp>
      <p:sp>
        <p:nvSpPr>
          <p:cNvPr id="3" name="Shape 1"/>
          <p:cNvSpPr/>
          <p:nvPr/>
        </p:nvSpPr>
        <p:spPr>
          <a:xfrm>
            <a:off x="10241280" y="4023360"/>
            <a:ext cx="3108960" cy="3108960"/>
          </a:xfrm>
          <a:prstGeom prst="ellipse">
            <a:avLst/>
          </a:prstGeom>
          <a:solidFill>
            <a:srgbClr val="E23C8A">
              <a:alpha val="30000"/>
            </a:srgbClr>
          </a:solidFill>
          <a:ln w="12700">
            <a:solidFill>
              <a:srgbClr val="E23C8A">
                <a:alpha val="0"/>
              </a:srgbClr>
            </a:solidFill>
            <a:prstDash val="solid"/>
          </a:ln>
        </p:spPr>
      </p:sp>
      <p:sp>
        <p:nvSpPr>
          <p:cNvPr id="4" name="Shape 2"/>
          <p:cNvSpPr/>
          <p:nvPr/>
        </p:nvSpPr>
        <p:spPr>
          <a:xfrm>
            <a:off x="685800" y="1417320"/>
            <a:ext cx="2377440" cy="365760"/>
          </a:xfrm>
          <a:prstGeom prst="roundRect">
            <a:avLst>
              <a:gd name="adj" fmla="val 50000"/>
            </a:avLst>
          </a:prstGeom>
          <a:solidFill>
            <a:srgbClr val="E23C8A"/>
          </a:solidFill>
          <a:ln w="12700">
            <a:solidFill>
              <a:srgbClr val="E23C8A"/>
            </a:solidFill>
            <a:prstDash val="solid"/>
          </a:ln>
        </p:spPr>
      </p:sp>
      <p:sp>
        <p:nvSpPr>
          <p:cNvPr id="5" name="Text 3"/>
          <p:cNvSpPr/>
          <p:nvPr/>
        </p:nvSpPr>
        <p:spPr>
          <a:xfrm>
            <a:off x="685800" y="1417320"/>
            <a:ext cx="237744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MÓDULO 1  ·  CLASE 2</a:t>
            </a:r>
            <a:endParaRPr lang="en-US" sz="1100" dirty="0"/>
          </a:p>
        </p:txBody>
      </p:sp>
      <p:sp>
        <p:nvSpPr>
          <p:cNvPr id="6" name="Text 4"/>
          <p:cNvSpPr/>
          <p:nvPr/>
        </p:nvSpPr>
        <p:spPr>
          <a:xfrm>
            <a:off x="640080" y="1965960"/>
            <a:ext cx="7863840" cy="1737360"/>
          </a:xfrm>
          <a:prstGeom prst="rect">
            <a:avLst/>
          </a:prstGeom>
          <a:noFill/>
          <a:ln/>
        </p:spPr>
        <p:txBody>
          <a:bodyPr wrap="square" lIns="0" tIns="0" rIns="0" bIns="0" rtlCol="0" anchor="ctr"/>
          <a:lstStyle/>
          <a:p>
            <a:pPr marL="0" indent="0">
              <a:lnSpc>
                <a:spcPts val="5000"/>
              </a:lnSpc>
              <a:buNone/>
            </a:pPr>
            <a:r>
              <a:rPr lang="en-US" sz="4600" b="1" dirty="0">
                <a:solidFill>
                  <a:srgbClr val="FFFFFF"/>
                </a:solidFill>
                <a:latin typeface="Arial" pitchFamily="34" charset="0"/>
                <a:ea typeface="Arial" pitchFamily="34" charset="-122"/>
                <a:cs typeface="Arial" pitchFamily="34" charset="-120"/>
              </a:rPr>
              <a:t>Cuando contar</a:t>
            </a:r>
            <a:endParaRPr lang="en-US" sz="4600" dirty="0"/>
          </a:p>
          <a:p>
            <a:pPr marL="0" indent="0">
              <a:lnSpc>
                <a:spcPts val="5000"/>
              </a:lnSpc>
              <a:buNone/>
            </a:pPr>
            <a:r>
              <a:rPr lang="en-US" sz="4600" b="1" dirty="0">
                <a:solidFill>
                  <a:srgbClr val="FFFFFF"/>
                </a:solidFill>
                <a:latin typeface="Arial" pitchFamily="34" charset="0"/>
                <a:ea typeface="Arial" pitchFamily="34" charset="-122"/>
                <a:cs typeface="Arial" pitchFamily="34" charset="-120"/>
              </a:rPr>
              <a:t>ya no alcanza</a:t>
            </a:r>
            <a:endParaRPr lang="en-US" sz="4600" dirty="0"/>
          </a:p>
        </p:txBody>
      </p:sp>
      <p:sp>
        <p:nvSpPr>
          <p:cNvPr id="7" name="Text 5"/>
          <p:cNvSpPr/>
          <p:nvPr/>
        </p:nvSpPr>
        <p:spPr>
          <a:xfrm>
            <a:off x="685800" y="3840480"/>
            <a:ext cx="7680960" cy="640080"/>
          </a:xfrm>
          <a:prstGeom prst="rect">
            <a:avLst/>
          </a:prstGeom>
          <a:noFill/>
          <a:ln/>
        </p:spPr>
        <p:txBody>
          <a:bodyPr wrap="square" lIns="0" tIns="0" rIns="0" bIns="0" rtlCol="0" anchor="ctr"/>
          <a:lstStyle/>
          <a:p>
            <a:pPr marL="0" indent="0">
              <a:buNone/>
            </a:pPr>
            <a:r>
              <a:rPr lang="en-US" sz="1500" dirty="0">
                <a:solidFill>
                  <a:srgbClr val="B9C9E8"/>
                </a:solidFill>
                <a:latin typeface="Arial" pitchFamily="34" charset="0"/>
                <a:ea typeface="Arial" pitchFamily="34" charset="-122"/>
                <a:cs typeface="Arial" pitchFamily="34" charset="-120"/>
              </a:rPr>
              <a:t>Variables aleatorias continuas · densidad, acumulada, cuantiles y la familia de los tiempos</a:t>
            </a:r>
            <a:endParaRPr lang="en-US" sz="1500" dirty="0"/>
          </a:p>
        </p:txBody>
      </p:sp>
      <p:sp>
        <p:nvSpPr>
          <p:cNvPr id="8" name="Shape 6"/>
          <p:cNvSpPr/>
          <p:nvPr/>
        </p:nvSpPr>
        <p:spPr>
          <a:xfrm>
            <a:off x="713232" y="4617720"/>
            <a:ext cx="2011680" cy="0"/>
          </a:xfrm>
          <a:prstGeom prst="line">
            <a:avLst/>
          </a:prstGeom>
          <a:noFill/>
          <a:ln w="31750">
            <a:solidFill>
              <a:srgbClr val="E23C8A"/>
            </a:solidFill>
            <a:prstDash val="solid"/>
          </a:ln>
        </p:spPr>
      </p:sp>
      <p:sp>
        <p:nvSpPr>
          <p:cNvPr id="9" name="Text 7"/>
          <p:cNvSpPr/>
          <p:nvPr/>
        </p:nvSpPr>
        <p:spPr>
          <a:xfrm>
            <a:off x="685800" y="4846320"/>
            <a:ext cx="7863840" cy="365760"/>
          </a:xfrm>
          <a:prstGeom prst="rect">
            <a:avLst/>
          </a:prstGeom>
          <a:noFill/>
          <a:ln/>
        </p:spPr>
        <p:txBody>
          <a:bodyPr wrap="square" lIns="0" tIns="0" rIns="0" bIns="0" rtlCol="0" anchor="ctr"/>
          <a:lstStyle/>
          <a:p>
            <a:pPr marL="0" indent="0">
              <a:buNone/>
            </a:pPr>
            <a:r>
              <a:rPr lang="en-US" sz="1250" dirty="0">
                <a:solidFill>
                  <a:srgbClr val="8FA6D4"/>
                </a:solidFill>
                <a:latin typeface="Arial" pitchFamily="34" charset="0"/>
                <a:ea typeface="Arial" pitchFamily="34" charset="-122"/>
                <a:cs typeface="Arial" pitchFamily="34" charset="-120"/>
              </a:rPr>
              <a:t>Estadística Descriptiva e Inferencial  |  37 horas académicas  |  Sesión 2 de 14</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marL="0" indent="0">
              <a:buNone/>
            </a:pPr>
            <a:r>
              <a:rPr lang="en-US" sz="3000" b="1" dirty="0">
                <a:solidFill>
                  <a:srgbClr val="0E2148"/>
                </a:solidFill>
                <a:latin typeface="Arial" pitchFamily="34" charset="0"/>
                <a:ea typeface="Arial" pitchFamily="34" charset="-122"/>
                <a:cs typeface="Arial" pitchFamily="34" charset="-120"/>
              </a:rPr>
              <a:t>¿Dónde quedamos?</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marL="0" indent="0">
              <a:buNone/>
            </a:pPr>
            <a:r>
              <a:rPr lang="en-US" sz="1350" dirty="0">
                <a:solidFill>
                  <a:srgbClr val="6B7C99"/>
                </a:solidFill>
                <a:latin typeface="Arial" pitchFamily="34" charset="0"/>
                <a:ea typeface="Arial" pitchFamily="34" charset="-122"/>
                <a:cs typeface="Arial" pitchFamily="34" charset="-120"/>
              </a:rPr>
              <a:t>Tres ideas de la Clase 1 que hoy vamos a estirar hasta que se rompan</a:t>
            </a:r>
            <a:endParaRPr lang="en-US" sz="1350" dirty="0"/>
          </a:p>
        </p:txBody>
      </p:sp>
      <p:sp>
        <p:nvSpPr>
          <p:cNvPr id="4" name="Shape 2"/>
          <p:cNvSpPr/>
          <p:nvPr/>
        </p:nvSpPr>
        <p:spPr>
          <a:xfrm>
            <a:off x="548640" y="2148840"/>
            <a:ext cx="3493008" cy="2834640"/>
          </a:xfrm>
          <a:prstGeom prst="roundRect">
            <a:avLst>
              <a:gd name="adj" fmla="val 2581"/>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5" name="Shape 3"/>
          <p:cNvSpPr/>
          <p:nvPr/>
        </p:nvSpPr>
        <p:spPr>
          <a:xfrm>
            <a:off x="822960" y="1938528"/>
            <a:ext cx="411480" cy="411480"/>
          </a:xfrm>
          <a:prstGeom prst="roundRect">
            <a:avLst>
              <a:gd name="adj" fmla="val 44444"/>
            </a:avLst>
          </a:prstGeom>
          <a:solidFill>
            <a:srgbClr val="2D6CDF"/>
          </a:solidFill>
          <a:ln w="12700">
            <a:solidFill>
              <a:srgbClr val="2D6CDF"/>
            </a:solidFill>
            <a:prstDash val="solid"/>
          </a:ln>
        </p:spPr>
      </p:sp>
      <p:sp>
        <p:nvSpPr>
          <p:cNvPr id="6" name="Text 4"/>
          <p:cNvSpPr/>
          <p:nvPr/>
        </p:nvSpPr>
        <p:spPr>
          <a:xfrm>
            <a:off x="822960" y="193852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822960" y="2542032"/>
            <a:ext cx="2971800" cy="384048"/>
          </a:xfrm>
          <a:prstGeom prst="rect">
            <a:avLst/>
          </a:prstGeom>
          <a:noFill/>
          <a:ln/>
        </p:spPr>
        <p:txBody>
          <a:bodyPr wrap="square" lIns="0" tIns="0" rIns="0" bIns="0" rtlCol="0" anchor="ctr"/>
          <a:lstStyle/>
          <a:p>
            <a:pPr marL="0" indent="0">
              <a:buNone/>
            </a:pPr>
            <a:r>
              <a:rPr lang="en-US" sz="1500" b="1" dirty="0">
                <a:solidFill>
                  <a:srgbClr val="0E2148"/>
                </a:solidFill>
                <a:latin typeface="Arial" pitchFamily="34" charset="0"/>
                <a:ea typeface="Arial" pitchFamily="34" charset="-122"/>
                <a:cs typeface="Arial" pitchFamily="34" charset="-120"/>
              </a:rPr>
              <a:t>La VA es una función</a:t>
            </a:r>
            <a:endParaRPr lang="en-US" sz="1500" dirty="0"/>
          </a:p>
        </p:txBody>
      </p:sp>
      <p:sp>
        <p:nvSpPr>
          <p:cNvPr id="8" name="Text 6"/>
          <p:cNvSpPr/>
          <p:nvPr/>
        </p:nvSpPr>
        <p:spPr>
          <a:xfrm>
            <a:off x="859536" y="3017520"/>
            <a:ext cx="2926080" cy="182880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00" dirty="0">
                <a:solidFill>
                  <a:srgbClr val="1B2A44"/>
                </a:solidFill>
                <a:latin typeface="Arial" pitchFamily="34" charset="0"/>
                <a:ea typeface="Arial" pitchFamily="34" charset="-122"/>
                <a:cs typeface="Arial" pitchFamily="34" charset="-120"/>
              </a:rPr>
              <a:t>Traduce un resultado del azar en un número</a:t>
            </a:r>
            <a:endParaRPr lang="en-US" sz="1200" dirty="0"/>
          </a:p>
          <a:p>
            <a:pPr marL="342900" indent="-342900">
              <a:lnSpc>
                <a:spcPts val="1700"/>
              </a:lnSpc>
              <a:spcAft>
                <a:spcPts val="700"/>
              </a:spcAft>
              <a:buSzPct val="100000"/>
              <a:buChar char="•"/>
            </a:pPr>
            <a:r>
              <a:rPr lang="en-US" sz="1200" dirty="0">
                <a:solidFill>
                  <a:srgbClr val="1B2A44"/>
                </a:solidFill>
                <a:latin typeface="Arial" pitchFamily="34" charset="0"/>
                <a:ea typeface="Arial" pitchFamily="34" charset="-122"/>
                <a:cs typeface="Arial" pitchFamily="34" charset="-120"/>
              </a:rPr>
              <a:t>El azar está en el experimento, no en la fórmula</a:t>
            </a:r>
            <a:endParaRPr lang="en-US" sz="1200" dirty="0"/>
          </a:p>
        </p:txBody>
      </p:sp>
      <p:sp>
        <p:nvSpPr>
          <p:cNvPr id="9" name="Shape 7"/>
          <p:cNvSpPr/>
          <p:nvPr/>
        </p:nvSpPr>
        <p:spPr>
          <a:xfrm>
            <a:off x="4315968" y="2148840"/>
            <a:ext cx="3493008" cy="2834640"/>
          </a:xfrm>
          <a:prstGeom prst="roundRect">
            <a:avLst>
              <a:gd name="adj" fmla="val 2581"/>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10" name="Shape 8"/>
          <p:cNvSpPr/>
          <p:nvPr/>
        </p:nvSpPr>
        <p:spPr>
          <a:xfrm>
            <a:off x="4590288" y="1938528"/>
            <a:ext cx="411480" cy="411480"/>
          </a:xfrm>
          <a:prstGeom prst="roundRect">
            <a:avLst>
              <a:gd name="adj" fmla="val 44444"/>
            </a:avLst>
          </a:prstGeom>
          <a:solidFill>
            <a:srgbClr val="2D6CDF"/>
          </a:solidFill>
          <a:ln w="12700">
            <a:solidFill>
              <a:srgbClr val="2D6CDF"/>
            </a:solidFill>
            <a:prstDash val="solid"/>
          </a:ln>
        </p:spPr>
      </p:sp>
      <p:sp>
        <p:nvSpPr>
          <p:cNvPr id="11" name="Text 9"/>
          <p:cNvSpPr/>
          <p:nvPr/>
        </p:nvSpPr>
        <p:spPr>
          <a:xfrm>
            <a:off x="4590288" y="193852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p:nvPr/>
        </p:nvSpPr>
        <p:spPr>
          <a:xfrm>
            <a:off x="4590288" y="2542032"/>
            <a:ext cx="2971800" cy="384048"/>
          </a:xfrm>
          <a:prstGeom prst="rect">
            <a:avLst/>
          </a:prstGeom>
          <a:noFill/>
          <a:ln/>
        </p:spPr>
        <p:txBody>
          <a:bodyPr wrap="square" lIns="0" tIns="0" rIns="0" bIns="0" rtlCol="0" anchor="ctr"/>
          <a:lstStyle/>
          <a:p>
            <a:pPr marL="0" indent="0">
              <a:buNone/>
            </a:pPr>
            <a:r>
              <a:rPr lang="en-US" sz="1500" b="1" dirty="0">
                <a:solidFill>
                  <a:srgbClr val="0E2148"/>
                </a:solidFill>
                <a:latin typeface="Arial" pitchFamily="34" charset="0"/>
                <a:ea typeface="Arial" pitchFamily="34" charset="-122"/>
                <a:cs typeface="Arial" pitchFamily="34" charset="-120"/>
              </a:rPr>
              <a:t>La PMF asigna masa</a:t>
            </a:r>
            <a:endParaRPr lang="en-US" sz="1500" dirty="0"/>
          </a:p>
        </p:txBody>
      </p:sp>
      <p:sp>
        <p:nvSpPr>
          <p:cNvPr id="13" name="Text 11"/>
          <p:cNvSpPr/>
          <p:nvPr/>
        </p:nvSpPr>
        <p:spPr>
          <a:xfrm>
            <a:off x="4626864" y="3017520"/>
            <a:ext cx="2926080" cy="182880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00" dirty="0">
                <a:solidFill>
                  <a:srgbClr val="1B2A44"/>
                </a:solidFill>
                <a:latin typeface="Arial" pitchFamily="34" charset="0"/>
                <a:ea typeface="Arial" pitchFamily="34" charset="-122"/>
                <a:cs typeface="Arial" pitchFamily="34" charset="-120"/>
              </a:rPr>
              <a:t>P(X = k) es un número positivo y real</a:t>
            </a:r>
            <a:endParaRPr lang="en-US" sz="1200" dirty="0"/>
          </a:p>
          <a:p>
            <a:pPr marL="342900" indent="-342900">
              <a:lnSpc>
                <a:spcPts val="1700"/>
              </a:lnSpc>
              <a:spcAft>
                <a:spcPts val="700"/>
              </a:spcAft>
              <a:buSzPct val="100000"/>
              <a:buChar char="•"/>
            </a:pPr>
            <a:r>
              <a:rPr lang="en-US" sz="1200" dirty="0">
                <a:solidFill>
                  <a:srgbClr val="1B2A44"/>
                </a:solidFill>
                <a:latin typeface="Arial" pitchFamily="34" charset="0"/>
                <a:ea typeface="Arial" pitchFamily="34" charset="-122"/>
                <a:cs typeface="Arial" pitchFamily="34" charset="-120"/>
              </a:rPr>
              <a:t>La suma de todas las masas es exactamente 1</a:t>
            </a:r>
            <a:endParaRPr lang="en-US" sz="1200" dirty="0"/>
          </a:p>
        </p:txBody>
      </p:sp>
      <p:sp>
        <p:nvSpPr>
          <p:cNvPr id="14" name="Shape 12"/>
          <p:cNvSpPr/>
          <p:nvPr/>
        </p:nvSpPr>
        <p:spPr>
          <a:xfrm>
            <a:off x="8083296" y="2148840"/>
            <a:ext cx="3493008" cy="2834640"/>
          </a:xfrm>
          <a:prstGeom prst="roundRect">
            <a:avLst>
              <a:gd name="adj" fmla="val 2581"/>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15" name="Shape 13"/>
          <p:cNvSpPr/>
          <p:nvPr/>
        </p:nvSpPr>
        <p:spPr>
          <a:xfrm>
            <a:off x="8357616" y="1938528"/>
            <a:ext cx="411480" cy="411480"/>
          </a:xfrm>
          <a:prstGeom prst="roundRect">
            <a:avLst>
              <a:gd name="adj" fmla="val 44444"/>
            </a:avLst>
          </a:prstGeom>
          <a:solidFill>
            <a:srgbClr val="2D6CDF"/>
          </a:solidFill>
          <a:ln w="12700">
            <a:solidFill>
              <a:srgbClr val="2D6CDF"/>
            </a:solidFill>
            <a:prstDash val="solid"/>
          </a:ln>
        </p:spPr>
      </p:sp>
      <p:sp>
        <p:nvSpPr>
          <p:cNvPr id="16" name="Text 14"/>
          <p:cNvSpPr/>
          <p:nvPr/>
        </p:nvSpPr>
        <p:spPr>
          <a:xfrm>
            <a:off x="8357616" y="193852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5"/>
          <p:cNvSpPr/>
          <p:nvPr/>
        </p:nvSpPr>
        <p:spPr>
          <a:xfrm>
            <a:off x="8357616" y="2542032"/>
            <a:ext cx="2971800" cy="384048"/>
          </a:xfrm>
          <a:prstGeom prst="rect">
            <a:avLst/>
          </a:prstGeom>
          <a:noFill/>
          <a:ln/>
        </p:spPr>
        <p:txBody>
          <a:bodyPr wrap="square" lIns="0" tIns="0" rIns="0" bIns="0" rtlCol="0" anchor="ctr"/>
          <a:lstStyle/>
          <a:p>
            <a:pPr marL="0" indent="0">
              <a:buNone/>
            </a:pPr>
            <a:r>
              <a:rPr lang="en-US" sz="1500" b="1" dirty="0">
                <a:solidFill>
                  <a:srgbClr val="0E2148"/>
                </a:solidFill>
                <a:latin typeface="Arial" pitchFamily="34" charset="0"/>
                <a:ea typeface="Arial" pitchFamily="34" charset="-122"/>
                <a:cs typeface="Arial" pitchFamily="34" charset="-120"/>
              </a:rPr>
              <a:t>Tres modelos de conteo</a:t>
            </a:r>
            <a:endParaRPr lang="en-US" sz="1500" dirty="0"/>
          </a:p>
        </p:txBody>
      </p:sp>
      <p:sp>
        <p:nvSpPr>
          <p:cNvPr id="18" name="Text 16"/>
          <p:cNvSpPr/>
          <p:nvPr/>
        </p:nvSpPr>
        <p:spPr>
          <a:xfrm>
            <a:off x="8394192" y="3017520"/>
            <a:ext cx="2926080" cy="182880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00" dirty="0">
                <a:solidFill>
                  <a:srgbClr val="1B2A44"/>
                </a:solidFill>
                <a:latin typeface="Arial" pitchFamily="34" charset="0"/>
                <a:ea typeface="Arial" pitchFamily="34" charset="-122"/>
                <a:cs typeface="Arial" pitchFamily="34" charset="-120"/>
              </a:rPr>
              <a:t>Binomial: éxitos en n intentos</a:t>
            </a:r>
            <a:endParaRPr lang="en-US" sz="1200" dirty="0"/>
          </a:p>
          <a:p>
            <a:pPr marL="342900" indent="-342900">
              <a:lnSpc>
                <a:spcPts val="1700"/>
              </a:lnSpc>
              <a:spcAft>
                <a:spcPts val="700"/>
              </a:spcAft>
              <a:buSzPct val="100000"/>
              <a:buChar char="•"/>
            </a:pPr>
            <a:r>
              <a:rPr lang="en-US" sz="1200" dirty="0">
                <a:solidFill>
                  <a:srgbClr val="1B2A44"/>
                </a:solidFill>
                <a:latin typeface="Arial" pitchFamily="34" charset="0"/>
                <a:ea typeface="Arial" pitchFamily="34" charset="-122"/>
                <a:cs typeface="Arial" pitchFamily="34" charset="-120"/>
              </a:rPr>
              <a:t>Poisson: eventos por periodo</a:t>
            </a:r>
            <a:endParaRPr lang="en-US" sz="1200" dirty="0"/>
          </a:p>
          <a:p>
            <a:pPr marL="342900" indent="-342900">
              <a:lnSpc>
                <a:spcPts val="1700"/>
              </a:lnSpc>
              <a:spcAft>
                <a:spcPts val="700"/>
              </a:spcAft>
              <a:buSzPct val="100000"/>
              <a:buChar char="•"/>
            </a:pPr>
            <a:r>
              <a:rPr lang="en-US" sz="1200" dirty="0">
                <a:solidFill>
                  <a:srgbClr val="1B2A44"/>
                </a:solidFill>
                <a:latin typeface="Arial" pitchFamily="34" charset="0"/>
                <a:ea typeface="Arial" pitchFamily="34" charset="-122"/>
                <a:cs typeface="Arial" pitchFamily="34" charset="-120"/>
              </a:rPr>
              <a:t>Geométrica: intentos hasta el primero</a:t>
            </a:r>
            <a:endParaRPr lang="en-US" sz="1200" dirty="0"/>
          </a:p>
        </p:txBody>
      </p:sp>
      <p:sp>
        <p:nvSpPr>
          <p:cNvPr id="19" name="Shape 17"/>
          <p:cNvSpPr/>
          <p:nvPr/>
        </p:nvSpPr>
        <p:spPr>
          <a:xfrm>
            <a:off x="548640" y="5212080"/>
            <a:ext cx="11064240" cy="822960"/>
          </a:xfrm>
          <a:prstGeom prst="roundRect">
            <a:avLst>
              <a:gd name="adj" fmla="val 8889"/>
            </a:avLst>
          </a:prstGeom>
          <a:solidFill>
            <a:srgbClr val="EAF1FE"/>
          </a:solidFill>
          <a:ln w="12700">
            <a:solidFill>
              <a:srgbClr val="EAF1FE"/>
            </a:solidFill>
            <a:prstDash val="solid"/>
          </a:ln>
        </p:spPr>
      </p:sp>
      <p:sp>
        <p:nvSpPr>
          <p:cNvPr id="20" name="Text 18"/>
          <p:cNvSpPr/>
          <p:nvPr/>
        </p:nvSpPr>
        <p:spPr>
          <a:xfrm>
            <a:off x="804672" y="5212080"/>
            <a:ext cx="10552176" cy="822960"/>
          </a:xfrm>
          <a:prstGeom prst="rect">
            <a:avLst/>
          </a:prstGeom>
          <a:noFill/>
          <a:ln/>
        </p:spPr>
        <p:txBody>
          <a:bodyPr wrap="square" lIns="0" tIns="0" rIns="0" bIns="0" rtlCol="0" anchor="ctr"/>
          <a:lstStyle/>
          <a:p>
            <a:pPr marL="0" indent="0">
              <a:lnSpc>
                <a:spcPts val="1700"/>
              </a:lnSpc>
              <a:buNone/>
            </a:pPr>
            <a:r>
              <a:rPr lang="en-US" sz="1250" i="1" dirty="0">
                <a:solidFill>
                  <a:srgbClr val="1B2A44"/>
                </a:solidFill>
                <a:latin typeface="Arial" pitchFamily="34" charset="0"/>
                <a:ea typeface="Arial" pitchFamily="34" charset="-122"/>
                <a:cs typeface="Arial" pitchFamily="34" charset="-120"/>
              </a:rPr>
              <a:t>Todo lo de la Clase 1 comparte un supuesto invisible: que los resultados posibles se pueden listar. Hoy quitamos ese supuesto y casi todo se rompe — de forma útil.</a:t>
            </a:r>
            <a:endParaRPr lang="en-US" sz="1250" dirty="0"/>
          </a:p>
        </p:txBody>
      </p:sp>
      <p:sp>
        <p:nvSpPr>
          <p:cNvPr id="21" name="Text 19"/>
          <p:cNvSpPr/>
          <p:nvPr/>
        </p:nvSpPr>
        <p:spPr>
          <a:xfrm>
            <a:off x="548640" y="6355080"/>
            <a:ext cx="8229600" cy="274320"/>
          </a:xfrm>
          <a:prstGeom prst="rect">
            <a:avLst/>
          </a:prstGeom>
          <a:noFill/>
          <a:ln/>
        </p:spPr>
        <p:txBody>
          <a:bodyPr wrap="square" lIns="0" tIns="0" rIns="0" bIns="0" rtlCol="0" anchor="ctr"/>
          <a:lstStyle/>
          <a:p>
            <a:pPr marL="0" indent="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22" name="Text 20"/>
          <p:cNvSpPr/>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8A98B2"/>
                </a:solidFill>
                <a:latin typeface="Arial" pitchFamily="34" charset="0"/>
                <a:ea typeface="Arial" pitchFamily="34" charset="-122"/>
                <a:cs typeface="Arial"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marL="0" indent="0">
              <a:buNone/>
            </a:pPr>
            <a:r>
              <a:rPr lang="en-US" sz="3000" b="1" dirty="0">
                <a:solidFill>
                  <a:srgbClr val="0E2148"/>
                </a:solidFill>
                <a:latin typeface="Arial" pitchFamily="34" charset="0"/>
                <a:ea typeface="Arial" pitchFamily="34" charset="-122"/>
                <a:cs typeface="Arial" pitchFamily="34" charset="-120"/>
              </a:rPr>
              <a:t>La pregunta que rompe la Clase 1</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marL="0" indent="0">
              <a:buNone/>
            </a:pPr>
            <a:r>
              <a:rPr lang="en-US" sz="1350" dirty="0">
                <a:solidFill>
                  <a:srgbClr val="6B7C99"/>
                </a:solidFill>
                <a:latin typeface="Arial" pitchFamily="34" charset="0"/>
                <a:ea typeface="Arial" pitchFamily="34" charset="-122"/>
                <a:cs typeface="Arial" pitchFamily="34" charset="-120"/>
              </a:rPr>
              <a:t>Mismo negocio, mismos datos — pero la pregunta cambia de naturaleza</a:t>
            </a:r>
            <a:endParaRPr lang="en-US" sz="1350" dirty="0"/>
          </a:p>
        </p:txBody>
      </p:sp>
      <p:sp>
        <p:nvSpPr>
          <p:cNvPr id="4" name="Shape 2"/>
          <p:cNvSpPr/>
          <p:nvPr/>
        </p:nvSpPr>
        <p:spPr>
          <a:xfrm>
            <a:off x="548640" y="2148840"/>
            <a:ext cx="5394960" cy="3200400"/>
          </a:xfrm>
          <a:prstGeom prst="roundRect">
            <a:avLst>
              <a:gd name="adj" fmla="val 2286"/>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5" name="Shape 3"/>
          <p:cNvSpPr/>
          <p:nvPr/>
        </p:nvSpPr>
        <p:spPr>
          <a:xfrm>
            <a:off x="804672" y="1938528"/>
            <a:ext cx="2651760" cy="365760"/>
          </a:xfrm>
          <a:prstGeom prst="roundRect">
            <a:avLst>
              <a:gd name="adj" fmla="val 50000"/>
            </a:avLst>
          </a:prstGeom>
          <a:solidFill>
            <a:srgbClr val="2D6CDF"/>
          </a:solidFill>
          <a:ln w="12700">
            <a:solidFill>
              <a:srgbClr val="2D6CDF"/>
            </a:solidFill>
            <a:prstDash val="solid"/>
          </a:ln>
        </p:spPr>
      </p:sp>
      <p:sp>
        <p:nvSpPr>
          <p:cNvPr id="6" name="Text 4"/>
          <p:cNvSpPr/>
          <p:nvPr/>
        </p:nvSpPr>
        <p:spPr>
          <a:xfrm>
            <a:off x="804672" y="1938528"/>
            <a:ext cx="2651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LO QUE YA SABES CONTAR</a:t>
            </a:r>
            <a:endParaRPr lang="en-US" sz="1000" dirty="0"/>
          </a:p>
        </p:txBody>
      </p:sp>
      <p:sp>
        <p:nvSpPr>
          <p:cNvPr id="7" name="Text 5"/>
          <p:cNvSpPr/>
          <p:nvPr/>
        </p:nvSpPr>
        <p:spPr>
          <a:xfrm>
            <a:off x="868680" y="2697480"/>
            <a:ext cx="3657600" cy="566928"/>
          </a:xfrm>
          <a:prstGeom prst="rect">
            <a:avLst/>
          </a:prstGeom>
          <a:noFill/>
          <a:ln/>
        </p:spPr>
        <p:txBody>
          <a:bodyPr wrap="square" lIns="0" tIns="0" rIns="0" bIns="0" rtlCol="0" anchor="t"/>
          <a:lstStyle/>
          <a:p>
            <a:pPr marL="0" indent="0" algn="l">
              <a:lnSpc>
                <a:spcPts val="1700"/>
              </a:lnSpc>
              <a:buNone/>
            </a:pPr>
            <a:r>
              <a:rPr lang="en-US" sz="1200" dirty="0">
                <a:solidFill>
                  <a:srgbClr val="1B2A44"/>
                </a:solidFill>
                <a:latin typeface="Arial" pitchFamily="34" charset="0"/>
                <a:ea typeface="Arial" pitchFamily="34" charset="-122"/>
                <a:cs typeface="Arial" pitchFamily="34" charset="-120"/>
              </a:rPr>
              <a:t>¿Cuántas transacciones fraudulentas hay en 1 000?</a:t>
            </a:r>
            <a:endParaRPr lang="en-US" sz="1200" dirty="0"/>
          </a:p>
        </p:txBody>
      </p:sp>
      <p:sp>
        <p:nvSpPr>
          <p:cNvPr id="8" name="Text 6"/>
          <p:cNvSpPr/>
          <p:nvPr/>
        </p:nvSpPr>
        <p:spPr>
          <a:xfrm>
            <a:off x="4572000" y="2697480"/>
            <a:ext cx="1234440" cy="320040"/>
          </a:xfrm>
          <a:prstGeom prst="rect">
            <a:avLst/>
          </a:prstGeom>
          <a:noFill/>
          <a:ln/>
        </p:spPr>
        <p:txBody>
          <a:bodyPr wrap="square" lIns="0" tIns="0" rIns="0" bIns="0" rtlCol="0" anchor="ctr"/>
          <a:lstStyle/>
          <a:p>
            <a:pPr marL="0" indent="0" algn="r">
              <a:buNone/>
            </a:pPr>
            <a:r>
              <a:rPr lang="en-US" sz="1050" b="1" dirty="0">
                <a:solidFill>
                  <a:srgbClr val="2D6CDF"/>
                </a:solidFill>
                <a:latin typeface="Arial" pitchFamily="34" charset="0"/>
                <a:ea typeface="Arial" pitchFamily="34" charset="-122"/>
                <a:cs typeface="Arial" pitchFamily="34" charset="-120"/>
              </a:rPr>
              <a:t>Binomial</a:t>
            </a:r>
            <a:endParaRPr lang="en-US" sz="1050" dirty="0"/>
          </a:p>
        </p:txBody>
      </p:sp>
      <p:sp>
        <p:nvSpPr>
          <p:cNvPr id="9" name="Text 7"/>
          <p:cNvSpPr/>
          <p:nvPr/>
        </p:nvSpPr>
        <p:spPr>
          <a:xfrm>
            <a:off x="868680" y="3566160"/>
            <a:ext cx="3657600" cy="566928"/>
          </a:xfrm>
          <a:prstGeom prst="rect">
            <a:avLst/>
          </a:prstGeom>
          <a:noFill/>
          <a:ln/>
        </p:spPr>
        <p:txBody>
          <a:bodyPr wrap="square" lIns="0" tIns="0" rIns="0" bIns="0" rtlCol="0" anchor="t"/>
          <a:lstStyle/>
          <a:p>
            <a:pPr marL="0" indent="0" algn="l">
              <a:lnSpc>
                <a:spcPts val="1700"/>
              </a:lnSpc>
              <a:buNone/>
            </a:pPr>
            <a:r>
              <a:rPr lang="en-US" sz="1200" dirty="0">
                <a:solidFill>
                  <a:srgbClr val="1B2A44"/>
                </a:solidFill>
                <a:latin typeface="Arial" pitchFamily="34" charset="0"/>
                <a:ea typeface="Arial" pitchFamily="34" charset="-122"/>
                <a:cs typeface="Arial" pitchFamily="34" charset="-120"/>
              </a:rPr>
              <a:t>¿Cuántas alertas AML llegan hoy?</a:t>
            </a:r>
            <a:endParaRPr lang="en-US" sz="1200" dirty="0"/>
          </a:p>
        </p:txBody>
      </p:sp>
      <p:sp>
        <p:nvSpPr>
          <p:cNvPr id="10" name="Text 8"/>
          <p:cNvSpPr/>
          <p:nvPr/>
        </p:nvSpPr>
        <p:spPr>
          <a:xfrm>
            <a:off x="4572000" y="3566160"/>
            <a:ext cx="1234440" cy="320040"/>
          </a:xfrm>
          <a:prstGeom prst="rect">
            <a:avLst/>
          </a:prstGeom>
          <a:noFill/>
          <a:ln/>
        </p:spPr>
        <p:txBody>
          <a:bodyPr wrap="square" lIns="0" tIns="0" rIns="0" bIns="0" rtlCol="0" anchor="ctr"/>
          <a:lstStyle/>
          <a:p>
            <a:pPr marL="0" indent="0" algn="r">
              <a:buNone/>
            </a:pPr>
            <a:r>
              <a:rPr lang="en-US" sz="1050" b="1" dirty="0">
                <a:solidFill>
                  <a:srgbClr val="2D6CDF"/>
                </a:solidFill>
                <a:latin typeface="Arial" pitchFamily="34" charset="0"/>
                <a:ea typeface="Arial" pitchFamily="34" charset="-122"/>
                <a:cs typeface="Arial" pitchFamily="34" charset="-120"/>
              </a:rPr>
              <a:t>Poisson</a:t>
            </a:r>
            <a:endParaRPr lang="en-US" sz="1050" dirty="0"/>
          </a:p>
        </p:txBody>
      </p:sp>
      <p:sp>
        <p:nvSpPr>
          <p:cNvPr id="11" name="Text 9"/>
          <p:cNvSpPr/>
          <p:nvPr/>
        </p:nvSpPr>
        <p:spPr>
          <a:xfrm>
            <a:off x="868680" y="4434840"/>
            <a:ext cx="3657600" cy="566928"/>
          </a:xfrm>
          <a:prstGeom prst="rect">
            <a:avLst/>
          </a:prstGeom>
          <a:noFill/>
          <a:ln/>
        </p:spPr>
        <p:txBody>
          <a:bodyPr wrap="square" lIns="0" tIns="0" rIns="0" bIns="0" rtlCol="0" anchor="t"/>
          <a:lstStyle/>
          <a:p>
            <a:pPr marL="0" indent="0" algn="l">
              <a:lnSpc>
                <a:spcPts val="1700"/>
              </a:lnSpc>
              <a:buNone/>
            </a:pPr>
            <a:r>
              <a:rPr lang="en-US" sz="1200" dirty="0">
                <a:solidFill>
                  <a:srgbClr val="1B2A44"/>
                </a:solidFill>
                <a:latin typeface="Arial" pitchFamily="34" charset="0"/>
                <a:ea typeface="Arial" pitchFamily="34" charset="-122"/>
                <a:cs typeface="Arial" pitchFamily="34" charset="-120"/>
              </a:rPr>
              <a:t>¿A cuántos clientes llamo hasta cerrar una venta?</a:t>
            </a:r>
            <a:endParaRPr lang="en-US" sz="1200" dirty="0"/>
          </a:p>
        </p:txBody>
      </p:sp>
      <p:sp>
        <p:nvSpPr>
          <p:cNvPr id="12" name="Text 10"/>
          <p:cNvSpPr/>
          <p:nvPr/>
        </p:nvSpPr>
        <p:spPr>
          <a:xfrm>
            <a:off x="4572000" y="4434840"/>
            <a:ext cx="1234440" cy="320040"/>
          </a:xfrm>
          <a:prstGeom prst="rect">
            <a:avLst/>
          </a:prstGeom>
          <a:noFill/>
          <a:ln/>
        </p:spPr>
        <p:txBody>
          <a:bodyPr wrap="square" lIns="0" tIns="0" rIns="0" bIns="0" rtlCol="0" anchor="ctr"/>
          <a:lstStyle/>
          <a:p>
            <a:pPr marL="0" indent="0" algn="r">
              <a:buNone/>
            </a:pPr>
            <a:r>
              <a:rPr lang="en-US" sz="1050" b="1" dirty="0">
                <a:solidFill>
                  <a:srgbClr val="2D6CDF"/>
                </a:solidFill>
                <a:latin typeface="Arial" pitchFamily="34" charset="0"/>
                <a:ea typeface="Arial" pitchFamily="34" charset="-122"/>
                <a:cs typeface="Arial" pitchFamily="34" charset="-120"/>
              </a:rPr>
              <a:t>Geométrica</a:t>
            </a:r>
            <a:endParaRPr lang="en-US" sz="1050" dirty="0"/>
          </a:p>
        </p:txBody>
      </p:sp>
      <p:sp>
        <p:nvSpPr>
          <p:cNvPr id="13" name="Shape 11"/>
          <p:cNvSpPr/>
          <p:nvPr/>
        </p:nvSpPr>
        <p:spPr>
          <a:xfrm>
            <a:off x="6245352" y="2148840"/>
            <a:ext cx="5394960" cy="3200400"/>
          </a:xfrm>
          <a:prstGeom prst="roundRect">
            <a:avLst>
              <a:gd name="adj" fmla="val 2286"/>
            </a:avLst>
          </a:prstGeom>
          <a:solidFill>
            <a:srgbClr val="FDEBF3"/>
          </a:solidFill>
          <a:ln w="12700">
            <a:solidFill>
              <a:srgbClr val="DCE3F0"/>
            </a:solidFill>
            <a:prstDash val="solid"/>
          </a:ln>
          <a:effectLst>
            <a:outerShdw blurRad="101600" dist="12700" dir="5400000" algn="bl" rotWithShape="0">
              <a:srgbClr val="9FB0C9">
                <a:alpha val="18000"/>
              </a:srgbClr>
            </a:outerShdw>
          </a:effectLst>
        </p:spPr>
      </p:sp>
      <p:sp>
        <p:nvSpPr>
          <p:cNvPr id="14" name="Shape 12"/>
          <p:cNvSpPr/>
          <p:nvPr/>
        </p:nvSpPr>
        <p:spPr>
          <a:xfrm>
            <a:off x="6501384" y="1938528"/>
            <a:ext cx="3017520" cy="365760"/>
          </a:xfrm>
          <a:prstGeom prst="roundRect">
            <a:avLst>
              <a:gd name="adj" fmla="val 50000"/>
            </a:avLst>
          </a:prstGeom>
          <a:solidFill>
            <a:srgbClr val="E23C8A"/>
          </a:solidFill>
          <a:ln w="12700">
            <a:solidFill>
              <a:srgbClr val="E23C8A"/>
            </a:solidFill>
            <a:prstDash val="solid"/>
          </a:ln>
        </p:spPr>
      </p:sp>
      <p:sp>
        <p:nvSpPr>
          <p:cNvPr id="15" name="Text 13"/>
          <p:cNvSpPr/>
          <p:nvPr/>
        </p:nvSpPr>
        <p:spPr>
          <a:xfrm>
            <a:off x="6501384" y="1938528"/>
            <a:ext cx="301752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LO QUE HOY NECESITAS MEDIR</a:t>
            </a:r>
            <a:endParaRPr lang="en-US" sz="1000" dirty="0"/>
          </a:p>
        </p:txBody>
      </p:sp>
      <p:sp>
        <p:nvSpPr>
          <p:cNvPr id="16" name="Text 14"/>
          <p:cNvSpPr/>
          <p:nvPr/>
        </p:nvSpPr>
        <p:spPr>
          <a:xfrm>
            <a:off x="6565392" y="2697480"/>
            <a:ext cx="3657600" cy="566928"/>
          </a:xfrm>
          <a:prstGeom prst="rect">
            <a:avLst/>
          </a:prstGeom>
          <a:noFill/>
          <a:ln/>
        </p:spPr>
        <p:txBody>
          <a:bodyPr wrap="square" lIns="0" tIns="0" rIns="0" bIns="0" rtlCol="0" anchor="t"/>
          <a:lstStyle/>
          <a:p>
            <a:pPr marL="0" indent="0" algn="l">
              <a:lnSpc>
                <a:spcPts val="1700"/>
              </a:lnSpc>
              <a:buNone/>
            </a:pPr>
            <a:r>
              <a:rPr lang="en-US" sz="1200" dirty="0">
                <a:solidFill>
                  <a:srgbClr val="1B2A44"/>
                </a:solidFill>
                <a:latin typeface="Arial" pitchFamily="34" charset="0"/>
                <a:ea typeface="Arial" pitchFamily="34" charset="-122"/>
                <a:cs typeface="Arial" pitchFamily="34" charset="-120"/>
              </a:rPr>
              <a:t>¿Cuánto tiempo pasa entre dos fraudes?</a:t>
            </a:r>
            <a:endParaRPr lang="en-US" sz="1200" dirty="0"/>
          </a:p>
        </p:txBody>
      </p:sp>
      <p:sp>
        <p:nvSpPr>
          <p:cNvPr id="17" name="Text 15"/>
          <p:cNvSpPr/>
          <p:nvPr/>
        </p:nvSpPr>
        <p:spPr>
          <a:xfrm>
            <a:off x="10241280" y="2697480"/>
            <a:ext cx="1234440" cy="320040"/>
          </a:xfrm>
          <a:prstGeom prst="rect">
            <a:avLst/>
          </a:prstGeom>
          <a:noFill/>
          <a:ln/>
        </p:spPr>
        <p:txBody>
          <a:bodyPr wrap="square" lIns="0" tIns="0" rIns="0" bIns="0" rtlCol="0" anchor="ctr"/>
          <a:lstStyle/>
          <a:p>
            <a:pPr marL="0" indent="0" algn="r">
              <a:buNone/>
            </a:pPr>
            <a:r>
              <a:rPr lang="en-US" sz="1050" b="1" dirty="0">
                <a:solidFill>
                  <a:srgbClr val="E23C8A"/>
                </a:solidFill>
                <a:latin typeface="Arial" pitchFamily="34" charset="0"/>
                <a:ea typeface="Arial" pitchFamily="34" charset="-122"/>
                <a:cs typeface="Arial" pitchFamily="34" charset="-120"/>
              </a:rPr>
              <a:t>0 – ∞</a:t>
            </a:r>
            <a:endParaRPr lang="en-US" sz="1050" dirty="0"/>
          </a:p>
        </p:txBody>
      </p:sp>
      <p:sp>
        <p:nvSpPr>
          <p:cNvPr id="18" name="Text 16"/>
          <p:cNvSpPr/>
          <p:nvPr/>
        </p:nvSpPr>
        <p:spPr>
          <a:xfrm>
            <a:off x="6565392" y="3566160"/>
            <a:ext cx="3657600" cy="566928"/>
          </a:xfrm>
          <a:prstGeom prst="rect">
            <a:avLst/>
          </a:prstGeom>
          <a:noFill/>
          <a:ln/>
        </p:spPr>
        <p:txBody>
          <a:bodyPr wrap="square" lIns="0" tIns="0" rIns="0" bIns="0" rtlCol="0" anchor="t"/>
          <a:lstStyle/>
          <a:p>
            <a:pPr marL="0" indent="0" algn="l">
              <a:lnSpc>
                <a:spcPts val="1700"/>
              </a:lnSpc>
              <a:buNone/>
            </a:pPr>
            <a:r>
              <a:rPr lang="en-US" sz="1200" dirty="0">
                <a:solidFill>
                  <a:srgbClr val="1B2A44"/>
                </a:solidFill>
                <a:latin typeface="Arial" pitchFamily="34" charset="0"/>
                <a:ea typeface="Arial" pitchFamily="34" charset="-122"/>
                <a:cs typeface="Arial" pitchFamily="34" charset="-120"/>
              </a:rPr>
              <a:t>¿De cuánto es el monto de la próxima transacción?</a:t>
            </a:r>
            <a:endParaRPr lang="en-US" sz="1200" dirty="0"/>
          </a:p>
        </p:txBody>
      </p:sp>
      <p:sp>
        <p:nvSpPr>
          <p:cNvPr id="19" name="Text 17"/>
          <p:cNvSpPr/>
          <p:nvPr/>
        </p:nvSpPr>
        <p:spPr>
          <a:xfrm>
            <a:off x="10241280" y="3566160"/>
            <a:ext cx="1234440" cy="320040"/>
          </a:xfrm>
          <a:prstGeom prst="rect">
            <a:avLst/>
          </a:prstGeom>
          <a:noFill/>
          <a:ln/>
        </p:spPr>
        <p:txBody>
          <a:bodyPr wrap="square" lIns="0" tIns="0" rIns="0" bIns="0" rtlCol="0" anchor="ctr"/>
          <a:lstStyle/>
          <a:p>
            <a:pPr marL="0" indent="0" algn="r">
              <a:buNone/>
            </a:pPr>
            <a:r>
              <a:rPr lang="en-US" sz="1050" b="1" dirty="0">
                <a:solidFill>
                  <a:srgbClr val="E23C8A"/>
                </a:solidFill>
                <a:latin typeface="Arial" pitchFamily="34" charset="0"/>
                <a:ea typeface="Arial" pitchFamily="34" charset="-122"/>
                <a:cs typeface="Arial" pitchFamily="34" charset="-120"/>
              </a:rPr>
              <a:t>0 – ∞</a:t>
            </a:r>
            <a:endParaRPr lang="en-US" sz="1050" dirty="0"/>
          </a:p>
        </p:txBody>
      </p:sp>
      <p:sp>
        <p:nvSpPr>
          <p:cNvPr id="20" name="Text 18"/>
          <p:cNvSpPr/>
          <p:nvPr/>
        </p:nvSpPr>
        <p:spPr>
          <a:xfrm>
            <a:off x="6565392" y="4434840"/>
            <a:ext cx="3657600" cy="566928"/>
          </a:xfrm>
          <a:prstGeom prst="rect">
            <a:avLst/>
          </a:prstGeom>
          <a:noFill/>
          <a:ln/>
        </p:spPr>
        <p:txBody>
          <a:bodyPr wrap="square" lIns="0" tIns="0" rIns="0" bIns="0" rtlCol="0" anchor="t"/>
          <a:lstStyle/>
          <a:p>
            <a:pPr marL="0" indent="0" algn="l">
              <a:lnSpc>
                <a:spcPts val="1700"/>
              </a:lnSpc>
              <a:buNone/>
            </a:pPr>
            <a:r>
              <a:rPr lang="en-US" sz="1200" dirty="0">
                <a:solidFill>
                  <a:srgbClr val="1B2A44"/>
                </a:solidFill>
                <a:latin typeface="Arial" pitchFamily="34" charset="0"/>
                <a:ea typeface="Arial" pitchFamily="34" charset="-122"/>
                <a:cs typeface="Arial" pitchFamily="34" charset="-120"/>
              </a:rPr>
              <a:t>¿Cuántos meses sobrevive el crédito antes del default?</a:t>
            </a:r>
            <a:endParaRPr lang="en-US" sz="1200" dirty="0"/>
          </a:p>
        </p:txBody>
      </p:sp>
      <p:sp>
        <p:nvSpPr>
          <p:cNvPr id="21" name="Text 19"/>
          <p:cNvSpPr/>
          <p:nvPr/>
        </p:nvSpPr>
        <p:spPr>
          <a:xfrm>
            <a:off x="10241280" y="4434840"/>
            <a:ext cx="1234440" cy="320040"/>
          </a:xfrm>
          <a:prstGeom prst="rect">
            <a:avLst/>
          </a:prstGeom>
          <a:noFill/>
          <a:ln/>
        </p:spPr>
        <p:txBody>
          <a:bodyPr wrap="square" lIns="0" tIns="0" rIns="0" bIns="0" rtlCol="0" anchor="ctr"/>
          <a:lstStyle/>
          <a:p>
            <a:pPr marL="0" indent="0" algn="r">
              <a:buNone/>
            </a:pPr>
            <a:r>
              <a:rPr lang="en-US" sz="1050" b="1" dirty="0">
                <a:solidFill>
                  <a:srgbClr val="E23C8A"/>
                </a:solidFill>
                <a:latin typeface="Arial" pitchFamily="34" charset="0"/>
                <a:ea typeface="Arial" pitchFamily="34" charset="-122"/>
                <a:cs typeface="Arial" pitchFamily="34" charset="-120"/>
              </a:rPr>
              <a:t>0 – ∞</a:t>
            </a:r>
            <a:endParaRPr lang="en-US" sz="1050" dirty="0"/>
          </a:p>
        </p:txBody>
      </p:sp>
      <p:sp>
        <p:nvSpPr>
          <p:cNvPr id="22" name="Text 20"/>
          <p:cNvSpPr/>
          <p:nvPr/>
        </p:nvSpPr>
        <p:spPr>
          <a:xfrm>
            <a:off x="548640" y="5577840"/>
            <a:ext cx="11064240" cy="548640"/>
          </a:xfrm>
          <a:prstGeom prst="rect">
            <a:avLst/>
          </a:prstGeom>
          <a:noFill/>
          <a:ln/>
        </p:spPr>
        <p:txBody>
          <a:bodyPr wrap="square" lIns="0" tIns="0" rIns="0" bIns="0" rtlCol="0" anchor="t"/>
          <a:lstStyle/>
          <a:p>
            <a:pPr marL="0" indent="0" algn="l">
              <a:lnSpc>
                <a:spcPts val="1700"/>
              </a:lnSpc>
              <a:buNone/>
            </a:pPr>
            <a:r>
              <a:rPr lang="en-US" sz="1250" i="1" dirty="0">
                <a:solidFill>
                  <a:srgbClr val="6B7C99"/>
                </a:solidFill>
                <a:latin typeface="Arial" pitchFamily="34" charset="0"/>
                <a:ea typeface="Arial" pitchFamily="34" charset="-122"/>
                <a:cs typeface="Arial" pitchFamily="34" charset="-120"/>
              </a:rPr>
              <a:t>La diferencia no es el tema: es el soporte. Contar da un conjunto numerable; medir da un intervalo. Y en un intervalo ya no se puede repartir masa punto por punto.</a:t>
            </a:r>
            <a:endParaRPr lang="en-US" sz="1250" dirty="0"/>
          </a:p>
        </p:txBody>
      </p:sp>
      <p:sp>
        <p:nvSpPr>
          <p:cNvPr id="23" name="Text 21"/>
          <p:cNvSpPr/>
          <p:nvPr/>
        </p:nvSpPr>
        <p:spPr>
          <a:xfrm>
            <a:off x="548640" y="6355080"/>
            <a:ext cx="8229600" cy="274320"/>
          </a:xfrm>
          <a:prstGeom prst="rect">
            <a:avLst/>
          </a:prstGeom>
          <a:noFill/>
          <a:ln/>
        </p:spPr>
        <p:txBody>
          <a:bodyPr wrap="square" lIns="0" tIns="0" rIns="0" bIns="0" rtlCol="0" anchor="ctr"/>
          <a:lstStyle/>
          <a:p>
            <a:pPr marL="0" indent="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24" name="Text 22"/>
          <p:cNvSpPr/>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8A98B2"/>
                </a:solidFill>
                <a:latin typeface="Arial" pitchFamily="34" charset="0"/>
                <a:ea typeface="Arial" pitchFamily="34" charset="-122"/>
                <a:cs typeface="Arial"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marL="0" indent="0">
              <a:buNone/>
            </a:pPr>
            <a:r>
              <a:rPr lang="en-US" sz="3000" b="1" dirty="0">
                <a:solidFill>
                  <a:srgbClr val="0E2148"/>
                </a:solidFill>
                <a:latin typeface="Arial" pitchFamily="34" charset="0"/>
                <a:ea typeface="Arial" pitchFamily="34" charset="-122"/>
                <a:cs typeface="Arial" pitchFamily="34" charset="-120"/>
              </a:rPr>
              <a:t>La ruta de hoy</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marL="0" indent="0">
              <a:buNone/>
            </a:pPr>
            <a:r>
              <a:rPr lang="en-US" sz="1350" dirty="0">
                <a:solidFill>
                  <a:srgbClr val="6B7C99"/>
                </a:solidFill>
                <a:latin typeface="Arial" pitchFamily="34" charset="0"/>
                <a:ea typeface="Arial" pitchFamily="34" charset="-122"/>
                <a:cs typeface="Arial" pitchFamily="34" charset="-120"/>
              </a:rPr>
              <a:t>40 minutos de teoría, 70 de Colab, 10 de cierre — como siempre</a:t>
            </a:r>
            <a:endParaRPr lang="en-US" sz="1350" dirty="0"/>
          </a:p>
        </p:txBody>
      </p:sp>
      <p:sp>
        <p:nvSpPr>
          <p:cNvPr id="4" name="Shape 2"/>
          <p:cNvSpPr/>
          <p:nvPr/>
        </p:nvSpPr>
        <p:spPr>
          <a:xfrm>
            <a:off x="548640" y="2286000"/>
            <a:ext cx="2084832" cy="2651760"/>
          </a:xfrm>
          <a:prstGeom prst="roundRect">
            <a:avLst>
              <a:gd name="adj" fmla="val 3509"/>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5" name="Text 3"/>
          <p:cNvSpPr/>
          <p:nvPr/>
        </p:nvSpPr>
        <p:spPr>
          <a:xfrm>
            <a:off x="749808" y="2395728"/>
            <a:ext cx="1097280" cy="502920"/>
          </a:xfrm>
          <a:prstGeom prst="rect">
            <a:avLst/>
          </a:prstGeom>
          <a:noFill/>
          <a:ln/>
        </p:spPr>
        <p:txBody>
          <a:bodyPr wrap="square" lIns="0" tIns="0" rIns="0" bIns="0" rtlCol="0" anchor="ctr"/>
          <a:lstStyle/>
          <a:p>
            <a:pPr marL="0" indent="0">
              <a:buNone/>
            </a:pPr>
            <a:r>
              <a:rPr lang="en-US" sz="2600" b="1" dirty="0">
                <a:solidFill>
                  <a:srgbClr val="DCE3F0"/>
                </a:solidFill>
                <a:latin typeface="Arial" pitchFamily="34" charset="0"/>
                <a:ea typeface="Arial" pitchFamily="34" charset="-122"/>
                <a:cs typeface="Arial" pitchFamily="34" charset="-120"/>
              </a:rPr>
              <a:t>01</a:t>
            </a:r>
            <a:endParaRPr lang="en-US" sz="2600" dirty="0"/>
          </a:p>
        </p:txBody>
      </p:sp>
      <p:sp>
        <p:nvSpPr>
          <p:cNvPr id="6" name="Text 4"/>
          <p:cNvSpPr/>
          <p:nvPr/>
        </p:nvSpPr>
        <p:spPr>
          <a:xfrm>
            <a:off x="749808" y="2926080"/>
            <a:ext cx="1737360" cy="384048"/>
          </a:xfrm>
          <a:prstGeom prst="rect">
            <a:avLst/>
          </a:prstGeom>
          <a:noFill/>
          <a:ln/>
        </p:spPr>
        <p:txBody>
          <a:bodyPr wrap="square" lIns="0" tIns="0" rIns="0" bIns="0" rtlCol="0" anchor="ctr"/>
          <a:lstStyle/>
          <a:p>
            <a:pPr marL="0" indent="0">
              <a:buNone/>
            </a:pPr>
            <a:r>
              <a:rPr lang="en-US" sz="1400" b="1" dirty="0">
                <a:solidFill>
                  <a:srgbClr val="0E2148"/>
                </a:solidFill>
                <a:latin typeface="Arial" pitchFamily="34" charset="0"/>
                <a:ea typeface="Arial" pitchFamily="34" charset="-122"/>
                <a:cs typeface="Arial" pitchFamily="34" charset="-120"/>
              </a:rPr>
              <a:t>El salto</a:t>
            </a:r>
            <a:endParaRPr lang="en-US" sz="1400" dirty="0"/>
          </a:p>
        </p:txBody>
      </p:sp>
      <p:sp>
        <p:nvSpPr>
          <p:cNvPr id="7" name="Text 5"/>
          <p:cNvSpPr/>
          <p:nvPr/>
        </p:nvSpPr>
        <p:spPr>
          <a:xfrm>
            <a:off x="749808" y="3364992"/>
            <a:ext cx="1691640" cy="1097280"/>
          </a:xfrm>
          <a:prstGeom prst="rect">
            <a:avLst/>
          </a:prstGeom>
          <a:noFill/>
          <a:ln/>
        </p:spPr>
        <p:txBody>
          <a:bodyPr wrap="square" lIns="0" tIns="0" rIns="0" bIns="0" rtlCol="0" anchor="t"/>
          <a:lstStyle/>
          <a:p>
            <a:pPr marL="0" indent="0" algn="l">
              <a:lnSpc>
                <a:spcPts val="1500"/>
              </a:lnSpc>
              <a:buNone/>
            </a:pPr>
            <a:r>
              <a:rPr lang="en-US" sz="1150" dirty="0">
                <a:solidFill>
                  <a:srgbClr val="6B7C99"/>
                </a:solidFill>
                <a:latin typeface="Arial" pitchFamily="34" charset="0"/>
                <a:ea typeface="Arial" pitchFamily="34" charset="-122"/>
                <a:cs typeface="Arial" pitchFamily="34" charset="-120"/>
              </a:rPr>
              <a:t>Por qué P(X = x) = 0 y qué ponemos en su lugar</a:t>
            </a:r>
            <a:endParaRPr lang="en-US" sz="1150" dirty="0"/>
          </a:p>
        </p:txBody>
      </p:sp>
      <p:sp>
        <p:nvSpPr>
          <p:cNvPr id="8" name="Text 6"/>
          <p:cNvSpPr/>
          <p:nvPr/>
        </p:nvSpPr>
        <p:spPr>
          <a:xfrm>
            <a:off x="749808" y="4526280"/>
            <a:ext cx="1691640" cy="274320"/>
          </a:xfrm>
          <a:prstGeom prst="rect">
            <a:avLst/>
          </a:prstGeom>
          <a:noFill/>
          <a:ln/>
        </p:spPr>
        <p:txBody>
          <a:bodyPr wrap="square" lIns="0" tIns="0" rIns="0" bIns="0" rtlCol="0" anchor="ctr"/>
          <a:lstStyle/>
          <a:p>
            <a:pPr marL="0" indent="0">
              <a:buNone/>
            </a:pPr>
            <a:r>
              <a:rPr lang="en-US" sz="1100" b="1" dirty="0">
                <a:solidFill>
                  <a:srgbClr val="E23C8A"/>
                </a:solidFill>
                <a:latin typeface="Arial" pitchFamily="34" charset="0"/>
                <a:ea typeface="Arial" pitchFamily="34" charset="-122"/>
                <a:cs typeface="Arial" pitchFamily="34" charset="-120"/>
              </a:rPr>
              <a:t>8 min</a:t>
            </a:r>
            <a:endParaRPr lang="en-US" sz="1100" dirty="0"/>
          </a:p>
        </p:txBody>
      </p:sp>
      <p:sp>
        <p:nvSpPr>
          <p:cNvPr id="9" name="Shape 7"/>
          <p:cNvSpPr/>
          <p:nvPr/>
        </p:nvSpPr>
        <p:spPr>
          <a:xfrm>
            <a:off x="2761488" y="2286000"/>
            <a:ext cx="2084832" cy="2651760"/>
          </a:xfrm>
          <a:prstGeom prst="roundRect">
            <a:avLst>
              <a:gd name="adj" fmla="val 3509"/>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10" name="Text 8"/>
          <p:cNvSpPr/>
          <p:nvPr/>
        </p:nvSpPr>
        <p:spPr>
          <a:xfrm>
            <a:off x="2962656" y="2395728"/>
            <a:ext cx="1097280" cy="502920"/>
          </a:xfrm>
          <a:prstGeom prst="rect">
            <a:avLst/>
          </a:prstGeom>
          <a:noFill/>
          <a:ln/>
        </p:spPr>
        <p:txBody>
          <a:bodyPr wrap="square" lIns="0" tIns="0" rIns="0" bIns="0" rtlCol="0" anchor="ctr"/>
          <a:lstStyle/>
          <a:p>
            <a:pPr marL="0" indent="0">
              <a:buNone/>
            </a:pPr>
            <a:r>
              <a:rPr lang="en-US" sz="2600" b="1" dirty="0">
                <a:solidFill>
                  <a:srgbClr val="DCE3F0"/>
                </a:solidFill>
                <a:latin typeface="Arial" pitchFamily="34" charset="0"/>
                <a:ea typeface="Arial" pitchFamily="34" charset="-122"/>
                <a:cs typeface="Arial" pitchFamily="34" charset="-120"/>
              </a:rPr>
              <a:t>02</a:t>
            </a:r>
            <a:endParaRPr lang="en-US" sz="2600" dirty="0"/>
          </a:p>
        </p:txBody>
      </p:sp>
      <p:sp>
        <p:nvSpPr>
          <p:cNvPr id="11" name="Text 9"/>
          <p:cNvSpPr/>
          <p:nvPr/>
        </p:nvSpPr>
        <p:spPr>
          <a:xfrm>
            <a:off x="2962656" y="2926080"/>
            <a:ext cx="1737360" cy="384048"/>
          </a:xfrm>
          <a:prstGeom prst="rect">
            <a:avLst/>
          </a:prstGeom>
          <a:noFill/>
          <a:ln/>
        </p:spPr>
        <p:txBody>
          <a:bodyPr wrap="square" lIns="0" tIns="0" rIns="0" bIns="0" rtlCol="0" anchor="ctr"/>
          <a:lstStyle/>
          <a:p>
            <a:pPr marL="0" indent="0">
              <a:buNone/>
            </a:pPr>
            <a:r>
              <a:rPr lang="en-US" sz="1400" b="1" dirty="0">
                <a:solidFill>
                  <a:srgbClr val="0E2148"/>
                </a:solidFill>
                <a:latin typeface="Arial" pitchFamily="34" charset="0"/>
                <a:ea typeface="Arial" pitchFamily="34" charset="-122"/>
                <a:cs typeface="Arial" pitchFamily="34" charset="-120"/>
              </a:rPr>
              <a:t>PDF y CDF</a:t>
            </a:r>
            <a:endParaRPr lang="en-US" sz="1400" dirty="0"/>
          </a:p>
        </p:txBody>
      </p:sp>
      <p:sp>
        <p:nvSpPr>
          <p:cNvPr id="12" name="Text 10"/>
          <p:cNvSpPr/>
          <p:nvPr/>
        </p:nvSpPr>
        <p:spPr>
          <a:xfrm>
            <a:off x="2962656" y="3364992"/>
            <a:ext cx="1691640" cy="1097280"/>
          </a:xfrm>
          <a:prstGeom prst="rect">
            <a:avLst/>
          </a:prstGeom>
          <a:noFill/>
          <a:ln/>
        </p:spPr>
        <p:txBody>
          <a:bodyPr wrap="square" lIns="0" tIns="0" rIns="0" bIns="0" rtlCol="0" anchor="t"/>
          <a:lstStyle/>
          <a:p>
            <a:pPr marL="0" indent="0" algn="l">
              <a:lnSpc>
                <a:spcPts val="1500"/>
              </a:lnSpc>
              <a:buNone/>
            </a:pPr>
            <a:r>
              <a:rPr lang="en-US" sz="1150" dirty="0">
                <a:solidFill>
                  <a:srgbClr val="6B7C99"/>
                </a:solidFill>
                <a:latin typeface="Arial" pitchFamily="34" charset="0"/>
                <a:ea typeface="Arial" pitchFamily="34" charset="-122"/>
                <a:cs typeface="Arial" pitchFamily="34" charset="-120"/>
              </a:rPr>
              <a:t>Densidad, área bajo la curva y la función acumulada</a:t>
            </a:r>
            <a:endParaRPr lang="en-US" sz="1150" dirty="0"/>
          </a:p>
        </p:txBody>
      </p:sp>
      <p:sp>
        <p:nvSpPr>
          <p:cNvPr id="13" name="Text 11"/>
          <p:cNvSpPr/>
          <p:nvPr/>
        </p:nvSpPr>
        <p:spPr>
          <a:xfrm>
            <a:off x="2962656" y="4526280"/>
            <a:ext cx="1691640" cy="274320"/>
          </a:xfrm>
          <a:prstGeom prst="rect">
            <a:avLst/>
          </a:prstGeom>
          <a:noFill/>
          <a:ln/>
        </p:spPr>
        <p:txBody>
          <a:bodyPr wrap="square" lIns="0" tIns="0" rIns="0" bIns="0" rtlCol="0" anchor="ctr"/>
          <a:lstStyle/>
          <a:p>
            <a:pPr marL="0" indent="0">
              <a:buNone/>
            </a:pPr>
            <a:r>
              <a:rPr lang="en-US" sz="1100" b="1" dirty="0">
                <a:solidFill>
                  <a:srgbClr val="E23C8A"/>
                </a:solidFill>
                <a:latin typeface="Arial" pitchFamily="34" charset="0"/>
                <a:ea typeface="Arial" pitchFamily="34" charset="-122"/>
                <a:cs typeface="Arial" pitchFamily="34" charset="-120"/>
              </a:rPr>
              <a:t>10 min</a:t>
            </a:r>
            <a:endParaRPr lang="en-US" sz="1100" dirty="0"/>
          </a:p>
        </p:txBody>
      </p:sp>
      <p:sp>
        <p:nvSpPr>
          <p:cNvPr id="14" name="Shape 12"/>
          <p:cNvSpPr/>
          <p:nvPr/>
        </p:nvSpPr>
        <p:spPr>
          <a:xfrm>
            <a:off x="4974336" y="2286000"/>
            <a:ext cx="2084832" cy="2651760"/>
          </a:xfrm>
          <a:prstGeom prst="roundRect">
            <a:avLst>
              <a:gd name="adj" fmla="val 3509"/>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15" name="Text 13"/>
          <p:cNvSpPr/>
          <p:nvPr/>
        </p:nvSpPr>
        <p:spPr>
          <a:xfrm>
            <a:off x="5175504" y="2395728"/>
            <a:ext cx="1097280" cy="502920"/>
          </a:xfrm>
          <a:prstGeom prst="rect">
            <a:avLst/>
          </a:prstGeom>
          <a:noFill/>
          <a:ln/>
        </p:spPr>
        <p:txBody>
          <a:bodyPr wrap="square" lIns="0" tIns="0" rIns="0" bIns="0" rtlCol="0" anchor="ctr"/>
          <a:lstStyle/>
          <a:p>
            <a:pPr marL="0" indent="0">
              <a:buNone/>
            </a:pPr>
            <a:r>
              <a:rPr lang="en-US" sz="2600" b="1" dirty="0">
                <a:solidFill>
                  <a:srgbClr val="DCE3F0"/>
                </a:solidFill>
                <a:latin typeface="Arial" pitchFamily="34" charset="0"/>
                <a:ea typeface="Arial" pitchFamily="34" charset="-122"/>
                <a:cs typeface="Arial" pitchFamily="34" charset="-120"/>
              </a:rPr>
              <a:t>03</a:t>
            </a:r>
            <a:endParaRPr lang="en-US" sz="2600" dirty="0"/>
          </a:p>
        </p:txBody>
      </p:sp>
      <p:sp>
        <p:nvSpPr>
          <p:cNvPr id="16" name="Text 14"/>
          <p:cNvSpPr/>
          <p:nvPr/>
        </p:nvSpPr>
        <p:spPr>
          <a:xfrm>
            <a:off x="5175504" y="2926080"/>
            <a:ext cx="1737360" cy="384048"/>
          </a:xfrm>
          <a:prstGeom prst="rect">
            <a:avLst/>
          </a:prstGeom>
          <a:noFill/>
          <a:ln/>
        </p:spPr>
        <p:txBody>
          <a:bodyPr wrap="square" lIns="0" tIns="0" rIns="0" bIns="0" rtlCol="0" anchor="ctr"/>
          <a:lstStyle/>
          <a:p>
            <a:pPr marL="0" indent="0">
              <a:buNone/>
            </a:pPr>
            <a:r>
              <a:rPr lang="en-US" sz="1400" b="1" dirty="0">
                <a:solidFill>
                  <a:srgbClr val="0E2148"/>
                </a:solidFill>
                <a:latin typeface="Arial" pitchFamily="34" charset="0"/>
                <a:ea typeface="Arial" pitchFamily="34" charset="-122"/>
                <a:cs typeface="Arial" pitchFamily="34" charset="-120"/>
              </a:rPr>
              <a:t>Cuantiles</a:t>
            </a:r>
            <a:endParaRPr lang="en-US" sz="1400" dirty="0"/>
          </a:p>
        </p:txBody>
      </p:sp>
      <p:sp>
        <p:nvSpPr>
          <p:cNvPr id="17" name="Text 15"/>
          <p:cNvSpPr/>
          <p:nvPr/>
        </p:nvSpPr>
        <p:spPr>
          <a:xfrm>
            <a:off x="5175504" y="3364992"/>
            <a:ext cx="1691640" cy="1097280"/>
          </a:xfrm>
          <a:prstGeom prst="rect">
            <a:avLst/>
          </a:prstGeom>
          <a:noFill/>
          <a:ln/>
        </p:spPr>
        <p:txBody>
          <a:bodyPr wrap="square" lIns="0" tIns="0" rIns="0" bIns="0" rtlCol="0" anchor="t"/>
          <a:lstStyle/>
          <a:p>
            <a:pPr marL="0" indent="0" algn="l">
              <a:lnSpc>
                <a:spcPts val="1500"/>
              </a:lnSpc>
              <a:buNone/>
            </a:pPr>
            <a:r>
              <a:rPr lang="en-US" sz="1150" dirty="0">
                <a:solidFill>
                  <a:srgbClr val="6B7C99"/>
                </a:solidFill>
                <a:latin typeface="Arial" pitchFamily="34" charset="0"/>
                <a:ea typeface="Arial" pitchFamily="34" charset="-122"/>
                <a:cs typeface="Arial" pitchFamily="34" charset="-120"/>
              </a:rPr>
              <a:t>Percentiles, VaR y esperanza en versión integral</a:t>
            </a:r>
            <a:endParaRPr lang="en-US" sz="1150" dirty="0"/>
          </a:p>
        </p:txBody>
      </p:sp>
      <p:sp>
        <p:nvSpPr>
          <p:cNvPr id="18" name="Text 16"/>
          <p:cNvSpPr/>
          <p:nvPr/>
        </p:nvSpPr>
        <p:spPr>
          <a:xfrm>
            <a:off x="5175504" y="4526280"/>
            <a:ext cx="1691640" cy="274320"/>
          </a:xfrm>
          <a:prstGeom prst="rect">
            <a:avLst/>
          </a:prstGeom>
          <a:noFill/>
          <a:ln/>
        </p:spPr>
        <p:txBody>
          <a:bodyPr wrap="square" lIns="0" tIns="0" rIns="0" bIns="0" rtlCol="0" anchor="ctr"/>
          <a:lstStyle/>
          <a:p>
            <a:pPr marL="0" indent="0">
              <a:buNone/>
            </a:pPr>
            <a:r>
              <a:rPr lang="en-US" sz="1100" b="1" dirty="0">
                <a:solidFill>
                  <a:srgbClr val="E23C8A"/>
                </a:solidFill>
                <a:latin typeface="Arial" pitchFamily="34" charset="0"/>
                <a:ea typeface="Arial" pitchFamily="34" charset="-122"/>
                <a:cs typeface="Arial" pitchFamily="34" charset="-120"/>
              </a:rPr>
              <a:t>10 min</a:t>
            </a:r>
            <a:endParaRPr lang="en-US" sz="1100" dirty="0"/>
          </a:p>
        </p:txBody>
      </p:sp>
      <p:sp>
        <p:nvSpPr>
          <p:cNvPr id="19" name="Shape 17"/>
          <p:cNvSpPr/>
          <p:nvPr/>
        </p:nvSpPr>
        <p:spPr>
          <a:xfrm>
            <a:off x="7187184" y="2286000"/>
            <a:ext cx="2084832" cy="2651760"/>
          </a:xfrm>
          <a:prstGeom prst="roundRect">
            <a:avLst>
              <a:gd name="adj" fmla="val 3509"/>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20" name="Text 18"/>
          <p:cNvSpPr/>
          <p:nvPr/>
        </p:nvSpPr>
        <p:spPr>
          <a:xfrm>
            <a:off x="7388352" y="2395728"/>
            <a:ext cx="1097280" cy="502920"/>
          </a:xfrm>
          <a:prstGeom prst="rect">
            <a:avLst/>
          </a:prstGeom>
          <a:noFill/>
          <a:ln/>
        </p:spPr>
        <p:txBody>
          <a:bodyPr wrap="square" lIns="0" tIns="0" rIns="0" bIns="0" rtlCol="0" anchor="ctr"/>
          <a:lstStyle/>
          <a:p>
            <a:pPr marL="0" indent="0">
              <a:buNone/>
            </a:pPr>
            <a:r>
              <a:rPr lang="en-US" sz="2600" b="1" dirty="0">
                <a:solidFill>
                  <a:srgbClr val="DCE3F0"/>
                </a:solidFill>
                <a:latin typeface="Arial" pitchFamily="34" charset="0"/>
                <a:ea typeface="Arial" pitchFamily="34" charset="-122"/>
                <a:cs typeface="Arial" pitchFamily="34" charset="-120"/>
              </a:rPr>
              <a:t>04</a:t>
            </a:r>
            <a:endParaRPr lang="en-US" sz="2600" dirty="0"/>
          </a:p>
        </p:txBody>
      </p:sp>
      <p:sp>
        <p:nvSpPr>
          <p:cNvPr id="21" name="Text 19"/>
          <p:cNvSpPr/>
          <p:nvPr/>
        </p:nvSpPr>
        <p:spPr>
          <a:xfrm>
            <a:off x="7388352" y="2926080"/>
            <a:ext cx="1737360" cy="384048"/>
          </a:xfrm>
          <a:prstGeom prst="rect">
            <a:avLst/>
          </a:prstGeom>
          <a:noFill/>
          <a:ln/>
        </p:spPr>
        <p:txBody>
          <a:bodyPr wrap="square" lIns="0" tIns="0" rIns="0" bIns="0" rtlCol="0" anchor="ctr"/>
          <a:lstStyle/>
          <a:p>
            <a:pPr marL="0" indent="0">
              <a:buNone/>
            </a:pPr>
            <a:r>
              <a:rPr lang="en-US" sz="1400" b="1" dirty="0">
                <a:solidFill>
                  <a:srgbClr val="0E2148"/>
                </a:solidFill>
                <a:latin typeface="Arial" pitchFamily="34" charset="0"/>
                <a:ea typeface="Arial" pitchFamily="34" charset="-122"/>
                <a:cs typeface="Arial" pitchFamily="34" charset="-120"/>
              </a:rPr>
              <a:t>Los modelos</a:t>
            </a:r>
            <a:endParaRPr lang="en-US" sz="1400" dirty="0"/>
          </a:p>
        </p:txBody>
      </p:sp>
      <p:sp>
        <p:nvSpPr>
          <p:cNvPr id="22" name="Text 20"/>
          <p:cNvSpPr/>
          <p:nvPr/>
        </p:nvSpPr>
        <p:spPr>
          <a:xfrm>
            <a:off x="7388352" y="3364992"/>
            <a:ext cx="1691640" cy="1097280"/>
          </a:xfrm>
          <a:prstGeom prst="rect">
            <a:avLst/>
          </a:prstGeom>
          <a:noFill/>
          <a:ln/>
        </p:spPr>
        <p:txBody>
          <a:bodyPr wrap="square" lIns="0" tIns="0" rIns="0" bIns="0" rtlCol="0" anchor="t"/>
          <a:lstStyle/>
          <a:p>
            <a:pPr marL="0" indent="0" algn="l">
              <a:lnSpc>
                <a:spcPts val="1500"/>
              </a:lnSpc>
              <a:buNone/>
            </a:pPr>
            <a:r>
              <a:rPr lang="en-US" sz="1150" dirty="0">
                <a:solidFill>
                  <a:srgbClr val="6B7C99"/>
                </a:solidFill>
                <a:latin typeface="Arial" pitchFamily="34" charset="0"/>
                <a:ea typeface="Arial" pitchFamily="34" charset="-122"/>
                <a:cs typeface="Arial" pitchFamily="34" charset="-120"/>
              </a:rPr>
              <a:t>Uniforme, exponencial y la familia de los tiempos</a:t>
            </a:r>
            <a:endParaRPr lang="en-US" sz="1150" dirty="0"/>
          </a:p>
        </p:txBody>
      </p:sp>
      <p:sp>
        <p:nvSpPr>
          <p:cNvPr id="23" name="Text 21"/>
          <p:cNvSpPr/>
          <p:nvPr/>
        </p:nvSpPr>
        <p:spPr>
          <a:xfrm>
            <a:off x="7388352" y="4526280"/>
            <a:ext cx="1691640" cy="274320"/>
          </a:xfrm>
          <a:prstGeom prst="rect">
            <a:avLst/>
          </a:prstGeom>
          <a:noFill/>
          <a:ln/>
        </p:spPr>
        <p:txBody>
          <a:bodyPr wrap="square" lIns="0" tIns="0" rIns="0" bIns="0" rtlCol="0" anchor="ctr"/>
          <a:lstStyle/>
          <a:p>
            <a:pPr marL="0" indent="0">
              <a:buNone/>
            </a:pPr>
            <a:r>
              <a:rPr lang="en-US" sz="1100" b="1" dirty="0">
                <a:solidFill>
                  <a:srgbClr val="E23C8A"/>
                </a:solidFill>
                <a:latin typeface="Arial" pitchFamily="34" charset="0"/>
                <a:ea typeface="Arial" pitchFamily="34" charset="-122"/>
                <a:cs typeface="Arial" pitchFamily="34" charset="-120"/>
              </a:rPr>
              <a:t>12 min</a:t>
            </a:r>
            <a:endParaRPr lang="en-US" sz="1100" dirty="0"/>
          </a:p>
        </p:txBody>
      </p:sp>
      <p:sp>
        <p:nvSpPr>
          <p:cNvPr id="24" name="Shape 22"/>
          <p:cNvSpPr/>
          <p:nvPr/>
        </p:nvSpPr>
        <p:spPr>
          <a:xfrm>
            <a:off x="9400032" y="2286000"/>
            <a:ext cx="2084832" cy="2651760"/>
          </a:xfrm>
          <a:prstGeom prst="roundRect">
            <a:avLst>
              <a:gd name="adj" fmla="val 3509"/>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25" name="Text 23"/>
          <p:cNvSpPr/>
          <p:nvPr/>
        </p:nvSpPr>
        <p:spPr>
          <a:xfrm>
            <a:off x="9601200" y="2395728"/>
            <a:ext cx="1097280" cy="502920"/>
          </a:xfrm>
          <a:prstGeom prst="rect">
            <a:avLst/>
          </a:prstGeom>
          <a:noFill/>
          <a:ln/>
        </p:spPr>
        <p:txBody>
          <a:bodyPr wrap="square" lIns="0" tIns="0" rIns="0" bIns="0" rtlCol="0" anchor="ctr"/>
          <a:lstStyle/>
          <a:p>
            <a:pPr marL="0" indent="0">
              <a:buNone/>
            </a:pPr>
            <a:r>
              <a:rPr lang="en-US" sz="2600" b="1" dirty="0">
                <a:solidFill>
                  <a:srgbClr val="DCE3F0"/>
                </a:solidFill>
                <a:latin typeface="Arial" pitchFamily="34" charset="0"/>
                <a:ea typeface="Arial" pitchFamily="34" charset="-122"/>
                <a:cs typeface="Arial" pitchFamily="34" charset="-120"/>
              </a:rPr>
              <a:t>05</a:t>
            </a:r>
            <a:endParaRPr lang="en-US" sz="2600" dirty="0"/>
          </a:p>
        </p:txBody>
      </p:sp>
      <p:sp>
        <p:nvSpPr>
          <p:cNvPr id="26" name="Text 24"/>
          <p:cNvSpPr/>
          <p:nvPr/>
        </p:nvSpPr>
        <p:spPr>
          <a:xfrm>
            <a:off x="9601200" y="2926080"/>
            <a:ext cx="1737360" cy="384048"/>
          </a:xfrm>
          <a:prstGeom prst="rect">
            <a:avLst/>
          </a:prstGeom>
          <a:noFill/>
          <a:ln/>
        </p:spPr>
        <p:txBody>
          <a:bodyPr wrap="square" lIns="0" tIns="0" rIns="0" bIns="0" rtlCol="0" anchor="ctr"/>
          <a:lstStyle/>
          <a:p>
            <a:pPr marL="0" indent="0">
              <a:buNone/>
            </a:pPr>
            <a:r>
              <a:rPr lang="en-US" sz="1400" b="1" dirty="0">
                <a:solidFill>
                  <a:srgbClr val="0E2148"/>
                </a:solidFill>
                <a:latin typeface="Arial" pitchFamily="34" charset="0"/>
                <a:ea typeface="Arial" pitchFamily="34" charset="-122"/>
                <a:cs typeface="Arial" pitchFamily="34" charset="-120"/>
              </a:rPr>
              <a:t>Colab</a:t>
            </a:r>
            <a:endParaRPr lang="en-US" sz="1400" dirty="0"/>
          </a:p>
        </p:txBody>
      </p:sp>
      <p:sp>
        <p:nvSpPr>
          <p:cNvPr id="27" name="Text 25"/>
          <p:cNvSpPr/>
          <p:nvPr/>
        </p:nvSpPr>
        <p:spPr>
          <a:xfrm>
            <a:off x="9601200" y="3364992"/>
            <a:ext cx="1691640" cy="1097280"/>
          </a:xfrm>
          <a:prstGeom prst="rect">
            <a:avLst/>
          </a:prstGeom>
          <a:noFill/>
          <a:ln/>
        </p:spPr>
        <p:txBody>
          <a:bodyPr wrap="square" lIns="0" tIns="0" rIns="0" bIns="0" rtlCol="0" anchor="t"/>
          <a:lstStyle/>
          <a:p>
            <a:pPr marL="0" indent="0" algn="l">
              <a:lnSpc>
                <a:spcPts val="1500"/>
              </a:lnSpc>
              <a:buNone/>
            </a:pPr>
            <a:r>
              <a:rPr lang="en-US" sz="1150" dirty="0">
                <a:solidFill>
                  <a:srgbClr val="6B7C99"/>
                </a:solidFill>
                <a:latin typeface="Arial" pitchFamily="34" charset="0"/>
                <a:ea typeface="Arial" pitchFamily="34" charset="-122"/>
                <a:cs typeface="Arial" pitchFamily="34" charset="-120"/>
              </a:rPr>
              <a:t>Simular, ajustar y comparar contra datos reales</a:t>
            </a:r>
            <a:endParaRPr lang="en-US" sz="1150" dirty="0"/>
          </a:p>
        </p:txBody>
      </p:sp>
      <p:sp>
        <p:nvSpPr>
          <p:cNvPr id="28" name="Text 26"/>
          <p:cNvSpPr/>
          <p:nvPr/>
        </p:nvSpPr>
        <p:spPr>
          <a:xfrm>
            <a:off x="9601200" y="4526280"/>
            <a:ext cx="1691640" cy="274320"/>
          </a:xfrm>
          <a:prstGeom prst="rect">
            <a:avLst/>
          </a:prstGeom>
          <a:noFill/>
          <a:ln/>
        </p:spPr>
        <p:txBody>
          <a:bodyPr wrap="square" lIns="0" tIns="0" rIns="0" bIns="0" rtlCol="0" anchor="ctr"/>
          <a:lstStyle/>
          <a:p>
            <a:pPr marL="0" indent="0">
              <a:buNone/>
            </a:pPr>
            <a:r>
              <a:rPr lang="en-US" sz="1100" b="1" dirty="0">
                <a:solidFill>
                  <a:srgbClr val="E23C8A"/>
                </a:solidFill>
                <a:latin typeface="Arial" pitchFamily="34" charset="0"/>
                <a:ea typeface="Arial" pitchFamily="34" charset="-122"/>
                <a:cs typeface="Arial" pitchFamily="34" charset="-120"/>
              </a:rPr>
              <a:t>70 min</a:t>
            </a:r>
            <a:endParaRPr lang="en-US" sz="1100" dirty="0"/>
          </a:p>
        </p:txBody>
      </p:sp>
      <p:sp>
        <p:nvSpPr>
          <p:cNvPr id="29" name="Shape 27"/>
          <p:cNvSpPr/>
          <p:nvPr/>
        </p:nvSpPr>
        <p:spPr>
          <a:xfrm>
            <a:off x="548640" y="5257800"/>
            <a:ext cx="11064240" cy="777240"/>
          </a:xfrm>
          <a:prstGeom prst="roundRect">
            <a:avLst>
              <a:gd name="adj" fmla="val 9412"/>
            </a:avLst>
          </a:prstGeom>
          <a:solidFill>
            <a:srgbClr val="EAF1FE"/>
          </a:solidFill>
          <a:ln w="12700">
            <a:solidFill>
              <a:srgbClr val="EAF1FE"/>
            </a:solidFill>
            <a:prstDash val="solid"/>
          </a:ln>
        </p:spPr>
      </p:sp>
      <p:sp>
        <p:nvSpPr>
          <p:cNvPr id="30" name="Text 28"/>
          <p:cNvSpPr/>
          <p:nvPr/>
        </p:nvSpPr>
        <p:spPr>
          <a:xfrm>
            <a:off x="804672" y="5257800"/>
            <a:ext cx="10552176" cy="777240"/>
          </a:xfrm>
          <a:prstGeom prst="rect">
            <a:avLst/>
          </a:prstGeom>
          <a:noFill/>
          <a:ln/>
        </p:spPr>
        <p:txBody>
          <a:bodyPr wrap="square" lIns="0" tIns="0" rIns="0" bIns="0" rtlCol="0" anchor="ctr"/>
          <a:lstStyle/>
          <a:p>
            <a:pPr marL="0" indent="0">
              <a:lnSpc>
                <a:spcPts val="1700"/>
              </a:lnSpc>
              <a:buNone/>
            </a:pPr>
            <a:r>
              <a:rPr lang="en-US" sz="1250" i="1" dirty="0">
                <a:solidFill>
                  <a:srgbClr val="1B2A44"/>
                </a:solidFill>
                <a:latin typeface="Arial" pitchFamily="34" charset="0"/>
                <a:ea typeface="Arial" pitchFamily="34" charset="-122"/>
                <a:cs typeface="Arial" pitchFamily="34" charset="-120"/>
              </a:rPr>
              <a:t>Regla de la sesión: si una fórmula aparece en las slides, aparece implementada en el notebook. Si no la vas a usar en Colab, no la vas a ver aquí.</a:t>
            </a:r>
            <a:endParaRPr lang="en-US" sz="1250" dirty="0"/>
          </a:p>
        </p:txBody>
      </p:sp>
      <p:sp>
        <p:nvSpPr>
          <p:cNvPr id="31" name="Text 29"/>
          <p:cNvSpPr/>
          <p:nvPr/>
        </p:nvSpPr>
        <p:spPr>
          <a:xfrm>
            <a:off x="548640" y="6355080"/>
            <a:ext cx="8229600" cy="274320"/>
          </a:xfrm>
          <a:prstGeom prst="rect">
            <a:avLst/>
          </a:prstGeom>
          <a:noFill/>
          <a:ln/>
        </p:spPr>
        <p:txBody>
          <a:bodyPr wrap="square" lIns="0" tIns="0" rIns="0" bIns="0" rtlCol="0" anchor="ctr"/>
          <a:lstStyle/>
          <a:p>
            <a:pPr marL="0" indent="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32" name="Text 30"/>
          <p:cNvSpPr/>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8A98B2"/>
                </a:solidFill>
                <a:latin typeface="Arial" pitchFamily="34" charset="0"/>
                <a:ea typeface="Arial" pitchFamily="34" charset="-122"/>
                <a:cs typeface="Arial"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marL="0" indent="0">
              <a:buNone/>
            </a:pPr>
            <a:r>
              <a:rPr lang="en-US" sz="3000" b="1" dirty="0">
                <a:solidFill>
                  <a:srgbClr val="0E2148"/>
                </a:solidFill>
                <a:latin typeface="Arial" pitchFamily="34" charset="0"/>
                <a:ea typeface="Arial" pitchFamily="34" charset="-122"/>
                <a:cs typeface="Arial" pitchFamily="34" charset="-120"/>
              </a:rPr>
              <a:t>P(X = x) = 0 y no es un error de tipeo</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marL="0" indent="0">
              <a:buNone/>
            </a:pPr>
            <a:r>
              <a:rPr lang="en-US" sz="1350" dirty="0">
                <a:solidFill>
                  <a:srgbClr val="6B7C99"/>
                </a:solidFill>
                <a:latin typeface="Arial" pitchFamily="34" charset="0"/>
                <a:ea typeface="Arial" pitchFamily="34" charset="-122"/>
                <a:cs typeface="Arial" pitchFamily="34" charset="-120"/>
              </a:rPr>
              <a:t>El resultado más incómodo del curso, y el que hace posible todo lo demás</a:t>
            </a:r>
            <a:endParaRPr lang="en-US" sz="1350" dirty="0"/>
          </a:p>
        </p:txBody>
      </p:sp>
      <p:sp>
        <p:nvSpPr>
          <p:cNvPr id="4" name="Shape 2"/>
          <p:cNvSpPr/>
          <p:nvPr/>
        </p:nvSpPr>
        <p:spPr>
          <a:xfrm>
            <a:off x="548640" y="2148840"/>
            <a:ext cx="5029200" cy="3383280"/>
          </a:xfrm>
          <a:prstGeom prst="roundRect">
            <a:avLst>
              <a:gd name="adj" fmla="val 2162"/>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5" name="Text 3"/>
          <p:cNvSpPr/>
          <p:nvPr/>
        </p:nvSpPr>
        <p:spPr>
          <a:xfrm>
            <a:off x="822960" y="2377440"/>
            <a:ext cx="4480560" cy="777240"/>
          </a:xfrm>
          <a:prstGeom prst="rect">
            <a:avLst/>
          </a:prstGeom>
          <a:noFill/>
          <a:ln/>
        </p:spPr>
        <p:txBody>
          <a:bodyPr wrap="square" lIns="0" tIns="0" rIns="0" bIns="0" rtlCol="0" anchor="ctr"/>
          <a:lstStyle/>
          <a:p>
            <a:pPr marL="0" indent="0" algn="ctr">
              <a:buNone/>
            </a:pPr>
            <a:r>
              <a:rPr lang="en-US" sz="3200" b="1" dirty="0">
                <a:solidFill>
                  <a:srgbClr val="E23C8A"/>
                </a:solidFill>
                <a:latin typeface="Arial" pitchFamily="34" charset="0"/>
                <a:ea typeface="Arial" pitchFamily="34" charset="-122"/>
                <a:cs typeface="Arial" pitchFamily="34" charset="-120"/>
              </a:rPr>
              <a:t>P(X = 4.20) = 0</a:t>
            </a:r>
            <a:endParaRPr lang="en-US" sz="3200" dirty="0"/>
          </a:p>
        </p:txBody>
      </p:sp>
      <p:sp>
        <p:nvSpPr>
          <p:cNvPr id="6" name="Text 4"/>
          <p:cNvSpPr/>
          <p:nvPr/>
        </p:nvSpPr>
        <p:spPr>
          <a:xfrm>
            <a:off x="868680" y="3291840"/>
            <a:ext cx="4389120" cy="1005840"/>
          </a:xfrm>
          <a:prstGeom prst="rect">
            <a:avLst/>
          </a:prstGeom>
          <a:noFill/>
          <a:ln/>
        </p:spPr>
        <p:txBody>
          <a:bodyPr wrap="square" lIns="0" tIns="0" rIns="0" bIns="0" rtlCol="0" anchor="t"/>
          <a:lstStyle/>
          <a:p>
            <a:pPr marL="0" indent="0" algn="l">
              <a:lnSpc>
                <a:spcPts val="1700"/>
              </a:lnSpc>
              <a:buNone/>
            </a:pPr>
            <a:r>
              <a:rPr lang="en-US" sz="1250" dirty="0">
                <a:solidFill>
                  <a:srgbClr val="1B2A44"/>
                </a:solidFill>
                <a:latin typeface="Arial" pitchFamily="34" charset="0"/>
                <a:ea typeface="Arial" pitchFamily="34" charset="-122"/>
                <a:cs typeface="Arial" pitchFamily="34" charset="-120"/>
              </a:rPr>
              <a:t>Si el tiempo entre dos fraudes puede ser cualquier número real positivo, hay infinitos valores posibles no numerables. Reparte 1 entre ellos y a cada punto le toca cero.</a:t>
            </a:r>
            <a:endParaRPr lang="en-US" sz="1250" dirty="0"/>
          </a:p>
        </p:txBody>
      </p:sp>
      <p:sp>
        <p:nvSpPr>
          <p:cNvPr id="7" name="Text 5"/>
          <p:cNvSpPr/>
          <p:nvPr/>
        </p:nvSpPr>
        <p:spPr>
          <a:xfrm>
            <a:off x="868680" y="4434840"/>
            <a:ext cx="4389120" cy="822960"/>
          </a:xfrm>
          <a:prstGeom prst="rect">
            <a:avLst/>
          </a:prstGeom>
          <a:noFill/>
          <a:ln/>
        </p:spPr>
        <p:txBody>
          <a:bodyPr wrap="square" lIns="0" tIns="0" rIns="0" bIns="0" rtlCol="0" anchor="t"/>
          <a:lstStyle/>
          <a:p>
            <a:pPr marL="0" indent="0" algn="l">
              <a:lnSpc>
                <a:spcPts val="1700"/>
              </a:lnSpc>
              <a:buNone/>
            </a:pPr>
            <a:r>
              <a:rPr lang="en-US" sz="1250" b="1" dirty="0">
                <a:solidFill>
                  <a:srgbClr val="0E2148"/>
                </a:solidFill>
                <a:latin typeface="Arial" pitchFamily="34" charset="0"/>
                <a:ea typeface="Arial" pitchFamily="34" charset="-122"/>
                <a:cs typeface="Arial" pitchFamily="34" charset="-120"/>
              </a:rPr>
              <a:t>No significa que el evento sea imposible. Significa que preguntar por un punto exacto es la pregunta equivocada.</a:t>
            </a:r>
            <a:endParaRPr lang="en-US" sz="1250" dirty="0"/>
          </a:p>
        </p:txBody>
      </p:sp>
      <p:sp>
        <p:nvSpPr>
          <p:cNvPr id="8" name="Shape 6"/>
          <p:cNvSpPr/>
          <p:nvPr/>
        </p:nvSpPr>
        <p:spPr>
          <a:xfrm>
            <a:off x="5852160" y="2148840"/>
            <a:ext cx="5788152" cy="1600200"/>
          </a:xfrm>
          <a:prstGeom prst="roundRect">
            <a:avLst>
              <a:gd name="adj" fmla="val 4571"/>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9" name="Text 7"/>
          <p:cNvSpPr/>
          <p:nvPr/>
        </p:nvSpPr>
        <p:spPr>
          <a:xfrm>
            <a:off x="6126480" y="2331720"/>
            <a:ext cx="5303520" cy="384048"/>
          </a:xfrm>
          <a:prstGeom prst="rect">
            <a:avLst/>
          </a:prstGeom>
          <a:noFill/>
          <a:ln/>
        </p:spPr>
        <p:txBody>
          <a:bodyPr wrap="square" lIns="0" tIns="0" rIns="0" bIns="0" rtlCol="0" anchor="ctr"/>
          <a:lstStyle/>
          <a:p>
            <a:pPr marL="0" indent="0">
              <a:buNone/>
            </a:pPr>
            <a:r>
              <a:rPr lang="en-US" sz="1500" b="1" dirty="0">
                <a:solidFill>
                  <a:srgbClr val="0E2148"/>
                </a:solidFill>
                <a:latin typeface="Arial" pitchFamily="34" charset="0"/>
                <a:ea typeface="Arial" pitchFamily="34" charset="-122"/>
                <a:cs typeface="Arial" pitchFamily="34" charset="-120"/>
              </a:rPr>
              <a:t>La pregunta correcta usa intervalos</a:t>
            </a:r>
            <a:endParaRPr lang="en-US" sz="1500" dirty="0"/>
          </a:p>
        </p:txBody>
      </p:sp>
      <p:sp>
        <p:nvSpPr>
          <p:cNvPr id="10" name="Text 8"/>
          <p:cNvSpPr/>
          <p:nvPr/>
        </p:nvSpPr>
        <p:spPr>
          <a:xfrm>
            <a:off x="6126480" y="2788920"/>
            <a:ext cx="5257800" cy="868680"/>
          </a:xfrm>
          <a:prstGeom prst="rect">
            <a:avLst/>
          </a:prstGeom>
          <a:noFill/>
          <a:ln/>
        </p:spPr>
        <p:txBody>
          <a:bodyPr wrap="square" lIns="0" tIns="0" rIns="0" bIns="0" rtlCol="0" anchor="t"/>
          <a:lstStyle/>
          <a:p>
            <a:pPr marL="0" indent="0" algn="l">
              <a:lnSpc>
                <a:spcPts val="1700"/>
              </a:lnSpc>
              <a:buNone/>
            </a:pPr>
            <a:r>
              <a:rPr lang="en-US" sz="1250" dirty="0">
                <a:solidFill>
                  <a:srgbClr val="1B2A44"/>
                </a:solidFill>
                <a:latin typeface="Arial" pitchFamily="34" charset="0"/>
                <a:ea typeface="Arial" pitchFamily="34" charset="-122"/>
                <a:cs typeface="Arial" pitchFamily="34" charset="-120"/>
              </a:rPr>
              <a:t>P(4.1 &lt; X &lt; 4.3) sí es un número mayor que cero. En continuo la probabilidad vive en tramos, nunca en puntos: siempre preguntamos «entre cuánto y cuánto».</a:t>
            </a:r>
            <a:endParaRPr lang="en-US" sz="1250" dirty="0"/>
          </a:p>
        </p:txBody>
      </p:sp>
      <p:sp>
        <p:nvSpPr>
          <p:cNvPr id="11" name="Shape 9"/>
          <p:cNvSpPr/>
          <p:nvPr/>
        </p:nvSpPr>
        <p:spPr>
          <a:xfrm>
            <a:off x="5852160" y="3931920"/>
            <a:ext cx="5788152" cy="1600200"/>
          </a:xfrm>
          <a:prstGeom prst="roundRect">
            <a:avLst>
              <a:gd name="adj" fmla="val 4571"/>
            </a:avLst>
          </a:prstGeom>
          <a:solidFill>
            <a:srgbClr val="EAF1FE"/>
          </a:solidFill>
          <a:ln w="12700">
            <a:solidFill>
              <a:srgbClr val="DCE3F0"/>
            </a:solidFill>
            <a:prstDash val="solid"/>
          </a:ln>
          <a:effectLst>
            <a:outerShdw blurRad="101600" dist="12700" dir="5400000" algn="bl" rotWithShape="0">
              <a:srgbClr val="9FB0C9">
                <a:alpha val="18000"/>
              </a:srgbClr>
            </a:outerShdw>
          </a:effectLst>
        </p:spPr>
      </p:sp>
      <p:sp>
        <p:nvSpPr>
          <p:cNvPr id="12" name="Text 10"/>
          <p:cNvSpPr/>
          <p:nvPr/>
        </p:nvSpPr>
        <p:spPr>
          <a:xfrm>
            <a:off x="6126480" y="4114800"/>
            <a:ext cx="5303520" cy="384048"/>
          </a:xfrm>
          <a:prstGeom prst="rect">
            <a:avLst/>
          </a:prstGeom>
          <a:noFill/>
          <a:ln/>
        </p:spPr>
        <p:txBody>
          <a:bodyPr wrap="square" lIns="0" tIns="0" rIns="0" bIns="0" rtlCol="0" anchor="ctr"/>
          <a:lstStyle/>
          <a:p>
            <a:pPr marL="0" indent="0">
              <a:buNone/>
            </a:pPr>
            <a:r>
              <a:rPr lang="en-US" sz="1500" b="1" dirty="0">
                <a:solidFill>
                  <a:srgbClr val="0E2148"/>
                </a:solidFill>
                <a:latin typeface="Arial" pitchFamily="34" charset="0"/>
                <a:ea typeface="Arial" pitchFamily="34" charset="-122"/>
                <a:cs typeface="Arial" pitchFamily="34" charset="-120"/>
              </a:rPr>
              <a:t>Y por eso ≤ y &lt; dan lo mismo</a:t>
            </a:r>
            <a:endParaRPr lang="en-US" sz="1500" dirty="0"/>
          </a:p>
        </p:txBody>
      </p:sp>
      <p:sp>
        <p:nvSpPr>
          <p:cNvPr id="13" name="Text 11"/>
          <p:cNvSpPr/>
          <p:nvPr/>
        </p:nvSpPr>
        <p:spPr>
          <a:xfrm>
            <a:off x="6126480" y="4572000"/>
            <a:ext cx="5257800" cy="868680"/>
          </a:xfrm>
          <a:prstGeom prst="rect">
            <a:avLst/>
          </a:prstGeom>
          <a:noFill/>
          <a:ln/>
        </p:spPr>
        <p:txBody>
          <a:bodyPr wrap="square" lIns="0" tIns="0" rIns="0" bIns="0" rtlCol="0" anchor="t"/>
          <a:lstStyle/>
          <a:p>
            <a:pPr marL="0" indent="0" algn="l">
              <a:lnSpc>
                <a:spcPts val="1700"/>
              </a:lnSpc>
              <a:buNone/>
            </a:pPr>
            <a:r>
              <a:rPr lang="en-US" sz="1250" dirty="0">
                <a:solidFill>
                  <a:srgbClr val="1B2A44"/>
                </a:solidFill>
                <a:latin typeface="Arial" pitchFamily="34" charset="0"/>
                <a:ea typeface="Arial" pitchFamily="34" charset="-122"/>
                <a:cs typeface="Arial" pitchFamily="34" charset="-120"/>
              </a:rPr>
              <a:t>P(X ≤ 4.2) = P(X &lt; 4.2), porque el punto que los separa aporta cero. En discreto esa distinción cambiaba el resultado; aquí desaparece.</a:t>
            </a:r>
            <a:endParaRPr lang="en-US" sz="1250" dirty="0"/>
          </a:p>
        </p:txBody>
      </p:sp>
      <p:sp>
        <p:nvSpPr>
          <p:cNvPr id="14" name="Text 12"/>
          <p:cNvSpPr/>
          <p:nvPr/>
        </p:nvSpPr>
        <p:spPr>
          <a:xfrm>
            <a:off x="548640" y="6355080"/>
            <a:ext cx="8229600" cy="274320"/>
          </a:xfrm>
          <a:prstGeom prst="rect">
            <a:avLst/>
          </a:prstGeom>
          <a:noFill/>
          <a:ln/>
        </p:spPr>
        <p:txBody>
          <a:bodyPr wrap="square" lIns="0" tIns="0" rIns="0" bIns="0" rtlCol="0" anchor="ctr"/>
          <a:lstStyle/>
          <a:p>
            <a:pPr marL="0" indent="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15" name="Text 13"/>
          <p:cNvSpPr/>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8A98B2"/>
                </a:solidFill>
                <a:latin typeface="Arial" pitchFamily="34" charset="0"/>
                <a:ea typeface="Arial" pitchFamily="34" charset="-122"/>
                <a:cs typeface="Arial"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marL="0" indent="0">
              <a:buNone/>
            </a:pPr>
            <a:r>
              <a:rPr lang="en-US" sz="3000" b="1" dirty="0">
                <a:solidFill>
                  <a:srgbClr val="0E2148"/>
                </a:solidFill>
                <a:latin typeface="Arial" pitchFamily="34" charset="0"/>
                <a:ea typeface="Arial" pitchFamily="34" charset="-122"/>
                <a:cs typeface="Arial" pitchFamily="34" charset="-120"/>
              </a:rPr>
              <a:t>De dónde sale la densidad</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marL="0" indent="0">
              <a:buNone/>
            </a:pPr>
            <a:r>
              <a:rPr lang="en-US" sz="1350" dirty="0">
                <a:solidFill>
                  <a:srgbClr val="6B7C99"/>
                </a:solidFill>
                <a:latin typeface="Arial" pitchFamily="34" charset="0"/>
                <a:ea typeface="Arial" pitchFamily="34" charset="-122"/>
                <a:cs typeface="Arial" pitchFamily="34" charset="-120"/>
              </a:rPr>
              <a:t>Misma distribución, bins cada vez más finos: la altura converge a una curva</a:t>
            </a:r>
            <a:endParaRPr lang="en-US" sz="1350" dirty="0"/>
          </a:p>
        </p:txBody>
      </p:sp>
      <p:graphicFrame>
        <p:nvGraphicFramePr>
          <p:cNvPr id="4" name="Chart 0"/>
          <p:cNvGraphicFramePr/>
          <p:nvPr/>
        </p:nvGraphicFramePr>
        <p:xfrm>
          <a:off x="548640" y="2011680"/>
          <a:ext cx="5394960" cy="30632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6245352" y="2011680"/>
          <a:ext cx="5394960" cy="306324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548640" y="5257800"/>
            <a:ext cx="11064240" cy="777240"/>
          </a:xfrm>
          <a:prstGeom prst="roundRect">
            <a:avLst>
              <a:gd name="adj" fmla="val 9412"/>
            </a:avLst>
          </a:prstGeom>
          <a:solidFill>
            <a:srgbClr val="EAF1FE"/>
          </a:solidFill>
          <a:ln w="12700">
            <a:solidFill>
              <a:srgbClr val="EAF1FE"/>
            </a:solidFill>
            <a:prstDash val="solid"/>
          </a:ln>
        </p:spPr>
      </p:sp>
      <p:sp>
        <p:nvSpPr>
          <p:cNvPr id="7" name="Text 3"/>
          <p:cNvSpPr/>
          <p:nvPr/>
        </p:nvSpPr>
        <p:spPr>
          <a:xfrm>
            <a:off x="804672" y="5257800"/>
            <a:ext cx="10552176" cy="777240"/>
          </a:xfrm>
          <a:prstGeom prst="rect">
            <a:avLst/>
          </a:prstGeom>
          <a:noFill/>
          <a:ln/>
        </p:spPr>
        <p:txBody>
          <a:bodyPr wrap="square" lIns="0" tIns="0" rIns="0" bIns="0" rtlCol="0" anchor="ctr"/>
          <a:lstStyle/>
          <a:p>
            <a:pPr marL="0" indent="0">
              <a:lnSpc>
                <a:spcPts val="1700"/>
              </a:lnSpc>
              <a:buNone/>
            </a:pPr>
            <a:r>
              <a:rPr lang="en-US" sz="1250" i="1" dirty="0">
                <a:solidFill>
                  <a:srgbClr val="1B2A44"/>
                </a:solidFill>
                <a:latin typeface="Arial" pitchFamily="34" charset="0"/>
                <a:ea typeface="Arial" pitchFamily="34" charset="-122"/>
                <a:cs typeface="Arial" pitchFamily="34" charset="-120"/>
              </a:rPr>
              <a:t>El truco está en el eje vertical: no graficamos la probabilidad del bin, sino la probabilidad dividida entre su ancho. Al afinar el bin, esa altura deja de moverse — y ese límite es la función de densidad.</a:t>
            </a:r>
            <a:endParaRPr lang="en-US" sz="1250" dirty="0"/>
          </a:p>
        </p:txBody>
      </p:sp>
      <p:sp>
        <p:nvSpPr>
          <p:cNvPr id="8" name="Text 4"/>
          <p:cNvSpPr/>
          <p:nvPr/>
        </p:nvSpPr>
        <p:spPr>
          <a:xfrm>
            <a:off x="548640" y="6355080"/>
            <a:ext cx="8229600" cy="274320"/>
          </a:xfrm>
          <a:prstGeom prst="rect">
            <a:avLst/>
          </a:prstGeom>
          <a:noFill/>
          <a:ln/>
        </p:spPr>
        <p:txBody>
          <a:bodyPr wrap="square" lIns="0" tIns="0" rIns="0" bIns="0" rtlCol="0" anchor="ctr"/>
          <a:lstStyle/>
          <a:p>
            <a:pPr marL="0" indent="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9" name="Text 5"/>
          <p:cNvSpPr/>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8A98B2"/>
                </a:solidFill>
                <a:latin typeface="Arial" pitchFamily="34" charset="0"/>
                <a:ea typeface="Arial" pitchFamily="34" charset="-122"/>
                <a:cs typeface="Arial"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marL="0" indent="0">
              <a:buNone/>
            </a:pPr>
            <a:r>
              <a:rPr lang="en-US" sz="3000" b="1" dirty="0">
                <a:solidFill>
                  <a:srgbClr val="0E2148"/>
                </a:solidFill>
                <a:latin typeface="Arial" pitchFamily="34" charset="0"/>
                <a:ea typeface="Arial" pitchFamily="34" charset="-122"/>
                <a:cs typeface="Arial" pitchFamily="34" charset="-120"/>
              </a:rPr>
              <a:t>La densidad: tres reglas y una trampa</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marL="0" indent="0">
              <a:buNone/>
            </a:pPr>
            <a:r>
              <a:rPr lang="en-US" sz="1350" dirty="0">
                <a:solidFill>
                  <a:srgbClr val="6B7C99"/>
                </a:solidFill>
                <a:latin typeface="Arial" pitchFamily="34" charset="0"/>
                <a:ea typeface="Arial" pitchFamily="34" charset="-122"/>
                <a:cs typeface="Arial" pitchFamily="34" charset="-120"/>
              </a:rPr>
              <a:t>f(x) no es una probabilidad — es una probabilidad por unidad de x</a:t>
            </a:r>
            <a:endParaRPr lang="en-US" sz="1350" dirty="0"/>
          </a:p>
        </p:txBody>
      </p:sp>
      <p:sp>
        <p:nvSpPr>
          <p:cNvPr id="4" name="Shape 2"/>
          <p:cNvSpPr/>
          <p:nvPr/>
        </p:nvSpPr>
        <p:spPr>
          <a:xfrm>
            <a:off x="548640" y="2103120"/>
            <a:ext cx="3493008" cy="2331720"/>
          </a:xfrm>
          <a:prstGeom prst="roundRect">
            <a:avLst>
              <a:gd name="adj" fmla="val 3137"/>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5" name="Text 3"/>
          <p:cNvSpPr/>
          <p:nvPr/>
        </p:nvSpPr>
        <p:spPr>
          <a:xfrm>
            <a:off x="822960" y="2267712"/>
            <a:ext cx="3017520" cy="384048"/>
          </a:xfrm>
          <a:prstGeom prst="rect">
            <a:avLst/>
          </a:prstGeom>
          <a:noFill/>
          <a:ln/>
        </p:spPr>
        <p:txBody>
          <a:bodyPr wrap="square" lIns="0" tIns="0" rIns="0" bIns="0" rtlCol="0" anchor="ctr"/>
          <a:lstStyle/>
          <a:p>
            <a:pPr marL="0" indent="0">
              <a:buNone/>
            </a:pPr>
            <a:r>
              <a:rPr lang="en-US" sz="1450" b="1" dirty="0">
                <a:solidFill>
                  <a:srgbClr val="0E2148"/>
                </a:solidFill>
                <a:latin typeface="Arial" pitchFamily="34" charset="0"/>
                <a:ea typeface="Arial" pitchFamily="34" charset="-122"/>
                <a:cs typeface="Arial" pitchFamily="34" charset="-120"/>
              </a:rPr>
              <a:t>Nunca es negativa</a:t>
            </a:r>
            <a:endParaRPr lang="en-US" sz="1450" dirty="0"/>
          </a:p>
        </p:txBody>
      </p:sp>
      <p:sp>
        <p:nvSpPr>
          <p:cNvPr id="6" name="Text 4"/>
          <p:cNvSpPr/>
          <p:nvPr/>
        </p:nvSpPr>
        <p:spPr>
          <a:xfrm>
            <a:off x="822960" y="2670048"/>
            <a:ext cx="2971800" cy="365760"/>
          </a:xfrm>
          <a:prstGeom prst="rect">
            <a:avLst/>
          </a:prstGeom>
          <a:noFill/>
          <a:ln/>
        </p:spPr>
        <p:txBody>
          <a:bodyPr wrap="square" lIns="0" tIns="0" rIns="0" bIns="0" rtlCol="0" anchor="ctr"/>
          <a:lstStyle/>
          <a:p>
            <a:pPr marL="0" indent="0">
              <a:buNone/>
            </a:pPr>
            <a:r>
              <a:rPr lang="en-US" sz="1500" b="1" dirty="0">
                <a:solidFill>
                  <a:srgbClr val="2D6CDF"/>
                </a:solidFill>
                <a:latin typeface="Arial" pitchFamily="34" charset="0"/>
                <a:ea typeface="Arial" pitchFamily="34" charset="-122"/>
                <a:cs typeface="Arial" pitchFamily="34" charset="-120"/>
              </a:rPr>
              <a:t>f(x) ≥ 0</a:t>
            </a:r>
            <a:endParaRPr lang="en-US" sz="1500" dirty="0"/>
          </a:p>
        </p:txBody>
      </p:sp>
      <p:sp>
        <p:nvSpPr>
          <p:cNvPr id="7" name="Text 5"/>
          <p:cNvSpPr/>
          <p:nvPr/>
        </p:nvSpPr>
        <p:spPr>
          <a:xfrm>
            <a:off x="822960" y="3127248"/>
            <a:ext cx="2971800" cy="1188720"/>
          </a:xfrm>
          <a:prstGeom prst="rect">
            <a:avLst/>
          </a:prstGeom>
          <a:noFill/>
          <a:ln/>
        </p:spPr>
        <p:txBody>
          <a:bodyPr wrap="square" lIns="0" tIns="0" rIns="0" bIns="0" rtlCol="0" anchor="t"/>
          <a:lstStyle/>
          <a:p>
            <a:pPr marL="0" indent="0" algn="l">
              <a:lnSpc>
                <a:spcPts val="1600"/>
              </a:lnSpc>
              <a:buNone/>
            </a:pPr>
            <a:r>
              <a:rPr lang="en-US" sz="1150" dirty="0">
                <a:solidFill>
                  <a:srgbClr val="1B2A44"/>
                </a:solidFill>
                <a:latin typeface="Arial" pitchFamily="34" charset="0"/>
                <a:ea typeface="Arial" pitchFamily="34" charset="-122"/>
                <a:cs typeface="Arial" pitchFamily="34" charset="-120"/>
              </a:rPr>
              <a:t>No existe densidad negativa. Si tu ajuste devuelve valores bajo cero, el modelo está mal especificado.</a:t>
            </a:r>
            <a:endParaRPr lang="en-US" sz="1150" dirty="0"/>
          </a:p>
        </p:txBody>
      </p:sp>
      <p:sp>
        <p:nvSpPr>
          <p:cNvPr id="8" name="Shape 6"/>
          <p:cNvSpPr/>
          <p:nvPr/>
        </p:nvSpPr>
        <p:spPr>
          <a:xfrm>
            <a:off x="4315968" y="2103120"/>
            <a:ext cx="3493008" cy="2331720"/>
          </a:xfrm>
          <a:prstGeom prst="roundRect">
            <a:avLst>
              <a:gd name="adj" fmla="val 3137"/>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9" name="Text 7"/>
          <p:cNvSpPr/>
          <p:nvPr/>
        </p:nvSpPr>
        <p:spPr>
          <a:xfrm>
            <a:off x="4590288" y="2267712"/>
            <a:ext cx="3017520" cy="384048"/>
          </a:xfrm>
          <a:prstGeom prst="rect">
            <a:avLst/>
          </a:prstGeom>
          <a:noFill/>
          <a:ln/>
        </p:spPr>
        <p:txBody>
          <a:bodyPr wrap="square" lIns="0" tIns="0" rIns="0" bIns="0" rtlCol="0" anchor="ctr"/>
          <a:lstStyle/>
          <a:p>
            <a:pPr marL="0" indent="0">
              <a:buNone/>
            </a:pPr>
            <a:r>
              <a:rPr lang="en-US" sz="1450" b="1" dirty="0">
                <a:solidFill>
                  <a:srgbClr val="0E2148"/>
                </a:solidFill>
                <a:latin typeface="Arial" pitchFamily="34" charset="0"/>
                <a:ea typeface="Arial" pitchFamily="34" charset="-122"/>
                <a:cs typeface="Arial" pitchFamily="34" charset="-120"/>
              </a:rPr>
              <a:t>Integra exactamente 1</a:t>
            </a:r>
            <a:endParaRPr lang="en-US" sz="1450" dirty="0"/>
          </a:p>
        </p:txBody>
      </p:sp>
      <p:sp>
        <p:nvSpPr>
          <p:cNvPr id="10" name="Text 8"/>
          <p:cNvSpPr/>
          <p:nvPr/>
        </p:nvSpPr>
        <p:spPr>
          <a:xfrm>
            <a:off x="4590288" y="2670048"/>
            <a:ext cx="2971800" cy="365760"/>
          </a:xfrm>
          <a:prstGeom prst="rect">
            <a:avLst/>
          </a:prstGeom>
          <a:noFill/>
          <a:ln/>
        </p:spPr>
        <p:txBody>
          <a:bodyPr wrap="square" lIns="0" tIns="0" rIns="0" bIns="0" rtlCol="0" anchor="ctr"/>
          <a:lstStyle/>
          <a:p>
            <a:pPr marL="0" indent="0">
              <a:buNone/>
            </a:pPr>
            <a:r>
              <a:rPr lang="en-US" sz="1500" b="1" dirty="0">
                <a:solidFill>
                  <a:srgbClr val="2D6CDF"/>
                </a:solidFill>
                <a:latin typeface="Arial" pitchFamily="34" charset="0"/>
                <a:ea typeface="Arial" pitchFamily="34" charset="-122"/>
                <a:cs typeface="Arial" pitchFamily="34" charset="-120"/>
              </a:rPr>
              <a:t>∫ f(x) dx = 1</a:t>
            </a:r>
            <a:endParaRPr lang="en-US" sz="1500" dirty="0"/>
          </a:p>
        </p:txBody>
      </p:sp>
      <p:sp>
        <p:nvSpPr>
          <p:cNvPr id="11" name="Text 9"/>
          <p:cNvSpPr/>
          <p:nvPr/>
        </p:nvSpPr>
        <p:spPr>
          <a:xfrm>
            <a:off x="4590288" y="3127248"/>
            <a:ext cx="2971800" cy="1188720"/>
          </a:xfrm>
          <a:prstGeom prst="rect">
            <a:avLst/>
          </a:prstGeom>
          <a:noFill/>
          <a:ln/>
        </p:spPr>
        <p:txBody>
          <a:bodyPr wrap="square" lIns="0" tIns="0" rIns="0" bIns="0" rtlCol="0" anchor="t"/>
          <a:lstStyle/>
          <a:p>
            <a:pPr marL="0" indent="0" algn="l">
              <a:lnSpc>
                <a:spcPts val="1600"/>
              </a:lnSpc>
              <a:buNone/>
            </a:pPr>
            <a:r>
              <a:rPr lang="en-US" sz="1150" dirty="0">
                <a:solidFill>
                  <a:srgbClr val="1B2A44"/>
                </a:solidFill>
                <a:latin typeface="Arial" pitchFamily="34" charset="0"/>
                <a:ea typeface="Arial" pitchFamily="34" charset="-122"/>
                <a:cs typeface="Arial" pitchFamily="34" charset="-120"/>
              </a:rPr>
              <a:t>El </a:t>
            </a:r>
            <a:r>
              <a:rPr lang="en-US" sz="1150" dirty="0" err="1">
                <a:solidFill>
                  <a:srgbClr val="1B2A44"/>
                </a:solidFill>
                <a:latin typeface="Arial" pitchFamily="34" charset="0"/>
                <a:ea typeface="Arial" pitchFamily="34" charset="-122"/>
                <a:cs typeface="Arial" pitchFamily="34" charset="-120"/>
              </a:rPr>
              <a:t>área</a:t>
            </a:r>
            <a:r>
              <a:rPr lang="en-US" sz="1150" dirty="0">
                <a:solidFill>
                  <a:srgbClr val="1B2A44"/>
                </a:solidFill>
                <a:latin typeface="Arial" pitchFamily="34" charset="0"/>
                <a:ea typeface="Arial" pitchFamily="34" charset="-122"/>
                <a:cs typeface="Arial" pitchFamily="34" charset="-120"/>
              </a:rPr>
              <a:t> total bajo la curva es </a:t>
            </a:r>
            <a:r>
              <a:rPr lang="en-US" sz="1150" dirty="0" err="1">
                <a:solidFill>
                  <a:srgbClr val="1B2A44"/>
                </a:solidFill>
                <a:latin typeface="Arial" pitchFamily="34" charset="0"/>
                <a:ea typeface="Arial" pitchFamily="34" charset="-122"/>
                <a:cs typeface="Arial" pitchFamily="34" charset="-120"/>
              </a:rPr>
              <a:t>toda</a:t>
            </a:r>
            <a:r>
              <a:rPr lang="en-US" sz="1150" dirty="0">
                <a:solidFill>
                  <a:srgbClr val="1B2A44"/>
                </a:solidFill>
                <a:latin typeface="Arial" pitchFamily="34" charset="0"/>
                <a:ea typeface="Arial" pitchFamily="34" charset="-122"/>
                <a:cs typeface="Arial" pitchFamily="34" charset="-120"/>
              </a:rPr>
              <a:t> la </a:t>
            </a:r>
            <a:r>
              <a:rPr lang="en-US" sz="1150" dirty="0" err="1">
                <a:solidFill>
                  <a:srgbClr val="1B2A44"/>
                </a:solidFill>
                <a:latin typeface="Arial" pitchFamily="34" charset="0"/>
                <a:ea typeface="Arial" pitchFamily="34" charset="-122"/>
                <a:cs typeface="Arial" pitchFamily="34" charset="-120"/>
              </a:rPr>
              <a:t>probabilidad</a:t>
            </a:r>
            <a:r>
              <a:rPr lang="en-US" sz="1150" dirty="0">
                <a:solidFill>
                  <a:srgbClr val="1B2A44"/>
                </a:solidFill>
                <a:latin typeface="Arial" pitchFamily="34" charset="0"/>
                <a:ea typeface="Arial" pitchFamily="34" charset="-122"/>
                <a:cs typeface="Arial" pitchFamily="34" charset="-120"/>
              </a:rPr>
              <a:t>. Es el </a:t>
            </a:r>
            <a:r>
              <a:rPr lang="en-US" sz="1150" dirty="0" err="1">
                <a:solidFill>
                  <a:srgbClr val="1B2A44"/>
                </a:solidFill>
                <a:latin typeface="Arial" pitchFamily="34" charset="0"/>
                <a:ea typeface="Arial" pitchFamily="34" charset="-122"/>
                <a:cs typeface="Arial" pitchFamily="34" charset="-120"/>
              </a:rPr>
              <a:t>análogo</a:t>
            </a:r>
            <a:r>
              <a:rPr lang="en-US" sz="1150" dirty="0">
                <a:solidFill>
                  <a:srgbClr val="1B2A44"/>
                </a:solidFill>
                <a:latin typeface="Arial" pitchFamily="34" charset="0"/>
                <a:ea typeface="Arial" pitchFamily="34" charset="-122"/>
                <a:cs typeface="Arial" pitchFamily="34" charset="-120"/>
              </a:rPr>
              <a:t> </a:t>
            </a:r>
            <a:r>
              <a:rPr lang="en-US" sz="1150" dirty="0" err="1">
                <a:solidFill>
                  <a:srgbClr val="1B2A44"/>
                </a:solidFill>
                <a:latin typeface="Arial" pitchFamily="34" charset="0"/>
                <a:ea typeface="Arial" pitchFamily="34" charset="-122"/>
                <a:cs typeface="Arial" pitchFamily="34" charset="-120"/>
              </a:rPr>
              <a:t>directo</a:t>
            </a:r>
            <a:r>
              <a:rPr lang="en-US" sz="1150" dirty="0">
                <a:solidFill>
                  <a:srgbClr val="1B2A44"/>
                </a:solidFill>
                <a:latin typeface="Arial" pitchFamily="34" charset="0"/>
                <a:ea typeface="Arial" pitchFamily="34" charset="-122"/>
                <a:cs typeface="Arial" pitchFamily="34" charset="-120"/>
              </a:rPr>
              <a:t> de «la </a:t>
            </a:r>
            <a:r>
              <a:rPr lang="en-US" sz="1150" dirty="0" err="1">
                <a:solidFill>
                  <a:srgbClr val="1B2A44"/>
                </a:solidFill>
                <a:latin typeface="Arial" pitchFamily="34" charset="0"/>
                <a:ea typeface="Arial" pitchFamily="34" charset="-122"/>
                <a:cs typeface="Arial" pitchFamily="34" charset="-120"/>
              </a:rPr>
              <a:t>suma</a:t>
            </a:r>
            <a:r>
              <a:rPr lang="en-US" sz="1150" dirty="0">
                <a:solidFill>
                  <a:srgbClr val="1B2A44"/>
                </a:solidFill>
                <a:latin typeface="Arial" pitchFamily="34" charset="0"/>
                <a:ea typeface="Arial" pitchFamily="34" charset="-122"/>
                <a:cs typeface="Arial" pitchFamily="34" charset="-120"/>
              </a:rPr>
              <a:t> de las </a:t>
            </a:r>
            <a:r>
              <a:rPr lang="en-US" sz="1150" dirty="0" err="1">
                <a:solidFill>
                  <a:srgbClr val="1B2A44"/>
                </a:solidFill>
                <a:latin typeface="Arial" pitchFamily="34" charset="0"/>
                <a:ea typeface="Arial" pitchFamily="34" charset="-122"/>
                <a:cs typeface="Arial" pitchFamily="34" charset="-120"/>
              </a:rPr>
              <a:t>masas</a:t>
            </a:r>
            <a:r>
              <a:rPr lang="en-US" sz="1150" dirty="0">
                <a:solidFill>
                  <a:srgbClr val="1B2A44"/>
                </a:solidFill>
                <a:latin typeface="Arial" pitchFamily="34" charset="0"/>
                <a:ea typeface="Arial" pitchFamily="34" charset="-122"/>
                <a:cs typeface="Arial" pitchFamily="34" charset="-120"/>
              </a:rPr>
              <a:t> da 1».</a:t>
            </a:r>
            <a:endParaRPr lang="en-US" sz="1150" dirty="0"/>
          </a:p>
        </p:txBody>
      </p:sp>
      <p:sp>
        <p:nvSpPr>
          <p:cNvPr id="12" name="Shape 10"/>
          <p:cNvSpPr/>
          <p:nvPr/>
        </p:nvSpPr>
        <p:spPr>
          <a:xfrm>
            <a:off x="8083296" y="2103120"/>
            <a:ext cx="3493008" cy="2331720"/>
          </a:xfrm>
          <a:prstGeom prst="roundRect">
            <a:avLst>
              <a:gd name="adj" fmla="val 3137"/>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13" name="Text 11"/>
          <p:cNvSpPr/>
          <p:nvPr/>
        </p:nvSpPr>
        <p:spPr>
          <a:xfrm>
            <a:off x="8357616" y="2267712"/>
            <a:ext cx="3017520" cy="384048"/>
          </a:xfrm>
          <a:prstGeom prst="rect">
            <a:avLst/>
          </a:prstGeom>
          <a:noFill/>
          <a:ln/>
        </p:spPr>
        <p:txBody>
          <a:bodyPr wrap="square" lIns="0" tIns="0" rIns="0" bIns="0" rtlCol="0" anchor="ctr"/>
          <a:lstStyle/>
          <a:p>
            <a:pPr marL="0" indent="0">
              <a:buNone/>
            </a:pPr>
            <a:r>
              <a:rPr lang="en-US" sz="1450" b="1" dirty="0">
                <a:solidFill>
                  <a:srgbClr val="0E2148"/>
                </a:solidFill>
                <a:latin typeface="Arial" pitchFamily="34" charset="0"/>
                <a:ea typeface="Arial" pitchFamily="34" charset="-122"/>
                <a:cs typeface="Arial" pitchFamily="34" charset="-120"/>
              </a:rPr>
              <a:t>El área es la probabilidad</a:t>
            </a:r>
            <a:endParaRPr lang="en-US" sz="1450" dirty="0"/>
          </a:p>
        </p:txBody>
      </p:sp>
      <p:sp>
        <p:nvSpPr>
          <p:cNvPr id="14" name="Text 12"/>
          <p:cNvSpPr/>
          <p:nvPr/>
        </p:nvSpPr>
        <p:spPr>
          <a:xfrm>
            <a:off x="8357616" y="2670048"/>
            <a:ext cx="2971800" cy="365760"/>
          </a:xfrm>
          <a:prstGeom prst="rect">
            <a:avLst/>
          </a:prstGeom>
          <a:noFill/>
          <a:ln/>
        </p:spPr>
        <p:txBody>
          <a:bodyPr wrap="square" lIns="0" tIns="0" rIns="0" bIns="0" rtlCol="0" anchor="ctr"/>
          <a:lstStyle/>
          <a:p>
            <a:pPr marL="0" indent="0">
              <a:buNone/>
            </a:pPr>
            <a:r>
              <a:rPr lang="en-US" sz="1500" b="1" dirty="0">
                <a:solidFill>
                  <a:srgbClr val="2D6CDF"/>
                </a:solidFill>
                <a:latin typeface="Arial" pitchFamily="34" charset="0"/>
                <a:ea typeface="Arial" pitchFamily="34" charset="-122"/>
                <a:cs typeface="Arial" pitchFamily="34" charset="-120"/>
              </a:rPr>
              <a:t>P(a&lt;X&lt;b) = ∫ f</a:t>
            </a:r>
            <a:endParaRPr lang="en-US" sz="1500" dirty="0"/>
          </a:p>
        </p:txBody>
      </p:sp>
      <p:sp>
        <p:nvSpPr>
          <p:cNvPr id="15" name="Text 13"/>
          <p:cNvSpPr/>
          <p:nvPr/>
        </p:nvSpPr>
        <p:spPr>
          <a:xfrm>
            <a:off x="8357616" y="3127248"/>
            <a:ext cx="2971800" cy="1188720"/>
          </a:xfrm>
          <a:prstGeom prst="rect">
            <a:avLst/>
          </a:prstGeom>
          <a:noFill/>
          <a:ln/>
        </p:spPr>
        <p:txBody>
          <a:bodyPr wrap="square" lIns="0" tIns="0" rIns="0" bIns="0" rtlCol="0" anchor="t"/>
          <a:lstStyle/>
          <a:p>
            <a:pPr marL="0" indent="0" algn="l">
              <a:lnSpc>
                <a:spcPts val="1600"/>
              </a:lnSpc>
              <a:buNone/>
            </a:pPr>
            <a:r>
              <a:rPr lang="en-US" sz="1150" dirty="0">
                <a:solidFill>
                  <a:srgbClr val="1B2A44"/>
                </a:solidFill>
                <a:latin typeface="Arial" pitchFamily="34" charset="0"/>
                <a:ea typeface="Arial" pitchFamily="34" charset="-122"/>
                <a:cs typeface="Arial" pitchFamily="34" charset="-120"/>
              </a:rPr>
              <a:t>Para responder cualquier pregunta de negocio, defines un tramo y mides el área que queda encima.</a:t>
            </a:r>
            <a:endParaRPr lang="en-US" sz="1150" dirty="0"/>
          </a:p>
        </p:txBody>
      </p:sp>
      <p:sp>
        <p:nvSpPr>
          <p:cNvPr id="16" name="Shape 14"/>
          <p:cNvSpPr/>
          <p:nvPr/>
        </p:nvSpPr>
        <p:spPr>
          <a:xfrm>
            <a:off x="548640" y="4663440"/>
            <a:ext cx="11064240" cy="1280160"/>
          </a:xfrm>
          <a:prstGeom prst="roundRect">
            <a:avLst>
              <a:gd name="adj" fmla="val 5714"/>
            </a:avLst>
          </a:prstGeom>
          <a:solidFill>
            <a:srgbClr val="FDEBF3"/>
          </a:solidFill>
          <a:ln w="12700">
            <a:solidFill>
              <a:srgbClr val="DCE3F0"/>
            </a:solidFill>
            <a:prstDash val="solid"/>
          </a:ln>
          <a:effectLst>
            <a:outerShdw blurRad="101600" dist="12700" dir="5400000" algn="bl" rotWithShape="0">
              <a:srgbClr val="9FB0C9">
                <a:alpha val="18000"/>
              </a:srgbClr>
            </a:outerShdw>
          </a:effectLst>
        </p:spPr>
      </p:sp>
      <p:sp>
        <p:nvSpPr>
          <p:cNvPr id="17" name="Shape 15"/>
          <p:cNvSpPr/>
          <p:nvPr/>
        </p:nvSpPr>
        <p:spPr>
          <a:xfrm>
            <a:off x="804672" y="4480560"/>
            <a:ext cx="1371600" cy="365760"/>
          </a:xfrm>
          <a:prstGeom prst="roundRect">
            <a:avLst>
              <a:gd name="adj" fmla="val 50000"/>
            </a:avLst>
          </a:prstGeom>
          <a:solidFill>
            <a:srgbClr val="E23C8A"/>
          </a:solidFill>
          <a:ln w="12700">
            <a:solidFill>
              <a:srgbClr val="E23C8A"/>
            </a:solidFill>
            <a:prstDash val="solid"/>
          </a:ln>
        </p:spPr>
      </p:sp>
      <p:sp>
        <p:nvSpPr>
          <p:cNvPr id="18" name="Text 16"/>
          <p:cNvSpPr/>
          <p:nvPr/>
        </p:nvSpPr>
        <p:spPr>
          <a:xfrm>
            <a:off x="804672" y="4480560"/>
            <a:ext cx="137160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LA TRAMPA</a:t>
            </a:r>
            <a:endParaRPr lang="en-US" sz="1000" dirty="0"/>
          </a:p>
        </p:txBody>
      </p:sp>
      <p:sp>
        <p:nvSpPr>
          <p:cNvPr id="19" name="Text 17"/>
          <p:cNvSpPr/>
          <p:nvPr/>
        </p:nvSpPr>
        <p:spPr>
          <a:xfrm>
            <a:off x="868680" y="4892040"/>
            <a:ext cx="10515600" cy="914400"/>
          </a:xfrm>
          <a:prstGeom prst="rect">
            <a:avLst/>
          </a:prstGeom>
          <a:noFill/>
          <a:ln/>
        </p:spPr>
        <p:txBody>
          <a:bodyPr wrap="square" lIns="0" tIns="0" rIns="0" bIns="0" rtlCol="0" anchor="t"/>
          <a:lstStyle/>
          <a:p>
            <a:pPr marL="0" indent="0" algn="l">
              <a:lnSpc>
                <a:spcPts val="1600"/>
              </a:lnSpc>
              <a:buNone/>
            </a:pPr>
            <a:r>
              <a:rPr lang="en-US" sz="1250" dirty="0">
                <a:solidFill>
                  <a:srgbClr val="1B2A44"/>
                </a:solidFill>
                <a:latin typeface="Arial" pitchFamily="34" charset="0"/>
                <a:ea typeface="Arial" pitchFamily="34" charset="-122"/>
                <a:cs typeface="Arial" pitchFamily="34" charset="-120"/>
              </a:rPr>
              <a:t>f(x) puede ser mayor que 1 sin ningún problema. Si el tiempo de respuesta es Uniforme entre 0 y 0.5 segundos, su densidad vale 2 en todo el tramo. Nadie tiene «probabilidad 2»: lo que vale 2 es la densidad, y al multiplicarla por un ancho de 0.5 recupera el área 1. Leer f(x) como probabilidad es el error número uno de esta clase.</a:t>
            </a:r>
            <a:endParaRPr lang="en-US" sz="1250" dirty="0"/>
          </a:p>
        </p:txBody>
      </p:sp>
      <p:sp>
        <p:nvSpPr>
          <p:cNvPr id="20" name="Text 18"/>
          <p:cNvSpPr/>
          <p:nvPr/>
        </p:nvSpPr>
        <p:spPr>
          <a:xfrm>
            <a:off x="548640" y="6355080"/>
            <a:ext cx="8229600" cy="274320"/>
          </a:xfrm>
          <a:prstGeom prst="rect">
            <a:avLst/>
          </a:prstGeom>
          <a:noFill/>
          <a:ln/>
        </p:spPr>
        <p:txBody>
          <a:bodyPr wrap="square" lIns="0" tIns="0" rIns="0" bIns="0" rtlCol="0" anchor="ctr"/>
          <a:lstStyle/>
          <a:p>
            <a:pPr marL="0" indent="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21" name="Text 19"/>
          <p:cNvSpPr/>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8A98B2"/>
                </a:solidFill>
                <a:latin typeface="Arial" pitchFamily="34" charset="0"/>
                <a:ea typeface="Arial" pitchFamily="34" charset="-122"/>
                <a:cs typeface="Arial"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marL="0" indent="0">
              <a:buNone/>
            </a:pPr>
            <a:r>
              <a:rPr lang="en-US" sz="3000" b="1" dirty="0">
                <a:solidFill>
                  <a:srgbClr val="0E2148"/>
                </a:solidFill>
                <a:latin typeface="Arial" pitchFamily="34" charset="0"/>
                <a:ea typeface="Arial" pitchFamily="34" charset="-122"/>
                <a:cs typeface="Arial" pitchFamily="34" charset="-120"/>
              </a:rPr>
              <a:t>La acumulada: la que sí es una probabilidad</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marL="0" indent="0">
              <a:buNone/>
            </a:pPr>
            <a:r>
              <a:rPr lang="en-US" sz="1350" dirty="0">
                <a:solidFill>
                  <a:srgbClr val="6B7C99"/>
                </a:solidFill>
                <a:latin typeface="Arial" pitchFamily="34" charset="0"/>
                <a:ea typeface="Arial" pitchFamily="34" charset="-122"/>
                <a:cs typeface="Arial" pitchFamily="34" charset="-120"/>
              </a:rPr>
              <a:t>En código vas a usar la CDF mucho más que la densidad</a:t>
            </a:r>
            <a:endParaRPr lang="en-US" sz="1350" dirty="0"/>
          </a:p>
        </p:txBody>
      </p:sp>
      <p:sp>
        <p:nvSpPr>
          <p:cNvPr id="4" name="Shape 2"/>
          <p:cNvSpPr/>
          <p:nvPr/>
        </p:nvSpPr>
        <p:spPr>
          <a:xfrm>
            <a:off x="548640" y="2103120"/>
            <a:ext cx="4846320" cy="3520440"/>
          </a:xfrm>
          <a:prstGeom prst="roundRect">
            <a:avLst>
              <a:gd name="adj" fmla="val 2078"/>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5" name="Text 3"/>
          <p:cNvSpPr/>
          <p:nvPr/>
        </p:nvSpPr>
        <p:spPr>
          <a:xfrm>
            <a:off x="822960" y="2286000"/>
            <a:ext cx="4297680" cy="384048"/>
          </a:xfrm>
          <a:prstGeom prst="rect">
            <a:avLst/>
          </a:prstGeom>
          <a:noFill/>
          <a:ln/>
        </p:spPr>
        <p:txBody>
          <a:bodyPr wrap="square" lIns="0" tIns="0" rIns="0" bIns="0" rtlCol="0" anchor="ctr"/>
          <a:lstStyle/>
          <a:p>
            <a:pPr marL="0" indent="0">
              <a:buNone/>
            </a:pPr>
            <a:r>
              <a:rPr lang="en-US" sz="1700" b="1" dirty="0">
                <a:solidFill>
                  <a:srgbClr val="0E2148"/>
                </a:solidFill>
                <a:latin typeface="Arial" pitchFamily="34" charset="0"/>
                <a:ea typeface="Arial" pitchFamily="34" charset="-122"/>
                <a:cs typeface="Arial" pitchFamily="34" charset="-120"/>
              </a:rPr>
              <a:t>F(x) = P(X ≤ x)</a:t>
            </a:r>
            <a:endParaRPr lang="en-US" sz="1700" dirty="0"/>
          </a:p>
        </p:txBody>
      </p:sp>
      <p:sp>
        <p:nvSpPr>
          <p:cNvPr id="6" name="Text 4"/>
          <p:cNvSpPr/>
          <p:nvPr/>
        </p:nvSpPr>
        <p:spPr>
          <a:xfrm>
            <a:off x="868680" y="2788920"/>
            <a:ext cx="4389120" cy="265176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50" dirty="0">
                <a:solidFill>
                  <a:srgbClr val="1B2A44"/>
                </a:solidFill>
                <a:latin typeface="Arial" pitchFamily="34" charset="0"/>
                <a:ea typeface="Arial" pitchFamily="34" charset="-122"/>
                <a:cs typeface="Arial" pitchFamily="34" charset="-120"/>
              </a:rPr>
              <a:t>Va de 0 a 1 y nunca baja: acumula, no reparte.</a:t>
            </a:r>
            <a:endParaRPr lang="en-US" sz="1250" dirty="0"/>
          </a:p>
          <a:p>
            <a:pPr marL="342900" indent="-342900">
              <a:lnSpc>
                <a:spcPts val="1700"/>
              </a:lnSpc>
              <a:spcAft>
                <a:spcPts val="900"/>
              </a:spcAft>
              <a:buSzPct val="100000"/>
              <a:buChar char="•"/>
            </a:pPr>
            <a:r>
              <a:rPr lang="en-US" sz="1250" dirty="0">
                <a:solidFill>
                  <a:srgbClr val="1B2A44"/>
                </a:solidFill>
                <a:latin typeface="Arial" pitchFamily="34" charset="0"/>
                <a:ea typeface="Arial" pitchFamily="34" charset="-122"/>
                <a:cs typeface="Arial" pitchFamily="34" charset="-120"/>
              </a:rPr>
              <a:t>Es probabilidad de verdad: se lee directo en el eje Y.</a:t>
            </a:r>
            <a:endParaRPr lang="en-US" sz="1250" dirty="0"/>
          </a:p>
          <a:p>
            <a:pPr marL="342900" indent="-342900">
              <a:lnSpc>
                <a:spcPts val="1700"/>
              </a:lnSpc>
              <a:spcAft>
                <a:spcPts val="900"/>
              </a:spcAft>
              <a:buSzPct val="100000"/>
              <a:buChar char="•"/>
            </a:pPr>
            <a:r>
              <a:rPr lang="en-US" sz="1250" dirty="0">
                <a:solidFill>
                  <a:srgbClr val="1B2A44"/>
                </a:solidFill>
                <a:latin typeface="Arial" pitchFamily="34" charset="0"/>
                <a:ea typeface="Arial" pitchFamily="34" charset="-122"/>
                <a:cs typeface="Arial" pitchFamily="34" charset="-120"/>
              </a:rPr>
              <a:t>P(a &lt; X &lt; b) = F(b) − F(a). Una resta, sin integrar.</a:t>
            </a:r>
            <a:endParaRPr lang="en-US" sz="1250" dirty="0"/>
          </a:p>
          <a:p>
            <a:pPr marL="342900" indent="-342900">
              <a:lnSpc>
                <a:spcPts val="1700"/>
              </a:lnSpc>
              <a:spcAft>
                <a:spcPts val="900"/>
              </a:spcAft>
              <a:buSzPct val="100000"/>
              <a:buChar char="•"/>
            </a:pPr>
            <a:r>
              <a:rPr lang="en-US" sz="1250" dirty="0">
                <a:solidFill>
                  <a:srgbClr val="1B2A44"/>
                </a:solidFill>
                <a:latin typeface="Arial" pitchFamily="34" charset="0"/>
                <a:ea typeface="Arial" pitchFamily="34" charset="-122"/>
                <a:cs typeface="Arial" pitchFamily="34" charset="-120"/>
              </a:rPr>
              <a:t>La densidad es su pendiente: f(x) = F′(x).</a:t>
            </a:r>
            <a:endParaRPr lang="en-US" sz="1250" dirty="0"/>
          </a:p>
          <a:p>
            <a:pPr marL="342900" indent="-342900">
              <a:lnSpc>
                <a:spcPts val="1700"/>
              </a:lnSpc>
              <a:spcAft>
                <a:spcPts val="900"/>
              </a:spcAft>
              <a:buSzPct val="100000"/>
              <a:buChar char="•"/>
            </a:pPr>
            <a:r>
              <a:rPr lang="en-US" sz="1250" dirty="0">
                <a:solidFill>
                  <a:srgbClr val="1B2A44"/>
                </a:solidFill>
                <a:latin typeface="Arial" pitchFamily="34" charset="0"/>
                <a:ea typeface="Arial" pitchFamily="34" charset="-122"/>
                <a:cs typeface="Arial" pitchFamily="34" charset="-120"/>
              </a:rPr>
              <a:t>En scipy: .cdf() responde casi todas tus preguntas; .pdf() casi ninguna.</a:t>
            </a:r>
            <a:endParaRPr lang="en-US" sz="1250" dirty="0"/>
          </a:p>
        </p:txBody>
      </p:sp>
      <p:graphicFrame>
        <p:nvGraphicFramePr>
          <p:cNvPr id="7" name="Chart 0"/>
          <p:cNvGraphicFramePr/>
          <p:nvPr/>
        </p:nvGraphicFramePr>
        <p:xfrm>
          <a:off x="5669280" y="2057400"/>
          <a:ext cx="5971032"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548640" y="6355080"/>
            <a:ext cx="8229600" cy="274320"/>
          </a:xfrm>
          <a:prstGeom prst="rect">
            <a:avLst/>
          </a:prstGeom>
          <a:noFill/>
          <a:ln/>
        </p:spPr>
        <p:txBody>
          <a:bodyPr wrap="square" lIns="0" tIns="0" rIns="0" bIns="0" rtlCol="0" anchor="ctr"/>
          <a:lstStyle/>
          <a:p>
            <a:pPr marL="0" indent="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9" name="Text 6"/>
          <p:cNvSpPr/>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8A98B2"/>
                </a:solidFill>
                <a:latin typeface="Arial" pitchFamily="34" charset="0"/>
                <a:ea typeface="Arial" pitchFamily="34" charset="-122"/>
                <a:cs typeface="Arial"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marL="0" indent="0">
              <a:buNone/>
            </a:pPr>
            <a:r>
              <a:rPr lang="en-US" sz="3000" b="1" dirty="0">
                <a:solidFill>
                  <a:srgbClr val="0E2148"/>
                </a:solidFill>
                <a:latin typeface="Arial" pitchFamily="34" charset="0"/>
                <a:ea typeface="Arial" pitchFamily="34" charset="-122"/>
                <a:cs typeface="Arial" pitchFamily="34" charset="-120"/>
              </a:rPr>
              <a:t>Cuantiles: la acumulada leída al revés</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marL="0" indent="0">
              <a:buNone/>
            </a:pPr>
            <a:r>
              <a:rPr lang="en-US" sz="1350" dirty="0">
                <a:solidFill>
                  <a:srgbClr val="6B7C99"/>
                </a:solidFill>
                <a:latin typeface="Arial" pitchFamily="34" charset="0"/>
                <a:ea typeface="Arial" pitchFamily="34" charset="-122"/>
                <a:cs typeface="Arial" pitchFamily="34" charset="-120"/>
              </a:rPr>
              <a:t>No preguntas «qué probabilidad hay», preguntas «hasta qué valor»</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5669280" cy="2414016"/>
        </p:xfrm>
        <a:graphic>
          <a:graphicData uri="http://schemas.openxmlformats.org/drawingml/2006/table">
            <a:tbl>
              <a:tblPr/>
              <a:tblGrid>
                <a:gridCol w="118872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402336">
                <a:tc>
                  <a:txBody>
                    <a:bodyPr/>
                    <a:lstStyle/>
                    <a:p>
                      <a:pPr marL="0" indent="0">
                        <a:buNone/>
                      </a:pPr>
                      <a:r>
                        <a:rPr lang="en-US" sz="1150" b="1" dirty="0">
                          <a:solidFill>
                            <a:srgbClr val="FFFFFF"/>
                          </a:solidFill>
                          <a:latin typeface="Arial" pitchFamily="34" charset="0"/>
                          <a:ea typeface="Arial" pitchFamily="34" charset="-122"/>
                          <a:cs typeface="Arial" pitchFamily="34" charset="-120"/>
                        </a:rPr>
                        <a:t>Nivel p</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Cuantil de Exp(media 30 días)</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Cómo se lee</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extLst>
                  <a:ext uri="{0D108BD9-81ED-4DB2-BD59-A6C34878D82A}">
                    <a16:rowId xmlns:a16="http://schemas.microsoft.com/office/drawing/2014/main" val="10000"/>
                  </a:ext>
                </a:extLst>
              </a:tr>
              <a:tr h="402336">
                <a:tc>
                  <a:txBody>
                    <a:bodyPr/>
                    <a:lstStyle/>
                    <a:p>
                      <a:pPr marL="0" indent="0">
                        <a:buNone/>
                      </a:pPr>
                      <a:r>
                        <a:rPr lang="en-US" sz="1150" b="1" dirty="0">
                          <a:solidFill>
                            <a:srgbClr val="0E2148"/>
                          </a:solidFill>
                          <a:latin typeface="Arial" pitchFamily="34" charset="0"/>
                          <a:ea typeface="Arial" pitchFamily="34" charset="-122"/>
                          <a:cs typeface="Arial" pitchFamily="34" charset="-120"/>
                        </a:rPr>
                        <a:t>50 %</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20.8 días</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00" dirty="0">
                          <a:solidFill>
                            <a:srgbClr val="6B7C99"/>
                          </a:solidFill>
                          <a:latin typeface="Arial" pitchFamily="34" charset="0"/>
                          <a:ea typeface="Arial" pitchFamily="34" charset="-122"/>
                          <a:cs typeface="Arial" pitchFamily="34" charset="-120"/>
                        </a:rPr>
                        <a:t>la mitad de los casos</a:t>
                      </a:r>
                      <a:endParaRPr lang="en-US" sz="110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150" b="1" dirty="0">
                          <a:solidFill>
                            <a:srgbClr val="0E2148"/>
                          </a:solidFill>
                          <a:latin typeface="Arial" pitchFamily="34" charset="0"/>
                          <a:ea typeface="Arial" pitchFamily="34" charset="-122"/>
                          <a:cs typeface="Arial" pitchFamily="34" charset="-120"/>
                        </a:rPr>
                        <a:t>80 %</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48.3 días</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00" dirty="0">
                          <a:solidFill>
                            <a:srgbClr val="6B7C99"/>
                          </a:solidFill>
                          <a:latin typeface="Arial" pitchFamily="34" charset="0"/>
                          <a:ea typeface="Arial" pitchFamily="34" charset="-122"/>
                          <a:cs typeface="Arial" pitchFamily="34" charset="-120"/>
                        </a:rPr>
                        <a:t>8 de cada 10</a:t>
                      </a:r>
                      <a:endParaRPr lang="en-US" sz="110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150" b="1" dirty="0">
                          <a:solidFill>
                            <a:srgbClr val="0E2148"/>
                          </a:solidFill>
                          <a:latin typeface="Arial" pitchFamily="34" charset="0"/>
                          <a:ea typeface="Arial" pitchFamily="34" charset="-122"/>
                          <a:cs typeface="Arial" pitchFamily="34" charset="-120"/>
                        </a:rPr>
                        <a:t>95 %</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89.9 días</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00" dirty="0">
                          <a:solidFill>
                            <a:srgbClr val="6B7C99"/>
                          </a:solidFill>
                          <a:latin typeface="Arial" pitchFamily="34" charset="0"/>
                          <a:ea typeface="Arial" pitchFamily="34" charset="-122"/>
                          <a:cs typeface="Arial" pitchFamily="34" charset="-120"/>
                        </a:rPr>
                        <a:t>1 de cada 20 supera esto</a:t>
                      </a:r>
                      <a:endParaRPr lang="en-US" sz="110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150" b="1" dirty="0">
                          <a:solidFill>
                            <a:srgbClr val="0E2148"/>
                          </a:solidFill>
                          <a:latin typeface="Arial" pitchFamily="34" charset="0"/>
                          <a:ea typeface="Arial" pitchFamily="34" charset="-122"/>
                          <a:cs typeface="Arial" pitchFamily="34" charset="-120"/>
                        </a:rPr>
                        <a:t>99 %</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138.2 días</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00" dirty="0">
                          <a:solidFill>
                            <a:srgbClr val="6B7C99"/>
                          </a:solidFill>
                          <a:latin typeface="Arial" pitchFamily="34" charset="0"/>
                          <a:ea typeface="Arial" pitchFamily="34" charset="-122"/>
                          <a:cs typeface="Arial" pitchFamily="34" charset="-120"/>
                        </a:rPr>
                        <a:t>1 de cada 100 supera esto</a:t>
                      </a:r>
                      <a:endParaRPr lang="en-US" sz="110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buNone/>
                      </a:pPr>
                      <a:r>
                        <a:rPr lang="en-US" sz="1150" b="1" dirty="0">
                          <a:solidFill>
                            <a:srgbClr val="0E2148"/>
                          </a:solidFill>
                          <a:latin typeface="Arial" pitchFamily="34" charset="0"/>
                          <a:ea typeface="Arial" pitchFamily="34" charset="-122"/>
                          <a:cs typeface="Arial" pitchFamily="34" charset="-120"/>
                        </a:rPr>
                        <a:t>99.9 %</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207.2 días</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00" dirty="0">
                          <a:solidFill>
                            <a:srgbClr val="6B7C99"/>
                          </a:solidFill>
                          <a:latin typeface="Arial" pitchFamily="34" charset="0"/>
                          <a:ea typeface="Arial" pitchFamily="34" charset="-122"/>
                          <a:cs typeface="Arial" pitchFamily="34" charset="-120"/>
                        </a:rPr>
                        <a:t>el escenario de estrés</a:t>
                      </a:r>
                      <a:endParaRPr lang="en-US" sz="110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6629400" y="2148840"/>
            <a:ext cx="5010912" cy="3429000"/>
          </a:xfrm>
          <a:prstGeom prst="roundRect">
            <a:avLst>
              <a:gd name="adj" fmla="val 2133"/>
            </a:avLst>
          </a:prstGeom>
          <a:solidFill>
            <a:srgbClr val="FDEBF3"/>
          </a:solidFill>
          <a:ln w="12700">
            <a:solidFill>
              <a:srgbClr val="DCE3F0"/>
            </a:solidFill>
            <a:prstDash val="solid"/>
          </a:ln>
          <a:effectLst>
            <a:outerShdw blurRad="101600" dist="12700" dir="5400000" algn="bl" rotWithShape="0">
              <a:srgbClr val="9FB0C9">
                <a:alpha val="18000"/>
              </a:srgbClr>
            </a:outerShdw>
          </a:effectLst>
        </p:spPr>
      </p:sp>
      <p:sp>
        <p:nvSpPr>
          <p:cNvPr id="6" name="Shape 3"/>
          <p:cNvSpPr/>
          <p:nvPr/>
        </p:nvSpPr>
        <p:spPr>
          <a:xfrm>
            <a:off x="6885432" y="1938528"/>
            <a:ext cx="1463040" cy="365760"/>
          </a:xfrm>
          <a:prstGeom prst="roundRect">
            <a:avLst>
              <a:gd name="adj" fmla="val 50000"/>
            </a:avLst>
          </a:prstGeom>
          <a:solidFill>
            <a:srgbClr val="E23C8A"/>
          </a:solidFill>
          <a:ln w="12700">
            <a:solidFill>
              <a:srgbClr val="E23C8A"/>
            </a:solidFill>
            <a:prstDash val="solid"/>
          </a:ln>
        </p:spPr>
      </p:sp>
      <p:sp>
        <p:nvSpPr>
          <p:cNvPr id="7" name="Text 4"/>
          <p:cNvSpPr/>
          <p:nvPr/>
        </p:nvSpPr>
        <p:spPr>
          <a:xfrm>
            <a:off x="6885432" y="1938528"/>
            <a:ext cx="146304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CASO REAL</a:t>
            </a:r>
            <a:endParaRPr lang="en-US" sz="1000" dirty="0"/>
          </a:p>
        </p:txBody>
      </p:sp>
      <p:sp>
        <p:nvSpPr>
          <p:cNvPr id="8" name="Text 5"/>
          <p:cNvSpPr/>
          <p:nvPr/>
        </p:nvSpPr>
        <p:spPr>
          <a:xfrm>
            <a:off x="6903720" y="2487168"/>
            <a:ext cx="4480560" cy="384048"/>
          </a:xfrm>
          <a:prstGeom prst="rect">
            <a:avLst/>
          </a:prstGeom>
          <a:noFill/>
          <a:ln/>
        </p:spPr>
        <p:txBody>
          <a:bodyPr wrap="square" lIns="0" tIns="0" rIns="0" bIns="0" rtlCol="0" anchor="ctr"/>
          <a:lstStyle/>
          <a:p>
            <a:pPr marL="0" indent="0">
              <a:buNone/>
            </a:pPr>
            <a:r>
              <a:rPr lang="en-US" sz="1500" b="1" dirty="0">
                <a:solidFill>
                  <a:srgbClr val="0E2148"/>
                </a:solidFill>
                <a:latin typeface="Arial" pitchFamily="34" charset="0"/>
                <a:ea typeface="Arial" pitchFamily="34" charset="-122"/>
                <a:cs typeface="Arial" pitchFamily="34" charset="-120"/>
              </a:rPr>
              <a:t>El promedio no dimensiona el riesgo</a:t>
            </a:r>
            <a:endParaRPr lang="en-US" sz="1500" dirty="0"/>
          </a:p>
        </p:txBody>
      </p:sp>
      <p:sp>
        <p:nvSpPr>
          <p:cNvPr id="9" name="Text 6"/>
          <p:cNvSpPr/>
          <p:nvPr/>
        </p:nvSpPr>
        <p:spPr>
          <a:xfrm>
            <a:off x="6903720" y="2944368"/>
            <a:ext cx="4434840" cy="914400"/>
          </a:xfrm>
          <a:prstGeom prst="rect">
            <a:avLst/>
          </a:prstGeom>
          <a:noFill/>
          <a:ln/>
        </p:spPr>
        <p:txBody>
          <a:bodyPr wrap="square" lIns="0" tIns="0" rIns="0" bIns="0" rtlCol="0" anchor="t"/>
          <a:lstStyle/>
          <a:p>
            <a:pPr marL="0" indent="0" algn="l">
              <a:lnSpc>
                <a:spcPts val="1600"/>
              </a:lnSpc>
              <a:buNone/>
            </a:pPr>
            <a:r>
              <a:rPr lang="en-US" sz="1250" dirty="0">
                <a:solidFill>
                  <a:srgbClr val="1B2A44"/>
                </a:solidFill>
                <a:latin typeface="Arial" pitchFamily="34" charset="0"/>
                <a:ea typeface="Arial" pitchFamily="34" charset="-122"/>
                <a:cs typeface="Arial" pitchFamily="34" charset="-120"/>
              </a:rPr>
              <a:t>Un banco no </a:t>
            </a:r>
            <a:r>
              <a:rPr lang="en-US" sz="1250" dirty="0" err="1">
                <a:solidFill>
                  <a:srgbClr val="1B2A44"/>
                </a:solidFill>
                <a:latin typeface="Arial" pitchFamily="34" charset="0"/>
                <a:ea typeface="Arial" pitchFamily="34" charset="-122"/>
                <a:cs typeface="Arial" pitchFamily="34" charset="-120"/>
              </a:rPr>
              <a:t>reserva</a:t>
            </a:r>
            <a:r>
              <a:rPr lang="en-US" sz="1250" dirty="0">
                <a:solidFill>
                  <a:srgbClr val="1B2A44"/>
                </a:solidFill>
                <a:latin typeface="Arial" pitchFamily="34" charset="0"/>
                <a:ea typeface="Arial" pitchFamily="34" charset="-122"/>
                <a:cs typeface="Arial" pitchFamily="34" charset="-120"/>
              </a:rPr>
              <a:t> capital para la </a:t>
            </a:r>
            <a:r>
              <a:rPr lang="en-US" sz="1250" dirty="0" err="1">
                <a:solidFill>
                  <a:srgbClr val="1B2A44"/>
                </a:solidFill>
                <a:latin typeface="Arial" pitchFamily="34" charset="0"/>
                <a:ea typeface="Arial" pitchFamily="34" charset="-122"/>
                <a:cs typeface="Arial" pitchFamily="34" charset="-120"/>
              </a:rPr>
              <a:t>pérdida</a:t>
            </a:r>
            <a:r>
              <a:rPr lang="en-US" sz="1250" dirty="0">
                <a:solidFill>
                  <a:srgbClr val="1B2A44"/>
                </a:solidFill>
                <a:latin typeface="Arial" pitchFamily="34" charset="0"/>
                <a:ea typeface="Arial" pitchFamily="34" charset="-122"/>
                <a:cs typeface="Arial" pitchFamily="34" charset="-120"/>
              </a:rPr>
              <a:t> </a:t>
            </a:r>
            <a:r>
              <a:rPr lang="en-US" sz="1250" dirty="0" err="1">
                <a:solidFill>
                  <a:srgbClr val="1B2A44"/>
                </a:solidFill>
                <a:latin typeface="Arial" pitchFamily="34" charset="0"/>
                <a:ea typeface="Arial" pitchFamily="34" charset="-122"/>
                <a:cs typeface="Arial" pitchFamily="34" charset="-120"/>
              </a:rPr>
              <a:t>promedio</a:t>
            </a:r>
            <a:r>
              <a:rPr lang="en-US" sz="1250" dirty="0">
                <a:solidFill>
                  <a:srgbClr val="1B2A44"/>
                </a:solidFill>
                <a:latin typeface="Arial" pitchFamily="34" charset="0"/>
                <a:ea typeface="Arial" pitchFamily="34" charset="-122"/>
                <a:cs typeface="Arial" pitchFamily="34" charset="-120"/>
              </a:rPr>
              <a:t>: la </a:t>
            </a:r>
            <a:r>
              <a:rPr lang="en-US" sz="1250" dirty="0" err="1">
                <a:solidFill>
                  <a:srgbClr val="1B2A44"/>
                </a:solidFill>
                <a:latin typeface="Arial" pitchFamily="34" charset="0"/>
                <a:ea typeface="Arial" pitchFamily="34" charset="-122"/>
                <a:cs typeface="Arial" pitchFamily="34" charset="-120"/>
              </a:rPr>
              <a:t>reserva</a:t>
            </a:r>
            <a:r>
              <a:rPr lang="en-US" sz="1250" dirty="0">
                <a:solidFill>
                  <a:srgbClr val="1B2A44"/>
                </a:solidFill>
                <a:latin typeface="Arial" pitchFamily="34" charset="0"/>
                <a:ea typeface="Arial" pitchFamily="34" charset="-122"/>
                <a:cs typeface="Arial" pitchFamily="34" charset="-120"/>
              </a:rPr>
              <a:t> es para el </a:t>
            </a:r>
            <a:r>
              <a:rPr lang="en-US" sz="1250" dirty="0" err="1">
                <a:solidFill>
                  <a:srgbClr val="1B2A44"/>
                </a:solidFill>
                <a:latin typeface="Arial" pitchFamily="34" charset="0"/>
                <a:ea typeface="Arial" pitchFamily="34" charset="-122"/>
                <a:cs typeface="Arial" pitchFamily="34" charset="-120"/>
              </a:rPr>
              <a:t>percentil</a:t>
            </a:r>
            <a:r>
              <a:rPr lang="en-US" sz="1250" dirty="0">
                <a:solidFill>
                  <a:srgbClr val="1B2A44"/>
                </a:solidFill>
                <a:latin typeface="Arial" pitchFamily="34" charset="0"/>
                <a:ea typeface="Arial" pitchFamily="34" charset="-122"/>
                <a:cs typeface="Arial" pitchFamily="34" charset="-120"/>
              </a:rPr>
              <a:t> 99.9 de la </a:t>
            </a:r>
            <a:r>
              <a:rPr lang="en-US" sz="1250" dirty="0" err="1">
                <a:solidFill>
                  <a:srgbClr val="1B2A44"/>
                </a:solidFill>
                <a:latin typeface="Arial" pitchFamily="34" charset="0"/>
                <a:ea typeface="Arial" pitchFamily="34" charset="-122"/>
                <a:cs typeface="Arial" pitchFamily="34" charset="-120"/>
              </a:rPr>
              <a:t>distribución</a:t>
            </a:r>
            <a:r>
              <a:rPr lang="en-US" sz="1250" dirty="0">
                <a:solidFill>
                  <a:srgbClr val="1B2A44"/>
                </a:solidFill>
                <a:latin typeface="Arial" pitchFamily="34" charset="0"/>
                <a:ea typeface="Arial" pitchFamily="34" charset="-122"/>
                <a:cs typeface="Arial" pitchFamily="34" charset="-120"/>
              </a:rPr>
              <a:t> de </a:t>
            </a:r>
            <a:r>
              <a:rPr lang="en-US" sz="1250" dirty="0" err="1">
                <a:solidFill>
                  <a:srgbClr val="1B2A44"/>
                </a:solidFill>
                <a:latin typeface="Arial" pitchFamily="34" charset="0"/>
                <a:ea typeface="Arial" pitchFamily="34" charset="-122"/>
                <a:cs typeface="Arial" pitchFamily="34" charset="-120"/>
              </a:rPr>
              <a:t>pérdidas</a:t>
            </a:r>
            <a:r>
              <a:rPr lang="en-US" sz="1250" dirty="0">
                <a:solidFill>
                  <a:srgbClr val="1B2A44"/>
                </a:solidFill>
                <a:latin typeface="Arial" pitchFamily="34" charset="0"/>
                <a:ea typeface="Arial" pitchFamily="34" charset="-122"/>
                <a:cs typeface="Arial" pitchFamily="34" charset="-120"/>
              </a:rPr>
              <a:t>. Ese es </a:t>
            </a:r>
            <a:r>
              <a:rPr lang="en-US" sz="1250" dirty="0" err="1">
                <a:solidFill>
                  <a:srgbClr val="1B2A44"/>
                </a:solidFill>
                <a:latin typeface="Arial" pitchFamily="34" charset="0"/>
                <a:ea typeface="Arial" pitchFamily="34" charset="-122"/>
                <a:cs typeface="Arial" pitchFamily="34" charset="-120"/>
              </a:rPr>
              <a:t>literalmente</a:t>
            </a:r>
            <a:r>
              <a:rPr lang="en-US" sz="1250" dirty="0">
                <a:solidFill>
                  <a:srgbClr val="1B2A44"/>
                </a:solidFill>
                <a:latin typeface="Arial" pitchFamily="34" charset="0"/>
                <a:ea typeface="Arial" pitchFamily="34" charset="-122"/>
                <a:cs typeface="Arial" pitchFamily="34" charset="-120"/>
              </a:rPr>
              <a:t> el </a:t>
            </a:r>
            <a:r>
              <a:rPr lang="en-US" sz="1250" dirty="0" err="1">
                <a:solidFill>
                  <a:srgbClr val="1B2A44"/>
                </a:solidFill>
                <a:latin typeface="Arial" pitchFamily="34" charset="0"/>
                <a:ea typeface="Arial" pitchFamily="34" charset="-122"/>
                <a:cs typeface="Arial" pitchFamily="34" charset="-120"/>
              </a:rPr>
              <a:t>número</a:t>
            </a:r>
            <a:r>
              <a:rPr lang="en-US" sz="1250" dirty="0">
                <a:solidFill>
                  <a:srgbClr val="1B2A44"/>
                </a:solidFill>
                <a:latin typeface="Arial" pitchFamily="34" charset="0"/>
                <a:ea typeface="Arial" pitchFamily="34" charset="-122"/>
                <a:cs typeface="Arial" pitchFamily="34" charset="-120"/>
              </a:rPr>
              <a:t> </a:t>
            </a:r>
            <a:r>
              <a:rPr lang="en-US" sz="1250" dirty="0" err="1">
                <a:solidFill>
                  <a:srgbClr val="1B2A44"/>
                </a:solidFill>
                <a:latin typeface="Arial" pitchFamily="34" charset="0"/>
                <a:ea typeface="Arial" pitchFamily="34" charset="-122"/>
                <a:cs typeface="Arial" pitchFamily="34" charset="-120"/>
              </a:rPr>
              <a:t>que</a:t>
            </a:r>
            <a:r>
              <a:rPr lang="en-US" sz="1250" dirty="0">
                <a:solidFill>
                  <a:srgbClr val="1B2A44"/>
                </a:solidFill>
                <a:latin typeface="Arial" pitchFamily="34" charset="0"/>
                <a:ea typeface="Arial" pitchFamily="34" charset="-122"/>
                <a:cs typeface="Arial" pitchFamily="34" charset="-120"/>
              </a:rPr>
              <a:t> </a:t>
            </a:r>
            <a:r>
              <a:rPr lang="en-US" sz="1250" dirty="0" err="1">
                <a:solidFill>
                  <a:srgbClr val="1B2A44"/>
                </a:solidFill>
                <a:latin typeface="Arial" pitchFamily="34" charset="0"/>
                <a:ea typeface="Arial" pitchFamily="34" charset="-122"/>
                <a:cs typeface="Arial" pitchFamily="34" charset="-120"/>
              </a:rPr>
              <a:t>pide</a:t>
            </a:r>
            <a:r>
              <a:rPr lang="en-US" sz="1250" dirty="0">
                <a:solidFill>
                  <a:srgbClr val="1B2A44"/>
                </a:solidFill>
                <a:latin typeface="Arial" pitchFamily="34" charset="0"/>
                <a:ea typeface="Arial" pitchFamily="34" charset="-122"/>
                <a:cs typeface="Arial" pitchFamily="34" charset="-120"/>
              </a:rPr>
              <a:t> Basilea.</a:t>
            </a:r>
            <a:endParaRPr lang="en-US" sz="1250" dirty="0"/>
          </a:p>
        </p:txBody>
      </p:sp>
      <p:sp>
        <p:nvSpPr>
          <p:cNvPr id="4" name="Text 7"/>
          <p:cNvSpPr/>
          <p:nvPr/>
        </p:nvSpPr>
        <p:spPr>
          <a:xfrm>
            <a:off x="6903720" y="3931920"/>
            <a:ext cx="4434840" cy="1005840"/>
          </a:xfrm>
          <a:prstGeom prst="rect">
            <a:avLst/>
          </a:prstGeom>
          <a:noFill/>
          <a:ln/>
        </p:spPr>
        <p:txBody>
          <a:bodyPr wrap="square" lIns="0" tIns="0" rIns="0" bIns="0" rtlCol="0" anchor="t"/>
          <a:lstStyle/>
          <a:p>
            <a:pPr marL="0" indent="0" algn="l">
              <a:lnSpc>
                <a:spcPts val="1600"/>
              </a:lnSpc>
              <a:buNone/>
            </a:pPr>
            <a:r>
              <a:rPr lang="en-US" sz="1250" dirty="0">
                <a:solidFill>
                  <a:srgbClr val="1B2A44"/>
                </a:solidFill>
                <a:latin typeface="Arial" pitchFamily="34" charset="0"/>
                <a:ea typeface="Arial" pitchFamily="34" charset="-122"/>
                <a:cs typeface="Arial" pitchFamily="34" charset="-120"/>
              </a:rPr>
              <a:t>La misma lógica fuera de banca: los SLA se escriben con el p95 de latencia, no con la media; el stock de seguridad se calcula con el p97 de demanda, no con la venta típica.</a:t>
            </a:r>
            <a:endParaRPr lang="en-US" sz="1250" dirty="0"/>
          </a:p>
        </p:txBody>
      </p:sp>
      <p:sp>
        <p:nvSpPr>
          <p:cNvPr id="11" name="Text 8"/>
          <p:cNvSpPr/>
          <p:nvPr/>
        </p:nvSpPr>
        <p:spPr>
          <a:xfrm>
            <a:off x="6903720" y="4983480"/>
            <a:ext cx="4434840" cy="457200"/>
          </a:xfrm>
          <a:prstGeom prst="rect">
            <a:avLst/>
          </a:prstGeom>
          <a:noFill/>
          <a:ln/>
        </p:spPr>
        <p:txBody>
          <a:bodyPr wrap="square" lIns="0" tIns="0" rIns="0" bIns="0" rtlCol="0" anchor="t"/>
          <a:lstStyle/>
          <a:p>
            <a:pPr marL="0" indent="0" algn="l">
              <a:lnSpc>
                <a:spcPts val="1700"/>
              </a:lnSpc>
              <a:buNone/>
            </a:pPr>
            <a:r>
              <a:rPr lang="en-US" sz="1250" b="1" dirty="0">
                <a:solidFill>
                  <a:srgbClr val="0E2148"/>
                </a:solidFill>
                <a:latin typeface="Arial" pitchFamily="34" charset="0"/>
                <a:ea typeface="Arial" pitchFamily="34" charset="-122"/>
                <a:cs typeface="Arial" pitchFamily="34" charset="-120"/>
              </a:rPr>
              <a:t>Si tu decisión vive en la cola, la media es el peor resumen que puedes elegir.</a:t>
            </a:r>
            <a:endParaRPr lang="en-US" sz="1250" dirty="0"/>
          </a:p>
        </p:txBody>
      </p:sp>
      <p:sp>
        <p:nvSpPr>
          <p:cNvPr id="12" name="Text 9"/>
          <p:cNvSpPr/>
          <p:nvPr/>
        </p:nvSpPr>
        <p:spPr>
          <a:xfrm>
            <a:off x="548640" y="6355080"/>
            <a:ext cx="8229600" cy="274320"/>
          </a:xfrm>
          <a:prstGeom prst="rect">
            <a:avLst/>
          </a:prstGeom>
          <a:noFill/>
          <a:ln/>
        </p:spPr>
        <p:txBody>
          <a:bodyPr wrap="square" lIns="0" tIns="0" rIns="0" bIns="0" rtlCol="0" anchor="ctr"/>
          <a:lstStyle/>
          <a:p>
            <a:pPr marL="0" indent="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13" name="Text 10"/>
          <p:cNvSpPr/>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8A98B2"/>
                </a:solidFill>
                <a:latin typeface="Arial" pitchFamily="34" charset="0"/>
                <a:ea typeface="Arial" pitchFamily="34" charset="-122"/>
                <a:cs typeface="Arial"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marL="0" indent="0">
              <a:buNone/>
            </a:pPr>
            <a:r>
              <a:rPr lang="en-US" sz="3000" b="1" dirty="0">
                <a:solidFill>
                  <a:srgbClr val="0E2148"/>
                </a:solidFill>
                <a:latin typeface="Arial" pitchFamily="34" charset="0"/>
                <a:ea typeface="Arial" pitchFamily="34" charset="-122"/>
                <a:cs typeface="Arial" pitchFamily="34" charset="-120"/>
              </a:rPr>
              <a:t>Esperanza y varianza: misma idea, otro operador</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marL="0" indent="0">
              <a:buNone/>
            </a:pPr>
            <a:r>
              <a:rPr lang="en-US" sz="1350" dirty="0">
                <a:solidFill>
                  <a:srgbClr val="6B7C99"/>
                </a:solidFill>
                <a:latin typeface="Arial" pitchFamily="34" charset="0"/>
                <a:ea typeface="Arial" pitchFamily="34" charset="-122"/>
                <a:cs typeface="Arial" pitchFamily="34" charset="-120"/>
              </a:rPr>
              <a:t>Lo único que cambia es el símbolo de la suma</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64240" cy="2121408"/>
        </p:xfrm>
        <a:graphic>
          <a:graphicData uri="http://schemas.openxmlformats.org/drawingml/2006/table">
            <a:tbl>
              <a:tblPr/>
              <a:tblGrid>
                <a:gridCol w="17373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3474720">
                  <a:extLst>
                    <a:ext uri="{9D8B030D-6E8A-4147-A177-3AD203B41FA5}">
                      <a16:colId xmlns:a16="http://schemas.microsoft.com/office/drawing/2014/main" val="20003"/>
                    </a:ext>
                  </a:extLst>
                </a:gridCol>
              </a:tblGrid>
              <a:tr h="530352">
                <a:tc>
                  <a:txBody>
                    <a:bodyPr/>
                    <a:lstStyle/>
                    <a:p>
                      <a:pPr marL="0" indent="0">
                        <a:buNone/>
                      </a:pP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Discreto (Clase 1)</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Continuo (hoy)</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Qué significa</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extLst>
                  <a:ext uri="{0D108BD9-81ED-4DB2-BD59-A6C34878D82A}">
                    <a16:rowId xmlns:a16="http://schemas.microsoft.com/office/drawing/2014/main" val="10000"/>
                  </a:ext>
                </a:extLst>
              </a:tr>
              <a:tr h="530352">
                <a:tc>
                  <a:txBody>
                    <a:bodyPr/>
                    <a:lstStyle/>
                    <a:p>
                      <a:pPr marL="0" indent="0">
                        <a:buNone/>
                      </a:pPr>
                      <a:r>
                        <a:rPr lang="en-US" sz="1150" b="1" dirty="0">
                          <a:solidFill>
                            <a:srgbClr val="0E2148"/>
                          </a:solidFill>
                          <a:latin typeface="Arial" pitchFamily="34" charset="0"/>
                          <a:ea typeface="Arial" pitchFamily="34" charset="-122"/>
                          <a:cs typeface="Arial" pitchFamily="34" charset="-120"/>
                        </a:rPr>
                        <a:t>Esperanza</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E[X] = Σ x · P(X=x)</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E[X] = ∫ x · f(x) dx</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00" dirty="0">
                          <a:solidFill>
                            <a:srgbClr val="6B7C99"/>
                          </a:solidFill>
                          <a:latin typeface="Arial" pitchFamily="34" charset="0"/>
                          <a:ea typeface="Arial" pitchFamily="34" charset="-122"/>
                          <a:cs typeface="Arial" pitchFamily="34" charset="-120"/>
                        </a:rPr>
                        <a:t>el centro de gravedad de la distribución</a:t>
                      </a:r>
                      <a:endParaRPr lang="en-US" sz="110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150" b="1" dirty="0">
                          <a:solidFill>
                            <a:srgbClr val="0E2148"/>
                          </a:solidFill>
                          <a:latin typeface="Arial" pitchFamily="34" charset="0"/>
                          <a:ea typeface="Arial" pitchFamily="34" charset="-122"/>
                          <a:cs typeface="Arial" pitchFamily="34" charset="-120"/>
                        </a:rPr>
                        <a:t>Varianza</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Var = Σ (x−μ)² P(X=x)</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Var = ∫ (x−μ)² f(x) dx</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00" dirty="0">
                          <a:solidFill>
                            <a:srgbClr val="6B7C99"/>
                          </a:solidFill>
                          <a:latin typeface="Arial" pitchFamily="34" charset="0"/>
                          <a:ea typeface="Arial" pitchFamily="34" charset="-122"/>
                          <a:cs typeface="Arial" pitchFamily="34" charset="-120"/>
                        </a:rPr>
                        <a:t>cuánto se dispersa alrededor del centro</a:t>
                      </a:r>
                      <a:endParaRPr lang="en-US" sz="110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buNone/>
                      </a:pPr>
                      <a:r>
                        <a:rPr lang="en-US" sz="1150" b="1" dirty="0">
                          <a:solidFill>
                            <a:srgbClr val="0E2148"/>
                          </a:solidFill>
                          <a:latin typeface="Arial" pitchFamily="34" charset="0"/>
                          <a:ea typeface="Arial" pitchFamily="34" charset="-122"/>
                          <a:cs typeface="Arial" pitchFamily="34" charset="-120"/>
                        </a:rPr>
                        <a:t>Normalización</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Σ P(X=x) = 1</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 f(x) dx = 1</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00" dirty="0">
                          <a:solidFill>
                            <a:srgbClr val="6B7C99"/>
                          </a:solidFill>
                          <a:latin typeface="Arial" pitchFamily="34" charset="0"/>
                          <a:ea typeface="Arial" pitchFamily="34" charset="-122"/>
                          <a:cs typeface="Arial" pitchFamily="34" charset="-120"/>
                        </a:rPr>
                        <a:t>toda la probabilidad está contabilizada</a:t>
                      </a:r>
                      <a:endParaRPr lang="en-US" sz="110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4617720"/>
            <a:ext cx="11064240" cy="822960"/>
          </a:xfrm>
          <a:prstGeom prst="roundRect">
            <a:avLst>
              <a:gd name="adj" fmla="val 8889"/>
            </a:avLst>
          </a:prstGeom>
          <a:solidFill>
            <a:srgbClr val="EAF1FE"/>
          </a:solidFill>
          <a:ln w="12700">
            <a:solidFill>
              <a:srgbClr val="EAF1FE"/>
            </a:solidFill>
            <a:prstDash val="solid"/>
          </a:ln>
        </p:spPr>
      </p:sp>
      <p:sp>
        <p:nvSpPr>
          <p:cNvPr id="6" name="Text 3"/>
          <p:cNvSpPr/>
          <p:nvPr/>
        </p:nvSpPr>
        <p:spPr>
          <a:xfrm>
            <a:off x="804672" y="4617720"/>
            <a:ext cx="10552176" cy="822960"/>
          </a:xfrm>
          <a:prstGeom prst="rect">
            <a:avLst/>
          </a:prstGeom>
          <a:noFill/>
          <a:ln/>
        </p:spPr>
        <p:txBody>
          <a:bodyPr wrap="square" lIns="0" tIns="0" rIns="0" bIns="0" rtlCol="0" anchor="ctr"/>
          <a:lstStyle/>
          <a:p>
            <a:pPr marL="0" indent="0">
              <a:lnSpc>
                <a:spcPts val="1700"/>
              </a:lnSpc>
              <a:buNone/>
            </a:pPr>
            <a:r>
              <a:rPr lang="en-US" sz="1250" i="1" dirty="0">
                <a:solidFill>
                  <a:srgbClr val="1B2A44"/>
                </a:solidFill>
                <a:latin typeface="Arial" pitchFamily="34" charset="0"/>
                <a:ea typeface="Arial" pitchFamily="34" charset="-122"/>
                <a:cs typeface="Arial" pitchFamily="34" charset="-120"/>
              </a:rPr>
              <a:t>La interpretación no cambia en absoluto: la suma pesa valores por su masa, la integral los pesa por su densidad. Si entendiste E[X] la semana pasada, ya entendiste esta.</a:t>
            </a:r>
            <a:endParaRPr lang="en-US" sz="1250" dirty="0"/>
          </a:p>
        </p:txBody>
      </p:sp>
      <p:sp>
        <p:nvSpPr>
          <p:cNvPr id="7" name="Shape 4"/>
          <p:cNvSpPr/>
          <p:nvPr/>
        </p:nvSpPr>
        <p:spPr>
          <a:xfrm>
            <a:off x="548640" y="5623560"/>
            <a:ext cx="11064240" cy="502920"/>
          </a:xfrm>
          <a:prstGeom prst="roundRect">
            <a:avLst>
              <a:gd name="adj" fmla="val 14545"/>
            </a:avLst>
          </a:prstGeom>
          <a:solidFill>
            <a:srgbClr val="FDEBF3"/>
          </a:solidFill>
          <a:ln w="12700">
            <a:solidFill>
              <a:srgbClr val="DCE3F0"/>
            </a:solidFill>
            <a:prstDash val="solid"/>
          </a:ln>
          <a:effectLst>
            <a:outerShdw blurRad="101600" dist="12700" dir="5400000" algn="bl" rotWithShape="0">
              <a:srgbClr val="9FB0C9">
                <a:alpha val="18000"/>
              </a:srgbClr>
            </a:outerShdw>
          </a:effectLst>
        </p:spPr>
      </p:sp>
      <p:sp>
        <p:nvSpPr>
          <p:cNvPr id="8" name="Text 5"/>
          <p:cNvSpPr/>
          <p:nvPr/>
        </p:nvSpPr>
        <p:spPr>
          <a:xfrm>
            <a:off x="868680" y="5687568"/>
            <a:ext cx="10424160" cy="411480"/>
          </a:xfrm>
          <a:prstGeom prst="rect">
            <a:avLst/>
          </a:prstGeom>
          <a:noFill/>
          <a:ln/>
        </p:spPr>
        <p:txBody>
          <a:bodyPr wrap="square" lIns="0" tIns="0" rIns="0" bIns="0" rtlCol="0" anchor="t"/>
          <a:lstStyle/>
          <a:p>
            <a:pPr marL="0" indent="0" algn="l">
              <a:lnSpc>
                <a:spcPts val="1700"/>
              </a:lnSpc>
              <a:buNone/>
            </a:pPr>
            <a:r>
              <a:rPr lang="en-US" sz="1150" i="1" dirty="0">
                <a:solidFill>
                  <a:srgbClr val="1B2A44"/>
                </a:solidFill>
                <a:latin typeface="Arial" pitchFamily="34" charset="0"/>
                <a:ea typeface="Arial" pitchFamily="34" charset="-122"/>
                <a:cs typeface="Arial" pitchFamily="34" charset="-120"/>
              </a:rPr>
              <a:t>Advertencia: hay distribuciones continuas sin media finita (Cauchy). Existen, aparecen en finanzas, y son la razón por la que «calcular el promedio» no siempre es una operación válida.</a:t>
            </a:r>
            <a:endParaRPr lang="en-US" sz="1150" dirty="0"/>
          </a:p>
        </p:txBody>
      </p:sp>
      <p:sp>
        <p:nvSpPr>
          <p:cNvPr id="9" name="Text 6"/>
          <p:cNvSpPr/>
          <p:nvPr/>
        </p:nvSpPr>
        <p:spPr>
          <a:xfrm>
            <a:off x="548640" y="6355080"/>
            <a:ext cx="8229600" cy="274320"/>
          </a:xfrm>
          <a:prstGeom prst="rect">
            <a:avLst/>
          </a:prstGeom>
          <a:noFill/>
          <a:ln/>
        </p:spPr>
        <p:txBody>
          <a:bodyPr wrap="square" lIns="0" tIns="0" rIns="0" bIns="0" rtlCol="0" anchor="ctr"/>
          <a:lstStyle/>
          <a:p>
            <a:pPr marL="0" indent="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10" name="Text 7"/>
          <p:cNvSpPr/>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8A98B2"/>
                </a:solidFill>
                <a:latin typeface="Arial" pitchFamily="34" charset="0"/>
                <a:ea typeface="Arial" pitchFamily="34" charset="-122"/>
                <a:cs typeface="Arial"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marL="0" indent="0">
              <a:buNone/>
            </a:pPr>
            <a:r>
              <a:rPr lang="en-US" sz="3000" b="1" dirty="0">
                <a:solidFill>
                  <a:srgbClr val="0E2148"/>
                </a:solidFill>
                <a:latin typeface="Arial" pitchFamily="34" charset="0"/>
                <a:ea typeface="Arial" pitchFamily="34" charset="-122"/>
                <a:cs typeface="Arial" pitchFamily="34" charset="-120"/>
              </a:rPr>
              <a:t>Uniforme continua: cuando solo conoces el rango</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marL="0" indent="0">
              <a:buNone/>
            </a:pPr>
            <a:r>
              <a:rPr lang="en-US" sz="1350" dirty="0">
                <a:solidFill>
                  <a:srgbClr val="6B7C99"/>
                </a:solidFill>
                <a:latin typeface="Arial" pitchFamily="34" charset="0"/>
                <a:ea typeface="Arial" pitchFamily="34" charset="-122"/>
                <a:cs typeface="Arial" pitchFamily="34" charset="-120"/>
              </a:rPr>
              <a:t>El modelo de la ignorancia honesta — y el motor de toda simulación</a:t>
            </a:r>
            <a:endParaRPr lang="en-US" sz="1350" dirty="0"/>
          </a:p>
        </p:txBody>
      </p:sp>
      <p:graphicFrame>
        <p:nvGraphicFramePr>
          <p:cNvPr id="4" name="Chart 0"/>
          <p:cNvGraphicFramePr/>
          <p:nvPr/>
        </p:nvGraphicFramePr>
        <p:xfrm>
          <a:off x="548640" y="2103120"/>
          <a:ext cx="59436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766560" y="2103120"/>
            <a:ext cx="4873752" cy="1600200"/>
          </a:xfrm>
          <a:prstGeom prst="roundRect">
            <a:avLst>
              <a:gd name="adj" fmla="val 4571"/>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6" name="Text 3"/>
          <p:cNvSpPr/>
          <p:nvPr/>
        </p:nvSpPr>
        <p:spPr>
          <a:xfrm>
            <a:off x="7040880" y="2286000"/>
            <a:ext cx="4389120" cy="384048"/>
          </a:xfrm>
          <a:prstGeom prst="rect">
            <a:avLst/>
          </a:prstGeom>
          <a:noFill/>
          <a:ln/>
        </p:spPr>
        <p:txBody>
          <a:bodyPr wrap="square" lIns="0" tIns="0" rIns="0" bIns="0" rtlCol="0" anchor="ctr"/>
          <a:lstStyle/>
          <a:p>
            <a:pPr marL="0" indent="0">
              <a:buNone/>
            </a:pPr>
            <a:r>
              <a:rPr lang="en-US" sz="1500" b="1" dirty="0">
                <a:solidFill>
                  <a:srgbClr val="0E2148"/>
                </a:solidFill>
                <a:latin typeface="Arial" pitchFamily="34" charset="0"/>
                <a:ea typeface="Arial" pitchFamily="34" charset="-122"/>
                <a:cs typeface="Arial" pitchFamily="34" charset="-120"/>
              </a:rPr>
              <a:t>Cuándo la usas de verdad</a:t>
            </a:r>
            <a:endParaRPr lang="en-US" sz="1500" dirty="0"/>
          </a:p>
        </p:txBody>
      </p:sp>
      <p:sp>
        <p:nvSpPr>
          <p:cNvPr id="7" name="Text 4"/>
          <p:cNvSpPr/>
          <p:nvPr/>
        </p:nvSpPr>
        <p:spPr>
          <a:xfrm>
            <a:off x="7040880" y="2743200"/>
            <a:ext cx="4343400" cy="822960"/>
          </a:xfrm>
          <a:prstGeom prst="rect">
            <a:avLst/>
          </a:prstGeom>
          <a:noFill/>
          <a:ln/>
        </p:spPr>
        <p:txBody>
          <a:bodyPr wrap="square" lIns="0" tIns="0" rIns="0" bIns="0" rtlCol="0" anchor="t"/>
          <a:lstStyle/>
          <a:p>
            <a:pPr marL="0" indent="0" algn="l">
              <a:lnSpc>
                <a:spcPts val="1600"/>
              </a:lnSpc>
              <a:buNone/>
            </a:pPr>
            <a:r>
              <a:rPr lang="en-US" sz="1250" dirty="0">
                <a:solidFill>
                  <a:srgbClr val="1B2A44"/>
                </a:solidFill>
                <a:latin typeface="Arial" pitchFamily="34" charset="0"/>
                <a:ea typeface="Arial" pitchFamily="34" charset="-122"/>
                <a:cs typeface="Arial" pitchFamily="34" charset="-120"/>
              </a:rPr>
              <a:t>Cuando sabes los límites y nada más: un tiempo de espera entre 0 y 5 minutos, un redondeo, un error de medición acotado.</a:t>
            </a:r>
            <a:endParaRPr lang="en-US" sz="1250" dirty="0"/>
          </a:p>
        </p:txBody>
      </p:sp>
      <p:sp>
        <p:nvSpPr>
          <p:cNvPr id="8" name="Shape 5"/>
          <p:cNvSpPr/>
          <p:nvPr/>
        </p:nvSpPr>
        <p:spPr>
          <a:xfrm>
            <a:off x="6766560" y="3886200"/>
            <a:ext cx="4873752" cy="1691640"/>
          </a:xfrm>
          <a:prstGeom prst="roundRect">
            <a:avLst>
              <a:gd name="adj" fmla="val 4324"/>
            </a:avLst>
          </a:prstGeom>
          <a:solidFill>
            <a:srgbClr val="EAF1FE"/>
          </a:solidFill>
          <a:ln w="12700">
            <a:solidFill>
              <a:srgbClr val="DCE3F0"/>
            </a:solidFill>
            <a:prstDash val="solid"/>
          </a:ln>
          <a:effectLst>
            <a:outerShdw blurRad="101600" dist="12700" dir="5400000" algn="bl" rotWithShape="0">
              <a:srgbClr val="9FB0C9">
                <a:alpha val="18000"/>
              </a:srgbClr>
            </a:outerShdw>
          </a:effectLst>
        </p:spPr>
      </p:sp>
      <p:sp>
        <p:nvSpPr>
          <p:cNvPr id="9" name="Text 6"/>
          <p:cNvSpPr/>
          <p:nvPr/>
        </p:nvSpPr>
        <p:spPr>
          <a:xfrm>
            <a:off x="7040880" y="4069080"/>
            <a:ext cx="4389120" cy="384048"/>
          </a:xfrm>
          <a:prstGeom prst="rect">
            <a:avLst/>
          </a:prstGeom>
          <a:noFill/>
          <a:ln/>
        </p:spPr>
        <p:txBody>
          <a:bodyPr wrap="square" lIns="0" tIns="0" rIns="0" bIns="0" rtlCol="0" anchor="ctr"/>
          <a:lstStyle/>
          <a:p>
            <a:pPr marL="0" indent="0">
              <a:buNone/>
            </a:pPr>
            <a:r>
              <a:rPr lang="en-US" sz="1500" b="1" dirty="0">
                <a:solidFill>
                  <a:srgbClr val="0E2148"/>
                </a:solidFill>
                <a:latin typeface="Arial" pitchFamily="34" charset="0"/>
                <a:ea typeface="Arial" pitchFamily="34" charset="-122"/>
                <a:cs typeface="Arial" pitchFamily="34" charset="-120"/>
              </a:rPr>
              <a:t>Por qué está en todas partes</a:t>
            </a:r>
            <a:endParaRPr lang="en-US" sz="1500" dirty="0"/>
          </a:p>
        </p:txBody>
      </p:sp>
      <p:sp>
        <p:nvSpPr>
          <p:cNvPr id="10" name="Text 7"/>
          <p:cNvSpPr/>
          <p:nvPr/>
        </p:nvSpPr>
        <p:spPr>
          <a:xfrm>
            <a:off x="7040880" y="4526280"/>
            <a:ext cx="4343400" cy="960120"/>
          </a:xfrm>
          <a:prstGeom prst="rect">
            <a:avLst/>
          </a:prstGeom>
          <a:noFill/>
          <a:ln/>
        </p:spPr>
        <p:txBody>
          <a:bodyPr wrap="square" lIns="0" tIns="0" rIns="0" bIns="0" rtlCol="0" anchor="t"/>
          <a:lstStyle/>
          <a:p>
            <a:pPr marL="0" indent="0" algn="l">
              <a:lnSpc>
                <a:spcPts val="1600"/>
              </a:lnSpc>
              <a:buNone/>
            </a:pPr>
            <a:r>
              <a:rPr lang="en-US" sz="1250" dirty="0">
                <a:solidFill>
                  <a:srgbClr val="1B2A44"/>
                </a:solidFill>
                <a:latin typeface="Arial" pitchFamily="34" charset="0"/>
                <a:ea typeface="Arial" pitchFamily="34" charset="-122"/>
                <a:cs typeface="Arial" pitchFamily="34" charset="-120"/>
              </a:rPr>
              <a:t>np.random.rand() genera U(0,1). Toda otra distribución se construye a partir de ahí: si U es uniforme, F⁻¹(U) sigue la distribución que quieras. Eso es lo que van a programar hoy.</a:t>
            </a:r>
            <a:endParaRPr lang="en-US" sz="1250" dirty="0"/>
          </a:p>
        </p:txBody>
      </p:sp>
      <p:sp>
        <p:nvSpPr>
          <p:cNvPr id="11" name="Text 8"/>
          <p:cNvSpPr/>
          <p:nvPr/>
        </p:nvSpPr>
        <p:spPr>
          <a:xfrm>
            <a:off x="548640" y="6355080"/>
            <a:ext cx="8229600" cy="274320"/>
          </a:xfrm>
          <a:prstGeom prst="rect">
            <a:avLst/>
          </a:prstGeom>
          <a:noFill/>
          <a:ln/>
        </p:spPr>
        <p:txBody>
          <a:bodyPr wrap="square" lIns="0" tIns="0" rIns="0" bIns="0" rtlCol="0" anchor="ctr"/>
          <a:lstStyle/>
          <a:p>
            <a:pPr marL="0" indent="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12" name="Text 9"/>
          <p:cNvSpPr/>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8A98B2"/>
                </a:solidFill>
                <a:latin typeface="Arial" pitchFamily="34" charset="0"/>
                <a:ea typeface="Arial" pitchFamily="34" charset="-122"/>
                <a:cs typeface="Arial"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marL="0" indent="0">
              <a:buNone/>
            </a:pPr>
            <a:r>
              <a:rPr lang="en-US" sz="3000" b="1" dirty="0">
                <a:solidFill>
                  <a:srgbClr val="0E2148"/>
                </a:solidFill>
                <a:latin typeface="Arial" pitchFamily="34" charset="0"/>
                <a:ea typeface="Arial" pitchFamily="34" charset="-122"/>
                <a:cs typeface="Arial" pitchFamily="34" charset="-120"/>
              </a:rPr>
              <a:t>Exponencial: el reloj del azar</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marL="0" indent="0">
              <a:buNone/>
            </a:pPr>
            <a:r>
              <a:rPr lang="en-US" sz="1350" dirty="0">
                <a:solidFill>
                  <a:srgbClr val="6B7C99"/>
                </a:solidFill>
                <a:latin typeface="Arial" pitchFamily="34" charset="0"/>
                <a:ea typeface="Arial" pitchFamily="34" charset="-122"/>
                <a:cs typeface="Arial" pitchFamily="34" charset="-120"/>
              </a:rPr>
              <a:t>La distribución del tiempo que falta hasta que algo pase</a:t>
            </a:r>
            <a:endParaRPr lang="en-US" sz="1350" dirty="0"/>
          </a:p>
        </p:txBody>
      </p:sp>
      <p:graphicFrame>
        <p:nvGraphicFramePr>
          <p:cNvPr id="4" name="Chart 0"/>
          <p:cNvGraphicFramePr/>
          <p:nvPr/>
        </p:nvGraphicFramePr>
        <p:xfrm>
          <a:off x="548640" y="2103120"/>
          <a:ext cx="59436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766560" y="2103120"/>
            <a:ext cx="4873752" cy="1965960"/>
          </a:xfrm>
          <a:prstGeom prst="roundRect">
            <a:avLst>
              <a:gd name="adj" fmla="val 3721"/>
            </a:avLst>
          </a:prstGeom>
          <a:solidFill>
            <a:srgbClr val="EAF1FE"/>
          </a:solidFill>
          <a:ln w="12700">
            <a:solidFill>
              <a:srgbClr val="DCE3F0"/>
            </a:solidFill>
            <a:prstDash val="solid"/>
          </a:ln>
          <a:effectLst>
            <a:outerShdw blurRad="101600" dist="12700" dir="5400000" algn="bl" rotWithShape="0">
              <a:srgbClr val="9FB0C9">
                <a:alpha val="18000"/>
              </a:srgbClr>
            </a:outerShdw>
          </a:effectLst>
        </p:spPr>
      </p:sp>
      <p:sp>
        <p:nvSpPr>
          <p:cNvPr id="6" name="Text 3"/>
          <p:cNvSpPr/>
          <p:nvPr/>
        </p:nvSpPr>
        <p:spPr>
          <a:xfrm>
            <a:off x="7040880" y="2286000"/>
            <a:ext cx="4389120" cy="384048"/>
          </a:xfrm>
          <a:prstGeom prst="rect">
            <a:avLst/>
          </a:prstGeom>
          <a:noFill/>
          <a:ln/>
        </p:spPr>
        <p:txBody>
          <a:bodyPr wrap="square" lIns="0" tIns="0" rIns="0" bIns="0" rtlCol="0" anchor="ctr"/>
          <a:lstStyle/>
          <a:p>
            <a:pPr marL="0" indent="0">
              <a:buNone/>
            </a:pPr>
            <a:r>
              <a:rPr lang="en-US" sz="1500" b="1" dirty="0">
                <a:solidFill>
                  <a:srgbClr val="0E2148"/>
                </a:solidFill>
                <a:latin typeface="Arial" pitchFamily="34" charset="0"/>
                <a:ea typeface="Arial" pitchFamily="34" charset="-122"/>
                <a:cs typeface="Arial" pitchFamily="34" charset="-120"/>
              </a:rPr>
              <a:t>El puente con la Clase 1</a:t>
            </a:r>
            <a:endParaRPr lang="en-US" sz="1500" dirty="0"/>
          </a:p>
        </p:txBody>
      </p:sp>
      <p:sp>
        <p:nvSpPr>
          <p:cNvPr id="7" name="Text 4"/>
          <p:cNvSpPr/>
          <p:nvPr/>
        </p:nvSpPr>
        <p:spPr>
          <a:xfrm>
            <a:off x="7040880" y="2743200"/>
            <a:ext cx="4343400" cy="1234440"/>
          </a:xfrm>
          <a:prstGeom prst="rect">
            <a:avLst/>
          </a:prstGeom>
          <a:noFill/>
          <a:ln/>
        </p:spPr>
        <p:txBody>
          <a:bodyPr wrap="square" lIns="0" tIns="0" rIns="0" bIns="0" rtlCol="0" anchor="t"/>
          <a:lstStyle/>
          <a:p>
            <a:pPr marL="0" indent="0" algn="l">
              <a:lnSpc>
                <a:spcPts val="1600"/>
              </a:lnSpc>
              <a:buNone/>
            </a:pPr>
            <a:r>
              <a:rPr lang="en-US" sz="1250" dirty="0">
                <a:solidFill>
                  <a:srgbClr val="1B2A44"/>
                </a:solidFill>
                <a:latin typeface="Arial" pitchFamily="34" charset="0"/>
                <a:ea typeface="Arial" pitchFamily="34" charset="-122"/>
                <a:cs typeface="Arial" pitchFamily="34" charset="-120"/>
              </a:rPr>
              <a:t>Si los eventos llegan según Poisson con tasa λ por unidad de tiempo, entonces el tiempo entre dos eventos consecutivos es Exponencial(λ). Son la misma realidad contada de dos formas: una cuenta eventos, la otra mide esperas.</a:t>
            </a:r>
            <a:endParaRPr lang="en-US" sz="1250" dirty="0"/>
          </a:p>
        </p:txBody>
      </p:sp>
      <p:sp>
        <p:nvSpPr>
          <p:cNvPr id="8" name="Shape 5"/>
          <p:cNvSpPr/>
          <p:nvPr/>
        </p:nvSpPr>
        <p:spPr>
          <a:xfrm>
            <a:off x="6766560" y="4251960"/>
            <a:ext cx="4873752" cy="1325880"/>
          </a:xfrm>
          <a:prstGeom prst="roundRect">
            <a:avLst>
              <a:gd name="adj" fmla="val 5517"/>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9" name="Text 6"/>
          <p:cNvSpPr/>
          <p:nvPr/>
        </p:nvSpPr>
        <p:spPr>
          <a:xfrm>
            <a:off x="7040880" y="4407408"/>
            <a:ext cx="4389120" cy="384048"/>
          </a:xfrm>
          <a:prstGeom prst="rect">
            <a:avLst/>
          </a:prstGeom>
          <a:noFill/>
          <a:ln/>
        </p:spPr>
        <p:txBody>
          <a:bodyPr wrap="square" lIns="0" tIns="0" rIns="0" bIns="0" rtlCol="0" anchor="ctr"/>
          <a:lstStyle/>
          <a:p>
            <a:pPr marL="0" indent="0">
              <a:buNone/>
            </a:pPr>
            <a:r>
              <a:rPr lang="en-US" sz="1500" b="1" dirty="0">
                <a:solidFill>
                  <a:srgbClr val="0E2148"/>
                </a:solidFill>
                <a:latin typeface="Arial" pitchFamily="34" charset="0"/>
                <a:ea typeface="Arial" pitchFamily="34" charset="-122"/>
                <a:cs typeface="Arial" pitchFamily="34" charset="-120"/>
              </a:rPr>
              <a:t>Un solo parámetro</a:t>
            </a:r>
            <a:endParaRPr lang="en-US" sz="1500" dirty="0"/>
          </a:p>
        </p:txBody>
      </p:sp>
      <p:sp>
        <p:nvSpPr>
          <p:cNvPr id="10" name="Text 7"/>
          <p:cNvSpPr/>
          <p:nvPr/>
        </p:nvSpPr>
        <p:spPr>
          <a:xfrm>
            <a:off x="7040880" y="4846320"/>
            <a:ext cx="4343400" cy="685800"/>
          </a:xfrm>
          <a:prstGeom prst="rect">
            <a:avLst/>
          </a:prstGeom>
          <a:noFill/>
          <a:ln/>
        </p:spPr>
        <p:txBody>
          <a:bodyPr wrap="square" lIns="0" tIns="0" rIns="0" bIns="0" rtlCol="0" anchor="t"/>
          <a:lstStyle/>
          <a:p>
            <a:pPr marL="0" indent="0" algn="l">
              <a:lnSpc>
                <a:spcPts val="1600"/>
              </a:lnSpc>
              <a:buNone/>
            </a:pPr>
            <a:r>
              <a:rPr lang="en-US" sz="1250" dirty="0">
                <a:solidFill>
                  <a:srgbClr val="1B2A44"/>
                </a:solidFill>
                <a:latin typeface="Arial" pitchFamily="34" charset="0"/>
                <a:ea typeface="Arial" pitchFamily="34" charset="-122"/>
                <a:cs typeface="Arial" pitchFamily="34" charset="-120"/>
              </a:rPr>
              <a:t>λ lo controla todo: media = 1/λ y desviación = 1/λ también. Estimarla es literalmente calcular el promedio de tus tiempos observados.</a:t>
            </a:r>
            <a:endParaRPr lang="en-US" sz="1250" dirty="0"/>
          </a:p>
        </p:txBody>
      </p:sp>
      <p:sp>
        <p:nvSpPr>
          <p:cNvPr id="11" name="Text 8"/>
          <p:cNvSpPr/>
          <p:nvPr/>
        </p:nvSpPr>
        <p:spPr>
          <a:xfrm>
            <a:off x="548640" y="6355080"/>
            <a:ext cx="8229600" cy="274320"/>
          </a:xfrm>
          <a:prstGeom prst="rect">
            <a:avLst/>
          </a:prstGeom>
          <a:noFill/>
          <a:ln/>
        </p:spPr>
        <p:txBody>
          <a:bodyPr wrap="square" lIns="0" tIns="0" rIns="0" bIns="0" rtlCol="0" anchor="ctr"/>
          <a:lstStyle/>
          <a:p>
            <a:pPr marL="0" indent="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12" name="Text 9"/>
          <p:cNvSpPr/>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8A98B2"/>
                </a:solidFill>
                <a:latin typeface="Arial" pitchFamily="34" charset="0"/>
                <a:ea typeface="Arial" pitchFamily="34" charset="-122"/>
                <a:cs typeface="Arial"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marL="0" indent="0">
              <a:buNone/>
            </a:pPr>
            <a:r>
              <a:rPr lang="en-US" sz="3000" b="1" dirty="0">
                <a:solidFill>
                  <a:srgbClr val="0E2148"/>
                </a:solidFill>
                <a:latin typeface="Arial" pitchFamily="34" charset="0"/>
                <a:ea typeface="Arial" pitchFamily="34" charset="-122"/>
                <a:cs typeface="Arial" pitchFamily="34" charset="-120"/>
              </a:rPr>
              <a:t>La propiedad que la hace elegante y peligrosa</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marL="0" indent="0">
              <a:buNone/>
            </a:pPr>
            <a:r>
              <a:rPr lang="en-US" sz="1350" dirty="0">
                <a:solidFill>
                  <a:srgbClr val="6B7C99"/>
                </a:solidFill>
                <a:latin typeface="Arial" pitchFamily="34" charset="0"/>
                <a:ea typeface="Arial" pitchFamily="34" charset="-122"/>
                <a:cs typeface="Arial" pitchFamily="34" charset="-120"/>
              </a:rPr>
              <a:t>La exponencial no tiene memoria — y tus clientes sí</a:t>
            </a:r>
            <a:endParaRPr lang="en-US" sz="1350" dirty="0"/>
          </a:p>
        </p:txBody>
      </p:sp>
      <p:sp>
        <p:nvSpPr>
          <p:cNvPr id="4" name="Shape 2"/>
          <p:cNvSpPr/>
          <p:nvPr/>
        </p:nvSpPr>
        <p:spPr>
          <a:xfrm>
            <a:off x="548640" y="2148840"/>
            <a:ext cx="11064240" cy="914400"/>
          </a:xfrm>
          <a:prstGeom prst="roundRect">
            <a:avLst>
              <a:gd name="adj" fmla="val 8000"/>
            </a:avLst>
          </a:prstGeom>
          <a:solidFill>
            <a:srgbClr val="EAF1FE"/>
          </a:solidFill>
          <a:ln w="12700">
            <a:solidFill>
              <a:srgbClr val="DCE3F0"/>
            </a:solidFill>
            <a:prstDash val="solid"/>
          </a:ln>
          <a:effectLst>
            <a:outerShdw blurRad="101600" dist="12700" dir="5400000" algn="bl" rotWithShape="0">
              <a:srgbClr val="9FB0C9">
                <a:alpha val="18000"/>
              </a:srgbClr>
            </a:outerShdw>
          </a:effectLst>
        </p:spPr>
      </p:sp>
      <p:sp>
        <p:nvSpPr>
          <p:cNvPr id="5" name="Text 3"/>
          <p:cNvSpPr/>
          <p:nvPr/>
        </p:nvSpPr>
        <p:spPr>
          <a:xfrm>
            <a:off x="548640" y="2148840"/>
            <a:ext cx="11064240" cy="914400"/>
          </a:xfrm>
          <a:prstGeom prst="rect">
            <a:avLst/>
          </a:prstGeom>
          <a:noFill/>
          <a:ln/>
        </p:spPr>
        <p:txBody>
          <a:bodyPr wrap="square" lIns="0" tIns="0" rIns="0" bIns="0" rtlCol="0" anchor="ctr"/>
          <a:lstStyle/>
          <a:p>
            <a:pPr marL="0" indent="0" algn="ctr">
              <a:buNone/>
            </a:pPr>
            <a:r>
              <a:rPr lang="en-US" sz="2400" b="1" dirty="0">
                <a:solidFill>
                  <a:srgbClr val="0E2148"/>
                </a:solidFill>
                <a:latin typeface="Arial" pitchFamily="34" charset="0"/>
                <a:ea typeface="Arial" pitchFamily="34" charset="-122"/>
                <a:cs typeface="Arial" pitchFamily="34" charset="-120"/>
              </a:rPr>
              <a:t>P(X &gt; s + t  |  X &gt; s)  =  P(X &gt; t)</a:t>
            </a:r>
            <a:endParaRPr lang="en-US" sz="2400" dirty="0"/>
          </a:p>
        </p:txBody>
      </p:sp>
      <p:sp>
        <p:nvSpPr>
          <p:cNvPr id="6" name="Shape 4"/>
          <p:cNvSpPr/>
          <p:nvPr/>
        </p:nvSpPr>
        <p:spPr>
          <a:xfrm>
            <a:off x="548640" y="3337560"/>
            <a:ext cx="5394960" cy="2377440"/>
          </a:xfrm>
          <a:prstGeom prst="roundRect">
            <a:avLst>
              <a:gd name="adj" fmla="val 3077"/>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7" name="Shape 5"/>
          <p:cNvSpPr/>
          <p:nvPr/>
        </p:nvSpPr>
        <p:spPr>
          <a:xfrm>
            <a:off x="804672" y="3145536"/>
            <a:ext cx="1828800" cy="365760"/>
          </a:xfrm>
          <a:prstGeom prst="roundRect">
            <a:avLst>
              <a:gd name="adj" fmla="val 50000"/>
            </a:avLst>
          </a:prstGeom>
          <a:solidFill>
            <a:srgbClr val="2D6CDF"/>
          </a:solidFill>
          <a:ln w="12700">
            <a:solidFill>
              <a:srgbClr val="2D6CDF"/>
            </a:solidFill>
            <a:prstDash val="solid"/>
          </a:ln>
        </p:spPr>
      </p:sp>
      <p:sp>
        <p:nvSpPr>
          <p:cNvPr id="8" name="Text 6"/>
          <p:cNvSpPr/>
          <p:nvPr/>
        </p:nvSpPr>
        <p:spPr>
          <a:xfrm>
            <a:off x="804672" y="3145536"/>
            <a:ext cx="182880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CUANDO SIRVE</a:t>
            </a:r>
            <a:endParaRPr lang="en-US" sz="1000" dirty="0"/>
          </a:p>
        </p:txBody>
      </p:sp>
      <p:sp>
        <p:nvSpPr>
          <p:cNvPr id="9" name="Text 7"/>
          <p:cNvSpPr/>
          <p:nvPr/>
        </p:nvSpPr>
        <p:spPr>
          <a:xfrm>
            <a:off x="868680" y="3840480"/>
            <a:ext cx="4800600" cy="1737360"/>
          </a:xfrm>
          <a:prstGeom prst="rect">
            <a:avLst/>
          </a:prstGeom>
          <a:noFill/>
          <a:ln/>
        </p:spPr>
        <p:txBody>
          <a:bodyPr wrap="square" lIns="0" tIns="0" rIns="0" bIns="0" rtlCol="0" anchor="t"/>
          <a:lstStyle/>
          <a:p>
            <a:pPr marL="0" indent="0" algn="l">
              <a:lnSpc>
                <a:spcPts val="1700"/>
              </a:lnSpc>
              <a:buNone/>
            </a:pPr>
            <a:r>
              <a:rPr lang="en-US" sz="1250" dirty="0">
                <a:solidFill>
                  <a:srgbClr val="1B2A44"/>
                </a:solidFill>
                <a:latin typeface="Arial" pitchFamily="34" charset="0"/>
                <a:ea typeface="Arial" pitchFamily="34" charset="-122"/>
                <a:cs typeface="Arial" pitchFamily="34" charset="-120"/>
              </a:rPr>
              <a:t>Un servidor que ya lleva 3 horas encendido tiene la misma probabilidad de fallar en la próxima hora que uno recién prendido. Para procesos sin desgaste — llegadas de clientes, arribo de tickets, ocurrencia de fraudes — el supuesto es razonable y simplifica enormemente el modelo.</a:t>
            </a:r>
            <a:endParaRPr lang="en-US" sz="1250" dirty="0"/>
          </a:p>
        </p:txBody>
      </p:sp>
      <p:sp>
        <p:nvSpPr>
          <p:cNvPr id="10" name="Shape 8"/>
          <p:cNvSpPr/>
          <p:nvPr/>
        </p:nvSpPr>
        <p:spPr>
          <a:xfrm>
            <a:off x="6245352" y="3337560"/>
            <a:ext cx="5394960" cy="2377440"/>
          </a:xfrm>
          <a:prstGeom prst="roundRect">
            <a:avLst>
              <a:gd name="adj" fmla="val 3077"/>
            </a:avLst>
          </a:prstGeom>
          <a:solidFill>
            <a:srgbClr val="FDEBF3"/>
          </a:solidFill>
          <a:ln w="12700">
            <a:solidFill>
              <a:srgbClr val="DCE3F0"/>
            </a:solidFill>
            <a:prstDash val="solid"/>
          </a:ln>
          <a:effectLst>
            <a:outerShdw blurRad="101600" dist="12700" dir="5400000" algn="bl" rotWithShape="0">
              <a:srgbClr val="9FB0C9">
                <a:alpha val="18000"/>
              </a:srgbClr>
            </a:outerShdw>
          </a:effectLst>
        </p:spPr>
      </p:sp>
      <p:sp>
        <p:nvSpPr>
          <p:cNvPr id="11" name="Shape 9"/>
          <p:cNvSpPr/>
          <p:nvPr/>
        </p:nvSpPr>
        <p:spPr>
          <a:xfrm>
            <a:off x="6501384" y="3145536"/>
            <a:ext cx="1920240" cy="365760"/>
          </a:xfrm>
          <a:prstGeom prst="roundRect">
            <a:avLst>
              <a:gd name="adj" fmla="val 50000"/>
            </a:avLst>
          </a:prstGeom>
          <a:solidFill>
            <a:srgbClr val="E23C8A"/>
          </a:solidFill>
          <a:ln w="12700">
            <a:solidFill>
              <a:srgbClr val="E23C8A"/>
            </a:solidFill>
            <a:prstDash val="solid"/>
          </a:ln>
        </p:spPr>
      </p:sp>
      <p:sp>
        <p:nvSpPr>
          <p:cNvPr id="12" name="Text 10"/>
          <p:cNvSpPr/>
          <p:nvPr/>
        </p:nvSpPr>
        <p:spPr>
          <a:xfrm>
            <a:off x="6501384" y="3145536"/>
            <a:ext cx="192024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CUANDO MIENTE</a:t>
            </a:r>
            <a:endParaRPr lang="en-US" sz="1000" dirty="0"/>
          </a:p>
        </p:txBody>
      </p:sp>
      <p:sp>
        <p:nvSpPr>
          <p:cNvPr id="13" name="Text 11"/>
          <p:cNvSpPr/>
          <p:nvPr/>
        </p:nvSpPr>
        <p:spPr>
          <a:xfrm>
            <a:off x="6565392" y="3840480"/>
            <a:ext cx="4800600" cy="1737360"/>
          </a:xfrm>
          <a:prstGeom prst="rect">
            <a:avLst/>
          </a:prstGeom>
          <a:noFill/>
          <a:ln/>
        </p:spPr>
        <p:txBody>
          <a:bodyPr wrap="square" lIns="0" tIns="0" rIns="0" bIns="0" rtlCol="0" anchor="t"/>
          <a:lstStyle/>
          <a:p>
            <a:pPr marL="0" indent="0" algn="l">
              <a:lnSpc>
                <a:spcPts val="1700"/>
              </a:lnSpc>
              <a:buNone/>
            </a:pPr>
            <a:r>
              <a:rPr lang="en-US" sz="1250" dirty="0">
                <a:solidFill>
                  <a:srgbClr val="1B2A44"/>
                </a:solidFill>
                <a:latin typeface="Arial" pitchFamily="34" charset="0"/>
                <a:ea typeface="Arial" pitchFamily="34" charset="-122"/>
                <a:cs typeface="Arial" pitchFamily="34" charset="-120"/>
              </a:rPr>
              <a:t>Un crédito que ya pagó 18 cuotas NO tiene el mismo riesgo que uno recién desembolsado. Una máquina con 10 años se rompe más que una nueva. Cuando la historia importa —y en riesgo casi siempre importa— la exponencial subestima o sobreestima según el tramo. Ahí necesitas Weibull.</a:t>
            </a:r>
            <a:endParaRPr lang="en-US" sz="1250" dirty="0"/>
          </a:p>
        </p:txBody>
      </p:sp>
      <p:sp>
        <p:nvSpPr>
          <p:cNvPr id="14" name="Text 12"/>
          <p:cNvSpPr/>
          <p:nvPr/>
        </p:nvSpPr>
        <p:spPr>
          <a:xfrm>
            <a:off x="548640" y="6355080"/>
            <a:ext cx="8229600" cy="274320"/>
          </a:xfrm>
          <a:prstGeom prst="rect">
            <a:avLst/>
          </a:prstGeom>
          <a:noFill/>
          <a:ln/>
        </p:spPr>
        <p:txBody>
          <a:bodyPr wrap="square" lIns="0" tIns="0" rIns="0" bIns="0" rtlCol="0" anchor="ctr"/>
          <a:lstStyle/>
          <a:p>
            <a:pPr marL="0" indent="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15" name="Text 13"/>
          <p:cNvSpPr/>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8A98B2"/>
                </a:solidFill>
                <a:latin typeface="Arial" pitchFamily="34" charset="0"/>
                <a:ea typeface="Arial" pitchFamily="34" charset="-122"/>
                <a:cs typeface="Arial"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marL="0" indent="0">
              <a:buNone/>
            </a:pPr>
            <a:r>
              <a:rPr lang="en-US" sz="3000" b="1" dirty="0">
                <a:solidFill>
                  <a:srgbClr val="0E2148"/>
                </a:solidFill>
                <a:latin typeface="Arial" pitchFamily="34" charset="0"/>
                <a:ea typeface="Arial" pitchFamily="34" charset="-122"/>
                <a:cs typeface="Arial" pitchFamily="34" charset="-120"/>
              </a:rPr>
              <a:t>La familia de los tiempos y las magnitudes</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marL="0" indent="0">
              <a:buNone/>
            </a:pPr>
            <a:r>
              <a:rPr lang="en-US" sz="1350" dirty="0">
                <a:solidFill>
                  <a:srgbClr val="6B7C99"/>
                </a:solidFill>
                <a:latin typeface="Arial" pitchFamily="34" charset="0"/>
                <a:ea typeface="Arial" pitchFamily="34" charset="-122"/>
                <a:cs typeface="Arial" pitchFamily="34" charset="-120"/>
              </a:rPr>
              <a:t>Tres primas de la exponencial y una para los montos</a:t>
            </a:r>
            <a:endParaRPr lang="en-US" sz="1350" dirty="0"/>
          </a:p>
        </p:txBody>
      </p:sp>
      <p:sp>
        <p:nvSpPr>
          <p:cNvPr id="4" name="Shape 2"/>
          <p:cNvSpPr/>
          <p:nvPr/>
        </p:nvSpPr>
        <p:spPr>
          <a:xfrm>
            <a:off x="548640" y="2194560"/>
            <a:ext cx="3493008" cy="2697480"/>
          </a:xfrm>
          <a:prstGeom prst="roundRect">
            <a:avLst>
              <a:gd name="adj" fmla="val 2712"/>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5" name="Text 3"/>
          <p:cNvSpPr/>
          <p:nvPr/>
        </p:nvSpPr>
        <p:spPr>
          <a:xfrm>
            <a:off x="822960" y="2377440"/>
            <a:ext cx="3017520" cy="384048"/>
          </a:xfrm>
          <a:prstGeom prst="rect">
            <a:avLst/>
          </a:prstGeom>
          <a:noFill/>
          <a:ln/>
        </p:spPr>
        <p:txBody>
          <a:bodyPr wrap="square" lIns="0" tIns="0" rIns="0" bIns="0" rtlCol="0" anchor="ctr"/>
          <a:lstStyle/>
          <a:p>
            <a:pPr marL="0" indent="0">
              <a:buNone/>
            </a:pPr>
            <a:r>
              <a:rPr lang="en-US" sz="1700" b="1" dirty="0">
                <a:solidFill>
                  <a:srgbClr val="0E2148"/>
                </a:solidFill>
                <a:latin typeface="Arial" pitchFamily="34" charset="0"/>
                <a:ea typeface="Arial" pitchFamily="34" charset="-122"/>
                <a:cs typeface="Arial" pitchFamily="34" charset="-120"/>
              </a:rPr>
              <a:t>Exponencial</a:t>
            </a:r>
            <a:endParaRPr lang="en-US" sz="1700" dirty="0"/>
          </a:p>
        </p:txBody>
      </p:sp>
      <p:sp>
        <p:nvSpPr>
          <p:cNvPr id="6" name="Text 4"/>
          <p:cNvSpPr/>
          <p:nvPr/>
        </p:nvSpPr>
        <p:spPr>
          <a:xfrm>
            <a:off x="822960" y="2788920"/>
            <a:ext cx="2971800" cy="274320"/>
          </a:xfrm>
          <a:prstGeom prst="rect">
            <a:avLst/>
          </a:prstGeom>
          <a:noFill/>
          <a:ln/>
        </p:spPr>
        <p:txBody>
          <a:bodyPr wrap="square" lIns="0" tIns="0" rIns="0" bIns="0" rtlCol="0" anchor="ctr"/>
          <a:lstStyle/>
          <a:p>
            <a:pPr marL="0" indent="0">
              <a:buNone/>
            </a:pPr>
            <a:r>
              <a:rPr lang="en-US" sz="1100" b="1" dirty="0">
                <a:solidFill>
                  <a:srgbClr val="E23C8A"/>
                </a:solidFill>
                <a:latin typeface="Arial" pitchFamily="34" charset="0"/>
                <a:ea typeface="Arial" pitchFamily="34" charset="-122"/>
                <a:cs typeface="Arial" pitchFamily="34" charset="-120"/>
              </a:rPr>
              <a:t>1 parámetro</a:t>
            </a:r>
            <a:endParaRPr lang="en-US" sz="1100" dirty="0"/>
          </a:p>
        </p:txBody>
      </p:sp>
      <p:sp>
        <p:nvSpPr>
          <p:cNvPr id="7" name="Text 5"/>
          <p:cNvSpPr/>
          <p:nvPr/>
        </p:nvSpPr>
        <p:spPr>
          <a:xfrm>
            <a:off x="822960" y="3154680"/>
            <a:ext cx="2971800" cy="1234440"/>
          </a:xfrm>
          <a:prstGeom prst="rect">
            <a:avLst/>
          </a:prstGeom>
          <a:noFill/>
          <a:ln/>
        </p:spPr>
        <p:txBody>
          <a:bodyPr wrap="square" lIns="0" tIns="0" rIns="0" bIns="0" rtlCol="0" anchor="t"/>
          <a:lstStyle/>
          <a:p>
            <a:pPr marL="0" indent="0" algn="l">
              <a:lnSpc>
                <a:spcPts val="1600"/>
              </a:lnSpc>
              <a:buNone/>
            </a:pPr>
            <a:r>
              <a:rPr lang="en-US" sz="1200" dirty="0">
                <a:solidFill>
                  <a:srgbClr val="1B2A44"/>
                </a:solidFill>
                <a:latin typeface="Arial" pitchFamily="34" charset="0"/>
                <a:ea typeface="Arial" pitchFamily="34" charset="-122"/>
                <a:cs typeface="Arial" pitchFamily="34" charset="-120"/>
              </a:rPr>
              <a:t>Riesgo constante en el tiempo. El caso base: úsala primero y solo cámbiala si los datos te obligan.</a:t>
            </a:r>
            <a:endParaRPr lang="en-US" sz="1200" dirty="0"/>
          </a:p>
        </p:txBody>
      </p:sp>
      <p:sp>
        <p:nvSpPr>
          <p:cNvPr id="8" name="Text 6"/>
          <p:cNvSpPr/>
          <p:nvPr/>
        </p:nvSpPr>
        <p:spPr>
          <a:xfrm>
            <a:off x="822960" y="4462272"/>
            <a:ext cx="2971800" cy="320040"/>
          </a:xfrm>
          <a:prstGeom prst="rect">
            <a:avLst/>
          </a:prstGeom>
          <a:noFill/>
          <a:ln/>
        </p:spPr>
        <p:txBody>
          <a:bodyPr wrap="square" lIns="0" tIns="0" rIns="0" bIns="0" rtlCol="0" anchor="ctr"/>
          <a:lstStyle/>
          <a:p>
            <a:pPr marL="0" indent="0">
              <a:buNone/>
            </a:pPr>
            <a:r>
              <a:rPr lang="en-US" sz="1100" b="1" dirty="0">
                <a:solidFill>
                  <a:srgbClr val="2D6CDF"/>
                </a:solidFill>
                <a:latin typeface="Arial" pitchFamily="34" charset="0"/>
                <a:ea typeface="Arial" pitchFamily="34" charset="-122"/>
                <a:cs typeface="Arial" pitchFamily="34" charset="-120"/>
              </a:rPr>
              <a:t>→ Tiempo entre llegadas</a:t>
            </a:r>
            <a:endParaRPr lang="en-US" sz="1100" dirty="0"/>
          </a:p>
        </p:txBody>
      </p:sp>
      <p:sp>
        <p:nvSpPr>
          <p:cNvPr id="9" name="Shape 7"/>
          <p:cNvSpPr/>
          <p:nvPr/>
        </p:nvSpPr>
        <p:spPr>
          <a:xfrm>
            <a:off x="4315968" y="2194560"/>
            <a:ext cx="3493008" cy="2697480"/>
          </a:xfrm>
          <a:prstGeom prst="roundRect">
            <a:avLst>
              <a:gd name="adj" fmla="val 2712"/>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10" name="Text 8"/>
          <p:cNvSpPr/>
          <p:nvPr/>
        </p:nvSpPr>
        <p:spPr>
          <a:xfrm>
            <a:off x="4590288" y="2377440"/>
            <a:ext cx="3017520" cy="384048"/>
          </a:xfrm>
          <a:prstGeom prst="rect">
            <a:avLst/>
          </a:prstGeom>
          <a:noFill/>
          <a:ln/>
        </p:spPr>
        <p:txBody>
          <a:bodyPr wrap="square" lIns="0" tIns="0" rIns="0" bIns="0" rtlCol="0" anchor="ctr"/>
          <a:lstStyle/>
          <a:p>
            <a:pPr marL="0" indent="0">
              <a:buNone/>
            </a:pPr>
            <a:r>
              <a:rPr lang="en-US" sz="1700" b="1" dirty="0">
                <a:solidFill>
                  <a:srgbClr val="0E2148"/>
                </a:solidFill>
                <a:latin typeface="Arial" pitchFamily="34" charset="0"/>
                <a:ea typeface="Arial" pitchFamily="34" charset="-122"/>
                <a:cs typeface="Arial" pitchFamily="34" charset="-120"/>
              </a:rPr>
              <a:t>Weibull</a:t>
            </a:r>
            <a:endParaRPr lang="en-US" sz="1700" dirty="0"/>
          </a:p>
        </p:txBody>
      </p:sp>
      <p:sp>
        <p:nvSpPr>
          <p:cNvPr id="11" name="Text 9"/>
          <p:cNvSpPr/>
          <p:nvPr/>
        </p:nvSpPr>
        <p:spPr>
          <a:xfrm>
            <a:off x="4590288" y="2788920"/>
            <a:ext cx="2971800" cy="274320"/>
          </a:xfrm>
          <a:prstGeom prst="rect">
            <a:avLst/>
          </a:prstGeom>
          <a:noFill/>
          <a:ln/>
        </p:spPr>
        <p:txBody>
          <a:bodyPr wrap="square" lIns="0" tIns="0" rIns="0" bIns="0" rtlCol="0" anchor="ctr"/>
          <a:lstStyle/>
          <a:p>
            <a:pPr marL="0" indent="0">
              <a:buNone/>
            </a:pPr>
            <a:r>
              <a:rPr lang="en-US" sz="1100" b="1" dirty="0">
                <a:solidFill>
                  <a:srgbClr val="E23C8A"/>
                </a:solidFill>
                <a:latin typeface="Arial" pitchFamily="34" charset="0"/>
                <a:ea typeface="Arial" pitchFamily="34" charset="-122"/>
                <a:cs typeface="Arial" pitchFamily="34" charset="-120"/>
              </a:rPr>
              <a:t>2 parámetros</a:t>
            </a:r>
            <a:endParaRPr lang="en-US" sz="1100" dirty="0"/>
          </a:p>
        </p:txBody>
      </p:sp>
      <p:sp>
        <p:nvSpPr>
          <p:cNvPr id="12" name="Text 10"/>
          <p:cNvSpPr/>
          <p:nvPr/>
        </p:nvSpPr>
        <p:spPr>
          <a:xfrm>
            <a:off x="4590288" y="3154680"/>
            <a:ext cx="2971800" cy="1234440"/>
          </a:xfrm>
          <a:prstGeom prst="rect">
            <a:avLst/>
          </a:prstGeom>
          <a:noFill/>
          <a:ln/>
        </p:spPr>
        <p:txBody>
          <a:bodyPr wrap="square" lIns="0" tIns="0" rIns="0" bIns="0" rtlCol="0" anchor="t"/>
          <a:lstStyle/>
          <a:p>
            <a:pPr marL="0" indent="0" algn="l">
              <a:lnSpc>
                <a:spcPts val="1600"/>
              </a:lnSpc>
              <a:buNone/>
            </a:pPr>
            <a:r>
              <a:rPr lang="en-US" sz="1200" dirty="0">
                <a:solidFill>
                  <a:srgbClr val="1B2A44"/>
                </a:solidFill>
                <a:latin typeface="Arial" pitchFamily="34" charset="0"/>
                <a:ea typeface="Arial" pitchFamily="34" charset="-122"/>
                <a:cs typeface="Arial" pitchFamily="34" charset="-120"/>
              </a:rPr>
              <a:t>El riesgo puede crecer o decrecer con la edad. Es la exponencial con la restricción de la memoria levantada.</a:t>
            </a:r>
            <a:endParaRPr lang="en-US" sz="1200" dirty="0"/>
          </a:p>
        </p:txBody>
      </p:sp>
      <p:sp>
        <p:nvSpPr>
          <p:cNvPr id="13" name="Text 11"/>
          <p:cNvSpPr/>
          <p:nvPr/>
        </p:nvSpPr>
        <p:spPr>
          <a:xfrm>
            <a:off x="4590288" y="4462272"/>
            <a:ext cx="2971800" cy="320040"/>
          </a:xfrm>
          <a:prstGeom prst="rect">
            <a:avLst/>
          </a:prstGeom>
          <a:noFill/>
          <a:ln/>
        </p:spPr>
        <p:txBody>
          <a:bodyPr wrap="square" lIns="0" tIns="0" rIns="0" bIns="0" rtlCol="0" anchor="ctr"/>
          <a:lstStyle/>
          <a:p>
            <a:pPr marL="0" indent="0">
              <a:buNone/>
            </a:pPr>
            <a:r>
              <a:rPr lang="en-US" sz="1100" b="1" dirty="0">
                <a:solidFill>
                  <a:srgbClr val="2D6CDF"/>
                </a:solidFill>
                <a:latin typeface="Arial" pitchFamily="34" charset="0"/>
                <a:ea typeface="Arial" pitchFamily="34" charset="-122"/>
                <a:cs typeface="Arial" pitchFamily="34" charset="-120"/>
              </a:rPr>
              <a:t>→ Tiempo hasta la falla o el default</a:t>
            </a:r>
            <a:endParaRPr lang="en-US" sz="1100" dirty="0"/>
          </a:p>
        </p:txBody>
      </p:sp>
      <p:sp>
        <p:nvSpPr>
          <p:cNvPr id="14" name="Shape 12"/>
          <p:cNvSpPr/>
          <p:nvPr/>
        </p:nvSpPr>
        <p:spPr>
          <a:xfrm>
            <a:off x="8083296" y="2194560"/>
            <a:ext cx="3493008" cy="2697480"/>
          </a:xfrm>
          <a:prstGeom prst="roundRect">
            <a:avLst>
              <a:gd name="adj" fmla="val 2712"/>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15" name="Text 13"/>
          <p:cNvSpPr/>
          <p:nvPr/>
        </p:nvSpPr>
        <p:spPr>
          <a:xfrm>
            <a:off x="8357616" y="2377440"/>
            <a:ext cx="3017520" cy="384048"/>
          </a:xfrm>
          <a:prstGeom prst="rect">
            <a:avLst/>
          </a:prstGeom>
          <a:noFill/>
          <a:ln/>
        </p:spPr>
        <p:txBody>
          <a:bodyPr wrap="square" lIns="0" tIns="0" rIns="0" bIns="0" rtlCol="0" anchor="ctr"/>
          <a:lstStyle/>
          <a:p>
            <a:pPr marL="0" indent="0">
              <a:buNone/>
            </a:pPr>
            <a:r>
              <a:rPr lang="en-US" sz="1700" b="1" dirty="0">
                <a:solidFill>
                  <a:srgbClr val="0E2148"/>
                </a:solidFill>
                <a:latin typeface="Arial" pitchFamily="34" charset="0"/>
                <a:ea typeface="Arial" pitchFamily="34" charset="-122"/>
                <a:cs typeface="Arial" pitchFamily="34" charset="-120"/>
              </a:rPr>
              <a:t>Gamma</a:t>
            </a:r>
            <a:endParaRPr lang="en-US" sz="1700" dirty="0"/>
          </a:p>
        </p:txBody>
      </p:sp>
      <p:sp>
        <p:nvSpPr>
          <p:cNvPr id="16" name="Text 14"/>
          <p:cNvSpPr/>
          <p:nvPr/>
        </p:nvSpPr>
        <p:spPr>
          <a:xfrm>
            <a:off x="8357616" y="2788920"/>
            <a:ext cx="2971800" cy="274320"/>
          </a:xfrm>
          <a:prstGeom prst="rect">
            <a:avLst/>
          </a:prstGeom>
          <a:noFill/>
          <a:ln/>
        </p:spPr>
        <p:txBody>
          <a:bodyPr wrap="square" lIns="0" tIns="0" rIns="0" bIns="0" rtlCol="0" anchor="ctr"/>
          <a:lstStyle/>
          <a:p>
            <a:pPr marL="0" indent="0">
              <a:buNone/>
            </a:pPr>
            <a:r>
              <a:rPr lang="en-US" sz="1100" b="1" dirty="0">
                <a:solidFill>
                  <a:srgbClr val="E23C8A"/>
                </a:solidFill>
                <a:latin typeface="Arial" pitchFamily="34" charset="0"/>
                <a:ea typeface="Arial" pitchFamily="34" charset="-122"/>
                <a:cs typeface="Arial" pitchFamily="34" charset="-120"/>
              </a:rPr>
              <a:t>2 parámetros</a:t>
            </a:r>
            <a:endParaRPr lang="en-US" sz="1100" dirty="0"/>
          </a:p>
        </p:txBody>
      </p:sp>
      <p:sp>
        <p:nvSpPr>
          <p:cNvPr id="17" name="Text 15"/>
          <p:cNvSpPr/>
          <p:nvPr/>
        </p:nvSpPr>
        <p:spPr>
          <a:xfrm>
            <a:off x="8357616" y="3154680"/>
            <a:ext cx="2971800" cy="1234440"/>
          </a:xfrm>
          <a:prstGeom prst="rect">
            <a:avLst/>
          </a:prstGeom>
          <a:noFill/>
          <a:ln/>
        </p:spPr>
        <p:txBody>
          <a:bodyPr wrap="square" lIns="0" tIns="0" rIns="0" bIns="0" rtlCol="0" anchor="t"/>
          <a:lstStyle/>
          <a:p>
            <a:pPr marL="0" indent="0" algn="l">
              <a:lnSpc>
                <a:spcPts val="1600"/>
              </a:lnSpc>
              <a:buNone/>
            </a:pPr>
            <a:r>
              <a:rPr lang="en-US" sz="1200" dirty="0">
                <a:solidFill>
                  <a:srgbClr val="1B2A44"/>
                </a:solidFill>
                <a:latin typeface="Arial" pitchFamily="34" charset="0"/>
                <a:ea typeface="Arial" pitchFamily="34" charset="-122"/>
                <a:cs typeface="Arial" pitchFamily="34" charset="-120"/>
              </a:rPr>
              <a:t>Suma de k esperas exponenciales. Sirve cuando el evento requiere varios pasos previos.</a:t>
            </a:r>
            <a:endParaRPr lang="en-US" sz="1200" dirty="0"/>
          </a:p>
        </p:txBody>
      </p:sp>
      <p:sp>
        <p:nvSpPr>
          <p:cNvPr id="18" name="Text 16"/>
          <p:cNvSpPr/>
          <p:nvPr/>
        </p:nvSpPr>
        <p:spPr>
          <a:xfrm>
            <a:off x="8357616" y="4462272"/>
            <a:ext cx="2971800" cy="320040"/>
          </a:xfrm>
          <a:prstGeom prst="rect">
            <a:avLst/>
          </a:prstGeom>
          <a:noFill/>
          <a:ln/>
        </p:spPr>
        <p:txBody>
          <a:bodyPr wrap="square" lIns="0" tIns="0" rIns="0" bIns="0" rtlCol="0" anchor="ctr"/>
          <a:lstStyle/>
          <a:p>
            <a:pPr marL="0" indent="0">
              <a:buNone/>
            </a:pPr>
            <a:r>
              <a:rPr lang="en-US" sz="1100" b="1" dirty="0">
                <a:solidFill>
                  <a:srgbClr val="2D6CDF"/>
                </a:solidFill>
                <a:latin typeface="Arial" pitchFamily="34" charset="0"/>
                <a:ea typeface="Arial" pitchFamily="34" charset="-122"/>
                <a:cs typeface="Arial" pitchFamily="34" charset="-120"/>
              </a:rPr>
              <a:t>→ Duración de procesos por etapas</a:t>
            </a:r>
            <a:endParaRPr lang="en-US" sz="1100" dirty="0"/>
          </a:p>
        </p:txBody>
      </p:sp>
      <p:sp>
        <p:nvSpPr>
          <p:cNvPr id="19" name="Shape 17"/>
          <p:cNvSpPr/>
          <p:nvPr/>
        </p:nvSpPr>
        <p:spPr>
          <a:xfrm>
            <a:off x="548640" y="5120640"/>
            <a:ext cx="11064240" cy="914400"/>
          </a:xfrm>
          <a:prstGeom prst="roundRect">
            <a:avLst>
              <a:gd name="adj" fmla="val 8000"/>
            </a:avLst>
          </a:prstGeom>
          <a:solidFill>
            <a:srgbClr val="FDEBF3"/>
          </a:solidFill>
          <a:ln w="12700">
            <a:solidFill>
              <a:srgbClr val="DCE3F0"/>
            </a:solidFill>
            <a:prstDash val="solid"/>
          </a:ln>
          <a:effectLst>
            <a:outerShdw blurRad="101600" dist="12700" dir="5400000" algn="bl" rotWithShape="0">
              <a:srgbClr val="9FB0C9">
                <a:alpha val="18000"/>
              </a:srgbClr>
            </a:outerShdw>
          </a:effectLst>
        </p:spPr>
      </p:sp>
      <p:sp>
        <p:nvSpPr>
          <p:cNvPr id="20" name="Text 18"/>
          <p:cNvSpPr/>
          <p:nvPr/>
        </p:nvSpPr>
        <p:spPr>
          <a:xfrm>
            <a:off x="868680" y="5230368"/>
            <a:ext cx="4572000" cy="384048"/>
          </a:xfrm>
          <a:prstGeom prst="rect">
            <a:avLst/>
          </a:prstGeom>
          <a:noFill/>
          <a:ln/>
        </p:spPr>
        <p:txBody>
          <a:bodyPr wrap="square" lIns="0" tIns="0" rIns="0" bIns="0" rtlCol="0" anchor="ctr"/>
          <a:lstStyle/>
          <a:p>
            <a:pPr marL="0" indent="0">
              <a:buNone/>
            </a:pPr>
            <a:r>
              <a:rPr lang="en-US" sz="1400" b="1" dirty="0">
                <a:solidFill>
                  <a:srgbClr val="0E2148"/>
                </a:solidFill>
                <a:latin typeface="Arial" pitchFamily="34" charset="0"/>
                <a:ea typeface="Arial" pitchFamily="34" charset="-122"/>
                <a:cs typeface="Arial" pitchFamily="34" charset="-120"/>
              </a:rPr>
              <a:t>Y para los montos: Lognormal</a:t>
            </a:r>
            <a:endParaRPr lang="en-US" sz="1400" dirty="0"/>
          </a:p>
        </p:txBody>
      </p:sp>
      <p:sp>
        <p:nvSpPr>
          <p:cNvPr id="21" name="Text 19"/>
          <p:cNvSpPr/>
          <p:nvPr/>
        </p:nvSpPr>
        <p:spPr>
          <a:xfrm>
            <a:off x="868680" y="5559552"/>
            <a:ext cx="10424160" cy="411480"/>
          </a:xfrm>
          <a:prstGeom prst="rect">
            <a:avLst/>
          </a:prstGeom>
          <a:noFill/>
          <a:ln/>
        </p:spPr>
        <p:txBody>
          <a:bodyPr wrap="square" lIns="0" tIns="0" rIns="0" bIns="0" rtlCol="0" anchor="t"/>
          <a:lstStyle/>
          <a:p>
            <a:pPr marL="0" indent="0" algn="l">
              <a:lnSpc>
                <a:spcPts val="1500"/>
              </a:lnSpc>
              <a:buNone/>
            </a:pPr>
            <a:r>
              <a:rPr lang="en-US" sz="1150" dirty="0">
                <a:solidFill>
                  <a:srgbClr val="1B2A44"/>
                </a:solidFill>
                <a:latin typeface="Arial" pitchFamily="34" charset="0"/>
                <a:ea typeface="Arial" pitchFamily="34" charset="-122"/>
                <a:cs typeface="Arial" pitchFamily="34" charset="-120"/>
              </a:rPr>
              <a:t>Los importes de transacción, los ingresos y los tamaños de siniestro no son simétricos: están acotados en cero y tienen cola larga a la derecha. Si el logaritmo del monto se ve normal, tienes una lognormal — y modelarla como normal te va a costar caro en la cola.</a:t>
            </a:r>
            <a:endParaRPr lang="en-US" sz="1150" dirty="0"/>
          </a:p>
        </p:txBody>
      </p:sp>
      <p:sp>
        <p:nvSpPr>
          <p:cNvPr id="22" name="Text 20"/>
          <p:cNvSpPr/>
          <p:nvPr/>
        </p:nvSpPr>
        <p:spPr>
          <a:xfrm>
            <a:off x="548640" y="6355080"/>
            <a:ext cx="8229600" cy="274320"/>
          </a:xfrm>
          <a:prstGeom prst="rect">
            <a:avLst/>
          </a:prstGeom>
          <a:noFill/>
          <a:ln/>
        </p:spPr>
        <p:txBody>
          <a:bodyPr wrap="square" lIns="0" tIns="0" rIns="0" bIns="0" rtlCol="0" anchor="ctr"/>
          <a:lstStyle/>
          <a:p>
            <a:pPr marL="0" indent="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23" name="Text 21"/>
          <p:cNvSpPr/>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8A98B2"/>
                </a:solidFill>
                <a:latin typeface="Arial" pitchFamily="34" charset="0"/>
                <a:ea typeface="Arial" pitchFamily="34" charset="-122"/>
                <a:cs typeface="Arial"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marL="0" indent="0">
              <a:buNone/>
            </a:pPr>
            <a:r>
              <a:rPr lang="en-US" sz="3000" b="1" dirty="0">
                <a:solidFill>
                  <a:srgbClr val="0E2148"/>
                </a:solidFill>
                <a:latin typeface="Arial" pitchFamily="34" charset="0"/>
                <a:ea typeface="Arial" pitchFamily="34" charset="-122"/>
                <a:cs typeface="Arial" pitchFamily="34" charset="-120"/>
              </a:rPr>
              <a:t>Del negocio a la distribución</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marL="0" indent="0">
              <a:buNone/>
            </a:pPr>
            <a:r>
              <a:rPr lang="en-US" sz="1350" dirty="0">
                <a:solidFill>
                  <a:srgbClr val="6B7C99"/>
                </a:solidFill>
                <a:latin typeface="Arial" pitchFamily="34" charset="0"/>
                <a:ea typeface="Arial" pitchFamily="34" charset="-122"/>
                <a:cs typeface="Arial" pitchFamily="34" charset="-120"/>
              </a:rPr>
              <a:t>La tabla que quiero que uses en tu trabajo, no la que memorices</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64240" cy="3291840"/>
        </p:xfrm>
        <a:graphic>
          <a:graphicData uri="http://schemas.openxmlformats.org/drawingml/2006/table">
            <a:tbl>
              <a:tblPr/>
              <a:tblGrid>
                <a:gridCol w="39319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548640">
                <a:tc>
                  <a:txBody>
                    <a:bodyPr/>
                    <a:lstStyle/>
                    <a:p>
                      <a:pPr marL="0" indent="0">
                        <a:buNone/>
                      </a:pPr>
                      <a:r>
                        <a:rPr lang="en-US" sz="1150" b="1" dirty="0">
                          <a:solidFill>
                            <a:srgbClr val="FFFFFF"/>
                          </a:solidFill>
                          <a:latin typeface="Arial" pitchFamily="34" charset="0"/>
                          <a:ea typeface="Arial" pitchFamily="34" charset="-122"/>
                          <a:cs typeface="Arial" pitchFamily="34" charset="-120"/>
                        </a:rPr>
                        <a:t>Pregunta de negocio</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Lo que mides</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Distribución</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Qué estimas de los datos</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0E2148"/>
                    </a:solidFill>
                  </a:tcPr>
                </a:tc>
                <a:extLst>
                  <a:ext uri="{0D108BD9-81ED-4DB2-BD59-A6C34878D82A}">
                    <a16:rowId xmlns:a16="http://schemas.microsoft.com/office/drawing/2014/main" val="10000"/>
                  </a:ext>
                </a:extLst>
              </a:tr>
              <a:tr h="548640">
                <a:tc>
                  <a:txBody>
                    <a:bodyPr/>
                    <a:lstStyle/>
                    <a:p>
                      <a:pPr marL="0" indent="0">
                        <a:buNone/>
                      </a:pPr>
                      <a:r>
                        <a:rPr lang="en-US" sz="1150" dirty="0">
                          <a:solidFill>
                            <a:srgbClr val="1B2A44"/>
                          </a:solidFill>
                          <a:latin typeface="Arial" pitchFamily="34" charset="0"/>
                          <a:ea typeface="Arial" pitchFamily="34" charset="-122"/>
                          <a:cs typeface="Arial" pitchFamily="34" charset="-120"/>
                        </a:rPr>
                        <a:t>¿Cuánto tarda en llegar el próximo reclamo?</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tiempo entre eventos</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b="1" dirty="0">
                          <a:solidFill>
                            <a:srgbClr val="2D6CDF"/>
                          </a:solidFill>
                          <a:latin typeface="Arial" pitchFamily="34" charset="0"/>
                          <a:ea typeface="Arial" pitchFamily="34" charset="-122"/>
                          <a:cs typeface="Arial" pitchFamily="34" charset="-120"/>
                        </a:rPr>
                        <a:t>Exponencial</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el tiempo promedio observado</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150" dirty="0">
                          <a:solidFill>
                            <a:srgbClr val="1B2A44"/>
                          </a:solidFill>
                          <a:latin typeface="Arial" pitchFamily="34" charset="0"/>
                          <a:ea typeface="Arial" pitchFamily="34" charset="-122"/>
                          <a:cs typeface="Arial" pitchFamily="34" charset="-120"/>
                        </a:rPr>
                        <a:t>¿Cuántos meses sobrevive el crédito?</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tiempo hasta la falla</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b="1" dirty="0">
                          <a:solidFill>
                            <a:srgbClr val="2D6CDF"/>
                          </a:solidFill>
                          <a:latin typeface="Arial" pitchFamily="34" charset="0"/>
                          <a:ea typeface="Arial" pitchFamily="34" charset="-122"/>
                          <a:cs typeface="Arial" pitchFamily="34" charset="-120"/>
                        </a:rPr>
                        <a:t>Weibull</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forma y escala por máxima verosimilitud</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150" dirty="0">
                          <a:solidFill>
                            <a:srgbClr val="1B2A44"/>
                          </a:solidFill>
                          <a:latin typeface="Arial" pitchFamily="34" charset="0"/>
                          <a:ea typeface="Arial" pitchFamily="34" charset="-122"/>
                          <a:cs typeface="Arial" pitchFamily="34" charset="-120"/>
                        </a:rPr>
                        <a:t>¿De cuánto será el monto de la operación?</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magnitud positiva asimétrica</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b="1" dirty="0">
                          <a:solidFill>
                            <a:srgbClr val="2D6CDF"/>
                          </a:solidFill>
                          <a:latin typeface="Arial" pitchFamily="34" charset="0"/>
                          <a:ea typeface="Arial" pitchFamily="34" charset="-122"/>
                          <a:cs typeface="Arial" pitchFamily="34" charset="-120"/>
                        </a:rPr>
                        <a:t>Lognormal</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media y desviación del logaritmo</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150" dirty="0">
                          <a:solidFill>
                            <a:srgbClr val="1B2A44"/>
                          </a:solidFill>
                          <a:latin typeface="Arial" pitchFamily="34" charset="0"/>
                          <a:ea typeface="Arial" pitchFamily="34" charset="-122"/>
                          <a:cs typeface="Arial" pitchFamily="34" charset="-120"/>
                        </a:rPr>
                        <a:t>¿Cuánto dura el trámite de principio a fin?</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suma de etapas</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b="1" dirty="0">
                          <a:solidFill>
                            <a:srgbClr val="2D6CDF"/>
                          </a:solidFill>
                          <a:latin typeface="Arial" pitchFamily="34" charset="0"/>
                          <a:ea typeface="Arial" pitchFamily="34" charset="-122"/>
                          <a:cs typeface="Arial" pitchFamily="34" charset="-120"/>
                        </a:rPr>
                        <a:t>Gamma</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número de etapas y tasa</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150" dirty="0">
                          <a:solidFill>
                            <a:srgbClr val="1B2A44"/>
                          </a:solidFill>
                          <a:latin typeface="Arial" pitchFamily="34" charset="0"/>
                          <a:ea typeface="Arial" pitchFamily="34" charset="-122"/>
                          <a:cs typeface="Arial" pitchFamily="34" charset="-120"/>
                        </a:rPr>
                        <a:t>¿Dónde cae el error de redondeo?</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valor acotado sin preferencia</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b="1" dirty="0">
                          <a:solidFill>
                            <a:srgbClr val="2D6CDF"/>
                          </a:solidFill>
                          <a:latin typeface="Arial" pitchFamily="34" charset="0"/>
                          <a:ea typeface="Arial" pitchFamily="34" charset="-122"/>
                          <a:cs typeface="Arial" pitchFamily="34" charset="-120"/>
                        </a:rPr>
                        <a:t>Uniforme</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tc>
                  <a:txBody>
                    <a:bodyPr/>
                    <a:lstStyle/>
                    <a:p>
                      <a:pPr marL="0" indent="0">
                        <a:buNone/>
                      </a:pPr>
                      <a:r>
                        <a:rPr lang="en-US" sz="1150" dirty="0">
                          <a:solidFill>
                            <a:srgbClr val="1B2A44"/>
                          </a:solidFill>
                          <a:latin typeface="Arial" pitchFamily="34" charset="0"/>
                          <a:ea typeface="Arial" pitchFamily="34" charset="-122"/>
                          <a:cs typeface="Arial" pitchFamily="34" charset="-120"/>
                        </a:rPr>
                        <a:t>los dos límites del rango</a:t>
                      </a:r>
                      <a:endParaRPr lang="en-US" sz="1150" dirty="0">
                        <a:latin typeface="Arial" charset="0"/>
                        <a:ea typeface="Arial" charset="0"/>
                        <a:cs typeface="Arial" charset="0"/>
                      </a:endParaRPr>
                    </a:p>
                  </a:txBody>
                  <a:tcPr marT="91440" marB="91440" anchor="ctr">
                    <a:lnL w="12700" cap="flat" cmpd="sng" algn="ctr">
                      <a:solidFill>
                        <a:srgbClr val="DCE3F0"/>
                      </a:solidFill>
                      <a:prstDash val="solid"/>
                      <a:round/>
                      <a:headEnd type="none" w="med" len="med"/>
                      <a:tailEnd type="none" w="med" len="med"/>
                    </a:lnL>
                    <a:lnR w="12700" cap="flat" cmpd="sng" algn="ctr">
                      <a:solidFill>
                        <a:srgbClr val="DCE3F0"/>
                      </a:solidFill>
                      <a:prstDash val="solid"/>
                      <a:round/>
                      <a:headEnd type="none" w="med" len="med"/>
                      <a:tailEnd type="none" w="med" len="med"/>
                    </a:lnR>
                    <a:lnT w="12700" cap="flat" cmpd="sng" algn="ctr">
                      <a:solidFill>
                        <a:srgbClr val="DCE3F0"/>
                      </a:solidFill>
                      <a:prstDash val="solid"/>
                      <a:round/>
                      <a:headEnd type="none" w="med" len="med"/>
                      <a:tailEnd type="none" w="med" len="med"/>
                    </a:lnT>
                    <a:lnB w="12700" cap="flat" cmpd="sng" algn="ctr">
                      <a:solidFill>
                        <a:srgbClr val="DCE3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48640" y="5486400"/>
            <a:ext cx="11064240" cy="594360"/>
          </a:xfrm>
          <a:prstGeom prst="roundRect">
            <a:avLst>
              <a:gd name="adj" fmla="val 12308"/>
            </a:avLst>
          </a:prstGeom>
          <a:solidFill>
            <a:srgbClr val="EAF1FE"/>
          </a:solidFill>
          <a:ln w="12700">
            <a:solidFill>
              <a:srgbClr val="EAF1FE"/>
            </a:solidFill>
            <a:prstDash val="solid"/>
          </a:ln>
        </p:spPr>
      </p:sp>
      <p:sp>
        <p:nvSpPr>
          <p:cNvPr id="6" name="Text 3"/>
          <p:cNvSpPr/>
          <p:nvPr/>
        </p:nvSpPr>
        <p:spPr>
          <a:xfrm>
            <a:off x="804672" y="5486400"/>
            <a:ext cx="10552176" cy="594360"/>
          </a:xfrm>
          <a:prstGeom prst="rect">
            <a:avLst/>
          </a:prstGeom>
          <a:noFill/>
          <a:ln/>
        </p:spPr>
        <p:txBody>
          <a:bodyPr wrap="square" lIns="0" tIns="0" rIns="0" bIns="0" rtlCol="0" anchor="ctr"/>
          <a:lstStyle/>
          <a:p>
            <a:pPr marL="0" indent="0">
              <a:lnSpc>
                <a:spcPts val="1700"/>
              </a:lnSpc>
              <a:buNone/>
            </a:pPr>
            <a:r>
              <a:rPr lang="en-US" sz="1200" i="1" dirty="0">
                <a:solidFill>
                  <a:srgbClr val="1B2A44"/>
                </a:solidFill>
                <a:latin typeface="Arial" pitchFamily="34" charset="0"/>
                <a:ea typeface="Arial" pitchFamily="34" charset="-122"/>
                <a:cs typeface="Arial" pitchFamily="34" charset="-120"/>
              </a:rPr>
              <a:t>Elegir la distribución es una decisión de modelado, no un dato. Se justifica con el mecanismo del proceso y se verifica contra los datos — nunca al revés.</a:t>
            </a:r>
            <a:endParaRPr lang="en-US" sz="1200" dirty="0"/>
          </a:p>
        </p:txBody>
      </p:sp>
      <p:sp>
        <p:nvSpPr>
          <p:cNvPr id="7" name="Text 4"/>
          <p:cNvSpPr/>
          <p:nvPr/>
        </p:nvSpPr>
        <p:spPr>
          <a:xfrm>
            <a:off x="548640" y="6355080"/>
            <a:ext cx="8229600" cy="274320"/>
          </a:xfrm>
          <a:prstGeom prst="rect">
            <a:avLst/>
          </a:prstGeom>
          <a:noFill/>
          <a:ln/>
        </p:spPr>
        <p:txBody>
          <a:bodyPr wrap="square" lIns="0" tIns="0" rIns="0" bIns="0" rtlCol="0" anchor="ctr"/>
          <a:lstStyle/>
          <a:p>
            <a:pPr marL="0" indent="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8" name="Text 5"/>
          <p:cNvSpPr/>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8A98B2"/>
                </a:solidFill>
                <a:latin typeface="Arial" pitchFamily="34" charset="0"/>
                <a:ea typeface="Arial" pitchFamily="34" charset="-122"/>
                <a:cs typeface="Arial"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marL="0" indent="0">
              <a:buNone/>
            </a:pPr>
            <a:r>
              <a:rPr lang="en-US" sz="3000" b="1" dirty="0">
                <a:solidFill>
                  <a:srgbClr val="0E2148"/>
                </a:solidFill>
                <a:latin typeface="Arial" pitchFamily="34" charset="0"/>
                <a:ea typeface="Arial" pitchFamily="34" charset="-122"/>
                <a:cs typeface="Arial" pitchFamily="34" charset="-120"/>
              </a:rPr>
              <a:t>Cuatro errores que vas a cometer</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marL="0" indent="0">
              <a:buNone/>
            </a:pPr>
            <a:r>
              <a:rPr lang="en-US" sz="1350" dirty="0">
                <a:solidFill>
                  <a:srgbClr val="6B7C99"/>
                </a:solidFill>
                <a:latin typeface="Arial" pitchFamily="34" charset="0"/>
                <a:ea typeface="Arial" pitchFamily="34" charset="-122"/>
                <a:cs typeface="Arial" pitchFamily="34" charset="-120"/>
              </a:rPr>
              <a:t>Los cuatro los he visto en producción, y tres los he cometido yo</a:t>
            </a:r>
            <a:endParaRPr lang="en-US" sz="1350" dirty="0"/>
          </a:p>
        </p:txBody>
      </p:sp>
      <p:sp>
        <p:nvSpPr>
          <p:cNvPr id="4" name="Shape 2"/>
          <p:cNvSpPr/>
          <p:nvPr/>
        </p:nvSpPr>
        <p:spPr>
          <a:xfrm>
            <a:off x="548640" y="2240280"/>
            <a:ext cx="5367528" cy="1627632"/>
          </a:xfrm>
          <a:prstGeom prst="roundRect">
            <a:avLst>
              <a:gd name="adj" fmla="val 4494"/>
            </a:avLst>
          </a:prstGeom>
          <a:solidFill>
            <a:srgbClr val="FDEBF3"/>
          </a:solidFill>
          <a:ln w="12700">
            <a:solidFill>
              <a:srgbClr val="DCE3F0"/>
            </a:solidFill>
            <a:prstDash val="solid"/>
          </a:ln>
          <a:effectLst>
            <a:outerShdw blurRad="101600" dist="12700" dir="5400000" algn="bl" rotWithShape="0">
              <a:srgbClr val="9FB0C9">
                <a:alpha val="18000"/>
              </a:srgbClr>
            </a:outerShdw>
          </a:effectLst>
        </p:spPr>
      </p:sp>
      <p:sp>
        <p:nvSpPr>
          <p:cNvPr id="5" name="Shape 3"/>
          <p:cNvSpPr/>
          <p:nvPr/>
        </p:nvSpPr>
        <p:spPr>
          <a:xfrm>
            <a:off x="822960" y="2066544"/>
            <a:ext cx="384048" cy="384048"/>
          </a:xfrm>
          <a:prstGeom prst="roundRect">
            <a:avLst>
              <a:gd name="adj" fmla="val 47619"/>
            </a:avLst>
          </a:prstGeom>
          <a:solidFill>
            <a:srgbClr val="E23C8A"/>
          </a:solidFill>
          <a:ln w="12700">
            <a:solidFill>
              <a:srgbClr val="E23C8A"/>
            </a:solidFill>
            <a:prstDash val="solid"/>
          </a:ln>
        </p:spPr>
      </p:sp>
      <p:sp>
        <p:nvSpPr>
          <p:cNvPr id="6" name="Text 4"/>
          <p:cNvSpPr/>
          <p:nvPr/>
        </p:nvSpPr>
        <p:spPr>
          <a:xfrm>
            <a:off x="822960" y="206654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7" name="Text 5"/>
          <p:cNvSpPr/>
          <p:nvPr/>
        </p:nvSpPr>
        <p:spPr>
          <a:xfrm>
            <a:off x="841248" y="2514600"/>
            <a:ext cx="4800600" cy="384048"/>
          </a:xfrm>
          <a:prstGeom prst="rect">
            <a:avLst/>
          </a:prstGeom>
          <a:noFill/>
          <a:ln/>
        </p:spPr>
        <p:txBody>
          <a:bodyPr wrap="square" lIns="0" tIns="0" rIns="0" bIns="0" rtlCol="0" anchor="ctr"/>
          <a:lstStyle/>
          <a:p>
            <a:pPr marL="0" indent="0">
              <a:buNone/>
            </a:pPr>
            <a:r>
              <a:rPr lang="en-US" sz="1300" b="1" dirty="0">
                <a:solidFill>
                  <a:srgbClr val="0E2148"/>
                </a:solidFill>
                <a:latin typeface="Arial" pitchFamily="34" charset="0"/>
                <a:ea typeface="Arial" pitchFamily="34" charset="-122"/>
                <a:cs typeface="Arial" pitchFamily="34" charset="-120"/>
              </a:rPr>
              <a:t>Leer f(x) como probabilidad</a:t>
            </a:r>
            <a:endParaRPr lang="en-US" sz="1300" dirty="0"/>
          </a:p>
        </p:txBody>
      </p:sp>
      <p:sp>
        <p:nvSpPr>
          <p:cNvPr id="8" name="Text 6"/>
          <p:cNvSpPr/>
          <p:nvPr/>
        </p:nvSpPr>
        <p:spPr>
          <a:xfrm>
            <a:off x="841248" y="2953512"/>
            <a:ext cx="4800600" cy="841248"/>
          </a:xfrm>
          <a:prstGeom prst="rect">
            <a:avLst/>
          </a:prstGeom>
          <a:noFill/>
          <a:ln/>
        </p:spPr>
        <p:txBody>
          <a:bodyPr wrap="square" lIns="0" tIns="0" rIns="0" bIns="0" rtlCol="0" anchor="t"/>
          <a:lstStyle/>
          <a:p>
            <a:pPr marL="0" indent="0" algn="l">
              <a:lnSpc>
                <a:spcPts val="1600"/>
              </a:lnSpc>
              <a:buNone/>
            </a:pPr>
            <a:r>
              <a:rPr lang="en-US" sz="1200" dirty="0">
                <a:solidFill>
                  <a:srgbClr val="1B2A44"/>
                </a:solidFill>
                <a:latin typeface="Arial" pitchFamily="34" charset="0"/>
                <a:ea typeface="Arial" pitchFamily="34" charset="-122"/>
                <a:cs typeface="Arial" pitchFamily="34" charset="-120"/>
              </a:rPr>
              <a:t>Una densidad de 0.4 no es «40 % de chance». Es 0.4 por unidad de x. Multiplica por un ancho antes de interpretar.</a:t>
            </a:r>
            <a:endParaRPr lang="en-US" sz="1200" dirty="0"/>
          </a:p>
        </p:txBody>
      </p:sp>
      <p:sp>
        <p:nvSpPr>
          <p:cNvPr id="9" name="Shape 7"/>
          <p:cNvSpPr/>
          <p:nvPr/>
        </p:nvSpPr>
        <p:spPr>
          <a:xfrm>
            <a:off x="6245352" y="2240280"/>
            <a:ext cx="5367528" cy="1627632"/>
          </a:xfrm>
          <a:prstGeom prst="roundRect">
            <a:avLst>
              <a:gd name="adj" fmla="val 4494"/>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10" name="Shape 8"/>
          <p:cNvSpPr/>
          <p:nvPr/>
        </p:nvSpPr>
        <p:spPr>
          <a:xfrm>
            <a:off x="6519672" y="2066544"/>
            <a:ext cx="384048" cy="384048"/>
          </a:xfrm>
          <a:prstGeom prst="roundRect">
            <a:avLst>
              <a:gd name="adj" fmla="val 47619"/>
            </a:avLst>
          </a:prstGeom>
          <a:solidFill>
            <a:srgbClr val="0E2148"/>
          </a:solidFill>
          <a:ln w="12700">
            <a:solidFill>
              <a:srgbClr val="0E2148"/>
            </a:solidFill>
            <a:prstDash val="solid"/>
          </a:ln>
        </p:spPr>
      </p:sp>
      <p:sp>
        <p:nvSpPr>
          <p:cNvPr id="11" name="Text 9"/>
          <p:cNvSpPr/>
          <p:nvPr/>
        </p:nvSpPr>
        <p:spPr>
          <a:xfrm>
            <a:off x="6519672" y="206654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2" name="Text 10"/>
          <p:cNvSpPr/>
          <p:nvPr/>
        </p:nvSpPr>
        <p:spPr>
          <a:xfrm>
            <a:off x="6537960" y="2514600"/>
            <a:ext cx="4800600" cy="384048"/>
          </a:xfrm>
          <a:prstGeom prst="rect">
            <a:avLst/>
          </a:prstGeom>
          <a:noFill/>
          <a:ln/>
        </p:spPr>
        <p:txBody>
          <a:bodyPr wrap="square" lIns="0" tIns="0" rIns="0" bIns="0" rtlCol="0" anchor="ctr"/>
          <a:lstStyle/>
          <a:p>
            <a:pPr marL="0" indent="0">
              <a:buNone/>
            </a:pPr>
            <a:r>
              <a:rPr lang="en-US" sz="1300" b="1" dirty="0">
                <a:solidFill>
                  <a:srgbClr val="0E2148"/>
                </a:solidFill>
                <a:latin typeface="Arial" pitchFamily="34" charset="0"/>
                <a:ea typeface="Arial" pitchFamily="34" charset="-122"/>
                <a:cs typeface="Arial" pitchFamily="34" charset="-120"/>
              </a:rPr>
              <a:t>Decidir con la media cuando la decisión es de cola</a:t>
            </a:r>
            <a:endParaRPr lang="en-US" sz="1300" dirty="0"/>
          </a:p>
        </p:txBody>
      </p:sp>
      <p:sp>
        <p:nvSpPr>
          <p:cNvPr id="13" name="Text 11"/>
          <p:cNvSpPr/>
          <p:nvPr/>
        </p:nvSpPr>
        <p:spPr>
          <a:xfrm>
            <a:off x="6537960" y="2953512"/>
            <a:ext cx="4800600" cy="841248"/>
          </a:xfrm>
          <a:prstGeom prst="rect">
            <a:avLst/>
          </a:prstGeom>
          <a:noFill/>
          <a:ln/>
        </p:spPr>
        <p:txBody>
          <a:bodyPr wrap="square" lIns="0" tIns="0" rIns="0" bIns="0" rtlCol="0" anchor="t"/>
          <a:lstStyle/>
          <a:p>
            <a:pPr marL="0" indent="0" algn="l">
              <a:lnSpc>
                <a:spcPts val="1600"/>
              </a:lnSpc>
              <a:buNone/>
            </a:pPr>
            <a:r>
              <a:rPr lang="en-US" sz="1200" dirty="0">
                <a:solidFill>
                  <a:srgbClr val="1B2A44"/>
                </a:solidFill>
                <a:latin typeface="Arial" pitchFamily="34" charset="0"/>
                <a:ea typeface="Arial" pitchFamily="34" charset="-122"/>
                <a:cs typeface="Arial" pitchFamily="34" charset="-120"/>
              </a:rPr>
              <a:t>Capital, SLA y stock de seguridad se dimensionan con percentiles altos. La media te dice el caso típico, no el que te rompe.</a:t>
            </a:r>
            <a:endParaRPr lang="en-US" sz="1200" dirty="0"/>
          </a:p>
        </p:txBody>
      </p:sp>
      <p:sp>
        <p:nvSpPr>
          <p:cNvPr id="14" name="Shape 12"/>
          <p:cNvSpPr/>
          <p:nvPr/>
        </p:nvSpPr>
        <p:spPr>
          <a:xfrm>
            <a:off x="548640" y="4069080"/>
            <a:ext cx="5367528" cy="1627632"/>
          </a:xfrm>
          <a:prstGeom prst="roundRect">
            <a:avLst>
              <a:gd name="adj" fmla="val 4494"/>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15" name="Shape 13"/>
          <p:cNvSpPr/>
          <p:nvPr/>
        </p:nvSpPr>
        <p:spPr>
          <a:xfrm>
            <a:off x="822960" y="3895344"/>
            <a:ext cx="384048" cy="384048"/>
          </a:xfrm>
          <a:prstGeom prst="roundRect">
            <a:avLst>
              <a:gd name="adj" fmla="val 47619"/>
            </a:avLst>
          </a:prstGeom>
          <a:solidFill>
            <a:srgbClr val="0E2148"/>
          </a:solidFill>
          <a:ln w="12700">
            <a:solidFill>
              <a:srgbClr val="0E2148"/>
            </a:solidFill>
            <a:prstDash val="solid"/>
          </a:ln>
        </p:spPr>
      </p:sp>
      <p:sp>
        <p:nvSpPr>
          <p:cNvPr id="16" name="Text 14"/>
          <p:cNvSpPr/>
          <p:nvPr/>
        </p:nvSpPr>
        <p:spPr>
          <a:xfrm>
            <a:off x="822960" y="389534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7" name="Text 15"/>
          <p:cNvSpPr/>
          <p:nvPr/>
        </p:nvSpPr>
        <p:spPr>
          <a:xfrm>
            <a:off x="841248" y="4343400"/>
            <a:ext cx="4800600" cy="384048"/>
          </a:xfrm>
          <a:prstGeom prst="rect">
            <a:avLst/>
          </a:prstGeom>
          <a:noFill/>
          <a:ln/>
        </p:spPr>
        <p:txBody>
          <a:bodyPr wrap="square" lIns="0" tIns="0" rIns="0" bIns="0" rtlCol="0" anchor="ctr"/>
          <a:lstStyle/>
          <a:p>
            <a:pPr marL="0" indent="0">
              <a:buNone/>
            </a:pPr>
            <a:r>
              <a:rPr lang="en-US" sz="1300" b="1" dirty="0">
                <a:solidFill>
                  <a:srgbClr val="0E2148"/>
                </a:solidFill>
                <a:latin typeface="Arial" pitchFamily="34" charset="0"/>
                <a:ea typeface="Arial" pitchFamily="34" charset="-122"/>
                <a:cs typeface="Arial" pitchFamily="34" charset="-120"/>
              </a:rPr>
              <a:t>Asumir exponencial por comodidad</a:t>
            </a:r>
            <a:endParaRPr lang="en-US" sz="1300" dirty="0"/>
          </a:p>
        </p:txBody>
      </p:sp>
      <p:sp>
        <p:nvSpPr>
          <p:cNvPr id="18" name="Text 16"/>
          <p:cNvSpPr/>
          <p:nvPr/>
        </p:nvSpPr>
        <p:spPr>
          <a:xfrm>
            <a:off x="841248" y="4782312"/>
            <a:ext cx="4800600" cy="841248"/>
          </a:xfrm>
          <a:prstGeom prst="rect">
            <a:avLst/>
          </a:prstGeom>
          <a:noFill/>
          <a:ln/>
        </p:spPr>
        <p:txBody>
          <a:bodyPr wrap="square" lIns="0" tIns="0" rIns="0" bIns="0" rtlCol="0" anchor="t"/>
          <a:lstStyle/>
          <a:p>
            <a:pPr marL="0" indent="0" algn="l">
              <a:lnSpc>
                <a:spcPts val="1600"/>
              </a:lnSpc>
              <a:buNone/>
            </a:pPr>
            <a:r>
              <a:rPr lang="en-US" sz="1200" dirty="0">
                <a:solidFill>
                  <a:srgbClr val="1B2A44"/>
                </a:solidFill>
                <a:latin typeface="Arial" pitchFamily="34" charset="0"/>
                <a:ea typeface="Arial" pitchFamily="34" charset="-122"/>
                <a:cs typeface="Arial" pitchFamily="34" charset="-120"/>
              </a:rPr>
              <a:t>Es la más fácil de estimar, y por eso se usa donde no corresponde. Si el riesgo depende de la antigüedad, no es exponencial.</a:t>
            </a:r>
            <a:endParaRPr lang="en-US" sz="1200" dirty="0"/>
          </a:p>
        </p:txBody>
      </p:sp>
      <p:sp>
        <p:nvSpPr>
          <p:cNvPr id="19" name="Shape 17"/>
          <p:cNvSpPr/>
          <p:nvPr/>
        </p:nvSpPr>
        <p:spPr>
          <a:xfrm>
            <a:off x="6245352" y="4069080"/>
            <a:ext cx="5367528" cy="1627632"/>
          </a:xfrm>
          <a:prstGeom prst="roundRect">
            <a:avLst>
              <a:gd name="adj" fmla="val 4494"/>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20" name="Shape 18"/>
          <p:cNvSpPr/>
          <p:nvPr/>
        </p:nvSpPr>
        <p:spPr>
          <a:xfrm>
            <a:off x="6519672" y="3895344"/>
            <a:ext cx="384048" cy="384048"/>
          </a:xfrm>
          <a:prstGeom prst="roundRect">
            <a:avLst>
              <a:gd name="adj" fmla="val 47619"/>
            </a:avLst>
          </a:prstGeom>
          <a:solidFill>
            <a:srgbClr val="0E2148"/>
          </a:solidFill>
          <a:ln w="12700">
            <a:solidFill>
              <a:srgbClr val="0E2148"/>
            </a:solidFill>
            <a:prstDash val="solid"/>
          </a:ln>
        </p:spPr>
      </p:sp>
      <p:sp>
        <p:nvSpPr>
          <p:cNvPr id="21" name="Text 19"/>
          <p:cNvSpPr/>
          <p:nvPr/>
        </p:nvSpPr>
        <p:spPr>
          <a:xfrm>
            <a:off x="6519672" y="3895344"/>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2" name="Text 20"/>
          <p:cNvSpPr/>
          <p:nvPr/>
        </p:nvSpPr>
        <p:spPr>
          <a:xfrm>
            <a:off x="6537960" y="4343400"/>
            <a:ext cx="4800600" cy="384048"/>
          </a:xfrm>
          <a:prstGeom prst="rect">
            <a:avLst/>
          </a:prstGeom>
          <a:noFill/>
          <a:ln/>
        </p:spPr>
        <p:txBody>
          <a:bodyPr wrap="square" lIns="0" tIns="0" rIns="0" bIns="0" rtlCol="0" anchor="ctr"/>
          <a:lstStyle/>
          <a:p>
            <a:pPr marL="0" indent="0">
              <a:buNone/>
            </a:pPr>
            <a:r>
              <a:rPr lang="en-US" sz="1300" b="1" dirty="0">
                <a:solidFill>
                  <a:srgbClr val="0E2148"/>
                </a:solidFill>
                <a:latin typeface="Arial" pitchFamily="34" charset="0"/>
                <a:ea typeface="Arial" pitchFamily="34" charset="-122"/>
                <a:cs typeface="Arial" pitchFamily="34" charset="-120"/>
              </a:rPr>
              <a:t>Discretizar y perder la cola</a:t>
            </a:r>
            <a:endParaRPr lang="en-US" sz="1300" dirty="0"/>
          </a:p>
        </p:txBody>
      </p:sp>
      <p:sp>
        <p:nvSpPr>
          <p:cNvPr id="23" name="Text 21"/>
          <p:cNvSpPr/>
          <p:nvPr/>
        </p:nvSpPr>
        <p:spPr>
          <a:xfrm>
            <a:off x="6537960" y="4782312"/>
            <a:ext cx="4800600" cy="841248"/>
          </a:xfrm>
          <a:prstGeom prst="rect">
            <a:avLst/>
          </a:prstGeom>
          <a:noFill/>
          <a:ln/>
        </p:spPr>
        <p:txBody>
          <a:bodyPr wrap="square" lIns="0" tIns="0" rIns="0" bIns="0" rtlCol="0" anchor="t"/>
          <a:lstStyle/>
          <a:p>
            <a:pPr marL="0" indent="0" algn="l">
              <a:lnSpc>
                <a:spcPts val="1600"/>
              </a:lnSpc>
              <a:buNone/>
            </a:pPr>
            <a:r>
              <a:rPr lang="en-US" sz="1200" dirty="0">
                <a:solidFill>
                  <a:srgbClr val="1B2A44"/>
                </a:solidFill>
                <a:latin typeface="Arial" pitchFamily="34" charset="0"/>
                <a:ea typeface="Arial" pitchFamily="34" charset="-122"/>
                <a:cs typeface="Arial" pitchFamily="34" charset="-120"/>
              </a:rPr>
              <a:t>Agrupar montos en tramos anchos aplasta los valores extremos, que son justo los que importan en fraude y riesgo.</a:t>
            </a:r>
            <a:endParaRPr lang="en-US" sz="1200" dirty="0"/>
          </a:p>
        </p:txBody>
      </p:sp>
      <p:sp>
        <p:nvSpPr>
          <p:cNvPr id="24" name="Text 22"/>
          <p:cNvSpPr/>
          <p:nvPr/>
        </p:nvSpPr>
        <p:spPr>
          <a:xfrm>
            <a:off x="548640" y="5897880"/>
            <a:ext cx="11064240" cy="320040"/>
          </a:xfrm>
          <a:prstGeom prst="rect">
            <a:avLst/>
          </a:prstGeom>
          <a:noFill/>
          <a:ln/>
        </p:spPr>
        <p:txBody>
          <a:bodyPr wrap="square" lIns="0" tIns="0" rIns="0" bIns="0" rtlCol="0" anchor="t"/>
          <a:lstStyle/>
          <a:p>
            <a:pPr marL="0" indent="0" algn="l">
              <a:lnSpc>
                <a:spcPts val="1700"/>
              </a:lnSpc>
              <a:buNone/>
            </a:pPr>
            <a:r>
              <a:rPr lang="en-US" sz="1200" i="1" dirty="0">
                <a:solidFill>
                  <a:srgbClr val="6B7C99"/>
                </a:solidFill>
                <a:latin typeface="Arial" pitchFamily="34" charset="0"/>
                <a:ea typeface="Arial" pitchFamily="34" charset="-122"/>
                <a:cs typeface="Arial" pitchFamily="34" charset="-120"/>
              </a:rPr>
              <a:t>El error 1 es de concepto y se corrige leyendo. Los otros tres son de criterio y solo se corrigen mirando datos.</a:t>
            </a:r>
            <a:endParaRPr lang="en-US" sz="1200" dirty="0"/>
          </a:p>
        </p:txBody>
      </p:sp>
      <p:sp>
        <p:nvSpPr>
          <p:cNvPr id="25" name="Text 23"/>
          <p:cNvSpPr/>
          <p:nvPr/>
        </p:nvSpPr>
        <p:spPr>
          <a:xfrm>
            <a:off x="548640" y="6355080"/>
            <a:ext cx="8229600" cy="274320"/>
          </a:xfrm>
          <a:prstGeom prst="rect">
            <a:avLst/>
          </a:prstGeom>
          <a:noFill/>
          <a:ln/>
        </p:spPr>
        <p:txBody>
          <a:bodyPr wrap="square" lIns="0" tIns="0" rIns="0" bIns="0" rtlCol="0" anchor="ctr"/>
          <a:lstStyle/>
          <a:p>
            <a:pPr marL="0" indent="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26" name="Text 24"/>
          <p:cNvSpPr/>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8A98B2"/>
                </a:solidFill>
                <a:latin typeface="Arial" pitchFamily="34" charset="0"/>
                <a:ea typeface="Arial" pitchFamily="34" charset="-122"/>
                <a:cs typeface="Arial"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48640" y="438912"/>
            <a:ext cx="10789920" cy="731520"/>
          </a:xfrm>
          <a:prstGeom prst="rect">
            <a:avLst/>
          </a:prstGeom>
          <a:noFill/>
          <a:ln/>
        </p:spPr>
        <p:txBody>
          <a:bodyPr wrap="square" lIns="0" tIns="0" rIns="0" bIns="0" rtlCol="0" anchor="ctr"/>
          <a:lstStyle/>
          <a:p>
            <a:pPr marL="0" indent="0">
              <a:buNone/>
            </a:pPr>
            <a:r>
              <a:rPr lang="en-US" sz="3000" b="1" dirty="0">
                <a:solidFill>
                  <a:srgbClr val="0E2148"/>
                </a:solidFill>
                <a:latin typeface="Arial" pitchFamily="34" charset="0"/>
                <a:ea typeface="Arial" pitchFamily="34" charset="-122"/>
                <a:cs typeface="Arial" pitchFamily="34" charset="-120"/>
              </a:rPr>
              <a:t>Al Colab: 70 minutos</a:t>
            </a:r>
            <a:endParaRPr lang="en-US" sz="3000" dirty="0"/>
          </a:p>
        </p:txBody>
      </p:sp>
      <p:sp>
        <p:nvSpPr>
          <p:cNvPr id="3" name="Text 1"/>
          <p:cNvSpPr/>
          <p:nvPr/>
        </p:nvSpPr>
        <p:spPr>
          <a:xfrm>
            <a:off x="566928" y="1207008"/>
            <a:ext cx="10881360" cy="411480"/>
          </a:xfrm>
          <a:prstGeom prst="rect">
            <a:avLst/>
          </a:prstGeom>
          <a:noFill/>
          <a:ln/>
        </p:spPr>
        <p:txBody>
          <a:bodyPr wrap="square" lIns="0" tIns="0" rIns="0" bIns="0" rtlCol="0" anchor="t"/>
          <a:lstStyle/>
          <a:p>
            <a:pPr marL="0" indent="0">
              <a:buNone/>
            </a:pPr>
            <a:r>
              <a:rPr lang="en-US" sz="1350" dirty="0">
                <a:solidFill>
                  <a:srgbClr val="6B7C99"/>
                </a:solidFill>
                <a:latin typeface="Arial" pitchFamily="34" charset="0"/>
                <a:ea typeface="Arial" pitchFamily="34" charset="-122"/>
                <a:cs typeface="Arial" pitchFamily="34" charset="-120"/>
              </a:rPr>
              <a:t>Cuatro bloques, con la solución liberada al cierre de la sesión</a:t>
            </a:r>
            <a:endParaRPr lang="en-US" sz="1350" dirty="0"/>
          </a:p>
        </p:txBody>
      </p:sp>
      <p:sp>
        <p:nvSpPr>
          <p:cNvPr id="4" name="Shape 2"/>
          <p:cNvSpPr/>
          <p:nvPr/>
        </p:nvSpPr>
        <p:spPr>
          <a:xfrm>
            <a:off x="548640" y="2148840"/>
            <a:ext cx="7680960" cy="841248"/>
          </a:xfrm>
          <a:prstGeom prst="roundRect">
            <a:avLst>
              <a:gd name="adj" fmla="val 8696"/>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5" name="Text 3"/>
          <p:cNvSpPr/>
          <p:nvPr/>
        </p:nvSpPr>
        <p:spPr>
          <a:xfrm>
            <a:off x="777240" y="2148840"/>
            <a:ext cx="640080" cy="841248"/>
          </a:xfrm>
          <a:prstGeom prst="rect">
            <a:avLst/>
          </a:prstGeom>
          <a:noFill/>
          <a:ln/>
        </p:spPr>
        <p:txBody>
          <a:bodyPr wrap="square" lIns="0" tIns="0" rIns="0" bIns="0" rtlCol="0" anchor="ctr"/>
          <a:lstStyle/>
          <a:p>
            <a:pPr marL="0" indent="0">
              <a:buNone/>
            </a:pPr>
            <a:r>
              <a:rPr lang="en-US" sz="2000" b="1" dirty="0">
                <a:solidFill>
                  <a:srgbClr val="DCE3F0"/>
                </a:solidFill>
                <a:latin typeface="Arial" pitchFamily="34" charset="0"/>
                <a:ea typeface="Arial" pitchFamily="34" charset="-122"/>
                <a:cs typeface="Arial" pitchFamily="34" charset="-120"/>
              </a:rPr>
              <a:t>01</a:t>
            </a:r>
            <a:endParaRPr lang="en-US" sz="2000" dirty="0"/>
          </a:p>
        </p:txBody>
      </p:sp>
      <p:sp>
        <p:nvSpPr>
          <p:cNvPr id="6" name="Text 4"/>
          <p:cNvSpPr/>
          <p:nvPr/>
        </p:nvSpPr>
        <p:spPr>
          <a:xfrm>
            <a:off x="1463040" y="2258568"/>
            <a:ext cx="2377440" cy="320040"/>
          </a:xfrm>
          <a:prstGeom prst="rect">
            <a:avLst/>
          </a:prstGeom>
          <a:noFill/>
          <a:ln/>
        </p:spPr>
        <p:txBody>
          <a:bodyPr wrap="square" lIns="0" tIns="0" rIns="0" bIns="0" rtlCol="0" anchor="ctr"/>
          <a:lstStyle/>
          <a:p>
            <a:pPr marL="0" indent="0">
              <a:buNone/>
            </a:pPr>
            <a:r>
              <a:rPr lang="en-US" sz="1350" b="1" dirty="0">
                <a:solidFill>
                  <a:srgbClr val="0E2148"/>
                </a:solidFill>
                <a:latin typeface="Arial" pitchFamily="34" charset="0"/>
                <a:ea typeface="Arial" pitchFamily="34" charset="-122"/>
                <a:cs typeface="Arial" pitchFamily="34" charset="-120"/>
              </a:rPr>
              <a:t>Densidad a mano</a:t>
            </a:r>
            <a:endParaRPr lang="en-US" sz="1350" dirty="0"/>
          </a:p>
        </p:txBody>
      </p:sp>
      <p:sp>
        <p:nvSpPr>
          <p:cNvPr id="7" name="Text 5"/>
          <p:cNvSpPr/>
          <p:nvPr/>
        </p:nvSpPr>
        <p:spPr>
          <a:xfrm>
            <a:off x="1463040" y="2578608"/>
            <a:ext cx="5486400" cy="365760"/>
          </a:xfrm>
          <a:prstGeom prst="rect">
            <a:avLst/>
          </a:prstGeom>
          <a:noFill/>
          <a:ln/>
        </p:spPr>
        <p:txBody>
          <a:bodyPr wrap="square" lIns="0" tIns="0" rIns="0" bIns="0" rtlCol="0" anchor="t"/>
          <a:lstStyle/>
          <a:p>
            <a:pPr marL="0" indent="0" algn="l">
              <a:lnSpc>
                <a:spcPts val="1400"/>
              </a:lnSpc>
              <a:buNone/>
            </a:pPr>
            <a:r>
              <a:rPr lang="en-US" sz="1150" dirty="0">
                <a:solidFill>
                  <a:srgbClr val="6B7C99"/>
                </a:solidFill>
                <a:latin typeface="Arial" pitchFamily="34" charset="0"/>
                <a:ea typeface="Arial" pitchFamily="34" charset="-122"/>
                <a:cs typeface="Arial" pitchFamily="34" charset="-120"/>
              </a:rPr>
              <a:t>Construir el histograma normalizado de la slide 6 y superponerle la densidad teórica.</a:t>
            </a:r>
            <a:endParaRPr lang="en-US" sz="1150" dirty="0"/>
          </a:p>
        </p:txBody>
      </p:sp>
      <p:sp>
        <p:nvSpPr>
          <p:cNvPr id="8" name="Text 6"/>
          <p:cNvSpPr/>
          <p:nvPr/>
        </p:nvSpPr>
        <p:spPr>
          <a:xfrm>
            <a:off x="7178040" y="2148840"/>
            <a:ext cx="868680" cy="841248"/>
          </a:xfrm>
          <a:prstGeom prst="rect">
            <a:avLst/>
          </a:prstGeom>
          <a:noFill/>
          <a:ln/>
        </p:spPr>
        <p:txBody>
          <a:bodyPr wrap="square" lIns="0" tIns="0" rIns="0" bIns="0" rtlCol="0" anchor="ctr"/>
          <a:lstStyle/>
          <a:p>
            <a:pPr marL="0" indent="0" algn="r">
              <a:buNone/>
            </a:pPr>
            <a:r>
              <a:rPr lang="en-US" sz="1150" b="1" dirty="0">
                <a:solidFill>
                  <a:srgbClr val="E23C8A"/>
                </a:solidFill>
                <a:latin typeface="Arial" pitchFamily="34" charset="0"/>
                <a:ea typeface="Arial" pitchFamily="34" charset="-122"/>
                <a:cs typeface="Arial" pitchFamily="34" charset="-120"/>
              </a:rPr>
              <a:t>15 min</a:t>
            </a:r>
            <a:endParaRPr lang="en-US" sz="1150" dirty="0"/>
          </a:p>
        </p:txBody>
      </p:sp>
      <p:sp>
        <p:nvSpPr>
          <p:cNvPr id="9" name="Shape 7"/>
          <p:cNvSpPr/>
          <p:nvPr/>
        </p:nvSpPr>
        <p:spPr>
          <a:xfrm>
            <a:off x="548640" y="3108960"/>
            <a:ext cx="7680960" cy="841248"/>
          </a:xfrm>
          <a:prstGeom prst="roundRect">
            <a:avLst>
              <a:gd name="adj" fmla="val 8696"/>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10" name="Text 8"/>
          <p:cNvSpPr/>
          <p:nvPr/>
        </p:nvSpPr>
        <p:spPr>
          <a:xfrm>
            <a:off x="777240" y="3108960"/>
            <a:ext cx="640080" cy="841248"/>
          </a:xfrm>
          <a:prstGeom prst="rect">
            <a:avLst/>
          </a:prstGeom>
          <a:noFill/>
          <a:ln/>
        </p:spPr>
        <p:txBody>
          <a:bodyPr wrap="square" lIns="0" tIns="0" rIns="0" bIns="0" rtlCol="0" anchor="ctr"/>
          <a:lstStyle/>
          <a:p>
            <a:pPr marL="0" indent="0">
              <a:buNone/>
            </a:pPr>
            <a:r>
              <a:rPr lang="en-US" sz="2000" b="1" dirty="0">
                <a:solidFill>
                  <a:srgbClr val="DCE3F0"/>
                </a:solidFill>
                <a:latin typeface="Arial" pitchFamily="34" charset="0"/>
                <a:ea typeface="Arial" pitchFamily="34" charset="-122"/>
                <a:cs typeface="Arial" pitchFamily="34" charset="-120"/>
              </a:rPr>
              <a:t>02</a:t>
            </a:r>
            <a:endParaRPr lang="en-US" sz="2000" dirty="0"/>
          </a:p>
        </p:txBody>
      </p:sp>
      <p:sp>
        <p:nvSpPr>
          <p:cNvPr id="11" name="Text 9"/>
          <p:cNvSpPr/>
          <p:nvPr/>
        </p:nvSpPr>
        <p:spPr>
          <a:xfrm>
            <a:off x="1463040" y="3218688"/>
            <a:ext cx="2377440" cy="320040"/>
          </a:xfrm>
          <a:prstGeom prst="rect">
            <a:avLst/>
          </a:prstGeom>
          <a:noFill/>
          <a:ln/>
        </p:spPr>
        <p:txBody>
          <a:bodyPr wrap="square" lIns="0" tIns="0" rIns="0" bIns="0" rtlCol="0" anchor="ctr"/>
          <a:lstStyle/>
          <a:p>
            <a:pPr marL="0" indent="0">
              <a:buNone/>
            </a:pPr>
            <a:r>
              <a:rPr lang="en-US" sz="1350" b="1" dirty="0">
                <a:solidFill>
                  <a:srgbClr val="0E2148"/>
                </a:solidFill>
                <a:latin typeface="Arial" pitchFamily="34" charset="0"/>
                <a:ea typeface="Arial" pitchFamily="34" charset="-122"/>
                <a:cs typeface="Arial" pitchFamily="34" charset="-120"/>
              </a:rPr>
              <a:t>CDF y cuantiles</a:t>
            </a:r>
            <a:endParaRPr lang="en-US" sz="1350" dirty="0"/>
          </a:p>
        </p:txBody>
      </p:sp>
      <p:sp>
        <p:nvSpPr>
          <p:cNvPr id="12" name="Text 10"/>
          <p:cNvSpPr/>
          <p:nvPr/>
        </p:nvSpPr>
        <p:spPr>
          <a:xfrm>
            <a:off x="1463040" y="3538728"/>
            <a:ext cx="5486400" cy="365760"/>
          </a:xfrm>
          <a:prstGeom prst="rect">
            <a:avLst/>
          </a:prstGeom>
          <a:noFill/>
          <a:ln/>
        </p:spPr>
        <p:txBody>
          <a:bodyPr wrap="square" lIns="0" tIns="0" rIns="0" bIns="0" rtlCol="0" anchor="t"/>
          <a:lstStyle/>
          <a:p>
            <a:pPr marL="0" indent="0" algn="l">
              <a:lnSpc>
                <a:spcPts val="1400"/>
              </a:lnSpc>
              <a:buNone/>
            </a:pPr>
            <a:r>
              <a:rPr lang="en-US" sz="1150" dirty="0">
                <a:solidFill>
                  <a:srgbClr val="6B7C99"/>
                </a:solidFill>
                <a:latin typeface="Arial" pitchFamily="34" charset="0"/>
                <a:ea typeface="Arial" pitchFamily="34" charset="-122"/>
                <a:cs typeface="Arial" pitchFamily="34" charset="-120"/>
              </a:rPr>
              <a:t>Responder cinco preguntas de negocio usando solo .cdf() y .ppf() de scipy.stats.</a:t>
            </a:r>
            <a:endParaRPr lang="en-US" sz="1150" dirty="0"/>
          </a:p>
        </p:txBody>
      </p:sp>
      <p:sp>
        <p:nvSpPr>
          <p:cNvPr id="13" name="Text 11"/>
          <p:cNvSpPr/>
          <p:nvPr/>
        </p:nvSpPr>
        <p:spPr>
          <a:xfrm>
            <a:off x="7178040" y="3108960"/>
            <a:ext cx="868680" cy="841248"/>
          </a:xfrm>
          <a:prstGeom prst="rect">
            <a:avLst/>
          </a:prstGeom>
          <a:noFill/>
          <a:ln/>
        </p:spPr>
        <p:txBody>
          <a:bodyPr wrap="square" lIns="0" tIns="0" rIns="0" bIns="0" rtlCol="0" anchor="ctr"/>
          <a:lstStyle/>
          <a:p>
            <a:pPr marL="0" indent="0" algn="r">
              <a:buNone/>
            </a:pPr>
            <a:r>
              <a:rPr lang="en-US" sz="1150" b="1" dirty="0">
                <a:solidFill>
                  <a:srgbClr val="E23C8A"/>
                </a:solidFill>
                <a:latin typeface="Arial" pitchFamily="34" charset="0"/>
                <a:ea typeface="Arial" pitchFamily="34" charset="-122"/>
                <a:cs typeface="Arial" pitchFamily="34" charset="-120"/>
              </a:rPr>
              <a:t>15 min</a:t>
            </a:r>
            <a:endParaRPr lang="en-US" sz="1150" dirty="0"/>
          </a:p>
        </p:txBody>
      </p:sp>
      <p:sp>
        <p:nvSpPr>
          <p:cNvPr id="14" name="Shape 12"/>
          <p:cNvSpPr/>
          <p:nvPr/>
        </p:nvSpPr>
        <p:spPr>
          <a:xfrm>
            <a:off x="548640" y="4069080"/>
            <a:ext cx="7680960" cy="841248"/>
          </a:xfrm>
          <a:prstGeom prst="roundRect">
            <a:avLst>
              <a:gd name="adj" fmla="val 8696"/>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15" name="Text 13"/>
          <p:cNvSpPr/>
          <p:nvPr/>
        </p:nvSpPr>
        <p:spPr>
          <a:xfrm>
            <a:off x="777240" y="4069080"/>
            <a:ext cx="640080" cy="841248"/>
          </a:xfrm>
          <a:prstGeom prst="rect">
            <a:avLst/>
          </a:prstGeom>
          <a:noFill/>
          <a:ln/>
        </p:spPr>
        <p:txBody>
          <a:bodyPr wrap="square" lIns="0" tIns="0" rIns="0" bIns="0" rtlCol="0" anchor="ctr"/>
          <a:lstStyle/>
          <a:p>
            <a:pPr marL="0" indent="0">
              <a:buNone/>
            </a:pPr>
            <a:r>
              <a:rPr lang="en-US" sz="2000" b="1" dirty="0">
                <a:solidFill>
                  <a:srgbClr val="DCE3F0"/>
                </a:solidFill>
                <a:latin typeface="Arial" pitchFamily="34" charset="0"/>
                <a:ea typeface="Arial" pitchFamily="34" charset="-122"/>
                <a:cs typeface="Arial" pitchFamily="34" charset="-120"/>
              </a:rPr>
              <a:t>03</a:t>
            </a:r>
            <a:endParaRPr lang="en-US" sz="2000" dirty="0"/>
          </a:p>
        </p:txBody>
      </p:sp>
      <p:sp>
        <p:nvSpPr>
          <p:cNvPr id="16" name="Text 14"/>
          <p:cNvSpPr/>
          <p:nvPr/>
        </p:nvSpPr>
        <p:spPr>
          <a:xfrm>
            <a:off x="1463040" y="4178808"/>
            <a:ext cx="2377440" cy="320040"/>
          </a:xfrm>
          <a:prstGeom prst="rect">
            <a:avLst/>
          </a:prstGeom>
          <a:noFill/>
          <a:ln/>
        </p:spPr>
        <p:txBody>
          <a:bodyPr wrap="square" lIns="0" tIns="0" rIns="0" bIns="0" rtlCol="0" anchor="ctr"/>
          <a:lstStyle/>
          <a:p>
            <a:pPr marL="0" indent="0">
              <a:buNone/>
            </a:pPr>
            <a:r>
              <a:rPr lang="en-US" sz="1350" b="1" dirty="0">
                <a:solidFill>
                  <a:srgbClr val="0E2148"/>
                </a:solidFill>
                <a:latin typeface="Arial" pitchFamily="34" charset="0"/>
                <a:ea typeface="Arial" pitchFamily="34" charset="-122"/>
                <a:cs typeface="Arial" pitchFamily="34" charset="-120"/>
              </a:rPr>
              <a:t>Inverse transform</a:t>
            </a:r>
            <a:endParaRPr lang="en-US" sz="1350" dirty="0"/>
          </a:p>
        </p:txBody>
      </p:sp>
      <p:sp>
        <p:nvSpPr>
          <p:cNvPr id="17" name="Text 15"/>
          <p:cNvSpPr/>
          <p:nvPr/>
        </p:nvSpPr>
        <p:spPr>
          <a:xfrm>
            <a:off x="1463040" y="4498848"/>
            <a:ext cx="5486400" cy="365760"/>
          </a:xfrm>
          <a:prstGeom prst="rect">
            <a:avLst/>
          </a:prstGeom>
          <a:noFill/>
          <a:ln/>
        </p:spPr>
        <p:txBody>
          <a:bodyPr wrap="square" lIns="0" tIns="0" rIns="0" bIns="0" rtlCol="0" anchor="t"/>
          <a:lstStyle/>
          <a:p>
            <a:pPr marL="0" indent="0" algn="l">
              <a:lnSpc>
                <a:spcPts val="1400"/>
              </a:lnSpc>
              <a:buNone/>
            </a:pPr>
            <a:r>
              <a:rPr lang="en-US" sz="1150" dirty="0">
                <a:solidFill>
                  <a:srgbClr val="6B7C99"/>
                </a:solidFill>
                <a:latin typeface="Arial" pitchFamily="34" charset="0"/>
                <a:ea typeface="Arial" pitchFamily="34" charset="-122"/>
                <a:cs typeface="Arial" pitchFamily="34" charset="-120"/>
              </a:rPr>
              <a:t>Generar exponenciales desde U(0,1) sin usar la función de scipy, y validar el resultado.</a:t>
            </a:r>
            <a:endParaRPr lang="en-US" sz="1150" dirty="0"/>
          </a:p>
        </p:txBody>
      </p:sp>
      <p:sp>
        <p:nvSpPr>
          <p:cNvPr id="18" name="Text 16"/>
          <p:cNvSpPr/>
          <p:nvPr/>
        </p:nvSpPr>
        <p:spPr>
          <a:xfrm>
            <a:off x="7178040" y="4069080"/>
            <a:ext cx="868680" cy="841248"/>
          </a:xfrm>
          <a:prstGeom prst="rect">
            <a:avLst/>
          </a:prstGeom>
          <a:noFill/>
          <a:ln/>
        </p:spPr>
        <p:txBody>
          <a:bodyPr wrap="square" lIns="0" tIns="0" rIns="0" bIns="0" rtlCol="0" anchor="ctr"/>
          <a:lstStyle/>
          <a:p>
            <a:pPr marL="0" indent="0" algn="r">
              <a:buNone/>
            </a:pPr>
            <a:r>
              <a:rPr lang="en-US" sz="1150" b="1" dirty="0">
                <a:solidFill>
                  <a:srgbClr val="E23C8A"/>
                </a:solidFill>
                <a:latin typeface="Arial" pitchFamily="34" charset="0"/>
                <a:ea typeface="Arial" pitchFamily="34" charset="-122"/>
                <a:cs typeface="Arial" pitchFamily="34" charset="-120"/>
              </a:rPr>
              <a:t>20 min</a:t>
            </a:r>
            <a:endParaRPr lang="en-US" sz="1150" dirty="0"/>
          </a:p>
        </p:txBody>
      </p:sp>
      <p:sp>
        <p:nvSpPr>
          <p:cNvPr id="19" name="Shape 17"/>
          <p:cNvSpPr/>
          <p:nvPr/>
        </p:nvSpPr>
        <p:spPr>
          <a:xfrm>
            <a:off x="548640" y="5029200"/>
            <a:ext cx="7680960" cy="841248"/>
          </a:xfrm>
          <a:prstGeom prst="roundRect">
            <a:avLst>
              <a:gd name="adj" fmla="val 8696"/>
            </a:avLst>
          </a:prstGeom>
          <a:solidFill>
            <a:srgbClr val="FFFFFF"/>
          </a:solidFill>
          <a:ln w="12700">
            <a:solidFill>
              <a:srgbClr val="DCE3F0"/>
            </a:solidFill>
            <a:prstDash val="solid"/>
          </a:ln>
          <a:effectLst>
            <a:outerShdw blurRad="101600" dist="12700" dir="5400000" algn="bl" rotWithShape="0">
              <a:srgbClr val="9FB0C9">
                <a:alpha val="18000"/>
              </a:srgbClr>
            </a:outerShdw>
          </a:effectLst>
        </p:spPr>
      </p:sp>
      <p:sp>
        <p:nvSpPr>
          <p:cNvPr id="20" name="Text 18"/>
          <p:cNvSpPr/>
          <p:nvPr/>
        </p:nvSpPr>
        <p:spPr>
          <a:xfrm>
            <a:off x="777240" y="5029200"/>
            <a:ext cx="640080" cy="841248"/>
          </a:xfrm>
          <a:prstGeom prst="rect">
            <a:avLst/>
          </a:prstGeom>
          <a:noFill/>
          <a:ln/>
        </p:spPr>
        <p:txBody>
          <a:bodyPr wrap="square" lIns="0" tIns="0" rIns="0" bIns="0" rtlCol="0" anchor="ctr"/>
          <a:lstStyle/>
          <a:p>
            <a:pPr marL="0" indent="0">
              <a:buNone/>
            </a:pPr>
            <a:r>
              <a:rPr lang="en-US" sz="2000" b="1" dirty="0">
                <a:solidFill>
                  <a:srgbClr val="DCE3F0"/>
                </a:solidFill>
                <a:latin typeface="Arial" pitchFamily="34" charset="0"/>
                <a:ea typeface="Arial" pitchFamily="34" charset="-122"/>
                <a:cs typeface="Arial" pitchFamily="34" charset="-120"/>
              </a:rPr>
              <a:t>04</a:t>
            </a:r>
            <a:endParaRPr lang="en-US" sz="2000" dirty="0"/>
          </a:p>
        </p:txBody>
      </p:sp>
      <p:sp>
        <p:nvSpPr>
          <p:cNvPr id="21" name="Text 19"/>
          <p:cNvSpPr/>
          <p:nvPr/>
        </p:nvSpPr>
        <p:spPr>
          <a:xfrm>
            <a:off x="1463040" y="5138928"/>
            <a:ext cx="2377440" cy="320040"/>
          </a:xfrm>
          <a:prstGeom prst="rect">
            <a:avLst/>
          </a:prstGeom>
          <a:noFill/>
          <a:ln/>
        </p:spPr>
        <p:txBody>
          <a:bodyPr wrap="square" lIns="0" tIns="0" rIns="0" bIns="0" rtlCol="0" anchor="ctr"/>
          <a:lstStyle/>
          <a:p>
            <a:pPr marL="0" indent="0">
              <a:buNone/>
            </a:pPr>
            <a:r>
              <a:rPr lang="en-US" sz="1350" b="1" dirty="0">
                <a:solidFill>
                  <a:srgbClr val="0E2148"/>
                </a:solidFill>
                <a:latin typeface="Arial" pitchFamily="34" charset="0"/>
                <a:ea typeface="Arial" pitchFamily="34" charset="-122"/>
                <a:cs typeface="Arial" pitchFamily="34" charset="-120"/>
              </a:rPr>
              <a:t>Ajuste y decisión</a:t>
            </a:r>
            <a:endParaRPr lang="en-US" sz="1350" dirty="0"/>
          </a:p>
        </p:txBody>
      </p:sp>
      <p:sp>
        <p:nvSpPr>
          <p:cNvPr id="22" name="Text 20"/>
          <p:cNvSpPr/>
          <p:nvPr/>
        </p:nvSpPr>
        <p:spPr>
          <a:xfrm>
            <a:off x="1463040" y="5458968"/>
            <a:ext cx="5486400" cy="365760"/>
          </a:xfrm>
          <a:prstGeom prst="rect">
            <a:avLst/>
          </a:prstGeom>
          <a:noFill/>
          <a:ln/>
        </p:spPr>
        <p:txBody>
          <a:bodyPr wrap="square" lIns="0" tIns="0" rIns="0" bIns="0" rtlCol="0" anchor="t"/>
          <a:lstStyle/>
          <a:p>
            <a:pPr marL="0" indent="0" algn="l">
              <a:lnSpc>
                <a:spcPts val="1400"/>
              </a:lnSpc>
              <a:buNone/>
            </a:pPr>
            <a:r>
              <a:rPr lang="en-US" sz="1150" dirty="0">
                <a:solidFill>
                  <a:srgbClr val="6B7C99"/>
                </a:solidFill>
                <a:latin typeface="Arial" pitchFamily="34" charset="0"/>
                <a:ea typeface="Arial" pitchFamily="34" charset="-122"/>
                <a:cs typeface="Arial" pitchFamily="34" charset="-120"/>
              </a:rPr>
              <a:t>Ajustar exponencial vs Weibull a los tiempos reales y argumentar cuál usarías.</a:t>
            </a:r>
            <a:endParaRPr lang="en-US" sz="1150" dirty="0"/>
          </a:p>
        </p:txBody>
      </p:sp>
      <p:sp>
        <p:nvSpPr>
          <p:cNvPr id="23" name="Text 21"/>
          <p:cNvSpPr/>
          <p:nvPr/>
        </p:nvSpPr>
        <p:spPr>
          <a:xfrm>
            <a:off x="7178040" y="5029200"/>
            <a:ext cx="868680" cy="841248"/>
          </a:xfrm>
          <a:prstGeom prst="rect">
            <a:avLst/>
          </a:prstGeom>
          <a:noFill/>
          <a:ln/>
        </p:spPr>
        <p:txBody>
          <a:bodyPr wrap="square" lIns="0" tIns="0" rIns="0" bIns="0" rtlCol="0" anchor="ctr"/>
          <a:lstStyle/>
          <a:p>
            <a:pPr marL="0" indent="0" algn="r">
              <a:buNone/>
            </a:pPr>
            <a:r>
              <a:rPr lang="en-US" sz="1150" b="1" dirty="0">
                <a:solidFill>
                  <a:srgbClr val="E23C8A"/>
                </a:solidFill>
                <a:latin typeface="Arial" pitchFamily="34" charset="0"/>
                <a:ea typeface="Arial" pitchFamily="34" charset="-122"/>
                <a:cs typeface="Arial" pitchFamily="34" charset="-120"/>
              </a:rPr>
              <a:t>20 min</a:t>
            </a:r>
            <a:endParaRPr lang="en-US" sz="1150" dirty="0"/>
          </a:p>
        </p:txBody>
      </p:sp>
      <p:sp>
        <p:nvSpPr>
          <p:cNvPr id="24" name="Shape 22"/>
          <p:cNvSpPr/>
          <p:nvPr/>
        </p:nvSpPr>
        <p:spPr>
          <a:xfrm>
            <a:off x="8503920" y="2148840"/>
            <a:ext cx="3136392" cy="3401568"/>
          </a:xfrm>
          <a:prstGeom prst="roundRect">
            <a:avLst>
              <a:gd name="adj" fmla="val 2332"/>
            </a:avLst>
          </a:prstGeom>
          <a:solidFill>
            <a:srgbClr val="EAF1FE"/>
          </a:solidFill>
          <a:ln w="12700">
            <a:solidFill>
              <a:srgbClr val="DCE3F0"/>
            </a:solidFill>
            <a:prstDash val="solid"/>
          </a:ln>
          <a:effectLst>
            <a:outerShdw blurRad="101600" dist="12700" dir="5400000" algn="bl" rotWithShape="0">
              <a:srgbClr val="9FB0C9">
                <a:alpha val="18000"/>
              </a:srgbClr>
            </a:outerShdw>
          </a:effectLst>
        </p:spPr>
      </p:sp>
      <p:sp>
        <p:nvSpPr>
          <p:cNvPr id="25" name="Text 23"/>
          <p:cNvSpPr/>
          <p:nvPr/>
        </p:nvSpPr>
        <p:spPr>
          <a:xfrm>
            <a:off x="8778240" y="2331720"/>
            <a:ext cx="2651760" cy="384048"/>
          </a:xfrm>
          <a:prstGeom prst="rect">
            <a:avLst/>
          </a:prstGeom>
          <a:noFill/>
          <a:ln/>
        </p:spPr>
        <p:txBody>
          <a:bodyPr wrap="square" lIns="0" tIns="0" rIns="0" bIns="0" rtlCol="0" anchor="ctr"/>
          <a:lstStyle/>
          <a:p>
            <a:pPr marL="0" indent="0">
              <a:buNone/>
            </a:pPr>
            <a:r>
              <a:rPr lang="en-US" sz="1500" b="1" dirty="0">
                <a:solidFill>
                  <a:srgbClr val="0E2148"/>
                </a:solidFill>
                <a:latin typeface="Arial" pitchFamily="34" charset="0"/>
                <a:ea typeface="Arial" pitchFamily="34" charset="-122"/>
                <a:cs typeface="Arial" pitchFamily="34" charset="-120"/>
              </a:rPr>
              <a:t>Antes de empezar</a:t>
            </a:r>
            <a:endParaRPr lang="en-US" sz="1500" dirty="0"/>
          </a:p>
        </p:txBody>
      </p:sp>
      <p:sp>
        <p:nvSpPr>
          <p:cNvPr id="26" name="Text 24"/>
          <p:cNvSpPr/>
          <p:nvPr/>
        </p:nvSpPr>
        <p:spPr>
          <a:xfrm>
            <a:off x="8796528" y="2788920"/>
            <a:ext cx="2651760" cy="2194560"/>
          </a:xfrm>
          <a:prstGeom prst="rect">
            <a:avLst/>
          </a:prstGeom>
          <a:noFill/>
          <a:ln/>
        </p:spPr>
        <p:txBody>
          <a:bodyPr wrap="square" lIns="0" tIns="0" rIns="0" bIns="0" rtlCol="0" anchor="t"/>
          <a:lstStyle/>
          <a:p>
            <a:pPr marL="342900" indent="-342900">
              <a:lnSpc>
                <a:spcPts val="1700"/>
              </a:lnSpc>
              <a:spcAft>
                <a:spcPts val="1000"/>
              </a:spcAft>
              <a:buSzPct val="100000"/>
              <a:buChar char="•"/>
            </a:pPr>
            <a:r>
              <a:rPr lang="en-US" sz="1150" dirty="0">
                <a:solidFill>
                  <a:srgbClr val="1B2A44"/>
                </a:solidFill>
                <a:latin typeface="Arial" pitchFamily="34" charset="0"/>
                <a:ea typeface="Arial" pitchFamily="34" charset="-122"/>
                <a:cs typeface="Arial" pitchFamily="34" charset="-120"/>
              </a:rPr>
              <a:t>Abre el notebook desde el repo del curso, no una copia vieja.</a:t>
            </a:r>
            <a:endParaRPr lang="en-US" sz="1150" dirty="0"/>
          </a:p>
          <a:p>
            <a:pPr marL="342900" indent="-342900">
              <a:lnSpc>
                <a:spcPts val="1700"/>
              </a:lnSpc>
              <a:spcAft>
                <a:spcPts val="1000"/>
              </a:spcAft>
              <a:buSzPct val="100000"/>
              <a:buChar char="•"/>
            </a:pPr>
            <a:r>
              <a:rPr lang="en-US" sz="1150" dirty="0">
                <a:solidFill>
                  <a:srgbClr val="1B2A44"/>
                </a:solidFill>
                <a:latin typeface="Arial" pitchFamily="34" charset="0"/>
                <a:ea typeface="Arial" pitchFamily="34" charset="-122"/>
                <a:cs typeface="Arial" pitchFamily="34" charset="-120"/>
              </a:rPr>
              <a:t>La semilla es 42: si tus números no coinciden con los míos, revisa eso primero.</a:t>
            </a:r>
            <a:endParaRPr lang="en-US" sz="1150" dirty="0"/>
          </a:p>
          <a:p>
            <a:pPr marL="342900" indent="-342900">
              <a:lnSpc>
                <a:spcPts val="1700"/>
              </a:lnSpc>
              <a:spcAft>
                <a:spcPts val="1000"/>
              </a:spcAft>
              <a:buSzPct val="100000"/>
              <a:buChar char="•"/>
            </a:pPr>
            <a:r>
              <a:rPr lang="en-US" sz="1150" dirty="0">
                <a:solidFill>
                  <a:srgbClr val="1B2A44"/>
                </a:solidFill>
                <a:latin typeface="Arial" pitchFamily="34" charset="0"/>
                <a:ea typeface="Arial" pitchFamily="34" charset="-122"/>
                <a:cs typeface="Arial" pitchFamily="34" charset="-120"/>
              </a:rPr>
              <a:t>Ejecuta la celda de setup completa antes de tocar nada.</a:t>
            </a:r>
            <a:endParaRPr lang="en-US" sz="1150" dirty="0"/>
          </a:p>
        </p:txBody>
      </p:sp>
      <p:sp>
        <p:nvSpPr>
          <p:cNvPr id="27" name="Text 25"/>
          <p:cNvSpPr/>
          <p:nvPr/>
        </p:nvSpPr>
        <p:spPr>
          <a:xfrm>
            <a:off x="8778240" y="5120640"/>
            <a:ext cx="2697480" cy="274320"/>
          </a:xfrm>
          <a:prstGeom prst="rect">
            <a:avLst/>
          </a:prstGeom>
          <a:noFill/>
          <a:ln/>
        </p:spPr>
        <p:txBody>
          <a:bodyPr wrap="square" lIns="0" tIns="0" rIns="0" bIns="0" rtlCol="0" anchor="ctr"/>
          <a:lstStyle/>
          <a:p>
            <a:pPr marL="0" indent="0">
              <a:buNone/>
            </a:pPr>
            <a:r>
              <a:rPr lang="en-US" sz="1050" b="1" dirty="0">
                <a:solidFill>
                  <a:srgbClr val="2D6CDF"/>
                </a:solidFill>
                <a:latin typeface="Arial" pitchFamily="34" charset="0"/>
                <a:ea typeface="Arial" pitchFamily="34" charset="-122"/>
                <a:cs typeface="Arial" pitchFamily="34" charset="-120"/>
              </a:rPr>
              <a:t>Clase02_VA_Continuas.ipynb</a:t>
            </a:r>
            <a:endParaRPr lang="en-US" sz="1050" dirty="0"/>
          </a:p>
        </p:txBody>
      </p:sp>
      <p:sp>
        <p:nvSpPr>
          <p:cNvPr id="28" name="Text 26"/>
          <p:cNvSpPr/>
          <p:nvPr/>
        </p:nvSpPr>
        <p:spPr>
          <a:xfrm>
            <a:off x="548640" y="6355080"/>
            <a:ext cx="8229600" cy="274320"/>
          </a:xfrm>
          <a:prstGeom prst="rect">
            <a:avLst/>
          </a:prstGeom>
          <a:noFill/>
          <a:ln/>
        </p:spPr>
        <p:txBody>
          <a:bodyPr wrap="square" lIns="0" tIns="0" rIns="0" bIns="0" rtlCol="0" anchor="ctr"/>
          <a:lstStyle/>
          <a:p>
            <a:pPr marL="0" indent="0">
              <a:buNone/>
            </a:pPr>
            <a:r>
              <a:rPr lang="en-US" sz="950" dirty="0">
                <a:solidFill>
                  <a:srgbClr val="8A98B2"/>
                </a:solidFill>
                <a:latin typeface="Arial" pitchFamily="34" charset="0"/>
                <a:ea typeface="Arial" pitchFamily="34" charset="-122"/>
                <a:cs typeface="Arial" pitchFamily="34" charset="-120"/>
              </a:rPr>
              <a:t>Estadística Descriptiva e Inferencial · Módulo 1 · Clase 2</a:t>
            </a:r>
            <a:endParaRPr lang="en-US" sz="950" dirty="0"/>
          </a:p>
        </p:txBody>
      </p:sp>
      <p:sp>
        <p:nvSpPr>
          <p:cNvPr id="29" name="Text 27"/>
          <p:cNvSpPr/>
          <p:nvPr/>
        </p:nvSpPr>
        <p:spPr>
          <a:xfrm>
            <a:off x="11064240" y="6355080"/>
            <a:ext cx="548640" cy="274320"/>
          </a:xfrm>
          <a:prstGeom prst="rect">
            <a:avLst/>
          </a:prstGeom>
          <a:noFill/>
          <a:ln/>
        </p:spPr>
        <p:txBody>
          <a:bodyPr wrap="square" lIns="0" tIns="0" rIns="0" bIns="0" rtlCol="0" anchor="ctr"/>
          <a:lstStyle/>
          <a:p>
            <a:pPr marL="0" indent="0" algn="r">
              <a:buNone/>
            </a:pPr>
            <a:r>
              <a:rPr lang="en-US" sz="950" dirty="0">
                <a:solidFill>
                  <a:srgbClr val="8A98B2"/>
                </a:solidFill>
                <a:latin typeface="Arial" pitchFamily="34" charset="0"/>
                <a:ea typeface="Arial" pitchFamily="34" charset="-122"/>
                <a:cs typeface="Arial"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2148"/>
        </a:solidFill>
        <a:effectLst/>
      </p:bgPr>
    </p:bg>
    <p:spTree>
      <p:nvGrpSpPr>
        <p:cNvPr id="1" name=""/>
        <p:cNvGrpSpPr/>
        <p:nvPr/>
      </p:nvGrpSpPr>
      <p:grpSpPr>
        <a:xfrm>
          <a:off x="0" y="0"/>
          <a:ext cx="0" cy="0"/>
          <a:chOff x="0" y="0"/>
          <a:chExt cx="0" cy="0"/>
        </a:xfrm>
      </p:grpSpPr>
      <p:sp>
        <p:nvSpPr>
          <p:cNvPr id="2" name="Shape 0"/>
          <p:cNvSpPr/>
          <p:nvPr/>
        </p:nvSpPr>
        <p:spPr>
          <a:xfrm>
            <a:off x="-1280160" y="4206240"/>
            <a:ext cx="4206240" cy="4206240"/>
          </a:xfrm>
          <a:prstGeom prst="ellipse">
            <a:avLst/>
          </a:prstGeom>
          <a:solidFill>
            <a:srgbClr val="2D6CDF">
              <a:alpha val="38000"/>
            </a:srgbClr>
          </a:solidFill>
          <a:ln w="12700">
            <a:solidFill>
              <a:srgbClr val="2D6CDF">
                <a:alpha val="0"/>
              </a:srgbClr>
            </a:solidFill>
            <a:prstDash val="solid"/>
          </a:ln>
        </p:spPr>
      </p:sp>
      <p:sp>
        <p:nvSpPr>
          <p:cNvPr id="3" name="Shape 1"/>
          <p:cNvSpPr/>
          <p:nvPr/>
        </p:nvSpPr>
        <p:spPr>
          <a:xfrm>
            <a:off x="10424160" y="-1097280"/>
            <a:ext cx="3474720" cy="3474720"/>
          </a:xfrm>
          <a:prstGeom prst="ellipse">
            <a:avLst/>
          </a:prstGeom>
          <a:solidFill>
            <a:srgbClr val="E23C8A">
              <a:alpha val="30000"/>
            </a:srgbClr>
          </a:solidFill>
          <a:ln w="12700">
            <a:solidFill>
              <a:srgbClr val="E23C8A">
                <a:alpha val="0"/>
              </a:srgbClr>
            </a:solidFill>
            <a:prstDash val="solid"/>
          </a:ln>
        </p:spPr>
      </p:sp>
      <p:sp>
        <p:nvSpPr>
          <p:cNvPr id="4" name="Shape 2"/>
          <p:cNvSpPr/>
          <p:nvPr/>
        </p:nvSpPr>
        <p:spPr>
          <a:xfrm>
            <a:off x="685800" y="685800"/>
            <a:ext cx="1280160" cy="365760"/>
          </a:xfrm>
          <a:prstGeom prst="roundRect">
            <a:avLst>
              <a:gd name="adj" fmla="val 50000"/>
            </a:avLst>
          </a:prstGeom>
          <a:solidFill>
            <a:srgbClr val="E23C8A"/>
          </a:solidFill>
          <a:ln w="12700">
            <a:solidFill>
              <a:srgbClr val="E23C8A"/>
            </a:solidFill>
            <a:prstDash val="solid"/>
          </a:ln>
        </p:spPr>
      </p:sp>
      <p:sp>
        <p:nvSpPr>
          <p:cNvPr id="5" name="Text 3"/>
          <p:cNvSpPr/>
          <p:nvPr/>
        </p:nvSpPr>
        <p:spPr>
          <a:xfrm>
            <a:off x="685800" y="685800"/>
            <a:ext cx="12801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CIERRE</a:t>
            </a:r>
            <a:endParaRPr lang="en-US" sz="1000" dirty="0"/>
          </a:p>
        </p:txBody>
      </p:sp>
      <p:sp>
        <p:nvSpPr>
          <p:cNvPr id="6" name="Text 4"/>
          <p:cNvSpPr/>
          <p:nvPr/>
        </p:nvSpPr>
        <p:spPr>
          <a:xfrm>
            <a:off x="658368" y="1188720"/>
            <a:ext cx="7772400" cy="64008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Tres ideas para llevarse</a:t>
            </a:r>
            <a:endParaRPr lang="en-US" sz="3200" dirty="0"/>
          </a:p>
        </p:txBody>
      </p:sp>
      <p:sp>
        <p:nvSpPr>
          <p:cNvPr id="7" name="Text 5"/>
          <p:cNvSpPr/>
          <p:nvPr/>
        </p:nvSpPr>
        <p:spPr>
          <a:xfrm>
            <a:off x="685800" y="2148840"/>
            <a:ext cx="457200" cy="365760"/>
          </a:xfrm>
          <a:prstGeom prst="rect">
            <a:avLst/>
          </a:prstGeom>
          <a:noFill/>
          <a:ln/>
        </p:spPr>
        <p:txBody>
          <a:bodyPr wrap="square" lIns="0" tIns="0" rIns="0" bIns="0" rtlCol="0" anchor="ctr"/>
          <a:lstStyle/>
          <a:p>
            <a:pPr marL="0" indent="0">
              <a:buNone/>
            </a:pPr>
            <a:r>
              <a:rPr lang="en-US" sz="1800" b="1" dirty="0">
                <a:solidFill>
                  <a:srgbClr val="E23C8A"/>
                </a:solidFill>
                <a:latin typeface="Arial" pitchFamily="34" charset="0"/>
                <a:ea typeface="Arial" pitchFamily="34" charset="-122"/>
                <a:cs typeface="Arial" pitchFamily="34" charset="-120"/>
              </a:rPr>
              <a:t>1</a:t>
            </a:r>
            <a:endParaRPr lang="en-US" sz="1800" dirty="0"/>
          </a:p>
        </p:txBody>
      </p:sp>
      <p:sp>
        <p:nvSpPr>
          <p:cNvPr id="8" name="Text 6"/>
          <p:cNvSpPr/>
          <p:nvPr/>
        </p:nvSpPr>
        <p:spPr>
          <a:xfrm>
            <a:off x="1188720" y="2148840"/>
            <a:ext cx="6949440" cy="320040"/>
          </a:xfrm>
          <a:prstGeom prst="rect">
            <a:avLst/>
          </a:prstGeom>
          <a:noFill/>
          <a:ln/>
        </p:spPr>
        <p:txBody>
          <a:bodyPr wrap="square" lIns="0" tIns="0" rIns="0" bIns="0" rtlCol="0" anchor="ctr"/>
          <a:lstStyle/>
          <a:p>
            <a:pPr marL="0" indent="0">
              <a:buNone/>
            </a:pPr>
            <a:r>
              <a:rPr lang="en-US" sz="1550" b="1" dirty="0">
                <a:solidFill>
                  <a:srgbClr val="FFFFFF"/>
                </a:solidFill>
                <a:latin typeface="Arial" pitchFamily="34" charset="0"/>
                <a:ea typeface="Arial" pitchFamily="34" charset="-122"/>
                <a:cs typeface="Arial" pitchFamily="34" charset="-120"/>
              </a:rPr>
              <a:t>En continuo la probabilidad es área</a:t>
            </a:r>
            <a:endParaRPr lang="en-US" sz="1550" dirty="0"/>
          </a:p>
        </p:txBody>
      </p:sp>
      <p:sp>
        <p:nvSpPr>
          <p:cNvPr id="9" name="Text 7"/>
          <p:cNvSpPr/>
          <p:nvPr/>
        </p:nvSpPr>
        <p:spPr>
          <a:xfrm>
            <a:off x="1188720" y="2496312"/>
            <a:ext cx="6858000" cy="548640"/>
          </a:xfrm>
          <a:prstGeom prst="rect">
            <a:avLst/>
          </a:prstGeom>
          <a:noFill/>
          <a:ln/>
        </p:spPr>
        <p:txBody>
          <a:bodyPr wrap="square" lIns="0" tIns="0" rIns="0" bIns="0" rtlCol="0" anchor="ctr"/>
          <a:lstStyle/>
          <a:p>
            <a:pPr marL="0" indent="0">
              <a:lnSpc>
                <a:spcPts val="1600"/>
              </a:lnSpc>
              <a:buNone/>
            </a:pPr>
            <a:r>
              <a:rPr lang="en-US" sz="1200" dirty="0">
                <a:solidFill>
                  <a:srgbClr val="B9C9E8"/>
                </a:solidFill>
                <a:latin typeface="Arial" pitchFamily="34" charset="0"/>
                <a:ea typeface="Arial" pitchFamily="34" charset="-122"/>
                <a:cs typeface="Arial" pitchFamily="34" charset="-120"/>
              </a:rPr>
              <a:t>Los puntos valen cero; los tramos valen. Toda pregunta se traduce a un intervalo.</a:t>
            </a:r>
            <a:endParaRPr lang="en-US" sz="1200" dirty="0"/>
          </a:p>
        </p:txBody>
      </p:sp>
      <p:sp>
        <p:nvSpPr>
          <p:cNvPr id="10" name="Text 8"/>
          <p:cNvSpPr/>
          <p:nvPr/>
        </p:nvSpPr>
        <p:spPr>
          <a:xfrm>
            <a:off x="685800" y="3200400"/>
            <a:ext cx="457200" cy="365760"/>
          </a:xfrm>
          <a:prstGeom prst="rect">
            <a:avLst/>
          </a:prstGeom>
          <a:noFill/>
          <a:ln/>
        </p:spPr>
        <p:txBody>
          <a:bodyPr wrap="square" lIns="0" tIns="0" rIns="0" bIns="0" rtlCol="0" anchor="ctr"/>
          <a:lstStyle/>
          <a:p>
            <a:pPr marL="0" indent="0">
              <a:buNone/>
            </a:pPr>
            <a:r>
              <a:rPr lang="en-US" sz="1800" b="1" dirty="0">
                <a:solidFill>
                  <a:srgbClr val="E23C8A"/>
                </a:solidFill>
                <a:latin typeface="Arial" pitchFamily="34" charset="0"/>
                <a:ea typeface="Arial" pitchFamily="34" charset="-122"/>
                <a:cs typeface="Arial" pitchFamily="34" charset="-120"/>
              </a:rPr>
              <a:t>2</a:t>
            </a:r>
            <a:endParaRPr lang="en-US" sz="1800" dirty="0"/>
          </a:p>
        </p:txBody>
      </p:sp>
      <p:sp>
        <p:nvSpPr>
          <p:cNvPr id="11" name="Text 9"/>
          <p:cNvSpPr/>
          <p:nvPr/>
        </p:nvSpPr>
        <p:spPr>
          <a:xfrm>
            <a:off x="1188720" y="3200400"/>
            <a:ext cx="6949440" cy="320040"/>
          </a:xfrm>
          <a:prstGeom prst="rect">
            <a:avLst/>
          </a:prstGeom>
          <a:noFill/>
          <a:ln/>
        </p:spPr>
        <p:txBody>
          <a:bodyPr wrap="square" lIns="0" tIns="0" rIns="0" bIns="0" rtlCol="0" anchor="ctr"/>
          <a:lstStyle/>
          <a:p>
            <a:pPr marL="0" indent="0">
              <a:buNone/>
            </a:pPr>
            <a:r>
              <a:rPr lang="en-US" sz="1550" b="1" dirty="0">
                <a:solidFill>
                  <a:srgbClr val="FFFFFF"/>
                </a:solidFill>
                <a:latin typeface="Arial" pitchFamily="34" charset="0"/>
                <a:ea typeface="Arial" pitchFamily="34" charset="-122"/>
                <a:cs typeface="Arial" pitchFamily="34" charset="-120"/>
              </a:rPr>
              <a:t>La CDF es tu herramienta de trabajo</a:t>
            </a:r>
            <a:endParaRPr lang="en-US" sz="1550" dirty="0"/>
          </a:p>
        </p:txBody>
      </p:sp>
      <p:sp>
        <p:nvSpPr>
          <p:cNvPr id="12" name="Text 10"/>
          <p:cNvSpPr/>
          <p:nvPr/>
        </p:nvSpPr>
        <p:spPr>
          <a:xfrm>
            <a:off x="1188720" y="3547872"/>
            <a:ext cx="6858000" cy="548640"/>
          </a:xfrm>
          <a:prstGeom prst="rect">
            <a:avLst/>
          </a:prstGeom>
          <a:noFill/>
          <a:ln/>
        </p:spPr>
        <p:txBody>
          <a:bodyPr wrap="square" lIns="0" tIns="0" rIns="0" bIns="0" rtlCol="0" anchor="ctr"/>
          <a:lstStyle/>
          <a:p>
            <a:pPr marL="0" indent="0">
              <a:lnSpc>
                <a:spcPts val="1600"/>
              </a:lnSpc>
              <a:buNone/>
            </a:pPr>
            <a:r>
              <a:rPr lang="en-US" sz="1200" dirty="0">
                <a:solidFill>
                  <a:srgbClr val="B9C9E8"/>
                </a:solidFill>
                <a:latin typeface="Arial" pitchFamily="34" charset="0"/>
                <a:ea typeface="Arial" pitchFamily="34" charset="-122"/>
                <a:cs typeface="Arial" pitchFamily="34" charset="-120"/>
              </a:rPr>
              <a:t>F(b) − F(a) resuelve casi todo, y su inversa te da los percentiles con los que se decide.</a:t>
            </a:r>
            <a:endParaRPr lang="en-US" sz="1200" dirty="0"/>
          </a:p>
        </p:txBody>
      </p:sp>
      <p:sp>
        <p:nvSpPr>
          <p:cNvPr id="13" name="Text 11"/>
          <p:cNvSpPr/>
          <p:nvPr/>
        </p:nvSpPr>
        <p:spPr>
          <a:xfrm>
            <a:off x="685800" y="4251960"/>
            <a:ext cx="457200" cy="365760"/>
          </a:xfrm>
          <a:prstGeom prst="rect">
            <a:avLst/>
          </a:prstGeom>
          <a:noFill/>
          <a:ln/>
        </p:spPr>
        <p:txBody>
          <a:bodyPr wrap="square" lIns="0" tIns="0" rIns="0" bIns="0" rtlCol="0" anchor="ctr"/>
          <a:lstStyle/>
          <a:p>
            <a:pPr marL="0" indent="0">
              <a:buNone/>
            </a:pPr>
            <a:r>
              <a:rPr lang="en-US" sz="1800" b="1" dirty="0">
                <a:solidFill>
                  <a:srgbClr val="E23C8A"/>
                </a:solidFill>
                <a:latin typeface="Arial" pitchFamily="34" charset="0"/>
                <a:ea typeface="Arial" pitchFamily="34" charset="-122"/>
                <a:cs typeface="Arial" pitchFamily="34" charset="-120"/>
              </a:rPr>
              <a:t>3</a:t>
            </a:r>
            <a:endParaRPr lang="en-US" sz="1800" dirty="0"/>
          </a:p>
        </p:txBody>
      </p:sp>
      <p:sp>
        <p:nvSpPr>
          <p:cNvPr id="14" name="Text 12"/>
          <p:cNvSpPr/>
          <p:nvPr/>
        </p:nvSpPr>
        <p:spPr>
          <a:xfrm>
            <a:off x="1188720" y="4251960"/>
            <a:ext cx="6949440" cy="320040"/>
          </a:xfrm>
          <a:prstGeom prst="rect">
            <a:avLst/>
          </a:prstGeom>
          <a:noFill/>
          <a:ln/>
        </p:spPr>
        <p:txBody>
          <a:bodyPr wrap="square" lIns="0" tIns="0" rIns="0" bIns="0" rtlCol="0" anchor="ctr"/>
          <a:lstStyle/>
          <a:p>
            <a:pPr marL="0" indent="0">
              <a:buNone/>
            </a:pPr>
            <a:r>
              <a:rPr lang="en-US" sz="1550" b="1" dirty="0">
                <a:solidFill>
                  <a:srgbClr val="FFFFFF"/>
                </a:solidFill>
                <a:latin typeface="Arial" pitchFamily="34" charset="0"/>
                <a:ea typeface="Arial" pitchFamily="34" charset="-122"/>
                <a:cs typeface="Arial" pitchFamily="34" charset="-120"/>
              </a:rPr>
              <a:t>La distribución se elige por el mecanismo</a:t>
            </a:r>
            <a:endParaRPr lang="en-US" sz="1550" dirty="0"/>
          </a:p>
        </p:txBody>
      </p:sp>
      <p:sp>
        <p:nvSpPr>
          <p:cNvPr id="15" name="Text 13"/>
          <p:cNvSpPr/>
          <p:nvPr/>
        </p:nvSpPr>
        <p:spPr>
          <a:xfrm>
            <a:off x="1188720" y="4599432"/>
            <a:ext cx="6858000" cy="548640"/>
          </a:xfrm>
          <a:prstGeom prst="rect">
            <a:avLst/>
          </a:prstGeom>
          <a:noFill/>
          <a:ln/>
        </p:spPr>
        <p:txBody>
          <a:bodyPr wrap="square" lIns="0" tIns="0" rIns="0" bIns="0" rtlCol="0" anchor="ctr"/>
          <a:lstStyle/>
          <a:p>
            <a:pPr marL="0" indent="0">
              <a:lnSpc>
                <a:spcPts val="1600"/>
              </a:lnSpc>
              <a:buNone/>
            </a:pPr>
            <a:r>
              <a:rPr lang="en-US" sz="1200" dirty="0">
                <a:solidFill>
                  <a:srgbClr val="B9C9E8"/>
                </a:solidFill>
                <a:latin typeface="Arial" pitchFamily="34" charset="0"/>
                <a:ea typeface="Arial" pitchFamily="34" charset="-122"/>
                <a:cs typeface="Arial" pitchFamily="34" charset="-120"/>
              </a:rPr>
              <a:t>Riesgo constante → exponencial. Riesgo que cambia con la edad → Weibull. Magnitud con cola → lognormal.</a:t>
            </a:r>
            <a:endParaRPr lang="en-US" sz="1200" dirty="0"/>
          </a:p>
        </p:txBody>
      </p:sp>
      <p:sp>
        <p:nvSpPr>
          <p:cNvPr id="16" name="Shape 14"/>
          <p:cNvSpPr/>
          <p:nvPr/>
        </p:nvSpPr>
        <p:spPr>
          <a:xfrm>
            <a:off x="8549640" y="2148840"/>
            <a:ext cx="3090672" cy="1737360"/>
          </a:xfrm>
          <a:prstGeom prst="roundRect">
            <a:avLst>
              <a:gd name="adj" fmla="val 4211"/>
            </a:avLst>
          </a:prstGeom>
          <a:solidFill>
            <a:srgbClr val="172E58"/>
          </a:solidFill>
          <a:ln w="12700">
            <a:solidFill>
              <a:srgbClr val="2A4272"/>
            </a:solidFill>
            <a:prstDash val="solid"/>
          </a:ln>
        </p:spPr>
      </p:sp>
      <p:sp>
        <p:nvSpPr>
          <p:cNvPr id="17" name="Text 15"/>
          <p:cNvSpPr/>
          <p:nvPr/>
        </p:nvSpPr>
        <p:spPr>
          <a:xfrm>
            <a:off x="8796528" y="2286000"/>
            <a:ext cx="2651760" cy="274320"/>
          </a:xfrm>
          <a:prstGeom prst="rect">
            <a:avLst/>
          </a:prstGeom>
          <a:noFill/>
          <a:ln/>
        </p:spPr>
        <p:txBody>
          <a:bodyPr wrap="square" lIns="0" tIns="0" rIns="0" bIns="0" rtlCol="0" anchor="ctr"/>
          <a:lstStyle/>
          <a:p>
            <a:pPr marL="0" indent="0">
              <a:buNone/>
            </a:pPr>
            <a:r>
              <a:rPr lang="en-US" sz="1250" b="1" dirty="0">
                <a:solidFill>
                  <a:srgbClr val="E23C8A"/>
                </a:solidFill>
                <a:latin typeface="Arial" pitchFamily="34" charset="0"/>
                <a:ea typeface="Arial" pitchFamily="34" charset="-122"/>
                <a:cs typeface="Arial" pitchFamily="34" charset="-120"/>
              </a:rPr>
              <a:t>Reto para la próxima</a:t>
            </a:r>
            <a:endParaRPr lang="en-US" sz="1250" dirty="0"/>
          </a:p>
        </p:txBody>
      </p:sp>
      <p:sp>
        <p:nvSpPr>
          <p:cNvPr id="18" name="Text 16"/>
          <p:cNvSpPr/>
          <p:nvPr/>
        </p:nvSpPr>
        <p:spPr>
          <a:xfrm>
            <a:off x="8796528" y="2633472"/>
            <a:ext cx="2606040" cy="1097280"/>
          </a:xfrm>
          <a:prstGeom prst="rect">
            <a:avLst/>
          </a:prstGeom>
          <a:noFill/>
          <a:ln/>
        </p:spPr>
        <p:txBody>
          <a:bodyPr wrap="square" lIns="0" tIns="0" rIns="0" bIns="0" rtlCol="0" anchor="ctr"/>
          <a:lstStyle/>
          <a:p>
            <a:pPr marL="0" indent="0">
              <a:lnSpc>
                <a:spcPts val="1500"/>
              </a:lnSpc>
              <a:buNone/>
            </a:pPr>
            <a:r>
              <a:rPr lang="en-US" sz="1150" dirty="0">
                <a:solidFill>
                  <a:srgbClr val="D6E2F7"/>
                </a:solidFill>
                <a:latin typeface="Arial" pitchFamily="34" charset="0"/>
                <a:ea typeface="Arial" pitchFamily="34" charset="-122"/>
                <a:cs typeface="Arial" pitchFamily="34" charset="-120"/>
              </a:rPr>
              <a:t>Toma cualquier serie de tiempos de tu trabajo, calcula el p95 y compáralo con la media. Trae el ratio entre ambos.</a:t>
            </a:r>
            <a:endParaRPr lang="en-US" sz="1150" dirty="0"/>
          </a:p>
        </p:txBody>
      </p:sp>
      <p:sp>
        <p:nvSpPr>
          <p:cNvPr id="19" name="Shape 17"/>
          <p:cNvSpPr/>
          <p:nvPr/>
        </p:nvSpPr>
        <p:spPr>
          <a:xfrm>
            <a:off x="8549640" y="4069080"/>
            <a:ext cx="3090672" cy="1188720"/>
          </a:xfrm>
          <a:prstGeom prst="roundRect">
            <a:avLst>
              <a:gd name="adj" fmla="val 6154"/>
            </a:avLst>
          </a:prstGeom>
          <a:solidFill>
            <a:srgbClr val="172E58"/>
          </a:solidFill>
          <a:ln w="12700">
            <a:solidFill>
              <a:srgbClr val="2A4272"/>
            </a:solidFill>
            <a:prstDash val="solid"/>
          </a:ln>
        </p:spPr>
      </p:sp>
      <p:sp>
        <p:nvSpPr>
          <p:cNvPr id="20" name="Text 18"/>
          <p:cNvSpPr/>
          <p:nvPr/>
        </p:nvSpPr>
        <p:spPr>
          <a:xfrm>
            <a:off x="8796528" y="4206240"/>
            <a:ext cx="2651760" cy="274320"/>
          </a:xfrm>
          <a:prstGeom prst="rect">
            <a:avLst/>
          </a:prstGeom>
          <a:noFill/>
          <a:ln/>
        </p:spPr>
        <p:txBody>
          <a:bodyPr wrap="square" lIns="0" tIns="0" rIns="0" bIns="0" rtlCol="0" anchor="ctr"/>
          <a:lstStyle/>
          <a:p>
            <a:pPr marL="0" indent="0">
              <a:buNone/>
            </a:pPr>
            <a:r>
              <a:rPr lang="en-US" sz="1250" b="1" dirty="0">
                <a:solidFill>
                  <a:srgbClr val="E23C8A"/>
                </a:solidFill>
                <a:latin typeface="Arial" pitchFamily="34" charset="0"/>
                <a:ea typeface="Arial" pitchFamily="34" charset="-122"/>
                <a:cs typeface="Arial" pitchFamily="34" charset="-120"/>
              </a:rPr>
              <a:t>Clase 3</a:t>
            </a:r>
            <a:endParaRPr lang="en-US" sz="1250" dirty="0"/>
          </a:p>
        </p:txBody>
      </p:sp>
      <p:sp>
        <p:nvSpPr>
          <p:cNvPr id="21" name="Text 19"/>
          <p:cNvSpPr/>
          <p:nvPr/>
        </p:nvSpPr>
        <p:spPr>
          <a:xfrm>
            <a:off x="8796528" y="4526280"/>
            <a:ext cx="2606040" cy="640080"/>
          </a:xfrm>
          <a:prstGeom prst="rect">
            <a:avLst/>
          </a:prstGeom>
          <a:noFill/>
          <a:ln/>
        </p:spPr>
        <p:txBody>
          <a:bodyPr wrap="square" lIns="0" tIns="0" rIns="0" bIns="0" rtlCol="0" anchor="ctr"/>
          <a:lstStyle/>
          <a:p>
            <a:pPr marL="0" indent="0">
              <a:lnSpc>
                <a:spcPts val="1500"/>
              </a:lnSpc>
              <a:buNone/>
            </a:pPr>
            <a:r>
              <a:rPr lang="en-US" sz="1150" dirty="0">
                <a:solidFill>
                  <a:srgbClr val="D6E2F7"/>
                </a:solidFill>
                <a:latin typeface="Arial" pitchFamily="34" charset="0"/>
                <a:ea typeface="Arial" pitchFamily="34" charset="-122"/>
                <a:cs typeface="Arial" pitchFamily="34" charset="-120"/>
              </a:rPr>
              <a:t>La normal y sus derivadas: por qué aparece en todas partes aunque nadie la haya invitado.</a:t>
            </a:r>
            <a:endParaRPr lang="en-US" sz="1150" dirty="0"/>
          </a:p>
        </p:txBody>
      </p:sp>
      <p:sp>
        <p:nvSpPr>
          <p:cNvPr id="22" name="Text 20"/>
          <p:cNvSpPr/>
          <p:nvPr/>
        </p:nvSpPr>
        <p:spPr>
          <a:xfrm>
            <a:off x="685800" y="5897880"/>
            <a:ext cx="8229600" cy="274320"/>
          </a:xfrm>
          <a:prstGeom prst="rect">
            <a:avLst/>
          </a:prstGeom>
          <a:noFill/>
          <a:ln/>
        </p:spPr>
        <p:txBody>
          <a:bodyPr wrap="square" lIns="0" tIns="0" rIns="0" bIns="0" rtlCol="0" anchor="ctr"/>
          <a:lstStyle/>
          <a:p>
            <a:pPr marL="0" indent="0">
              <a:buNone/>
            </a:pPr>
            <a:r>
              <a:rPr lang="en-US" sz="1000" dirty="0">
                <a:solidFill>
                  <a:srgbClr val="6E85B5"/>
                </a:solidFill>
                <a:latin typeface="Arial" pitchFamily="34" charset="0"/>
                <a:ea typeface="Arial" pitchFamily="34" charset="-122"/>
                <a:cs typeface="Arial" pitchFamily="34" charset="-120"/>
              </a:rPr>
              <a:t>Estadística Descriptiva e Inferencial · Módulo 1 · Clase 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TotalTime>
  <Words>3708</Words>
  <Application>Microsoft Macintosh PowerPoint</Application>
  <PresentationFormat>Widescreen</PresentationFormat>
  <Paragraphs>329</Paragraphs>
  <Slides>18</Slides>
  <Notes>18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18</vt:i4>
      </vt:variant>
    </vt:vector>
  </HeadingPairs>
  <TitlesOfParts>
    <vt:vector size="20"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2 — Variables aleatorias continuas</dc:title>
  <dc:subject>PptxGenJS Presentation</dc:subject>
  <dc:creator>Rodrigo</dc:creator>
  <cp:lastModifiedBy>Josef Rodriguez</cp:lastModifiedBy>
  <cp:revision>2</cp:revision>
  <dcterms:created xsi:type="dcterms:W3CDTF">2026-08-03T14:42:53Z</dcterms:created>
  <dcterms:modified xsi:type="dcterms:W3CDTF">2026-08-04T02:49:29Z</dcterms:modified>
</cp:coreProperties>
</file>