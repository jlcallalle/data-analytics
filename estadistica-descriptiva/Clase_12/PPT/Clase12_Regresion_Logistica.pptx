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conexión: 'la clase pasada predijimos cuántos días. Hoy predecimos sí o no: ¿entra en mora? ¿es fraude? ¿sobrevivió?'. Y menciona de entrada que este es el modelo de los scorecards, porque engancha a cualquiera que trabaje en riesgo. Avisa también de que los datos de hoy son los del proyecto final, así que conviene conocerlos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lee de arriba abajo en un minuto. La fila que hay que subrayar es la última: en la regresión lineal no había nada que decidir; aquí sí, y esa decisión es de negocio. Es el bloque 4 y el más importante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vas retrasado, el bloque 5 (ROC) se puede comprimir a tres minutos: basta con el número del AUC y su interpretación. El bloque 4 no se toca.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tasas crudas son el ancla de toda la clase: 74 contra 19 es una diferencia enorme y se ve sin estadística. Pregunta al grupo por qué creen que pasó eso: sale solo lo de 'mujeres y niños primero', y sirve para recordar que el modelo describe lo que pasó, no explica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preguntando: '¿por qué no usamos simplemente la recta de la clase pasada? Survived vale 0 o 1, es un número'. Es una pregunta razonable y merece una respuesta concreta, no un 'porque no se hace'. El caso del hombre de 74 años con probabilidad −14 % es el argumento. Y el remate importa: en la Clase 10 el problema aparecía al extrapolar; aquí aparece con datos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 conceptualmente: la parte de z es la MISMA recta de la clase pasada. Lo único nuevo es la función que la envuelve. Si alguien pregunta de dónde sale la fórmula, la respuesta honesta para esta clase es: es la función más simple que cumple las tres propiedades de abajo. La derivación formal viene de las odds, y se ve en la slide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odds son la idea que cuesta, y la analogía de las apuestas ayuda: en el fútbol se dice '3 a 1', no '75 %'. Es la misma información expresada distinto. La tarjeta de abajo hay que decirla despacio y con las dos frases en voz alta: la diferencia entre 12 veces más odds y 12 veces más probable es enorme, y se confunde constantemente en informes.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 de 12.4 para el sexo es el número que se van a llevar de la clase. La nota del pie es importante porque van a comparar con statsmodels en algún momento y no van a cuadrar: sklearn aplica regularización L2 por defecto y encoge un poco los coeficientes. Con penalty=None se obtienen los mismos que statsmodels.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 la matriz en la pizarra antes de mostrarla: las cuatro casillas y qué significa cada una. La tarjeta magenta es la más importante de la slide y la que más se olvida en informes: una exactitud del 77 % suena bien hasta que sabes que la regla trivial da 62 %. En problemas desbalanceados —fraude, mora— eso es aún más brutal: si el 2 % es fraude, decir 'no es fraude' siempre acierta el 98 %.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las dos últimas columnas con el puntero, de arriba abajo: una baja, la otra sube. Siempre. Y después la pregunta que abre el debate: '¿cuál elegirían ustedes?'. La respuesta correcta es 'depende', y la slide siguiente lo aterriza con dos escenarios de su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es la que más conecta con su trabajo. Pregunta si alguien tiene un umbral en producción y si sabe quién lo eligió y con qué criterio. Casi siempre la respuesta es que se heredó, igual que las pruebas de la Clase 6. La frase final es la que quiero que se lleven: el analista aporta la curva, el negocio elige el punto. Eso también protege al analista: la elección del umbral no debería ser suya en solitario.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más valioso del AUC es su interpretación probabilística, que casi nadie conoce: es la probabilidad de que el modelo ordene correctamente a un par al azar. Y la ventaja práctica: NO depende del umbral, así que sirve para comparar modelos entre sí. Sobre el '&gt; 0.9 sospechoso': con datos reales de riesgo, un AUC de 0.95 casi siempre significa que se coló una variable que no debería estar, algo que ya contiene la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primero merece énfasis extra con un ejemplo de su mundo: en detección de fraude el desbalance es de 1 a 50 o peor, así que la exactitud es una métrica engañosa por construcción. Por eso en fraude se reportan recall y precisión, no exactitud.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3 es el que más se salta: mucha gente usa predict() directamente y se pierde el control del umbral. predict() es equivalente a predict_proba con umbral 0.5, y eso hay que saberlo. El paso 6 va en magenta porque es el único que no es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apéndice de iris es opcional y se puede dejar como tarea: son 5 minutos y muestra que la logística también hace multiclase. Recorre el aula durante el bloque 2: las odds son lo que más cuesta, y el paso de coeficiente a odds ratio con exp() se olvida.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números del día y después presenta el proyecto final con detalle: es el momento de explicarlo, porque acaban de trabajar con esos datos y saben exactamente qué se les pide. El punto de los 177 faltantes es el que más discusión genera: hoy usamos la mediana por simplicidad y en el proyecto tienen que pensar si eso es aceptable.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7516" y="435169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96835" y="43510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6154" y="435022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75474" y="434934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4793" y="4348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4347249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93431" y="434599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32750" y="434458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72070" y="434300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11389" y="434121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0708" y="433920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90027" y="43369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29346" y="433439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8666" y="43315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985" y="432831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432469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6623" y="43206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5942" y="431606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5262" y="43109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4581" y="430519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3900" y="429874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3219" y="429152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2538" y="428344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61858" y="42744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1177" y="4264309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0496" y="4253037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79815" y="424047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9134" y="422648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8454" y="42109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7773" y="419369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7092" y="4174589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6411" y="41534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15730" y="413019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5050" y="4104595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94369" y="4076516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33688" y="4045815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73007" y="401236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12326" y="397603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1646" y="393675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0965" y="3894463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30284" y="384913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9603" y="380078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08922" y="374949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48242" y="36953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87561" y="3638632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26880" y="3579488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66199" y="35182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05518" y="34552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44838" y="3390881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84157" y="3325594"/>
            <a:ext cx="64008" cy="64008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23476" y="325983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62795" y="319407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02114" y="312879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41434" y="30644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80753" y="30014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20072" y="294018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59391" y="288104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98710" y="282429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38030" y="277018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77349" y="271889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16668" y="267054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55987" y="262520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95306" y="258291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34626" y="254363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73945" y="250731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13264" y="2473857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52583" y="244315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91902" y="2415077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31222" y="238947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70541" y="236619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09860" y="2345083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49179" y="232598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88498" y="230873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27818" y="229318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67137" y="227919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06456" y="226663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45775" y="2255363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85094" y="224526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4414" y="2236226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63733" y="222814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703052" y="222092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742371" y="221448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81690" y="220873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21010" y="220360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60329" y="2199044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899648" y="219497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938967" y="219136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978286" y="2188141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017606" y="218527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056925" y="218273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096244" y="2180469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135563" y="2178458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174882" y="21766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214202" y="217508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253521" y="217367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92840" y="2172423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332159" y="217131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1371478" y="2170325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410798" y="2169450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50117" y="21686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589520" y="4389120"/>
            <a:ext cx="3931920" cy="0"/>
          </a:xfrm>
          <a:prstGeom prst="line">
            <a:avLst/>
          </a:prstGeom>
          <a:noFill/>
          <a:ln w="12700">
            <a:solidFill>
              <a:srgbClr val="2E5AA8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7589520" y="2194560"/>
            <a:ext cx="3931920" cy="0"/>
          </a:xfrm>
          <a:prstGeom prst="line">
            <a:avLst/>
          </a:prstGeom>
          <a:noFill/>
          <a:ln w="12700">
            <a:solidFill>
              <a:srgbClr val="2E5AA8"/>
            </a:solidFill>
            <a:prstDash val="dash"/>
          </a:ln>
        </p:spPr>
      </p:sp>
      <p:sp>
        <p:nvSpPr>
          <p:cNvPr id="104" name="Text 102"/>
          <p:cNvSpPr/>
          <p:nvPr/>
        </p:nvSpPr>
        <p:spPr>
          <a:xfrm>
            <a:off x="7269480" y="20756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7269480" y="42702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7589520" y="4526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nunca sale de [0, 1]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85800" y="118872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85800" y="1188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CLASE 12</a:t>
            </a:r>
            <a:endParaRPr lang="en-US" sz="1150" dirty="0"/>
          </a:p>
        </p:txBody>
      </p:sp>
      <p:sp>
        <p:nvSpPr>
          <p:cNvPr id="109" name="Text 107"/>
          <p:cNvSpPr/>
          <p:nvPr/>
        </p:nvSpPr>
        <p:spPr>
          <a:xfrm>
            <a:off x="685800" y="173736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sí o un no</a:t>
            </a:r>
            <a:endParaRPr lang="en-US" sz="4200" dirty="0"/>
          </a:p>
        </p:txBody>
      </p:sp>
      <p:sp>
        <p:nvSpPr>
          <p:cNvPr id="110" name="Text 108"/>
          <p:cNvSpPr/>
          <p:nvPr/>
        </p:nvSpPr>
        <p:spPr>
          <a:xfrm>
            <a:off x="713232" y="35661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y validación de modelos de clasificación.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que está detrás de casi todo scorecard de crédito.</a:t>
            </a:r>
            <a:endParaRPr lang="en-US" sz="1500" dirty="0"/>
          </a:p>
        </p:txBody>
      </p:sp>
      <p:sp>
        <p:nvSpPr>
          <p:cNvPr id="111" name="Text 109"/>
          <p:cNvSpPr/>
          <p:nvPr/>
        </p:nvSpPr>
        <p:spPr>
          <a:xfrm>
            <a:off x="71323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700" dirty="0"/>
          </a:p>
        </p:txBody>
      </p:sp>
      <p:sp>
        <p:nvSpPr>
          <p:cNvPr id="112" name="Text 110"/>
          <p:cNvSpPr/>
          <p:nvPr/>
        </p:nvSpPr>
        <p:spPr>
          <a:xfrm>
            <a:off x="71323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sesión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304495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pasajeros</a:t>
            </a:r>
            <a:endParaRPr lang="en-US" sz="1700" dirty="0"/>
          </a:p>
        </p:txBody>
      </p:sp>
      <p:sp>
        <p:nvSpPr>
          <p:cNvPr id="114" name="Text 112"/>
          <p:cNvSpPr/>
          <p:nvPr/>
        </p:nvSpPr>
        <p:spPr>
          <a:xfrm>
            <a:off x="304495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Titanic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537667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</a:t>
            </a:r>
            <a:endParaRPr lang="en-US" sz="1700" dirty="0"/>
          </a:p>
        </p:txBody>
      </p:sp>
      <p:sp>
        <p:nvSpPr>
          <p:cNvPr id="116" name="Text 114"/>
          <p:cNvSpPr/>
          <p:nvPr/>
        </p:nvSpPr>
        <p:spPr>
          <a:xfrm>
            <a:off x="537667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decisión de negocio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713232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37 horas académicas · 14 sesiones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predecir números a predecir etiquetas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de fondo es la misma. Cambian la forma del modelo y, sobre todo, cómo se valida.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11 · regresión lineal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12 · regresión logística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predice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número: días, soles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PROBABILIDAD de 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recta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curva en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coeficientes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directo en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ratio, con exp()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valida con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RMSE, 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confusión,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decidir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UMBRAL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09160"/>
            <a:ext cx="5468112" cy="1481328"/>
          </a:xfrm>
          <a:prstGeom prst="roundRect">
            <a:avLst>
              <a:gd name="adj" fmla="val 370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9743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8737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en tu trabajo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523951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que se decide en riesgo es un sí o un no: aprobar o rechazar, alertar o no alertar, bloquear o dejar pasar.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 eso se modela con lo de hoy.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4709160"/>
            <a:ext cx="5468112" cy="1481328"/>
          </a:xfrm>
          <a:prstGeom prst="roundRect">
            <a:avLst>
              <a:gd name="adj" fmla="val 370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97433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87375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hoy: el Titanic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19088" y="523951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pasajeros, y sabemos quiénes sobrevivieron. Sobrevivió el 38.4 %.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los mismos datos del proyecto final, así que conviene conocerlos bien.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repartimos los 120 minutos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formato de las últimas clases: se ve el problema, se entiende la idea, y se comprueba con código.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766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93776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datos y las tasas crudas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la recta no sirve · la curva en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Odds, odds ratio y los coeficientes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matriz de confusión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umbral lo cambia todo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ROC y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Laboratorio en Colab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y proyecto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2011680"/>
            <a:ext cx="4096512" cy="1965960"/>
          </a:xfrm>
          <a:prstGeom prst="roundRect">
            <a:avLst>
              <a:gd name="adj" fmla="val 279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90688" y="231343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221284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te llevas hoy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90688" y="2606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 interpretar una logística.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coeficientes como odds ratio.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matriz de confusión.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umbral con criterio.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4160520"/>
            <a:ext cx="4096512" cy="2029968"/>
          </a:xfrm>
          <a:prstGeom prst="roundRect">
            <a:avLst>
              <a:gd name="adj" fmla="val 27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90688" y="44256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8432" y="4325112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4 es el importante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90688" y="4690872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1 a 3 son técnica: se aprenden y se aplican.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 es criterio, y es el que separa a un analista de una biblioteca de Python: el umbral no lo decide el modelo.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pasajeros, y sabemos quiénes sobrevivieron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modelar nada, mira las tasas crudas: ya cuentan casi toda la historia.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38.4 %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sobrevivió en total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de 891 pasajeros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74.2 %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29768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mujeres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314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0" y="21031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18.9 %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58952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hombres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577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10607040" cy="0"/>
          </a:xfrm>
          <a:prstGeom prst="line">
            <a:avLst/>
          </a:prstGeom>
          <a:noFill/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clase del billete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clase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463040" y="4041648"/>
            <a:ext cx="2880360" cy="384048"/>
          </a:xfrm>
          <a:prstGeom prst="rect">
            <a:avLst/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312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63.0 %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clase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463040" y="4590288"/>
            <a:ext cx="2162556" cy="384048"/>
          </a:xfrm>
          <a:prstGeom prst="rect">
            <a:avLst/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5324" y="45902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47.3 %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38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clase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63040" y="5138928"/>
            <a:ext cx="1106424" cy="384048"/>
          </a:xfrm>
          <a:prstGeom prst="rect">
            <a:avLst/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51389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24.2 %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3703320"/>
            <a:ext cx="4690872" cy="1463040"/>
          </a:xfrm>
          <a:prstGeom prst="roundRect">
            <a:avLst>
              <a:gd name="adj" fmla="val 375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396849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386791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se ve sin modelar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96328" y="423367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sexo separa muchísimo: 74 % contra 19 %.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también: de 63 % a 24 %.</a:t>
            </a: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endParaRPr lang="en-US" sz="11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tiene que, como mínimo, capturar esto.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0" y="5303520"/>
            <a:ext cx="4690872" cy="868680"/>
          </a:xfrm>
          <a:prstGeom prst="roundRect">
            <a:avLst>
              <a:gd name="adj" fmla="val 6316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55229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34072" y="542239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 detalle para el proyecto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96328" y="5715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tiene 177 valores faltantes de 891. Hoy los rellenamos con la mediana; en el proyecto habrá que pensarlo mejor.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usamos la recta de la clase pasada?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Probémoslo: Survived vale 0 o 1, así que en principio se podría ajustar una recta.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68112" cy="1737360"/>
          </a:xfrm>
          <a:prstGeom prst="roundRect">
            <a:avLst>
              <a:gd name="adj" fmla="val 3158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221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devuelve la regresión lineal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mínima  =  −0.143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máxima  =  1.087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3310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los 891 pasajeros reciben una probabilidad fuera del rango [0, 1].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468112" cy="1737360"/>
          </a:xfrm>
          <a:prstGeom prst="roundRect">
            <a:avLst>
              <a:gd name="adj" fmla="val 3158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3225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2219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6060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prediciendo una PROBABILIDAD, y una probabilidad tiene que estar entre 0 y 1.</a:t>
            </a: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recta no lo sabe: sigue subiendo y bajando sin límite.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2245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41239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más extremo de nuestros datos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471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hombre de tercera clase, de 74 años: la recta le asigna una probabilidad de sobrevivir de −14.3 %. Una probabilidad negativa no significa absolutamente nada.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541324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531266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ojo con esto, que es peor de lo que parece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56601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problema de extrapolar que vimos en la Clase 10 con los tiempos negativos. Pero aquí no aparece fuera del rango de los datos: aparece DENTRO, con pasajeros que existieron de verdad.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LA SOLUCIÓN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que aplasta cualquier número al rango [0, 1]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sigmoide o función logística, y es todo lo que distingue a este modelo del anterior.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=  1 / ( 1 + e⁻ᶻ 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z = a + b₁x₁ + b₂x₂ + …  es exactamente la recta de la Clase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527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4343400"/>
            <a:ext cx="5605272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42336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3154680"/>
            <a:ext cx="5605272" cy="0"/>
          </a:xfrm>
          <a:prstGeom prst="line">
            <a:avLst/>
          </a:prstGeom>
          <a:noFill/>
          <a:ln w="19050">
            <a:solidFill>
              <a:srgbClr val="E6115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687568" y="30449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605272" cy="0"/>
          </a:xfrm>
          <a:prstGeom prst="line">
            <a:avLst/>
          </a:prstGeom>
          <a:noFill/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185623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37676" y="1965960"/>
            <a:ext cx="0" cy="2377440"/>
          </a:xfrm>
          <a:prstGeom prst="line">
            <a:avLst/>
          </a:prstGeom>
          <a:noFill/>
          <a:ln w="19050">
            <a:solidFill>
              <a:srgbClr val="E6115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005779" y="430826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2490" y="430764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9200" y="430696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5911" y="430621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2622" y="430538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9332" y="430446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043" y="430345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2753" y="430233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9464" y="430109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6175" y="429973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2885" y="429822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596" y="429656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6306" y="429473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13017" y="429271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59728" y="429047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06438" y="428801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3149" y="428530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9859" y="428231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46570" y="427901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93281" y="427538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39991" y="427137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86702" y="426697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33412" y="426211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0123" y="425677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26834" y="425090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73544" y="424445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0255" y="423735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6965" y="422957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3676" y="422102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0387" y="421165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07097" y="420138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53808" y="419014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00518" y="417785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47229" y="416442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93940" y="414976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40650" y="413379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87361" y="411640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34071" y="409750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80782" y="407698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27493" y="405476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74203" y="403074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20914" y="400481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67624" y="397689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14335" y="394690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61046" y="391477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07756" y="388043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54467" y="384384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01177" y="380497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888" y="376382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94599" y="372039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41309" y="367474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88020" y="362693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34730" y="357707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81441" y="352527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28152" y="347170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74862" y="341655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21573" y="336004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68283" y="330240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14994" y="324389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61705" y="318480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08415" y="312541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55126" y="306603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01836" y="300694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48547" y="294843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95258" y="289079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41968" y="283427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88679" y="277913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35389" y="272556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82100" y="267376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228811" y="262389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75521" y="257609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22232" y="253044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68942" y="248701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15653" y="244586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62364" y="240699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09074" y="237040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555785" y="233606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602495" y="230393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649206" y="227394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695917" y="224602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42627" y="222009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89338" y="219607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836048" y="217385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82759" y="215333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29470" y="213443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76180" y="211704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022891" y="210107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69601" y="208641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116312" y="207298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163023" y="206069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209733" y="204945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56444" y="203918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03154" y="202981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349865" y="202126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396576" y="201348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443286" y="200638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489997" y="199993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536707" y="199406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583418" y="198872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630129" y="198386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676839" y="197946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723550" y="197545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770260" y="197182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816971" y="196852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863682" y="196553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910392" y="1962820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957103" y="196035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003813" y="195812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050524" y="195610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097235" y="1954272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143945" y="1952611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190656" y="195110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237366" y="1949743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284077" y="1948507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330788" y="1947389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377498" y="1946376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424209" y="194545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1470919" y="194462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517630" y="1943875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564341" y="1943194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1611051" y="1942578"/>
            <a:ext cx="58522" cy="5852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563356" y="43982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01568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1/(1+e⁻ᶻ)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seguro que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punto medio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 seguro que sí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140" name="Shape 137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804672" y="532180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1042416" y="522122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propiedades que hacen que funcione</a:t>
            </a:r>
            <a:endParaRPr lang="en-US" sz="1400" dirty="0"/>
          </a:p>
        </p:txBody>
      </p:sp>
      <p:sp>
        <p:nvSpPr>
          <p:cNvPr id="143" name="Text 140"/>
          <p:cNvSpPr/>
          <p:nvPr/>
        </p:nvSpPr>
        <p:spPr>
          <a:xfrm>
            <a:off x="804672" y="55686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 da exactamente 0.5, el punto medio.   ·   z muy negativo se acerca a 0 pero nunca llega.   ·   z muy positivo se acerca a 1 pero nunca llega.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probabilidad siempre queda dentro del rango: por construcción, no por suerte.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Odds: la forma en que este modelo mide las cosas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interpretar los coeficientes hace falta esta idea, que viene de las apuestas.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 =  p / (1 − p)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a uno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a uno a favor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a cuatro en contra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65960"/>
          <a:ext cx="56052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9476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hombres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035040" y="3474720"/>
            <a:ext cx="5605272" cy="1051560"/>
          </a:xfrm>
          <a:prstGeom prst="roundRect">
            <a:avLst>
              <a:gd name="adj" fmla="val 5217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63640" y="34747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 =  2.88 / 0.23  =  12.3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491032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42416" y="4809744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aquí está el error más común del tema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04672" y="5157216"/>
            <a:ext cx="10515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mujeres tenían 12 veces más ODDS de sobrevivir.»   ← correcto</a:t>
            </a: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«Las mujeres tenían 12 veces más PROBABILIDAD de sobrevivir.»   ← falso</a:t>
            </a: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endParaRPr lang="en-US" sz="1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era solo 3.9 veces mayor: 74 % contra 19 %. Odds y probabilidad no son lo mismo.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se leen con exp()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Vienen en escala de log-odds, que no dice nada. Al exponenciarlos se vuelven odds ratio.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  =  e ^ coeficiente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754880"/>
                <a:gridCol w="23134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lee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mujer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 mujer multiplica las odds por 12.4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mucho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clase peor las divide por 3.1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año las reduce un 3.6 %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poco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617720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48371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47365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lectura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" y="50292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&gt; 1 aumenta las odds  ·  OR = 1 no cambia nada  ·  OR &lt; 1 las reduce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4617720"/>
            <a:ext cx="5468112" cy="96012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19088" y="48371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56832" y="4736592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vuelve la frase de la Clase 11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19088" y="50292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«…manteniendo constantes las demás variables». Misma idea, ahora en escala de odds.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71500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OR crudo del sexo era 12.35 y el del modelo es 12.43. Difieren porque el del modelo controla clase y edad — y porque scikit-learn regulariza por defecto.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resultados posibles, y dos de ellos son errores distintos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Entrenamos con 623 pasajeros y evaluamos con los 268 que el modelo nunca vio. Umbral: 0.5.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predijo MURIÓ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0" y="2020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predijo VIVIÓ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 MURIÓ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17830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realmente VIVIÓ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286000" cy="777240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331720"/>
            <a:ext cx="2286000" cy="77724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38658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0" y="2807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2286000" cy="777240"/>
          </a:xfrm>
          <a:prstGeom prst="rect">
            <a:avLst/>
          </a:prstGeom>
          <a:solidFill>
            <a:srgbClr val="FFE9F1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0" y="3584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3108960"/>
            <a:ext cx="2286000" cy="777240"/>
          </a:xfrm>
          <a:prstGeom prst="rect">
            <a:avLst/>
          </a:prstGeom>
          <a:solidFill>
            <a:srgbClr val="E3F5EC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0" y="3584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5943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41879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4187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 lo que predije, cuánto acerté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681728"/>
            <a:ext cx="5943600" cy="493776"/>
          </a:xfrm>
          <a:prstGeom prst="roundRect">
            <a:avLst>
              <a:gd name="adj" fmla="val 11111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54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47548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0.6875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4754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que dije que vivían, cuántos vivieron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48656"/>
            <a:ext cx="5943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21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5321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5321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que vivieron, a cuántos detecté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20840" y="4114800"/>
            <a:ext cx="4919472" cy="1060704"/>
          </a:xfrm>
          <a:prstGeom prst="roundRect">
            <a:avLst>
              <a:gd name="adj" fmla="val 5172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67728" y="43616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4261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errores NO son iguales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67728" y="4590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falsos positivos y 26 falsos negativos. En el Titanic da igual; en fraude o en crédito, uno de los dos cuesta mucho más.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720840" y="5285232"/>
            <a:ext cx="4919472" cy="914400"/>
          </a:xfrm>
          <a:prstGeom prst="roundRect">
            <a:avLst>
              <a:gd name="adj" fmla="val 6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7728" y="550468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05472" y="5404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que nunca hay que olvidar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67728" y="569671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«murió» para todos acertaría el 61.6 %. El modelo acierta 77.2 %: la mejora real son 15.7 puntos.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EL CLÍMAX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0.5 no tiene nada de sagrado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solo el valor por defecto. Y moverlo cambia por completo el tipo de errores que comete el modelo.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  <a:gridCol w="2011680"/>
                <a:gridCol w="1883664"/>
                <a:gridCol w="189280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2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26280"/>
            <a:ext cx="5468112" cy="1143000"/>
          </a:xfrm>
          <a:prstGeom prst="roundRect">
            <a:avLst>
              <a:gd name="adj" fmla="val 48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4773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67258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últimas columnas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500176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recall BAJA de 0.83 a 0.49.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precisión SUBE de 0.64 a 0.88.</a:t>
            </a:r>
            <a:endParaRPr lang="en-US" sz="11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se mueven en direcciones opuestas.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526280"/>
            <a:ext cx="5468112" cy="1143000"/>
          </a:xfrm>
          <a:prstGeom prst="roundRect">
            <a:avLst>
              <a:gd name="adj" fmla="val 48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19088" y="4773168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4672584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inevitable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19088" y="500176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bajo: dice «sí» con facilidad, detecta a casi todos pero se equivoca mucho.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alto: solo dice «sí» cuando está seguro, casi no se equivoca pero se le escapan muchos.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779008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577900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umbral «correcto». Existe el umbral adecuado para tu problema, y eso depende de cuál de los dos errores cuesta más.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escenarios de tu trabajo, dos umbrales opuestos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datos, el mismo modelo. Lo único que cambia es cuánto cuesta cada error.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2239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 para revisión humana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negativo (fraude que se escapa) cuesta miles de soles.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positivo (alerta en vano) cuesta 10 minutos de un analista.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4937760" cy="548640"/>
          </a:xfrm>
          <a:prstGeom prst="roundRect">
            <a:avLst>
              <a:gd name="adj" fmla="val 11667"/>
            </a:avLst>
          </a:prstGeom>
          <a:solidFill>
            <a:srgbClr val="12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BAJO  ·  0.3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Prefiero revisar de más. Recall alto, aunque la precisión baje.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42239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2128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40880" y="2194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automático de tarjetas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2788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positivo bloquea la tarjeta de un cliente legítimo en el supermercado.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furioso, y quizá se va del banco.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937760" cy="548640"/>
          </a:xfrm>
          <a:prstGeom prst="roundRect">
            <a:avLst>
              <a:gd name="adj" fmla="val 11667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ALTO  ·  0.7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bloqueo cuando estoy muy seguro. Precisión alta, aunque se escapen algunos.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5623560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522976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 de la clase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852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no es una decisión estadística: es una decisión de negocio. El analista aporta la CURVA de opciones; el negocio elige el PUNTO.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cómo evalúo el modelo sin depender de un umbral?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Probándolos todos. Eso es la curva ROC, y el AUC la resume en un número.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5349240"/>
            <a:ext cx="3200400" cy="-3200400"/>
          </a:xfrm>
          <a:prstGeom prst="line">
            <a:avLst/>
          </a:prstGeom>
          <a:noFill/>
          <a:ln w="25400">
            <a:solidFill>
              <a:srgbClr val="E6115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05840" y="5349240"/>
            <a:ext cx="134417" cy="-1616202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0257" y="3733038"/>
            <a:ext cx="249631" cy="-56007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3172968"/>
            <a:ext cx="294437" cy="-217627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84325" y="2955341"/>
            <a:ext cx="272034" cy="-278435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359" y="2676906"/>
            <a:ext cx="489661" cy="-272034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6020" y="2404872"/>
            <a:ext cx="800100" cy="-160020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244852"/>
            <a:ext cx="960120" cy="-96012"/>
          </a:xfrm>
          <a:prstGeom prst="line">
            <a:avLst/>
          </a:prstGeom>
          <a:noFill/>
          <a:ln w="38100">
            <a:solidFill>
              <a:srgbClr val="1A56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063" y="259461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375" y="255803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2029" y="2873045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2341" y="2836469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57961" y="365074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6B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8273" y="361416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5422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36301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4846320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prueba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bajo la curva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679399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3208" y="378561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3685032"/>
            <a:ext cx="607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interpreta, que es lo bonito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4032504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tomas al azar un pasajero que sobrevivió y otro que murió, hay un 83.8 % de probabilidad de que el modelo le asigne mayor probabilidad al que sobrevivió.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4892040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892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48920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azar puro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527608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5276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– 0.8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55080" y="52760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46320" y="5660136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1A56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56601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– 0.9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56601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 ← el nuestro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46320" y="6044184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E9EE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60441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55080" y="60441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excelente, y sospechoso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6235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de la curva es un umbral. Moverte por ella es el trade-off del bloque 4, dibujado.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LABORATORIO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errores que evita esta clase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aparecen en informes reales, todo el tiempo.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5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solo la exactitud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2585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95 % de las transacciones son legítimas, un modelo que diga «legítima» siempre acierta el 95 %. Y es completamente inútil. Compara siempre contra la regla trivial.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6301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35935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odds ratio con probabilidad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6301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 de 12 no significa 12 veces más probable. En nuestros datos la probabilidad solo era 3.9 veces mayor: 74 % contra 19 %.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001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9651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el umbral 0.5 sin pensarlo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50017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valor por defecto, no una decisión. Y la decisión depende de cuánto cuesta cada tipo de error, que es información del negocio, no del modelo.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es el más grave en riesgo y fraude, precisamente porque esos problemas suelen estar muy desbalanceados.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completo, y el código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slide que vas a fotografiar.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0482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los datos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4904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stratify para mantener la proporción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20840" y="20848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test_size=0.3, stratify=y)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254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2734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49040" y="2770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la lineal, otra clase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0840" y="27706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LogisticRegression(max_iter=1000).fit(X_train, y_train)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112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34198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probabilidades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49040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predicciones: probabilidades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34564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modelo.predict_proba(X_test)[:, 1]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970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61872" y="41056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49040" y="41422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exp() para pasar a odds ratio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41422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np.exp(modelo.coef_[0])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8828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47914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749040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Matriz, métricas y AUC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48280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confusion_matrix(...) · roc_auc_score(...)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1091672" cy="612648"/>
          </a:xfrm>
          <a:prstGeom prst="roundRect">
            <a:avLst>
              <a:gd name="adj" fmla="val 8955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568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61872" y="54772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umbral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749040" y="5513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negocio, no solo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20840" y="55138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(prob &gt;= umbral).astype(int)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61722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6172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pregunta que va antes de reportar:  ¿mi exactitud es mejor que predecir siempre la clase mayoritaria?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55 MIN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bloques y un apéndice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leen directo del repo del curso: no hay que descargar 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128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61872" y="21214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falla la recta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212140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0" y="2157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predicciones de probabilidad negativas y construyes la sigmoide.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077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28163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y odds ratio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43400" y="281635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03520" y="285292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las odds a mano y después lees los coeficientes del modelo.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602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35112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43400" y="351129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0" y="35478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Separas, entrenas y cuentas los cuatro tipos de resultado.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69664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2976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61872" y="42062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43400" y="420624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03520" y="424281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Recorres cinco umbrales y decides cuál usarías en dos escenarios de riesgo.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864608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9926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61872" y="49011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y AUC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343400" y="490118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0" y="49377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Dibujas la curva y ubicas en ella los umbrales del bloque anterior.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55955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6875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B6B87"/>
          </a:solidFill>
          <a:ln w="12700">
            <a:solidFill>
              <a:srgbClr val="5B6B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687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61872" y="55961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Apéndice: iris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343400" y="55961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03520" y="563270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clases en vez de dos. Qué cambia y qué no.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6309360"/>
            <a:ext cx="11091672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3093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ejercicio 4.2 no tiene respuesta numérica: se pide elegir un umbral para dos escenarios y justificarlo. Vale la pena leer dos o tres respuestas en voz alta.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1277" y="202885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195" y="202828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67114" y="202758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2" y="202676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32950" y="2025774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5869" y="202459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98787" y="202318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31706" y="202149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64624" y="201948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97542" y="201709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0461" y="201423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63379" y="201083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6298" y="200678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29216" y="200197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62134" y="199627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95053" y="198951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7971" y="1981526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60890" y="197211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93808" y="196103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6726" y="1948067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59645" y="193292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92563" y="191533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5482" y="1895015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87167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91318" y="1845054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24237" y="1814944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57155" y="1781193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0074" y="1743746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22992" y="1702666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5910" y="1658158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88829" y="1610581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21747" y="1560449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54666" y="15084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87584" y="1455262"/>
            <a:ext cx="51206" cy="51206"/>
          </a:xfrm>
          <a:prstGeom prst="roundRect">
            <a:avLst>
              <a:gd name="adj" fmla="val 50000"/>
            </a:avLst>
          </a:prstGeom>
          <a:solidFill>
            <a:srgbClr val="3A6B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0502" y="140181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53421" y="134894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86339" y="129746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19258" y="124812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552176" y="1201517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85094" y="11581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8013" y="1118236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50931" y="10820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83850" y="1049494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16768" y="102056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49686" y="995068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82605" y="972762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15523" y="953382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48442" y="93664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81360" y="92225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914278" y="909946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47197" y="89945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80115" y="890537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013034" y="88298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45952" y="87659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078870" y="87120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11789" y="86666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44707" y="86284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177626" y="85963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210544" y="85693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243462" y="854675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276381" y="85278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309299" y="851192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342218" y="849863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375136" y="84875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408054" y="84782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440973" y="847041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3891" y="846390"/>
            <a:ext cx="51206" cy="51206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5720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57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8 MIN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llevas una sola cosa</a:t>
            </a:r>
            <a:endParaRPr lang="en-US" sz="3400" dirty="0"/>
          </a:p>
        </p:txBody>
      </p:sp>
      <p:sp>
        <p:nvSpPr>
          <p:cNvPr id="72" name="Text 70"/>
          <p:cNvSpPr/>
          <p:nvPr/>
        </p:nvSpPr>
        <p:spPr>
          <a:xfrm>
            <a:off x="548640" y="15727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i="1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te da una probabilidad. Convertirla en una decisión es elegir un umbral, y eso no lo decide la estadística: lo decide cuánto cuesta cada error.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54864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4672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2416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del día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804672" y="2798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general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3931920" y="2798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38.4 %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804672" y="3099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/ hombres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93192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74.2 % / 18.9 %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04672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del sexo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393192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04672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en prueba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9319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804672" y="4005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/ trivial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393192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 / 0.616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804672" y="43068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umbral 0.3 → 0.7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3931920" y="4306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 → 0.49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172200" y="2212848"/>
            <a:ext cx="5468112" cy="2377440"/>
          </a:xfrm>
          <a:prstGeom prst="roundRect">
            <a:avLst>
              <a:gd name="adj" fmla="val 2308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19088" y="2496312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56832" y="239572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final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6419088" y="279806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 ESTOS MISMOS datos, pero completo. Hoy usamos tres variables y rellenamos las edades con la mediana.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proyecto tendrás que decidir de verdad qué hacer con los 177 faltantes, construir variables nuevas a partir de Name y Cabin, comparar modelos, fijar un umbral con criterio y escribir el informe.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aprendiste el método. Allí lo aplicas solo.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61834"/>
          </a:solidFill>
          <a:ln w="12700">
            <a:solidFill>
              <a:srgbClr val="1A3B7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4672" y="5065776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42416" y="4965192"/>
            <a:ext cx="7077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esto cierras el Módulo 4</a:t>
            </a:r>
            <a:endParaRPr lang="en-US" sz="1500" dirty="0"/>
          </a:p>
        </p:txBody>
      </p:sp>
      <p:sp>
        <p:nvSpPr>
          <p:cNvPr id="95" name="Text 93"/>
          <p:cNvSpPr/>
          <p:nvPr/>
        </p:nvSpPr>
        <p:spPr>
          <a:xfrm>
            <a:off x="804672" y="53309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sabes modelar un número (Clase 11) y una etiqueta (Clase 12), y validar los dos casos. Entre las dos clases cubres la mayor parte de los modelos que vas a encontrar en riesgo, fraude y crédito — incluido lo que hay debajo de un scorecard.</a:t>
            </a:r>
            <a:endParaRPr lang="en-US" sz="1250" dirty="0"/>
          </a:p>
        </p:txBody>
      </p:sp>
      <p:sp>
        <p:nvSpPr>
          <p:cNvPr id="96" name="Text 94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 e Inferencial · Módulo 4 · Clase 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12 — Regresión logística</dc:title>
  <dc:subject>PptxGenJS Presentation</dc:subject>
  <dc:creator>Rodrigo</dc:creator>
  <cp:lastModifiedBy>Rodrigo</cp:lastModifiedBy>
  <cp:revision>1</cp:revision>
  <dcterms:created xsi:type="dcterms:W3CDTF">2026-08-28T16:12:39Z</dcterms:created>
  <dcterms:modified xsi:type="dcterms:W3CDTF">2026-08-28T16:12:39Z</dcterms:modified>
</cp:coreProperties>
</file>