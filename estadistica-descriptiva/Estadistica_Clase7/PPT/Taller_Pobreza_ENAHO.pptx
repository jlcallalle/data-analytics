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 la población en pobreza monetaria</c:v>
                </c:pt>
              </c:strCache>
            </c:strRef>
          </c:tx>
          <c:spPr>
            <a:solidFill>
              <a:srgbClr val="1A56E8"/>
            </a:solidFill>
            <a:effectLst/>
          </c:spPr>
          <c:invertIfNegative val="0"/>
          <c:dLbls>
            <c:numFmt formatCode="0.0&quot;%&quot;" sourceLinked="0"/>
            <c:txPr>
              <a:bodyPr/>
              <a:lstStyle/>
              <a:p>
                <a:pPr>
                  <a:defRPr b="1" i="0" strike="noStrike" sz="1100" u="none">
                    <a:solidFill>
                      <a:srgbClr val="0A2559"/>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2019</c:v>
                  </c:pt>
                  <c:pt idx="1">
                    <c:v>2020</c:v>
                  </c:pt>
                  <c:pt idx="2">
                    <c:v>2021</c:v>
                  </c:pt>
                  <c:pt idx="3">
                    <c:v>2022</c:v>
                  </c:pt>
                  <c:pt idx="4">
                    <c:v>2023</c:v>
                  </c:pt>
                  <c:pt idx="5">
                    <c:v>2024</c:v>
                  </c:pt>
                </c:lvl>
              </c:multiLvlStrCache>
            </c:multiLvlStrRef>
          </c:cat>
          <c:val>
            <c:numRef>
              <c:f>Sheet1!$B$2:$B$7</c:f>
              <c:numCache>
                <c:formatCode>General</c:formatCode>
                <c:ptCount val="6"/>
                <c:pt idx="0">
                  <c:v>20.2</c:v>
                </c:pt>
                <c:pt idx="1">
                  <c:v>30.1</c:v>
                </c:pt>
                <c:pt idx="2">
                  <c:v>25.9</c:v>
                </c:pt>
                <c:pt idx="3">
                  <c:v>27.5</c:v>
                </c:pt>
                <c:pt idx="4">
                  <c:v>29</c:v>
                </c:pt>
                <c:pt idx="5">
                  <c:v>27.6</c:v>
                </c:pt>
              </c:numCache>
            </c:numRef>
          </c:val>
        </c:ser>
        <c:dLbls>
          <c:numFmt formatCode="0.0&quot;%&quot;" sourceLinked="0"/>
          <c:txPr>
            <a:bodyPr/>
            <a:lstStyle/>
            <a:p>
              <a:pPr>
                <a:defRPr b="1" i="0" strike="noStrike" sz="1100" u="none">
                  <a:solidFill>
                    <a:srgbClr val="0A2559"/>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tasa de pobreza (%)</c:v>
                </c:pt>
              </c:strCache>
            </c:strRef>
          </c:tx>
          <c:spPr>
            <a:solidFill>
              <a:srgbClr val="E6115E"/>
            </a:solidFill>
            <a:effectLst/>
          </c:spPr>
          <c:invertIfNegative val="0"/>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dPt>
            <c:idx val="0"/>
            <c:invertIfNegative val="0"/>
            <c:bubble3D val="0"/>
            <c:spPr>
              <a:solidFill>
                <a:srgbClr val="E6115E"/>
              </a:solidFill>
              <a:effectLst/>
            </c:spPr>
          </c:dPt>
          <c:dPt>
            <c:idx val="1"/>
            <c:invertIfNegative val="0"/>
            <c:bubble3D val="0"/>
            <c:spPr>
              <a:solidFill>
                <a:srgbClr val="1A56E8"/>
              </a:solidFill>
              <a:effectLst/>
            </c:spPr>
          </c:dPt>
          <c:dPt>
            <c:idx val="2"/>
            <c:invertIfNegative val="0"/>
            <c:bubble3D val="0"/>
            <c:spPr>
              <a:solidFill>
                <a:srgbClr val="12B886"/>
              </a:solidFill>
              <a:effectLst/>
            </c:spPr>
          </c:dPt>
          <c:cat>
            <c:multiLvlStrRef>
              <c:f>Sheet1!$A$2:$A$4</c:f>
              <c:multiLvlStrCache>
                <c:ptCount val="3"/>
                <c:lvl>
                  <c:pt idx="0">
                    <c:v>Sin ponderar</c:v>
                  </c:pt>
                  <c:pt idx="1">
                    <c:v>Ponderada por hogares</c:v>
                  </c:pt>
                  <c:pt idx="2">
                    <c:v>Ponderada por personas</c:v>
                  </c:pt>
                </c:lvl>
              </c:multiLvlStrCache>
            </c:multiLvlStrRef>
          </c:cat>
          <c:val>
            <c:numRef>
              <c:f>Sheet1!$B$2:$B$4</c:f>
              <c:numCache>
                <c:formatCode>General</c:formatCode>
                <c:ptCount val="3"/>
                <c:pt idx="0">
                  <c:v>20.22</c:v>
                </c:pt>
                <c:pt idx="1">
                  <c:v>21.85</c:v>
                </c:pt>
                <c:pt idx="2">
                  <c:v>27.58</c:v>
                </c:pt>
              </c:numCache>
            </c:numRef>
          </c:val>
        </c:ser>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pobreza (%)</c:v>
                </c:pt>
              </c:strCache>
            </c:strRef>
          </c:tx>
          <c:spPr>
            <a:solidFill>
              <a:srgbClr val="1A56E8"/>
            </a:solidFill>
            <a:effectLst/>
          </c:spPr>
          <c:invertIfNegative val="0"/>
          <c:dLbls>
            <c:numFmt formatCode="0.0&quot;%&quot;" sourceLinked="0"/>
            <c:txPr>
              <a:bodyPr/>
              <a:lstStyle/>
              <a:p>
                <a:pPr>
                  <a:defRPr b="1" i="0" strike="noStrike" sz="1000" u="none">
                    <a:solidFill>
                      <a:srgbClr val="0A2559"/>
                    </a:solidFill>
                    <a:latin typeface="Arial"/>
                  </a:defRPr>
                </a:pPr>
              </a:p>
            </c:txPr>
            <c:showLegendKey val="0"/>
            <c:showVal val="1"/>
            <c:showCatName val="0"/>
            <c:showSerName val="0"/>
            <c:showPercent val="0"/>
            <c:showBubbleSize val="0"/>
            <c:showLeaderLines val="0"/>
          </c:dLbls>
          <c:cat>
            <c:multiLvlStrRef>
              <c:f>Sheet1!$A$2:$A$9</c:f>
              <c:multiLvlStrCache>
                <c:ptCount val="8"/>
                <c:lvl>
                  <c:pt idx="0">
                    <c:v>Sierra Norte</c:v>
                  </c:pt>
                  <c:pt idx="1">
                    <c:v>Sierra Centro</c:v>
                  </c:pt>
                  <c:pt idx="2">
                    <c:v>Selva</c:v>
                  </c:pt>
                  <c:pt idx="3">
                    <c:v>Lima Metropolitana</c:v>
                  </c:pt>
                  <c:pt idx="4">
                    <c:v>Sierra Sur</c:v>
                  </c:pt>
                  <c:pt idx="5">
                    <c:v>Costa Norte</c:v>
                  </c:pt>
                  <c:pt idx="6">
                    <c:v>Costa Sur</c:v>
                  </c:pt>
                  <c:pt idx="7">
                    <c:v>Costa Centro</c:v>
                  </c:pt>
                </c:lvl>
              </c:multiLvlStrCache>
            </c:multiLvlStrRef>
          </c:cat>
          <c:val>
            <c:numRef>
              <c:f>Sheet1!$B$2:$B$9</c:f>
              <c:numCache>
                <c:formatCode>General</c:formatCode>
                <c:ptCount val="8"/>
                <c:pt idx="0">
                  <c:v>45.7</c:v>
                </c:pt>
                <c:pt idx="1">
                  <c:v>30.1</c:v>
                </c:pt>
                <c:pt idx="2">
                  <c:v>30.02</c:v>
                </c:pt>
                <c:pt idx="3">
                  <c:v>28.21</c:v>
                </c:pt>
                <c:pt idx="4">
                  <c:v>25.6</c:v>
                </c:pt>
                <c:pt idx="5">
                  <c:v>24.28</c:v>
                </c:pt>
                <c:pt idx="6">
                  <c:v>20.15</c:v>
                </c:pt>
                <c:pt idx="7">
                  <c:v>14.01</c:v>
                </c:pt>
              </c:numCache>
            </c:numRef>
          </c:val>
        </c:ser>
        <c:dLbls>
          <c:numFmt formatCode="0.0&quot;%&quot;" sourceLinked="0"/>
          <c:txPr>
            <a:bodyPr/>
            <a:lstStyle/>
            <a:p>
              <a:pPr>
                <a:defRPr b="1" i="0" strike="noStrike" sz="1000" u="none">
                  <a:solidFill>
                    <a:srgbClr val="0A255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52"/>
          <c:min val="0"/>
        </c:scaling>
        <c:delete val="0"/>
        <c:axPos val="b"/>
        <c:majorGridlines>
          <c:spPr>
            <a:ln w="12700" cap="flat">
              <a:solidFill>
                <a:srgbClr val="E1E8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leyendo el titular en voz alta: 'la pobreza monetaria afectó al 27.6 % de la población en 2024'. Y luego la pregunta: '¿alguien sabe de dónde sale ese número?'. Nadie lo sabe con precisión. Hoy lo van a reconstruir hogar por hogar y después van a descubrir que es menos preciso de lo que parece. Formato: este taller es notebook conducido. Tú ejecutas, ellos siguen. Las slides son solo anclas.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va rápido. Lo que importa es la tarjeta oscura: las dos preguntas del día. Y la tarjeta de abajo, que es la promesa del taller: hoy no van a aprender fórmulas nuevas, van a ver cómo cada decisión metodológica cambia un número que sale en los diarios.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explícitamente el formato: hoy no hay 45 minutos de exposición. Es notebook conducido, y ellos escriben código desde el minuto 12. Si vas retrasado, el bloque 5 (el informe) se puede mandar como tarea con rúbrica: recuperas 13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único tema nuevo del taller y hay que darlo con calma. El argumento de Madre de Dios es el que hace clic: el sobremuestreo no es un error del INEI, es una decisión de diseño para poder publicar cifras regionales. Y el remate es la suma de factor07: cuando en el notebook vean que da 10.4 millones, entienden qué significa 'expandir' sin más explicación.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se lee de izquierda a derecha y el remate es la barra verde: 27.58 %, que es el titular. Deja unos segundos ahí. Y después la tarjeta magenta, que es la lección del bloque: 7.4 puntos de error con código correcto. Pregunta al grupo: '¿cuántos de sus dashboards usan pesos?'. Si trabajan con encuestas o con datos muestreados de forma no uniforme, la respuesta incómoda es 'ninguno'.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de la izquierda es el que produce el momento del taller: 100.00 % de coincidencia. Diles: 'acaban de reconstruir la estadística oficial del país con tres líneas de código y les calzó exacta en los 33 691 hogares'. Y el de la derecha conecta con la Clase 4: en una población así de asimétrica, la mediana informa más del bienestar típico que la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del taller. Guion: primero las dos tarjetas de arriba (por qué se muestrea así y por qué eso importa), después la tabla, y deja el DEFF para el final. La frase que hay que decir despacio es la última: 'creías tener 33 691 hogares; para precisión tienes 5 845'. Y añade el matiz que evita que suene a crítica al INEI: el DEFF es el precio estadístico de un ahorro logístico enorme, y es una decisión deliberada y razonable. Lo que no es razonable es ignorarlo al calcular el intervalo.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 los dos p-valores en pantalla y pregunta: '¿qué titular escribirían?'. El de la izquierda es el honesto. El de la derecha es el que saldría si nadie hubiera hecho el bloque 3. El intervalo es lo más elocuente: el límite superior es −0.03 pp. Tres centésimas. Y conecta con la Clase 5: un p de 0.046 no es lo mismo que un p de 0.0000027, aunque los dos 'sean significativos'. Esa distinción es la que separa un análisis de un titular.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horizontal ordena los dominios y habla solo: Sierra Norte al 45.7 % contra Costa Centro al 14.0 %. Tres veces más. Eso es más informativo para política pública que el promedio nacional. La tarjeta de comparaciones múltiples es donde el taller recoge la Clase 5 sin haberlo planeado: nadie pidió 28 pruebas, pero comparar 8 dominios es hacerlas.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corta pero importante para el tono del curso. Yo mismo les había dicho que las dos muestras eran independientes, y al revisar los datos resultó que no del todo. Dilo así: 'esto lo descubrimos mirando los datos, no estaba en el plan'. Enseña dos cosas: que verificar paga, y que reconocer una limitación fortalece un informe en lugar de debilitarlo.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las dos versiones en voz alta, una tras otra. La de la izquierda es la que aparece en el 95 % de los informes. Y si alguien objeta que la versión completa es demasiado técnica para un comité, la respuesta es: el comité no necesita entender el DEFF, necesita saber que el margen es ±1 punto y no ±0.4. Eso sí cambia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los cinco números en voz alta, uno por uno: es el resumen del día. El reto es distinto de los anteriores porque no es un ejercicio, es una auditoría de su propio trabajo. La cuarta pregunta ('¿alguien puede reproducir el número desde el dato crudo?') es la más incómoda y la más útil: en muchas organizaciones la respuesta es que no, y eso es un riesgo operativo, no solo estadístico.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6921520" y="3813315"/>
            <a:ext cx="69494" cy="72885"/>
          </a:xfrm>
          <a:prstGeom prst="rect">
            <a:avLst/>
          </a:prstGeom>
          <a:solidFill>
            <a:srgbClr val="E6115E"/>
          </a:solidFill>
          <a:ln w="12700">
            <a:solidFill>
              <a:srgbClr val="333333"/>
            </a:solidFill>
            <a:prstDash val="solid"/>
          </a:ln>
        </p:spPr>
      </p:sp>
      <p:sp>
        <p:nvSpPr>
          <p:cNvPr id="3" name="Shape 1"/>
          <p:cNvSpPr/>
          <p:nvPr/>
        </p:nvSpPr>
        <p:spPr>
          <a:xfrm>
            <a:off x="6956389" y="3685780"/>
            <a:ext cx="69494" cy="200420"/>
          </a:xfrm>
          <a:prstGeom prst="rect">
            <a:avLst/>
          </a:prstGeom>
          <a:solidFill>
            <a:srgbClr val="E6115E"/>
          </a:solidFill>
          <a:ln w="12700">
            <a:solidFill>
              <a:srgbClr val="333333"/>
            </a:solidFill>
            <a:prstDash val="solid"/>
          </a:ln>
        </p:spPr>
      </p:sp>
      <p:sp>
        <p:nvSpPr>
          <p:cNvPr id="4" name="Shape 2"/>
          <p:cNvSpPr/>
          <p:nvPr/>
        </p:nvSpPr>
        <p:spPr>
          <a:xfrm>
            <a:off x="6991259" y="3500553"/>
            <a:ext cx="69494" cy="385647"/>
          </a:xfrm>
          <a:prstGeom prst="rect">
            <a:avLst/>
          </a:prstGeom>
          <a:solidFill>
            <a:srgbClr val="E6115E"/>
          </a:solidFill>
          <a:ln w="12700">
            <a:solidFill>
              <a:srgbClr val="333333"/>
            </a:solidFill>
            <a:prstDash val="solid"/>
          </a:ln>
        </p:spPr>
      </p:sp>
      <p:sp>
        <p:nvSpPr>
          <p:cNvPr id="5" name="Shape 3"/>
          <p:cNvSpPr/>
          <p:nvPr/>
        </p:nvSpPr>
        <p:spPr>
          <a:xfrm>
            <a:off x="7026128" y="3278957"/>
            <a:ext cx="69494" cy="607243"/>
          </a:xfrm>
          <a:prstGeom prst="rect">
            <a:avLst/>
          </a:prstGeom>
          <a:solidFill>
            <a:srgbClr val="E6115E"/>
          </a:solidFill>
          <a:ln w="12700">
            <a:solidFill>
              <a:srgbClr val="333333"/>
            </a:solidFill>
            <a:prstDash val="solid"/>
          </a:ln>
        </p:spPr>
      </p:sp>
      <p:sp>
        <p:nvSpPr>
          <p:cNvPr id="6" name="Shape 4"/>
          <p:cNvSpPr/>
          <p:nvPr/>
        </p:nvSpPr>
        <p:spPr>
          <a:xfrm>
            <a:off x="7060997" y="3042638"/>
            <a:ext cx="69494" cy="843562"/>
          </a:xfrm>
          <a:prstGeom prst="rect">
            <a:avLst/>
          </a:prstGeom>
          <a:solidFill>
            <a:srgbClr val="E6115E"/>
          </a:solidFill>
          <a:ln w="12700">
            <a:solidFill>
              <a:srgbClr val="333333"/>
            </a:solidFill>
            <a:prstDash val="solid"/>
          </a:ln>
        </p:spPr>
      </p:sp>
      <p:sp>
        <p:nvSpPr>
          <p:cNvPr id="7" name="Shape 5"/>
          <p:cNvSpPr/>
          <p:nvPr/>
        </p:nvSpPr>
        <p:spPr>
          <a:xfrm>
            <a:off x="7095866" y="2808839"/>
            <a:ext cx="69494" cy="1077361"/>
          </a:xfrm>
          <a:prstGeom prst="rect">
            <a:avLst/>
          </a:prstGeom>
          <a:solidFill>
            <a:srgbClr val="E6115E"/>
          </a:solidFill>
          <a:ln w="12700">
            <a:solidFill>
              <a:srgbClr val="333333"/>
            </a:solidFill>
            <a:prstDash val="solid"/>
          </a:ln>
        </p:spPr>
      </p:sp>
      <p:sp>
        <p:nvSpPr>
          <p:cNvPr id="8" name="Shape 6"/>
          <p:cNvSpPr/>
          <p:nvPr/>
        </p:nvSpPr>
        <p:spPr>
          <a:xfrm>
            <a:off x="7130735" y="2589525"/>
            <a:ext cx="69494" cy="1296675"/>
          </a:xfrm>
          <a:prstGeom prst="rect">
            <a:avLst/>
          </a:prstGeom>
          <a:solidFill>
            <a:srgbClr val="E6115E"/>
          </a:solidFill>
          <a:ln w="12700">
            <a:solidFill>
              <a:srgbClr val="333333"/>
            </a:solidFill>
            <a:prstDash val="solid"/>
          </a:ln>
        </p:spPr>
      </p:sp>
      <p:sp>
        <p:nvSpPr>
          <p:cNvPr id="9" name="Shape 7"/>
          <p:cNvSpPr/>
          <p:nvPr/>
        </p:nvSpPr>
        <p:spPr>
          <a:xfrm>
            <a:off x="7165604" y="2392036"/>
            <a:ext cx="69494" cy="1494164"/>
          </a:xfrm>
          <a:prstGeom prst="rect">
            <a:avLst/>
          </a:prstGeom>
          <a:solidFill>
            <a:srgbClr val="E6115E"/>
          </a:solidFill>
          <a:ln w="12700">
            <a:solidFill>
              <a:srgbClr val="333333"/>
            </a:solidFill>
            <a:prstDash val="solid"/>
          </a:ln>
        </p:spPr>
      </p:sp>
      <p:sp>
        <p:nvSpPr>
          <p:cNvPr id="10" name="Shape 8"/>
          <p:cNvSpPr/>
          <p:nvPr/>
        </p:nvSpPr>
        <p:spPr>
          <a:xfrm>
            <a:off x="7200473" y="2220167"/>
            <a:ext cx="69494" cy="1666033"/>
          </a:xfrm>
          <a:prstGeom prst="rect">
            <a:avLst/>
          </a:prstGeom>
          <a:solidFill>
            <a:srgbClr val="E6115E"/>
          </a:solidFill>
          <a:ln w="12700">
            <a:solidFill>
              <a:srgbClr val="333333"/>
            </a:solidFill>
            <a:prstDash val="solid"/>
          </a:ln>
        </p:spPr>
      </p:sp>
      <p:sp>
        <p:nvSpPr>
          <p:cNvPr id="11" name="Shape 9"/>
          <p:cNvSpPr/>
          <p:nvPr/>
        </p:nvSpPr>
        <p:spPr>
          <a:xfrm>
            <a:off x="7235342" y="2075195"/>
            <a:ext cx="69494" cy="1811005"/>
          </a:xfrm>
          <a:prstGeom prst="rect">
            <a:avLst/>
          </a:prstGeom>
          <a:solidFill>
            <a:srgbClr val="E6115E"/>
          </a:solidFill>
          <a:ln w="12700">
            <a:solidFill>
              <a:srgbClr val="333333"/>
            </a:solidFill>
            <a:prstDash val="solid"/>
          </a:ln>
        </p:spPr>
      </p:sp>
      <p:sp>
        <p:nvSpPr>
          <p:cNvPr id="12" name="Shape 10"/>
          <p:cNvSpPr/>
          <p:nvPr/>
        </p:nvSpPr>
        <p:spPr>
          <a:xfrm>
            <a:off x="7270212" y="1956727"/>
            <a:ext cx="69494" cy="1929473"/>
          </a:xfrm>
          <a:prstGeom prst="rect">
            <a:avLst/>
          </a:prstGeom>
          <a:solidFill>
            <a:srgbClr val="E6115E"/>
          </a:solidFill>
          <a:ln w="12700">
            <a:solidFill>
              <a:srgbClr val="333333"/>
            </a:solidFill>
            <a:prstDash val="solid"/>
          </a:ln>
        </p:spPr>
      </p:sp>
      <p:sp>
        <p:nvSpPr>
          <p:cNvPr id="13" name="Shape 11"/>
          <p:cNvSpPr/>
          <p:nvPr/>
        </p:nvSpPr>
        <p:spPr>
          <a:xfrm>
            <a:off x="7305081" y="1863322"/>
            <a:ext cx="69494" cy="2022878"/>
          </a:xfrm>
          <a:prstGeom prst="rect">
            <a:avLst/>
          </a:prstGeom>
          <a:solidFill>
            <a:srgbClr val="E6115E"/>
          </a:solidFill>
          <a:ln w="12700">
            <a:solidFill>
              <a:srgbClr val="333333"/>
            </a:solidFill>
            <a:prstDash val="solid"/>
          </a:ln>
        </p:spPr>
      </p:sp>
      <p:sp>
        <p:nvSpPr>
          <p:cNvPr id="14" name="Shape 12"/>
          <p:cNvSpPr/>
          <p:nvPr/>
        </p:nvSpPr>
        <p:spPr>
          <a:xfrm>
            <a:off x="7339950" y="1792944"/>
            <a:ext cx="69494" cy="2093256"/>
          </a:xfrm>
          <a:prstGeom prst="rect">
            <a:avLst/>
          </a:prstGeom>
          <a:solidFill>
            <a:srgbClr val="E6115E"/>
          </a:solidFill>
          <a:ln w="12700">
            <a:solidFill>
              <a:srgbClr val="333333"/>
            </a:solidFill>
            <a:prstDash val="solid"/>
          </a:ln>
        </p:spPr>
      </p:sp>
      <p:sp>
        <p:nvSpPr>
          <p:cNvPr id="15" name="Shape 13"/>
          <p:cNvSpPr/>
          <p:nvPr/>
        </p:nvSpPr>
        <p:spPr>
          <a:xfrm>
            <a:off x="7374819" y="1743275"/>
            <a:ext cx="69494" cy="2142925"/>
          </a:xfrm>
          <a:prstGeom prst="rect">
            <a:avLst/>
          </a:prstGeom>
          <a:solidFill>
            <a:srgbClr val="E6115E"/>
          </a:solidFill>
          <a:ln w="12700">
            <a:solidFill>
              <a:srgbClr val="333333"/>
            </a:solidFill>
            <a:prstDash val="solid"/>
          </a:ln>
        </p:spPr>
      </p:sp>
      <p:sp>
        <p:nvSpPr>
          <p:cNvPr id="16" name="Shape 14"/>
          <p:cNvSpPr/>
          <p:nvPr/>
        </p:nvSpPr>
        <p:spPr>
          <a:xfrm>
            <a:off x="7409688" y="1711917"/>
            <a:ext cx="69494" cy="2174283"/>
          </a:xfrm>
          <a:prstGeom prst="rect">
            <a:avLst/>
          </a:prstGeom>
          <a:solidFill>
            <a:srgbClr val="E6115E"/>
          </a:solidFill>
          <a:ln w="12700">
            <a:solidFill>
              <a:srgbClr val="333333"/>
            </a:solidFill>
            <a:prstDash val="solid"/>
          </a:ln>
        </p:spPr>
      </p:sp>
      <p:sp>
        <p:nvSpPr>
          <p:cNvPr id="17" name="Shape 15"/>
          <p:cNvSpPr/>
          <p:nvPr/>
        </p:nvSpPr>
        <p:spPr>
          <a:xfrm>
            <a:off x="7444557" y="1696523"/>
            <a:ext cx="69494" cy="2189677"/>
          </a:xfrm>
          <a:prstGeom prst="rect">
            <a:avLst/>
          </a:prstGeom>
          <a:solidFill>
            <a:srgbClr val="E6115E"/>
          </a:solidFill>
          <a:ln w="12700">
            <a:solidFill>
              <a:srgbClr val="333333"/>
            </a:solidFill>
            <a:prstDash val="solid"/>
          </a:ln>
        </p:spPr>
      </p:sp>
      <p:sp>
        <p:nvSpPr>
          <p:cNvPr id="18" name="Shape 16"/>
          <p:cNvSpPr/>
          <p:nvPr/>
        </p:nvSpPr>
        <p:spPr>
          <a:xfrm>
            <a:off x="7479426" y="1694875"/>
            <a:ext cx="69494" cy="2191325"/>
          </a:xfrm>
          <a:prstGeom prst="rect">
            <a:avLst/>
          </a:prstGeom>
          <a:solidFill>
            <a:srgbClr val="E6115E"/>
          </a:solidFill>
          <a:ln w="12700">
            <a:solidFill>
              <a:srgbClr val="333333"/>
            </a:solidFill>
            <a:prstDash val="solid"/>
          </a:ln>
        </p:spPr>
      </p:sp>
      <p:sp>
        <p:nvSpPr>
          <p:cNvPr id="19" name="Shape 17"/>
          <p:cNvSpPr/>
          <p:nvPr/>
        </p:nvSpPr>
        <p:spPr>
          <a:xfrm>
            <a:off x="7514295" y="1704930"/>
            <a:ext cx="69494" cy="2181270"/>
          </a:xfrm>
          <a:prstGeom prst="rect">
            <a:avLst/>
          </a:prstGeom>
          <a:solidFill>
            <a:srgbClr val="1E4380"/>
          </a:solidFill>
          <a:ln w="12700">
            <a:solidFill>
              <a:srgbClr val="333333"/>
            </a:solidFill>
            <a:prstDash val="solid"/>
          </a:ln>
        </p:spPr>
      </p:sp>
      <p:sp>
        <p:nvSpPr>
          <p:cNvPr id="20" name="Shape 18"/>
          <p:cNvSpPr/>
          <p:nvPr/>
        </p:nvSpPr>
        <p:spPr>
          <a:xfrm>
            <a:off x="7549164" y="1724837"/>
            <a:ext cx="69494" cy="2161363"/>
          </a:xfrm>
          <a:prstGeom prst="rect">
            <a:avLst/>
          </a:prstGeom>
          <a:solidFill>
            <a:srgbClr val="1E4380"/>
          </a:solidFill>
          <a:ln w="12700">
            <a:solidFill>
              <a:srgbClr val="333333"/>
            </a:solidFill>
            <a:prstDash val="solid"/>
          </a:ln>
        </p:spPr>
      </p:sp>
      <p:sp>
        <p:nvSpPr>
          <p:cNvPr id="21" name="Shape 19"/>
          <p:cNvSpPr/>
          <p:nvPr/>
        </p:nvSpPr>
        <p:spPr>
          <a:xfrm>
            <a:off x="7584034" y="1752943"/>
            <a:ext cx="69494" cy="2133257"/>
          </a:xfrm>
          <a:prstGeom prst="rect">
            <a:avLst/>
          </a:prstGeom>
          <a:solidFill>
            <a:srgbClr val="1E4380"/>
          </a:solidFill>
          <a:ln w="12700">
            <a:solidFill>
              <a:srgbClr val="333333"/>
            </a:solidFill>
            <a:prstDash val="solid"/>
          </a:ln>
        </p:spPr>
      </p:sp>
      <p:sp>
        <p:nvSpPr>
          <p:cNvPr id="22" name="Shape 20"/>
          <p:cNvSpPr/>
          <p:nvPr/>
        </p:nvSpPr>
        <p:spPr>
          <a:xfrm>
            <a:off x="7618903" y="1787783"/>
            <a:ext cx="69494" cy="2098417"/>
          </a:xfrm>
          <a:prstGeom prst="rect">
            <a:avLst/>
          </a:prstGeom>
          <a:solidFill>
            <a:srgbClr val="1E4380"/>
          </a:solidFill>
          <a:ln w="12700">
            <a:solidFill>
              <a:srgbClr val="333333"/>
            </a:solidFill>
            <a:prstDash val="solid"/>
          </a:ln>
        </p:spPr>
      </p:sp>
      <p:sp>
        <p:nvSpPr>
          <p:cNvPr id="23" name="Shape 21"/>
          <p:cNvSpPr/>
          <p:nvPr/>
        </p:nvSpPr>
        <p:spPr>
          <a:xfrm>
            <a:off x="7653772" y="1828078"/>
            <a:ext cx="69494" cy="2058122"/>
          </a:xfrm>
          <a:prstGeom prst="rect">
            <a:avLst/>
          </a:prstGeom>
          <a:solidFill>
            <a:srgbClr val="1E4380"/>
          </a:solidFill>
          <a:ln w="12700">
            <a:solidFill>
              <a:srgbClr val="333333"/>
            </a:solidFill>
            <a:prstDash val="solid"/>
          </a:ln>
        </p:spPr>
      </p:sp>
      <p:sp>
        <p:nvSpPr>
          <p:cNvPr id="24" name="Shape 22"/>
          <p:cNvSpPr/>
          <p:nvPr/>
        </p:nvSpPr>
        <p:spPr>
          <a:xfrm>
            <a:off x="7688641" y="1872709"/>
            <a:ext cx="69494" cy="2013491"/>
          </a:xfrm>
          <a:prstGeom prst="rect">
            <a:avLst/>
          </a:prstGeom>
          <a:solidFill>
            <a:srgbClr val="1E4380"/>
          </a:solidFill>
          <a:ln w="12700">
            <a:solidFill>
              <a:srgbClr val="333333"/>
            </a:solidFill>
            <a:prstDash val="solid"/>
          </a:ln>
        </p:spPr>
      </p:sp>
      <p:sp>
        <p:nvSpPr>
          <p:cNvPr id="25" name="Shape 23"/>
          <p:cNvSpPr/>
          <p:nvPr/>
        </p:nvSpPr>
        <p:spPr>
          <a:xfrm>
            <a:off x="7723510" y="1920713"/>
            <a:ext cx="69494" cy="1965487"/>
          </a:xfrm>
          <a:prstGeom prst="rect">
            <a:avLst/>
          </a:prstGeom>
          <a:solidFill>
            <a:srgbClr val="1E4380"/>
          </a:solidFill>
          <a:ln w="12700">
            <a:solidFill>
              <a:srgbClr val="333333"/>
            </a:solidFill>
            <a:prstDash val="solid"/>
          </a:ln>
        </p:spPr>
      </p:sp>
      <p:sp>
        <p:nvSpPr>
          <p:cNvPr id="26" name="Shape 24"/>
          <p:cNvSpPr/>
          <p:nvPr/>
        </p:nvSpPr>
        <p:spPr>
          <a:xfrm>
            <a:off x="7758379" y="1971260"/>
            <a:ext cx="69494" cy="1914940"/>
          </a:xfrm>
          <a:prstGeom prst="rect">
            <a:avLst/>
          </a:prstGeom>
          <a:solidFill>
            <a:srgbClr val="1E4380"/>
          </a:solidFill>
          <a:ln w="12700">
            <a:solidFill>
              <a:srgbClr val="333333"/>
            </a:solidFill>
            <a:prstDash val="solid"/>
          </a:ln>
        </p:spPr>
      </p:sp>
      <p:sp>
        <p:nvSpPr>
          <p:cNvPr id="27" name="Shape 25"/>
          <p:cNvSpPr/>
          <p:nvPr/>
        </p:nvSpPr>
        <p:spPr>
          <a:xfrm>
            <a:off x="7793248" y="2023640"/>
            <a:ext cx="69494" cy="1862560"/>
          </a:xfrm>
          <a:prstGeom prst="rect">
            <a:avLst/>
          </a:prstGeom>
          <a:solidFill>
            <a:srgbClr val="1E4380"/>
          </a:solidFill>
          <a:ln w="12700">
            <a:solidFill>
              <a:srgbClr val="333333"/>
            </a:solidFill>
            <a:prstDash val="solid"/>
          </a:ln>
        </p:spPr>
      </p:sp>
      <p:sp>
        <p:nvSpPr>
          <p:cNvPr id="28" name="Shape 26"/>
          <p:cNvSpPr/>
          <p:nvPr/>
        </p:nvSpPr>
        <p:spPr>
          <a:xfrm>
            <a:off x="7828117" y="2077249"/>
            <a:ext cx="69494" cy="1808951"/>
          </a:xfrm>
          <a:prstGeom prst="rect">
            <a:avLst/>
          </a:prstGeom>
          <a:solidFill>
            <a:srgbClr val="1E4380"/>
          </a:solidFill>
          <a:ln w="12700">
            <a:solidFill>
              <a:srgbClr val="333333"/>
            </a:solidFill>
            <a:prstDash val="solid"/>
          </a:ln>
        </p:spPr>
      </p:sp>
      <p:sp>
        <p:nvSpPr>
          <p:cNvPr id="29" name="Shape 27"/>
          <p:cNvSpPr/>
          <p:nvPr/>
        </p:nvSpPr>
        <p:spPr>
          <a:xfrm>
            <a:off x="7862987" y="2131576"/>
            <a:ext cx="69494" cy="1754624"/>
          </a:xfrm>
          <a:prstGeom prst="rect">
            <a:avLst/>
          </a:prstGeom>
          <a:solidFill>
            <a:srgbClr val="1E4380"/>
          </a:solidFill>
          <a:ln w="12700">
            <a:solidFill>
              <a:srgbClr val="333333"/>
            </a:solidFill>
            <a:prstDash val="solid"/>
          </a:ln>
        </p:spPr>
      </p:sp>
      <p:sp>
        <p:nvSpPr>
          <p:cNvPr id="30" name="Shape 28"/>
          <p:cNvSpPr/>
          <p:nvPr/>
        </p:nvSpPr>
        <p:spPr>
          <a:xfrm>
            <a:off x="7897856" y="2186192"/>
            <a:ext cx="69494" cy="1700008"/>
          </a:xfrm>
          <a:prstGeom prst="rect">
            <a:avLst/>
          </a:prstGeom>
          <a:solidFill>
            <a:srgbClr val="1E4380"/>
          </a:solidFill>
          <a:ln w="12700">
            <a:solidFill>
              <a:srgbClr val="333333"/>
            </a:solidFill>
            <a:prstDash val="solid"/>
          </a:ln>
        </p:spPr>
      </p:sp>
      <p:sp>
        <p:nvSpPr>
          <p:cNvPr id="31" name="Shape 29"/>
          <p:cNvSpPr/>
          <p:nvPr/>
        </p:nvSpPr>
        <p:spPr>
          <a:xfrm>
            <a:off x="7932725" y="2240737"/>
            <a:ext cx="69494" cy="1645463"/>
          </a:xfrm>
          <a:prstGeom prst="rect">
            <a:avLst/>
          </a:prstGeom>
          <a:solidFill>
            <a:srgbClr val="1E4380"/>
          </a:solidFill>
          <a:ln w="12700">
            <a:solidFill>
              <a:srgbClr val="333333"/>
            </a:solidFill>
            <a:prstDash val="solid"/>
          </a:ln>
        </p:spPr>
      </p:sp>
      <p:sp>
        <p:nvSpPr>
          <p:cNvPr id="32" name="Shape 30"/>
          <p:cNvSpPr/>
          <p:nvPr/>
        </p:nvSpPr>
        <p:spPr>
          <a:xfrm>
            <a:off x="7967594" y="2294913"/>
            <a:ext cx="69494" cy="1591287"/>
          </a:xfrm>
          <a:prstGeom prst="rect">
            <a:avLst/>
          </a:prstGeom>
          <a:solidFill>
            <a:srgbClr val="1E4380"/>
          </a:solidFill>
          <a:ln w="12700">
            <a:solidFill>
              <a:srgbClr val="333333"/>
            </a:solidFill>
            <a:prstDash val="solid"/>
          </a:ln>
        </p:spPr>
      </p:sp>
      <p:sp>
        <p:nvSpPr>
          <p:cNvPr id="33" name="Shape 31"/>
          <p:cNvSpPr/>
          <p:nvPr/>
        </p:nvSpPr>
        <p:spPr>
          <a:xfrm>
            <a:off x="8002463" y="2348474"/>
            <a:ext cx="69494" cy="1537726"/>
          </a:xfrm>
          <a:prstGeom prst="rect">
            <a:avLst/>
          </a:prstGeom>
          <a:solidFill>
            <a:srgbClr val="1E4380"/>
          </a:solidFill>
          <a:ln w="12700">
            <a:solidFill>
              <a:srgbClr val="333333"/>
            </a:solidFill>
            <a:prstDash val="solid"/>
          </a:ln>
        </p:spPr>
      </p:sp>
      <p:sp>
        <p:nvSpPr>
          <p:cNvPr id="34" name="Shape 32"/>
          <p:cNvSpPr/>
          <p:nvPr/>
        </p:nvSpPr>
        <p:spPr>
          <a:xfrm>
            <a:off x="8037332" y="2401220"/>
            <a:ext cx="69494" cy="1484980"/>
          </a:xfrm>
          <a:prstGeom prst="rect">
            <a:avLst/>
          </a:prstGeom>
          <a:solidFill>
            <a:srgbClr val="1E4380"/>
          </a:solidFill>
          <a:ln w="12700">
            <a:solidFill>
              <a:srgbClr val="333333"/>
            </a:solidFill>
            <a:prstDash val="solid"/>
          </a:ln>
        </p:spPr>
      </p:sp>
      <p:sp>
        <p:nvSpPr>
          <p:cNvPr id="35" name="Shape 33"/>
          <p:cNvSpPr/>
          <p:nvPr/>
        </p:nvSpPr>
        <p:spPr>
          <a:xfrm>
            <a:off x="8072201" y="2452989"/>
            <a:ext cx="69494" cy="1433211"/>
          </a:xfrm>
          <a:prstGeom prst="rect">
            <a:avLst/>
          </a:prstGeom>
          <a:solidFill>
            <a:srgbClr val="1E4380"/>
          </a:solidFill>
          <a:ln w="12700">
            <a:solidFill>
              <a:srgbClr val="333333"/>
            </a:solidFill>
            <a:prstDash val="solid"/>
          </a:ln>
        </p:spPr>
      </p:sp>
      <p:sp>
        <p:nvSpPr>
          <p:cNvPr id="36" name="Shape 34"/>
          <p:cNvSpPr/>
          <p:nvPr/>
        </p:nvSpPr>
        <p:spPr>
          <a:xfrm>
            <a:off x="8107070" y="2503654"/>
            <a:ext cx="69494" cy="1382546"/>
          </a:xfrm>
          <a:prstGeom prst="rect">
            <a:avLst/>
          </a:prstGeom>
          <a:solidFill>
            <a:srgbClr val="1E4380"/>
          </a:solidFill>
          <a:ln w="12700">
            <a:solidFill>
              <a:srgbClr val="333333"/>
            </a:solidFill>
            <a:prstDash val="solid"/>
          </a:ln>
        </p:spPr>
      </p:sp>
      <p:sp>
        <p:nvSpPr>
          <p:cNvPr id="37" name="Shape 35"/>
          <p:cNvSpPr/>
          <p:nvPr/>
        </p:nvSpPr>
        <p:spPr>
          <a:xfrm>
            <a:off x="8141940" y="2553114"/>
            <a:ext cx="69494" cy="1333086"/>
          </a:xfrm>
          <a:prstGeom prst="rect">
            <a:avLst/>
          </a:prstGeom>
          <a:solidFill>
            <a:srgbClr val="1E4380"/>
          </a:solidFill>
          <a:ln w="12700">
            <a:solidFill>
              <a:srgbClr val="333333"/>
            </a:solidFill>
            <a:prstDash val="solid"/>
          </a:ln>
        </p:spPr>
      </p:sp>
      <p:sp>
        <p:nvSpPr>
          <p:cNvPr id="38" name="Shape 36"/>
          <p:cNvSpPr/>
          <p:nvPr/>
        </p:nvSpPr>
        <p:spPr>
          <a:xfrm>
            <a:off x="8176809" y="2601294"/>
            <a:ext cx="69494" cy="1284906"/>
          </a:xfrm>
          <a:prstGeom prst="rect">
            <a:avLst/>
          </a:prstGeom>
          <a:solidFill>
            <a:srgbClr val="1E4380"/>
          </a:solidFill>
          <a:ln w="12700">
            <a:solidFill>
              <a:srgbClr val="333333"/>
            </a:solidFill>
            <a:prstDash val="solid"/>
          </a:ln>
        </p:spPr>
      </p:sp>
      <p:sp>
        <p:nvSpPr>
          <p:cNvPr id="39" name="Shape 37"/>
          <p:cNvSpPr/>
          <p:nvPr/>
        </p:nvSpPr>
        <p:spPr>
          <a:xfrm>
            <a:off x="8211678" y="2648139"/>
            <a:ext cx="69494" cy="1238061"/>
          </a:xfrm>
          <a:prstGeom prst="rect">
            <a:avLst/>
          </a:prstGeom>
          <a:solidFill>
            <a:srgbClr val="1E4380"/>
          </a:solidFill>
          <a:ln w="12700">
            <a:solidFill>
              <a:srgbClr val="333333"/>
            </a:solidFill>
            <a:prstDash val="solid"/>
          </a:ln>
        </p:spPr>
      </p:sp>
      <p:sp>
        <p:nvSpPr>
          <p:cNvPr id="40" name="Shape 38"/>
          <p:cNvSpPr/>
          <p:nvPr/>
        </p:nvSpPr>
        <p:spPr>
          <a:xfrm>
            <a:off x="8246547" y="2693610"/>
            <a:ext cx="69494" cy="1192590"/>
          </a:xfrm>
          <a:prstGeom prst="rect">
            <a:avLst/>
          </a:prstGeom>
          <a:solidFill>
            <a:srgbClr val="1E4380"/>
          </a:solidFill>
          <a:ln w="12700">
            <a:solidFill>
              <a:srgbClr val="333333"/>
            </a:solidFill>
            <a:prstDash val="solid"/>
          </a:ln>
        </p:spPr>
      </p:sp>
      <p:sp>
        <p:nvSpPr>
          <p:cNvPr id="41" name="Shape 39"/>
          <p:cNvSpPr/>
          <p:nvPr/>
        </p:nvSpPr>
        <p:spPr>
          <a:xfrm>
            <a:off x="8281416" y="2737685"/>
            <a:ext cx="69494" cy="1148515"/>
          </a:xfrm>
          <a:prstGeom prst="rect">
            <a:avLst/>
          </a:prstGeom>
          <a:solidFill>
            <a:srgbClr val="1E4380"/>
          </a:solidFill>
          <a:ln w="12700">
            <a:solidFill>
              <a:srgbClr val="333333"/>
            </a:solidFill>
            <a:prstDash val="solid"/>
          </a:ln>
        </p:spPr>
      </p:sp>
      <p:sp>
        <p:nvSpPr>
          <p:cNvPr id="42" name="Shape 40"/>
          <p:cNvSpPr/>
          <p:nvPr/>
        </p:nvSpPr>
        <p:spPr>
          <a:xfrm>
            <a:off x="8316285" y="2780353"/>
            <a:ext cx="69494" cy="1105847"/>
          </a:xfrm>
          <a:prstGeom prst="rect">
            <a:avLst/>
          </a:prstGeom>
          <a:solidFill>
            <a:srgbClr val="1E4380"/>
          </a:solidFill>
          <a:ln w="12700">
            <a:solidFill>
              <a:srgbClr val="333333"/>
            </a:solidFill>
            <a:prstDash val="solid"/>
          </a:ln>
        </p:spPr>
      </p:sp>
      <p:sp>
        <p:nvSpPr>
          <p:cNvPr id="43" name="Shape 41"/>
          <p:cNvSpPr/>
          <p:nvPr/>
        </p:nvSpPr>
        <p:spPr>
          <a:xfrm>
            <a:off x="8351154" y="2821613"/>
            <a:ext cx="69494" cy="1064587"/>
          </a:xfrm>
          <a:prstGeom prst="rect">
            <a:avLst/>
          </a:prstGeom>
          <a:solidFill>
            <a:srgbClr val="1E4380"/>
          </a:solidFill>
          <a:ln w="12700">
            <a:solidFill>
              <a:srgbClr val="333333"/>
            </a:solidFill>
            <a:prstDash val="solid"/>
          </a:ln>
        </p:spPr>
      </p:sp>
      <p:sp>
        <p:nvSpPr>
          <p:cNvPr id="44" name="Shape 42"/>
          <p:cNvSpPr/>
          <p:nvPr/>
        </p:nvSpPr>
        <p:spPr>
          <a:xfrm>
            <a:off x="8386023" y="2861472"/>
            <a:ext cx="69494" cy="1024728"/>
          </a:xfrm>
          <a:prstGeom prst="rect">
            <a:avLst/>
          </a:prstGeom>
          <a:solidFill>
            <a:srgbClr val="1E4380"/>
          </a:solidFill>
          <a:ln w="12700">
            <a:solidFill>
              <a:srgbClr val="333333"/>
            </a:solidFill>
            <a:prstDash val="solid"/>
          </a:ln>
        </p:spPr>
      </p:sp>
      <p:sp>
        <p:nvSpPr>
          <p:cNvPr id="45" name="Shape 43"/>
          <p:cNvSpPr/>
          <p:nvPr/>
        </p:nvSpPr>
        <p:spPr>
          <a:xfrm>
            <a:off x="8420892" y="2899945"/>
            <a:ext cx="69494" cy="986255"/>
          </a:xfrm>
          <a:prstGeom prst="rect">
            <a:avLst/>
          </a:prstGeom>
          <a:solidFill>
            <a:srgbClr val="1E4380"/>
          </a:solidFill>
          <a:ln w="12700">
            <a:solidFill>
              <a:srgbClr val="333333"/>
            </a:solidFill>
            <a:prstDash val="solid"/>
          </a:ln>
        </p:spPr>
      </p:sp>
      <p:sp>
        <p:nvSpPr>
          <p:cNvPr id="46" name="Shape 44"/>
          <p:cNvSpPr/>
          <p:nvPr/>
        </p:nvSpPr>
        <p:spPr>
          <a:xfrm>
            <a:off x="8455762" y="2937053"/>
            <a:ext cx="69494" cy="949147"/>
          </a:xfrm>
          <a:prstGeom prst="rect">
            <a:avLst/>
          </a:prstGeom>
          <a:solidFill>
            <a:srgbClr val="1E4380"/>
          </a:solidFill>
          <a:ln w="12700">
            <a:solidFill>
              <a:srgbClr val="333333"/>
            </a:solidFill>
            <a:prstDash val="solid"/>
          </a:ln>
        </p:spPr>
      </p:sp>
      <p:sp>
        <p:nvSpPr>
          <p:cNvPr id="47" name="Shape 45"/>
          <p:cNvSpPr/>
          <p:nvPr/>
        </p:nvSpPr>
        <p:spPr>
          <a:xfrm>
            <a:off x="8490631" y="2972819"/>
            <a:ext cx="69494" cy="913381"/>
          </a:xfrm>
          <a:prstGeom prst="rect">
            <a:avLst/>
          </a:prstGeom>
          <a:solidFill>
            <a:srgbClr val="1E4380"/>
          </a:solidFill>
          <a:ln w="12700">
            <a:solidFill>
              <a:srgbClr val="333333"/>
            </a:solidFill>
            <a:prstDash val="solid"/>
          </a:ln>
        </p:spPr>
      </p:sp>
      <p:sp>
        <p:nvSpPr>
          <p:cNvPr id="48" name="Shape 46"/>
          <p:cNvSpPr/>
          <p:nvPr/>
        </p:nvSpPr>
        <p:spPr>
          <a:xfrm>
            <a:off x="8525500" y="3007273"/>
            <a:ext cx="69494" cy="878927"/>
          </a:xfrm>
          <a:prstGeom prst="rect">
            <a:avLst/>
          </a:prstGeom>
          <a:solidFill>
            <a:srgbClr val="1E4380"/>
          </a:solidFill>
          <a:ln w="12700">
            <a:solidFill>
              <a:srgbClr val="333333"/>
            </a:solidFill>
            <a:prstDash val="solid"/>
          </a:ln>
        </p:spPr>
      </p:sp>
      <p:sp>
        <p:nvSpPr>
          <p:cNvPr id="49" name="Shape 47"/>
          <p:cNvSpPr/>
          <p:nvPr/>
        </p:nvSpPr>
        <p:spPr>
          <a:xfrm>
            <a:off x="8560369" y="3040445"/>
            <a:ext cx="69494" cy="845755"/>
          </a:xfrm>
          <a:prstGeom prst="rect">
            <a:avLst/>
          </a:prstGeom>
          <a:solidFill>
            <a:srgbClr val="1E4380"/>
          </a:solidFill>
          <a:ln w="12700">
            <a:solidFill>
              <a:srgbClr val="333333"/>
            </a:solidFill>
            <a:prstDash val="solid"/>
          </a:ln>
        </p:spPr>
      </p:sp>
      <p:sp>
        <p:nvSpPr>
          <p:cNvPr id="50" name="Shape 48"/>
          <p:cNvSpPr/>
          <p:nvPr/>
        </p:nvSpPr>
        <p:spPr>
          <a:xfrm>
            <a:off x="8595238" y="3072370"/>
            <a:ext cx="69494" cy="813830"/>
          </a:xfrm>
          <a:prstGeom prst="rect">
            <a:avLst/>
          </a:prstGeom>
          <a:solidFill>
            <a:srgbClr val="1E4380"/>
          </a:solidFill>
          <a:ln w="12700">
            <a:solidFill>
              <a:srgbClr val="333333"/>
            </a:solidFill>
            <a:prstDash val="solid"/>
          </a:ln>
        </p:spPr>
      </p:sp>
      <p:sp>
        <p:nvSpPr>
          <p:cNvPr id="51" name="Shape 49"/>
          <p:cNvSpPr/>
          <p:nvPr/>
        </p:nvSpPr>
        <p:spPr>
          <a:xfrm>
            <a:off x="8630107" y="3103081"/>
            <a:ext cx="69494" cy="783119"/>
          </a:xfrm>
          <a:prstGeom prst="rect">
            <a:avLst/>
          </a:prstGeom>
          <a:solidFill>
            <a:srgbClr val="1E4380"/>
          </a:solidFill>
          <a:ln w="12700">
            <a:solidFill>
              <a:srgbClr val="333333"/>
            </a:solidFill>
            <a:prstDash val="solid"/>
          </a:ln>
        </p:spPr>
      </p:sp>
      <p:sp>
        <p:nvSpPr>
          <p:cNvPr id="52" name="Shape 50"/>
          <p:cNvSpPr/>
          <p:nvPr/>
        </p:nvSpPr>
        <p:spPr>
          <a:xfrm>
            <a:off x="8664976" y="3132616"/>
            <a:ext cx="69494" cy="753584"/>
          </a:xfrm>
          <a:prstGeom prst="rect">
            <a:avLst/>
          </a:prstGeom>
          <a:solidFill>
            <a:srgbClr val="1E4380"/>
          </a:solidFill>
          <a:ln w="12700">
            <a:solidFill>
              <a:srgbClr val="333333"/>
            </a:solidFill>
            <a:prstDash val="solid"/>
          </a:ln>
        </p:spPr>
      </p:sp>
      <p:sp>
        <p:nvSpPr>
          <p:cNvPr id="53" name="Shape 51"/>
          <p:cNvSpPr/>
          <p:nvPr/>
        </p:nvSpPr>
        <p:spPr>
          <a:xfrm>
            <a:off x="8699845" y="3161011"/>
            <a:ext cx="69494" cy="725189"/>
          </a:xfrm>
          <a:prstGeom prst="rect">
            <a:avLst/>
          </a:prstGeom>
          <a:solidFill>
            <a:srgbClr val="1E4380"/>
          </a:solidFill>
          <a:ln w="12700">
            <a:solidFill>
              <a:srgbClr val="333333"/>
            </a:solidFill>
            <a:prstDash val="solid"/>
          </a:ln>
        </p:spPr>
      </p:sp>
      <p:sp>
        <p:nvSpPr>
          <p:cNvPr id="54" name="Shape 52"/>
          <p:cNvSpPr/>
          <p:nvPr/>
        </p:nvSpPr>
        <p:spPr>
          <a:xfrm>
            <a:off x="8734715" y="3188303"/>
            <a:ext cx="69494" cy="697897"/>
          </a:xfrm>
          <a:prstGeom prst="rect">
            <a:avLst/>
          </a:prstGeom>
          <a:solidFill>
            <a:srgbClr val="1E4380"/>
          </a:solidFill>
          <a:ln w="12700">
            <a:solidFill>
              <a:srgbClr val="333333"/>
            </a:solidFill>
            <a:prstDash val="solid"/>
          </a:ln>
        </p:spPr>
      </p:sp>
      <p:sp>
        <p:nvSpPr>
          <p:cNvPr id="55" name="Shape 53"/>
          <p:cNvSpPr/>
          <p:nvPr/>
        </p:nvSpPr>
        <p:spPr>
          <a:xfrm>
            <a:off x="8769584" y="3214529"/>
            <a:ext cx="69494" cy="671671"/>
          </a:xfrm>
          <a:prstGeom prst="rect">
            <a:avLst/>
          </a:prstGeom>
          <a:solidFill>
            <a:srgbClr val="1E4380"/>
          </a:solidFill>
          <a:ln w="12700">
            <a:solidFill>
              <a:srgbClr val="333333"/>
            </a:solidFill>
            <a:prstDash val="solid"/>
          </a:ln>
        </p:spPr>
      </p:sp>
      <p:sp>
        <p:nvSpPr>
          <p:cNvPr id="56" name="Shape 54"/>
          <p:cNvSpPr/>
          <p:nvPr/>
        </p:nvSpPr>
        <p:spPr>
          <a:xfrm>
            <a:off x="8804453" y="3239727"/>
            <a:ext cx="69494" cy="646473"/>
          </a:xfrm>
          <a:prstGeom prst="rect">
            <a:avLst/>
          </a:prstGeom>
          <a:solidFill>
            <a:srgbClr val="1E4380"/>
          </a:solidFill>
          <a:ln w="12700">
            <a:solidFill>
              <a:srgbClr val="333333"/>
            </a:solidFill>
            <a:prstDash val="solid"/>
          </a:ln>
        </p:spPr>
      </p:sp>
      <p:sp>
        <p:nvSpPr>
          <p:cNvPr id="57" name="Shape 55"/>
          <p:cNvSpPr/>
          <p:nvPr/>
        </p:nvSpPr>
        <p:spPr>
          <a:xfrm>
            <a:off x="8839322" y="3263933"/>
            <a:ext cx="69494" cy="622267"/>
          </a:xfrm>
          <a:prstGeom prst="rect">
            <a:avLst/>
          </a:prstGeom>
          <a:solidFill>
            <a:srgbClr val="1E4380"/>
          </a:solidFill>
          <a:ln w="12700">
            <a:solidFill>
              <a:srgbClr val="333333"/>
            </a:solidFill>
            <a:prstDash val="solid"/>
          </a:ln>
        </p:spPr>
      </p:sp>
      <p:sp>
        <p:nvSpPr>
          <p:cNvPr id="58" name="Shape 56"/>
          <p:cNvSpPr/>
          <p:nvPr/>
        </p:nvSpPr>
        <p:spPr>
          <a:xfrm>
            <a:off x="8874191" y="3287184"/>
            <a:ext cx="69494" cy="599016"/>
          </a:xfrm>
          <a:prstGeom prst="rect">
            <a:avLst/>
          </a:prstGeom>
          <a:solidFill>
            <a:srgbClr val="1E4380"/>
          </a:solidFill>
          <a:ln w="12700">
            <a:solidFill>
              <a:srgbClr val="333333"/>
            </a:solidFill>
            <a:prstDash val="solid"/>
          </a:ln>
        </p:spPr>
      </p:sp>
      <p:sp>
        <p:nvSpPr>
          <p:cNvPr id="59" name="Shape 57"/>
          <p:cNvSpPr/>
          <p:nvPr/>
        </p:nvSpPr>
        <p:spPr>
          <a:xfrm>
            <a:off x="8909060" y="3309514"/>
            <a:ext cx="69494" cy="576686"/>
          </a:xfrm>
          <a:prstGeom prst="rect">
            <a:avLst/>
          </a:prstGeom>
          <a:solidFill>
            <a:srgbClr val="1E4380"/>
          </a:solidFill>
          <a:ln w="12700">
            <a:solidFill>
              <a:srgbClr val="333333"/>
            </a:solidFill>
            <a:prstDash val="solid"/>
          </a:ln>
        </p:spPr>
      </p:sp>
      <p:sp>
        <p:nvSpPr>
          <p:cNvPr id="60" name="Shape 58"/>
          <p:cNvSpPr/>
          <p:nvPr/>
        </p:nvSpPr>
        <p:spPr>
          <a:xfrm>
            <a:off x="8943929" y="3330959"/>
            <a:ext cx="69494" cy="555241"/>
          </a:xfrm>
          <a:prstGeom prst="rect">
            <a:avLst/>
          </a:prstGeom>
          <a:solidFill>
            <a:srgbClr val="1E4380"/>
          </a:solidFill>
          <a:ln w="12700">
            <a:solidFill>
              <a:srgbClr val="333333"/>
            </a:solidFill>
            <a:prstDash val="solid"/>
          </a:ln>
        </p:spPr>
      </p:sp>
      <p:sp>
        <p:nvSpPr>
          <p:cNvPr id="61" name="Shape 59"/>
          <p:cNvSpPr/>
          <p:nvPr/>
        </p:nvSpPr>
        <p:spPr>
          <a:xfrm>
            <a:off x="8978798" y="3351553"/>
            <a:ext cx="69494" cy="534647"/>
          </a:xfrm>
          <a:prstGeom prst="rect">
            <a:avLst/>
          </a:prstGeom>
          <a:solidFill>
            <a:srgbClr val="1E4380"/>
          </a:solidFill>
          <a:ln w="12700">
            <a:solidFill>
              <a:srgbClr val="333333"/>
            </a:solidFill>
            <a:prstDash val="solid"/>
          </a:ln>
        </p:spPr>
      </p:sp>
      <p:sp>
        <p:nvSpPr>
          <p:cNvPr id="62" name="Shape 60"/>
          <p:cNvSpPr/>
          <p:nvPr/>
        </p:nvSpPr>
        <p:spPr>
          <a:xfrm>
            <a:off x="9013668" y="3371329"/>
            <a:ext cx="69494" cy="514871"/>
          </a:xfrm>
          <a:prstGeom prst="rect">
            <a:avLst/>
          </a:prstGeom>
          <a:solidFill>
            <a:srgbClr val="1E4380"/>
          </a:solidFill>
          <a:ln w="12700">
            <a:solidFill>
              <a:srgbClr val="333333"/>
            </a:solidFill>
            <a:prstDash val="solid"/>
          </a:ln>
        </p:spPr>
      </p:sp>
      <p:sp>
        <p:nvSpPr>
          <p:cNvPr id="63" name="Shape 61"/>
          <p:cNvSpPr/>
          <p:nvPr/>
        </p:nvSpPr>
        <p:spPr>
          <a:xfrm>
            <a:off x="9048537" y="3390318"/>
            <a:ext cx="69494" cy="495882"/>
          </a:xfrm>
          <a:prstGeom prst="rect">
            <a:avLst/>
          </a:prstGeom>
          <a:solidFill>
            <a:srgbClr val="1E4380"/>
          </a:solidFill>
          <a:ln w="12700">
            <a:solidFill>
              <a:srgbClr val="333333"/>
            </a:solidFill>
            <a:prstDash val="solid"/>
          </a:ln>
        </p:spPr>
      </p:sp>
      <p:sp>
        <p:nvSpPr>
          <p:cNvPr id="64" name="Shape 62"/>
          <p:cNvSpPr/>
          <p:nvPr/>
        </p:nvSpPr>
        <p:spPr>
          <a:xfrm>
            <a:off x="9083406" y="3408552"/>
            <a:ext cx="69494" cy="477648"/>
          </a:xfrm>
          <a:prstGeom prst="rect">
            <a:avLst/>
          </a:prstGeom>
          <a:solidFill>
            <a:srgbClr val="1E4380"/>
          </a:solidFill>
          <a:ln w="12700">
            <a:solidFill>
              <a:srgbClr val="333333"/>
            </a:solidFill>
            <a:prstDash val="solid"/>
          </a:ln>
        </p:spPr>
      </p:sp>
      <p:sp>
        <p:nvSpPr>
          <p:cNvPr id="65" name="Shape 63"/>
          <p:cNvSpPr/>
          <p:nvPr/>
        </p:nvSpPr>
        <p:spPr>
          <a:xfrm>
            <a:off x="9118275" y="3426062"/>
            <a:ext cx="69494" cy="460138"/>
          </a:xfrm>
          <a:prstGeom prst="rect">
            <a:avLst/>
          </a:prstGeom>
          <a:solidFill>
            <a:srgbClr val="1E4380"/>
          </a:solidFill>
          <a:ln w="12700">
            <a:solidFill>
              <a:srgbClr val="333333"/>
            </a:solidFill>
            <a:prstDash val="solid"/>
          </a:ln>
        </p:spPr>
      </p:sp>
      <p:sp>
        <p:nvSpPr>
          <p:cNvPr id="66" name="Shape 64"/>
          <p:cNvSpPr/>
          <p:nvPr/>
        </p:nvSpPr>
        <p:spPr>
          <a:xfrm>
            <a:off x="9153144" y="3442876"/>
            <a:ext cx="69494" cy="443324"/>
          </a:xfrm>
          <a:prstGeom prst="rect">
            <a:avLst/>
          </a:prstGeom>
          <a:solidFill>
            <a:srgbClr val="1E4380"/>
          </a:solidFill>
          <a:ln w="12700">
            <a:solidFill>
              <a:srgbClr val="333333"/>
            </a:solidFill>
            <a:prstDash val="solid"/>
          </a:ln>
        </p:spPr>
      </p:sp>
      <p:sp>
        <p:nvSpPr>
          <p:cNvPr id="67" name="Shape 65"/>
          <p:cNvSpPr/>
          <p:nvPr/>
        </p:nvSpPr>
        <p:spPr>
          <a:xfrm>
            <a:off x="9188013" y="3459023"/>
            <a:ext cx="69494" cy="427177"/>
          </a:xfrm>
          <a:prstGeom prst="rect">
            <a:avLst/>
          </a:prstGeom>
          <a:solidFill>
            <a:srgbClr val="1E4380"/>
          </a:solidFill>
          <a:ln w="12700">
            <a:solidFill>
              <a:srgbClr val="333333"/>
            </a:solidFill>
            <a:prstDash val="solid"/>
          </a:ln>
        </p:spPr>
      </p:sp>
      <p:sp>
        <p:nvSpPr>
          <p:cNvPr id="68" name="Shape 66"/>
          <p:cNvSpPr/>
          <p:nvPr/>
        </p:nvSpPr>
        <p:spPr>
          <a:xfrm>
            <a:off x="9222882" y="3474529"/>
            <a:ext cx="69494" cy="411671"/>
          </a:xfrm>
          <a:prstGeom prst="rect">
            <a:avLst/>
          </a:prstGeom>
          <a:solidFill>
            <a:srgbClr val="1E4380"/>
          </a:solidFill>
          <a:ln w="12700">
            <a:solidFill>
              <a:srgbClr val="333333"/>
            </a:solidFill>
            <a:prstDash val="solid"/>
          </a:ln>
        </p:spPr>
      </p:sp>
      <p:sp>
        <p:nvSpPr>
          <p:cNvPr id="69" name="Shape 67"/>
          <p:cNvSpPr/>
          <p:nvPr/>
        </p:nvSpPr>
        <p:spPr>
          <a:xfrm>
            <a:off x="9257751" y="3489422"/>
            <a:ext cx="69494" cy="396778"/>
          </a:xfrm>
          <a:prstGeom prst="rect">
            <a:avLst/>
          </a:prstGeom>
          <a:solidFill>
            <a:srgbClr val="1E4380"/>
          </a:solidFill>
          <a:ln w="12700">
            <a:solidFill>
              <a:srgbClr val="333333"/>
            </a:solidFill>
            <a:prstDash val="solid"/>
          </a:ln>
        </p:spPr>
      </p:sp>
      <p:sp>
        <p:nvSpPr>
          <p:cNvPr id="70" name="Shape 68"/>
          <p:cNvSpPr/>
          <p:nvPr/>
        </p:nvSpPr>
        <p:spPr>
          <a:xfrm>
            <a:off x="9292620" y="3503725"/>
            <a:ext cx="69494" cy="382475"/>
          </a:xfrm>
          <a:prstGeom prst="rect">
            <a:avLst/>
          </a:prstGeom>
          <a:solidFill>
            <a:srgbClr val="1E4380"/>
          </a:solidFill>
          <a:ln w="12700">
            <a:solidFill>
              <a:srgbClr val="333333"/>
            </a:solidFill>
            <a:prstDash val="solid"/>
          </a:ln>
        </p:spPr>
      </p:sp>
      <p:sp>
        <p:nvSpPr>
          <p:cNvPr id="71" name="Shape 69"/>
          <p:cNvSpPr/>
          <p:nvPr/>
        </p:nvSpPr>
        <p:spPr>
          <a:xfrm>
            <a:off x="9327490" y="3517464"/>
            <a:ext cx="69494" cy="368736"/>
          </a:xfrm>
          <a:prstGeom prst="rect">
            <a:avLst/>
          </a:prstGeom>
          <a:solidFill>
            <a:srgbClr val="1E4380"/>
          </a:solidFill>
          <a:ln w="12700">
            <a:solidFill>
              <a:srgbClr val="333333"/>
            </a:solidFill>
            <a:prstDash val="solid"/>
          </a:ln>
        </p:spPr>
      </p:sp>
      <p:sp>
        <p:nvSpPr>
          <p:cNvPr id="72" name="Shape 70"/>
          <p:cNvSpPr/>
          <p:nvPr/>
        </p:nvSpPr>
        <p:spPr>
          <a:xfrm>
            <a:off x="9362359" y="3530662"/>
            <a:ext cx="69494" cy="355538"/>
          </a:xfrm>
          <a:prstGeom prst="rect">
            <a:avLst/>
          </a:prstGeom>
          <a:solidFill>
            <a:srgbClr val="1E4380"/>
          </a:solidFill>
          <a:ln w="12700">
            <a:solidFill>
              <a:srgbClr val="333333"/>
            </a:solidFill>
            <a:prstDash val="solid"/>
          </a:ln>
        </p:spPr>
      </p:sp>
      <p:sp>
        <p:nvSpPr>
          <p:cNvPr id="73" name="Shape 71"/>
          <p:cNvSpPr/>
          <p:nvPr/>
        </p:nvSpPr>
        <p:spPr>
          <a:xfrm>
            <a:off x="9397228" y="3543340"/>
            <a:ext cx="69494" cy="342860"/>
          </a:xfrm>
          <a:prstGeom prst="rect">
            <a:avLst/>
          </a:prstGeom>
          <a:solidFill>
            <a:srgbClr val="1E4380"/>
          </a:solidFill>
          <a:ln w="12700">
            <a:solidFill>
              <a:srgbClr val="333333"/>
            </a:solidFill>
            <a:prstDash val="solid"/>
          </a:ln>
        </p:spPr>
      </p:sp>
      <p:sp>
        <p:nvSpPr>
          <p:cNvPr id="74" name="Shape 72"/>
          <p:cNvSpPr/>
          <p:nvPr/>
        </p:nvSpPr>
        <p:spPr>
          <a:xfrm>
            <a:off x="9432097" y="3555521"/>
            <a:ext cx="69494" cy="330679"/>
          </a:xfrm>
          <a:prstGeom prst="rect">
            <a:avLst/>
          </a:prstGeom>
          <a:solidFill>
            <a:srgbClr val="1E4380"/>
          </a:solidFill>
          <a:ln w="12700">
            <a:solidFill>
              <a:srgbClr val="333333"/>
            </a:solidFill>
            <a:prstDash val="solid"/>
          </a:ln>
        </p:spPr>
      </p:sp>
      <p:sp>
        <p:nvSpPr>
          <p:cNvPr id="75" name="Shape 73"/>
          <p:cNvSpPr/>
          <p:nvPr/>
        </p:nvSpPr>
        <p:spPr>
          <a:xfrm>
            <a:off x="9466966" y="3567226"/>
            <a:ext cx="69494" cy="318974"/>
          </a:xfrm>
          <a:prstGeom prst="rect">
            <a:avLst/>
          </a:prstGeom>
          <a:solidFill>
            <a:srgbClr val="1E4380"/>
          </a:solidFill>
          <a:ln w="12700">
            <a:solidFill>
              <a:srgbClr val="333333"/>
            </a:solidFill>
            <a:prstDash val="solid"/>
          </a:ln>
        </p:spPr>
      </p:sp>
      <p:sp>
        <p:nvSpPr>
          <p:cNvPr id="76" name="Shape 74"/>
          <p:cNvSpPr/>
          <p:nvPr/>
        </p:nvSpPr>
        <p:spPr>
          <a:xfrm>
            <a:off x="9501835" y="3578473"/>
            <a:ext cx="69494" cy="307727"/>
          </a:xfrm>
          <a:prstGeom prst="rect">
            <a:avLst/>
          </a:prstGeom>
          <a:solidFill>
            <a:srgbClr val="1E4380"/>
          </a:solidFill>
          <a:ln w="12700">
            <a:solidFill>
              <a:srgbClr val="333333"/>
            </a:solidFill>
            <a:prstDash val="solid"/>
          </a:ln>
        </p:spPr>
      </p:sp>
      <p:sp>
        <p:nvSpPr>
          <p:cNvPr id="77" name="Shape 75"/>
          <p:cNvSpPr/>
          <p:nvPr/>
        </p:nvSpPr>
        <p:spPr>
          <a:xfrm>
            <a:off x="9536704" y="3589283"/>
            <a:ext cx="69494" cy="296917"/>
          </a:xfrm>
          <a:prstGeom prst="rect">
            <a:avLst/>
          </a:prstGeom>
          <a:solidFill>
            <a:srgbClr val="1E4380"/>
          </a:solidFill>
          <a:ln w="12700">
            <a:solidFill>
              <a:srgbClr val="333333"/>
            </a:solidFill>
            <a:prstDash val="solid"/>
          </a:ln>
        </p:spPr>
      </p:sp>
      <p:sp>
        <p:nvSpPr>
          <p:cNvPr id="78" name="Shape 76"/>
          <p:cNvSpPr/>
          <p:nvPr/>
        </p:nvSpPr>
        <p:spPr>
          <a:xfrm>
            <a:off x="9571573" y="3599672"/>
            <a:ext cx="69494" cy="286528"/>
          </a:xfrm>
          <a:prstGeom prst="rect">
            <a:avLst/>
          </a:prstGeom>
          <a:solidFill>
            <a:srgbClr val="1E4380"/>
          </a:solidFill>
          <a:ln w="12700">
            <a:solidFill>
              <a:srgbClr val="333333"/>
            </a:solidFill>
            <a:prstDash val="solid"/>
          </a:ln>
        </p:spPr>
      </p:sp>
      <p:sp>
        <p:nvSpPr>
          <p:cNvPr id="79" name="Shape 77"/>
          <p:cNvSpPr/>
          <p:nvPr/>
        </p:nvSpPr>
        <p:spPr>
          <a:xfrm>
            <a:off x="9606443" y="3609660"/>
            <a:ext cx="69494" cy="276540"/>
          </a:xfrm>
          <a:prstGeom prst="rect">
            <a:avLst/>
          </a:prstGeom>
          <a:solidFill>
            <a:srgbClr val="1E4380"/>
          </a:solidFill>
          <a:ln w="12700">
            <a:solidFill>
              <a:srgbClr val="333333"/>
            </a:solidFill>
            <a:prstDash val="solid"/>
          </a:ln>
        </p:spPr>
      </p:sp>
      <p:sp>
        <p:nvSpPr>
          <p:cNvPr id="80" name="Shape 78"/>
          <p:cNvSpPr/>
          <p:nvPr/>
        </p:nvSpPr>
        <p:spPr>
          <a:xfrm>
            <a:off x="9641312" y="3619261"/>
            <a:ext cx="69494" cy="266939"/>
          </a:xfrm>
          <a:prstGeom prst="rect">
            <a:avLst/>
          </a:prstGeom>
          <a:solidFill>
            <a:srgbClr val="1E4380"/>
          </a:solidFill>
          <a:ln w="12700">
            <a:solidFill>
              <a:srgbClr val="333333"/>
            </a:solidFill>
            <a:prstDash val="solid"/>
          </a:ln>
        </p:spPr>
      </p:sp>
      <p:sp>
        <p:nvSpPr>
          <p:cNvPr id="81" name="Shape 79"/>
          <p:cNvSpPr/>
          <p:nvPr/>
        </p:nvSpPr>
        <p:spPr>
          <a:xfrm>
            <a:off x="9676181" y="3628493"/>
            <a:ext cx="69494" cy="257707"/>
          </a:xfrm>
          <a:prstGeom prst="rect">
            <a:avLst/>
          </a:prstGeom>
          <a:solidFill>
            <a:srgbClr val="1E4380"/>
          </a:solidFill>
          <a:ln w="12700">
            <a:solidFill>
              <a:srgbClr val="333333"/>
            </a:solidFill>
            <a:prstDash val="solid"/>
          </a:ln>
        </p:spPr>
      </p:sp>
      <p:sp>
        <p:nvSpPr>
          <p:cNvPr id="82" name="Shape 80"/>
          <p:cNvSpPr/>
          <p:nvPr/>
        </p:nvSpPr>
        <p:spPr>
          <a:xfrm>
            <a:off x="9711050" y="3637370"/>
            <a:ext cx="69494" cy="248830"/>
          </a:xfrm>
          <a:prstGeom prst="rect">
            <a:avLst/>
          </a:prstGeom>
          <a:solidFill>
            <a:srgbClr val="1E4380"/>
          </a:solidFill>
          <a:ln w="12700">
            <a:solidFill>
              <a:srgbClr val="333333"/>
            </a:solidFill>
            <a:prstDash val="solid"/>
          </a:ln>
        </p:spPr>
      </p:sp>
      <p:sp>
        <p:nvSpPr>
          <p:cNvPr id="83" name="Shape 81"/>
          <p:cNvSpPr/>
          <p:nvPr/>
        </p:nvSpPr>
        <p:spPr>
          <a:xfrm>
            <a:off x="9745919" y="3645908"/>
            <a:ext cx="69494" cy="240292"/>
          </a:xfrm>
          <a:prstGeom prst="rect">
            <a:avLst/>
          </a:prstGeom>
          <a:solidFill>
            <a:srgbClr val="1E4380"/>
          </a:solidFill>
          <a:ln w="12700">
            <a:solidFill>
              <a:srgbClr val="333333"/>
            </a:solidFill>
            <a:prstDash val="solid"/>
          </a:ln>
        </p:spPr>
      </p:sp>
      <p:sp>
        <p:nvSpPr>
          <p:cNvPr id="84" name="Shape 82"/>
          <p:cNvSpPr/>
          <p:nvPr/>
        </p:nvSpPr>
        <p:spPr>
          <a:xfrm>
            <a:off x="9780788" y="3654120"/>
            <a:ext cx="69494" cy="232080"/>
          </a:xfrm>
          <a:prstGeom prst="rect">
            <a:avLst/>
          </a:prstGeom>
          <a:solidFill>
            <a:srgbClr val="1E4380"/>
          </a:solidFill>
          <a:ln w="12700">
            <a:solidFill>
              <a:srgbClr val="333333"/>
            </a:solidFill>
            <a:prstDash val="solid"/>
          </a:ln>
        </p:spPr>
      </p:sp>
      <p:sp>
        <p:nvSpPr>
          <p:cNvPr id="85" name="Shape 83"/>
          <p:cNvSpPr/>
          <p:nvPr/>
        </p:nvSpPr>
        <p:spPr>
          <a:xfrm>
            <a:off x="9815657" y="3662020"/>
            <a:ext cx="69494" cy="224180"/>
          </a:xfrm>
          <a:prstGeom prst="rect">
            <a:avLst/>
          </a:prstGeom>
          <a:solidFill>
            <a:srgbClr val="1E4380"/>
          </a:solidFill>
          <a:ln w="12700">
            <a:solidFill>
              <a:srgbClr val="333333"/>
            </a:solidFill>
            <a:prstDash val="solid"/>
          </a:ln>
        </p:spPr>
      </p:sp>
      <p:sp>
        <p:nvSpPr>
          <p:cNvPr id="86" name="Shape 84"/>
          <p:cNvSpPr/>
          <p:nvPr/>
        </p:nvSpPr>
        <p:spPr>
          <a:xfrm>
            <a:off x="9850526" y="3669620"/>
            <a:ext cx="69494" cy="216580"/>
          </a:xfrm>
          <a:prstGeom prst="rect">
            <a:avLst/>
          </a:prstGeom>
          <a:solidFill>
            <a:srgbClr val="1E4380"/>
          </a:solidFill>
          <a:ln w="12700">
            <a:solidFill>
              <a:srgbClr val="333333"/>
            </a:solidFill>
            <a:prstDash val="solid"/>
          </a:ln>
        </p:spPr>
      </p:sp>
      <p:sp>
        <p:nvSpPr>
          <p:cNvPr id="87" name="Shape 85"/>
          <p:cNvSpPr/>
          <p:nvPr/>
        </p:nvSpPr>
        <p:spPr>
          <a:xfrm>
            <a:off x="9885396" y="3676933"/>
            <a:ext cx="69494" cy="209267"/>
          </a:xfrm>
          <a:prstGeom prst="rect">
            <a:avLst/>
          </a:prstGeom>
          <a:solidFill>
            <a:srgbClr val="1E4380"/>
          </a:solidFill>
          <a:ln w="12700">
            <a:solidFill>
              <a:srgbClr val="333333"/>
            </a:solidFill>
            <a:prstDash val="solid"/>
          </a:ln>
        </p:spPr>
      </p:sp>
      <p:sp>
        <p:nvSpPr>
          <p:cNvPr id="88" name="Shape 86"/>
          <p:cNvSpPr/>
          <p:nvPr/>
        </p:nvSpPr>
        <p:spPr>
          <a:xfrm>
            <a:off x="9920265" y="3683971"/>
            <a:ext cx="69494" cy="202229"/>
          </a:xfrm>
          <a:prstGeom prst="rect">
            <a:avLst/>
          </a:prstGeom>
          <a:solidFill>
            <a:srgbClr val="1E4380"/>
          </a:solidFill>
          <a:ln w="12700">
            <a:solidFill>
              <a:srgbClr val="333333"/>
            </a:solidFill>
            <a:prstDash val="solid"/>
          </a:ln>
        </p:spPr>
      </p:sp>
      <p:sp>
        <p:nvSpPr>
          <p:cNvPr id="89" name="Shape 87"/>
          <p:cNvSpPr/>
          <p:nvPr/>
        </p:nvSpPr>
        <p:spPr>
          <a:xfrm>
            <a:off x="9955134" y="3690745"/>
            <a:ext cx="69494" cy="195455"/>
          </a:xfrm>
          <a:prstGeom prst="rect">
            <a:avLst/>
          </a:prstGeom>
          <a:solidFill>
            <a:srgbClr val="1E4380"/>
          </a:solidFill>
          <a:ln w="12700">
            <a:solidFill>
              <a:srgbClr val="333333"/>
            </a:solidFill>
            <a:prstDash val="solid"/>
          </a:ln>
        </p:spPr>
      </p:sp>
      <p:sp>
        <p:nvSpPr>
          <p:cNvPr id="90" name="Shape 88"/>
          <p:cNvSpPr/>
          <p:nvPr/>
        </p:nvSpPr>
        <p:spPr>
          <a:xfrm>
            <a:off x="9990003" y="3697266"/>
            <a:ext cx="69494" cy="188934"/>
          </a:xfrm>
          <a:prstGeom prst="rect">
            <a:avLst/>
          </a:prstGeom>
          <a:solidFill>
            <a:srgbClr val="1E4380"/>
          </a:solidFill>
          <a:ln w="12700">
            <a:solidFill>
              <a:srgbClr val="333333"/>
            </a:solidFill>
            <a:prstDash val="solid"/>
          </a:ln>
        </p:spPr>
      </p:sp>
      <p:sp>
        <p:nvSpPr>
          <p:cNvPr id="91" name="Shape 89"/>
          <p:cNvSpPr/>
          <p:nvPr/>
        </p:nvSpPr>
        <p:spPr>
          <a:xfrm>
            <a:off x="10024872" y="3703544"/>
            <a:ext cx="69494" cy="182656"/>
          </a:xfrm>
          <a:prstGeom prst="rect">
            <a:avLst/>
          </a:prstGeom>
          <a:solidFill>
            <a:srgbClr val="1E4380"/>
          </a:solidFill>
          <a:ln w="12700">
            <a:solidFill>
              <a:srgbClr val="333333"/>
            </a:solidFill>
            <a:prstDash val="solid"/>
          </a:ln>
        </p:spPr>
      </p:sp>
      <p:sp>
        <p:nvSpPr>
          <p:cNvPr id="92" name="Shape 90"/>
          <p:cNvSpPr/>
          <p:nvPr/>
        </p:nvSpPr>
        <p:spPr>
          <a:xfrm>
            <a:off x="10059741" y="3709589"/>
            <a:ext cx="69494" cy="176611"/>
          </a:xfrm>
          <a:prstGeom prst="rect">
            <a:avLst/>
          </a:prstGeom>
          <a:solidFill>
            <a:srgbClr val="1E4380"/>
          </a:solidFill>
          <a:ln w="12700">
            <a:solidFill>
              <a:srgbClr val="333333"/>
            </a:solidFill>
            <a:prstDash val="solid"/>
          </a:ln>
        </p:spPr>
      </p:sp>
      <p:sp>
        <p:nvSpPr>
          <p:cNvPr id="93" name="Shape 91"/>
          <p:cNvSpPr/>
          <p:nvPr/>
        </p:nvSpPr>
        <p:spPr>
          <a:xfrm>
            <a:off x="10094610" y="3715410"/>
            <a:ext cx="69494" cy="170790"/>
          </a:xfrm>
          <a:prstGeom prst="rect">
            <a:avLst/>
          </a:prstGeom>
          <a:solidFill>
            <a:srgbClr val="1E4380"/>
          </a:solidFill>
          <a:ln w="12700">
            <a:solidFill>
              <a:srgbClr val="333333"/>
            </a:solidFill>
            <a:prstDash val="solid"/>
          </a:ln>
        </p:spPr>
      </p:sp>
      <p:sp>
        <p:nvSpPr>
          <p:cNvPr id="94" name="Shape 92"/>
          <p:cNvSpPr/>
          <p:nvPr/>
        </p:nvSpPr>
        <p:spPr>
          <a:xfrm>
            <a:off x="10129479" y="3721016"/>
            <a:ext cx="69494" cy="165184"/>
          </a:xfrm>
          <a:prstGeom prst="rect">
            <a:avLst/>
          </a:prstGeom>
          <a:solidFill>
            <a:srgbClr val="1E4380"/>
          </a:solidFill>
          <a:ln w="12700">
            <a:solidFill>
              <a:srgbClr val="333333"/>
            </a:solidFill>
            <a:prstDash val="solid"/>
          </a:ln>
        </p:spPr>
      </p:sp>
      <p:sp>
        <p:nvSpPr>
          <p:cNvPr id="95" name="Shape 93"/>
          <p:cNvSpPr/>
          <p:nvPr/>
        </p:nvSpPr>
        <p:spPr>
          <a:xfrm>
            <a:off x="10164348" y="3726417"/>
            <a:ext cx="69494" cy="159783"/>
          </a:xfrm>
          <a:prstGeom prst="rect">
            <a:avLst/>
          </a:prstGeom>
          <a:solidFill>
            <a:srgbClr val="1E4380"/>
          </a:solidFill>
          <a:ln w="12700">
            <a:solidFill>
              <a:srgbClr val="333333"/>
            </a:solidFill>
            <a:prstDash val="solid"/>
          </a:ln>
        </p:spPr>
      </p:sp>
      <p:sp>
        <p:nvSpPr>
          <p:cNvPr id="96" name="Shape 94"/>
          <p:cNvSpPr/>
          <p:nvPr/>
        </p:nvSpPr>
        <p:spPr>
          <a:xfrm>
            <a:off x="10199218" y="3731620"/>
            <a:ext cx="69494" cy="154580"/>
          </a:xfrm>
          <a:prstGeom prst="rect">
            <a:avLst/>
          </a:prstGeom>
          <a:solidFill>
            <a:srgbClr val="1E4380"/>
          </a:solidFill>
          <a:ln w="12700">
            <a:solidFill>
              <a:srgbClr val="333333"/>
            </a:solidFill>
            <a:prstDash val="solid"/>
          </a:ln>
        </p:spPr>
      </p:sp>
      <p:sp>
        <p:nvSpPr>
          <p:cNvPr id="97" name="Shape 95"/>
          <p:cNvSpPr/>
          <p:nvPr/>
        </p:nvSpPr>
        <p:spPr>
          <a:xfrm>
            <a:off x="10234087" y="3736633"/>
            <a:ext cx="69494" cy="149567"/>
          </a:xfrm>
          <a:prstGeom prst="rect">
            <a:avLst/>
          </a:prstGeom>
          <a:solidFill>
            <a:srgbClr val="1E4380"/>
          </a:solidFill>
          <a:ln w="12700">
            <a:solidFill>
              <a:srgbClr val="333333"/>
            </a:solidFill>
            <a:prstDash val="solid"/>
          </a:ln>
        </p:spPr>
      </p:sp>
      <p:sp>
        <p:nvSpPr>
          <p:cNvPr id="98" name="Shape 96"/>
          <p:cNvSpPr/>
          <p:nvPr/>
        </p:nvSpPr>
        <p:spPr>
          <a:xfrm>
            <a:off x="10268956" y="3741465"/>
            <a:ext cx="69494" cy="144735"/>
          </a:xfrm>
          <a:prstGeom prst="rect">
            <a:avLst/>
          </a:prstGeom>
          <a:solidFill>
            <a:srgbClr val="1E4380"/>
          </a:solidFill>
          <a:ln w="12700">
            <a:solidFill>
              <a:srgbClr val="333333"/>
            </a:solidFill>
            <a:prstDash val="solid"/>
          </a:ln>
        </p:spPr>
      </p:sp>
      <p:sp>
        <p:nvSpPr>
          <p:cNvPr id="99" name="Shape 97"/>
          <p:cNvSpPr/>
          <p:nvPr/>
        </p:nvSpPr>
        <p:spPr>
          <a:xfrm>
            <a:off x="10303825" y="3746121"/>
            <a:ext cx="69494" cy="140079"/>
          </a:xfrm>
          <a:prstGeom prst="rect">
            <a:avLst/>
          </a:prstGeom>
          <a:solidFill>
            <a:srgbClr val="1E4380"/>
          </a:solidFill>
          <a:ln w="12700">
            <a:solidFill>
              <a:srgbClr val="333333"/>
            </a:solidFill>
            <a:prstDash val="solid"/>
          </a:ln>
        </p:spPr>
      </p:sp>
      <p:sp>
        <p:nvSpPr>
          <p:cNvPr id="100" name="Shape 98"/>
          <p:cNvSpPr/>
          <p:nvPr/>
        </p:nvSpPr>
        <p:spPr>
          <a:xfrm>
            <a:off x="10338694" y="3750610"/>
            <a:ext cx="69494" cy="135590"/>
          </a:xfrm>
          <a:prstGeom prst="rect">
            <a:avLst/>
          </a:prstGeom>
          <a:solidFill>
            <a:srgbClr val="1E4380"/>
          </a:solidFill>
          <a:ln w="12700">
            <a:solidFill>
              <a:srgbClr val="333333"/>
            </a:solidFill>
            <a:prstDash val="solid"/>
          </a:ln>
        </p:spPr>
      </p:sp>
      <p:sp>
        <p:nvSpPr>
          <p:cNvPr id="101" name="Shape 99"/>
          <p:cNvSpPr/>
          <p:nvPr/>
        </p:nvSpPr>
        <p:spPr>
          <a:xfrm>
            <a:off x="10373563" y="3754937"/>
            <a:ext cx="69494" cy="131263"/>
          </a:xfrm>
          <a:prstGeom prst="rect">
            <a:avLst/>
          </a:prstGeom>
          <a:solidFill>
            <a:srgbClr val="1E4380"/>
          </a:solidFill>
          <a:ln w="12700">
            <a:solidFill>
              <a:srgbClr val="333333"/>
            </a:solidFill>
            <a:prstDash val="solid"/>
          </a:ln>
        </p:spPr>
      </p:sp>
      <p:sp>
        <p:nvSpPr>
          <p:cNvPr id="102" name="Shape 100"/>
          <p:cNvSpPr/>
          <p:nvPr/>
        </p:nvSpPr>
        <p:spPr>
          <a:xfrm>
            <a:off x="10408432" y="3759110"/>
            <a:ext cx="69494" cy="127090"/>
          </a:xfrm>
          <a:prstGeom prst="rect">
            <a:avLst/>
          </a:prstGeom>
          <a:solidFill>
            <a:srgbClr val="1E4380"/>
          </a:solidFill>
          <a:ln w="12700">
            <a:solidFill>
              <a:srgbClr val="333333"/>
            </a:solidFill>
            <a:prstDash val="solid"/>
          </a:ln>
        </p:spPr>
      </p:sp>
      <p:sp>
        <p:nvSpPr>
          <p:cNvPr id="103" name="Shape 101"/>
          <p:cNvSpPr/>
          <p:nvPr/>
        </p:nvSpPr>
        <p:spPr>
          <a:xfrm>
            <a:off x="10443301" y="3763133"/>
            <a:ext cx="69494" cy="123067"/>
          </a:xfrm>
          <a:prstGeom prst="rect">
            <a:avLst/>
          </a:prstGeom>
          <a:solidFill>
            <a:srgbClr val="1E4380"/>
          </a:solidFill>
          <a:ln w="12700">
            <a:solidFill>
              <a:srgbClr val="333333"/>
            </a:solidFill>
            <a:prstDash val="solid"/>
          </a:ln>
        </p:spPr>
      </p:sp>
      <p:sp>
        <p:nvSpPr>
          <p:cNvPr id="104" name="Shape 102"/>
          <p:cNvSpPr/>
          <p:nvPr/>
        </p:nvSpPr>
        <p:spPr>
          <a:xfrm>
            <a:off x="10478171" y="3767014"/>
            <a:ext cx="69494" cy="119186"/>
          </a:xfrm>
          <a:prstGeom prst="rect">
            <a:avLst/>
          </a:prstGeom>
          <a:solidFill>
            <a:srgbClr val="1E4380"/>
          </a:solidFill>
          <a:ln w="12700">
            <a:solidFill>
              <a:srgbClr val="333333"/>
            </a:solidFill>
            <a:prstDash val="solid"/>
          </a:ln>
        </p:spPr>
      </p:sp>
      <p:sp>
        <p:nvSpPr>
          <p:cNvPr id="105" name="Shape 103"/>
          <p:cNvSpPr/>
          <p:nvPr/>
        </p:nvSpPr>
        <p:spPr>
          <a:xfrm>
            <a:off x="10513040" y="3770758"/>
            <a:ext cx="69494" cy="115442"/>
          </a:xfrm>
          <a:prstGeom prst="rect">
            <a:avLst/>
          </a:prstGeom>
          <a:solidFill>
            <a:srgbClr val="1E4380"/>
          </a:solidFill>
          <a:ln w="12700">
            <a:solidFill>
              <a:srgbClr val="333333"/>
            </a:solidFill>
            <a:prstDash val="solid"/>
          </a:ln>
        </p:spPr>
      </p:sp>
      <p:sp>
        <p:nvSpPr>
          <p:cNvPr id="106" name="Shape 104"/>
          <p:cNvSpPr/>
          <p:nvPr/>
        </p:nvSpPr>
        <p:spPr>
          <a:xfrm>
            <a:off x="10547909" y="3774369"/>
            <a:ext cx="69494" cy="111831"/>
          </a:xfrm>
          <a:prstGeom prst="rect">
            <a:avLst/>
          </a:prstGeom>
          <a:solidFill>
            <a:srgbClr val="1E4380"/>
          </a:solidFill>
          <a:ln w="12700">
            <a:solidFill>
              <a:srgbClr val="333333"/>
            </a:solidFill>
            <a:prstDash val="solid"/>
          </a:ln>
        </p:spPr>
      </p:sp>
      <p:sp>
        <p:nvSpPr>
          <p:cNvPr id="107" name="Shape 105"/>
          <p:cNvSpPr/>
          <p:nvPr/>
        </p:nvSpPr>
        <p:spPr>
          <a:xfrm>
            <a:off x="10582778" y="3777854"/>
            <a:ext cx="69494" cy="108346"/>
          </a:xfrm>
          <a:prstGeom prst="rect">
            <a:avLst/>
          </a:prstGeom>
          <a:solidFill>
            <a:srgbClr val="1E4380"/>
          </a:solidFill>
          <a:ln w="12700">
            <a:solidFill>
              <a:srgbClr val="333333"/>
            </a:solidFill>
            <a:prstDash val="solid"/>
          </a:ln>
        </p:spPr>
      </p:sp>
      <p:sp>
        <p:nvSpPr>
          <p:cNvPr id="108" name="Shape 106"/>
          <p:cNvSpPr/>
          <p:nvPr/>
        </p:nvSpPr>
        <p:spPr>
          <a:xfrm>
            <a:off x="10617647" y="3781216"/>
            <a:ext cx="69494" cy="104984"/>
          </a:xfrm>
          <a:prstGeom prst="rect">
            <a:avLst/>
          </a:prstGeom>
          <a:solidFill>
            <a:srgbClr val="1E4380"/>
          </a:solidFill>
          <a:ln w="12700">
            <a:solidFill>
              <a:srgbClr val="333333"/>
            </a:solidFill>
            <a:prstDash val="solid"/>
          </a:ln>
        </p:spPr>
      </p:sp>
      <p:sp>
        <p:nvSpPr>
          <p:cNvPr id="109" name="Shape 107"/>
          <p:cNvSpPr/>
          <p:nvPr/>
        </p:nvSpPr>
        <p:spPr>
          <a:xfrm>
            <a:off x="10652516" y="3784462"/>
            <a:ext cx="69494" cy="101738"/>
          </a:xfrm>
          <a:prstGeom prst="rect">
            <a:avLst/>
          </a:prstGeom>
          <a:solidFill>
            <a:srgbClr val="1E4380"/>
          </a:solidFill>
          <a:ln w="12700">
            <a:solidFill>
              <a:srgbClr val="333333"/>
            </a:solidFill>
            <a:prstDash val="solid"/>
          </a:ln>
        </p:spPr>
      </p:sp>
      <p:sp>
        <p:nvSpPr>
          <p:cNvPr id="110" name="Shape 108"/>
          <p:cNvSpPr/>
          <p:nvPr/>
        </p:nvSpPr>
        <p:spPr>
          <a:xfrm>
            <a:off x="10687385" y="3787595"/>
            <a:ext cx="69494" cy="98605"/>
          </a:xfrm>
          <a:prstGeom prst="rect">
            <a:avLst/>
          </a:prstGeom>
          <a:solidFill>
            <a:srgbClr val="1E4380"/>
          </a:solidFill>
          <a:ln w="12700">
            <a:solidFill>
              <a:srgbClr val="333333"/>
            </a:solidFill>
            <a:prstDash val="solid"/>
          </a:ln>
        </p:spPr>
      </p:sp>
      <p:sp>
        <p:nvSpPr>
          <p:cNvPr id="111" name="Shape 109"/>
          <p:cNvSpPr/>
          <p:nvPr/>
        </p:nvSpPr>
        <p:spPr>
          <a:xfrm>
            <a:off x="10722254" y="3790619"/>
            <a:ext cx="69494" cy="95581"/>
          </a:xfrm>
          <a:prstGeom prst="rect">
            <a:avLst/>
          </a:prstGeom>
          <a:solidFill>
            <a:srgbClr val="1E4380"/>
          </a:solidFill>
          <a:ln w="12700">
            <a:solidFill>
              <a:srgbClr val="333333"/>
            </a:solidFill>
            <a:prstDash val="solid"/>
          </a:ln>
        </p:spPr>
      </p:sp>
      <p:sp>
        <p:nvSpPr>
          <p:cNvPr id="112" name="Shape 110"/>
          <p:cNvSpPr/>
          <p:nvPr/>
        </p:nvSpPr>
        <p:spPr>
          <a:xfrm>
            <a:off x="10757124" y="3793539"/>
            <a:ext cx="69494" cy="92661"/>
          </a:xfrm>
          <a:prstGeom prst="rect">
            <a:avLst/>
          </a:prstGeom>
          <a:solidFill>
            <a:srgbClr val="1E4380"/>
          </a:solidFill>
          <a:ln w="12700">
            <a:solidFill>
              <a:srgbClr val="333333"/>
            </a:solidFill>
            <a:prstDash val="solid"/>
          </a:ln>
        </p:spPr>
      </p:sp>
      <p:sp>
        <p:nvSpPr>
          <p:cNvPr id="113" name="Shape 111"/>
          <p:cNvSpPr/>
          <p:nvPr/>
        </p:nvSpPr>
        <p:spPr>
          <a:xfrm>
            <a:off x="10791993" y="3796359"/>
            <a:ext cx="69494" cy="89841"/>
          </a:xfrm>
          <a:prstGeom prst="rect">
            <a:avLst/>
          </a:prstGeom>
          <a:solidFill>
            <a:srgbClr val="1E4380"/>
          </a:solidFill>
          <a:ln w="12700">
            <a:solidFill>
              <a:srgbClr val="333333"/>
            </a:solidFill>
            <a:prstDash val="solid"/>
          </a:ln>
        </p:spPr>
      </p:sp>
      <p:sp>
        <p:nvSpPr>
          <p:cNvPr id="114" name="Shape 112"/>
          <p:cNvSpPr/>
          <p:nvPr/>
        </p:nvSpPr>
        <p:spPr>
          <a:xfrm>
            <a:off x="10826862" y="3799083"/>
            <a:ext cx="69494" cy="87117"/>
          </a:xfrm>
          <a:prstGeom prst="rect">
            <a:avLst/>
          </a:prstGeom>
          <a:solidFill>
            <a:srgbClr val="1E4380"/>
          </a:solidFill>
          <a:ln w="12700">
            <a:solidFill>
              <a:srgbClr val="333333"/>
            </a:solidFill>
            <a:prstDash val="solid"/>
          </a:ln>
        </p:spPr>
      </p:sp>
      <p:sp>
        <p:nvSpPr>
          <p:cNvPr id="115" name="Shape 113"/>
          <p:cNvSpPr/>
          <p:nvPr/>
        </p:nvSpPr>
        <p:spPr>
          <a:xfrm>
            <a:off x="10861731" y="3801714"/>
            <a:ext cx="69494" cy="84486"/>
          </a:xfrm>
          <a:prstGeom prst="rect">
            <a:avLst/>
          </a:prstGeom>
          <a:solidFill>
            <a:srgbClr val="1E4380"/>
          </a:solidFill>
          <a:ln w="12700">
            <a:solidFill>
              <a:srgbClr val="333333"/>
            </a:solidFill>
            <a:prstDash val="solid"/>
          </a:ln>
        </p:spPr>
      </p:sp>
      <p:sp>
        <p:nvSpPr>
          <p:cNvPr id="116" name="Shape 114"/>
          <p:cNvSpPr/>
          <p:nvPr/>
        </p:nvSpPr>
        <p:spPr>
          <a:xfrm>
            <a:off x="10896600" y="3804255"/>
            <a:ext cx="69494" cy="81945"/>
          </a:xfrm>
          <a:prstGeom prst="rect">
            <a:avLst/>
          </a:prstGeom>
          <a:solidFill>
            <a:srgbClr val="1E4380"/>
          </a:solidFill>
          <a:ln w="12700">
            <a:solidFill>
              <a:srgbClr val="333333"/>
            </a:solidFill>
            <a:prstDash val="solid"/>
          </a:ln>
        </p:spPr>
      </p:sp>
      <p:sp>
        <p:nvSpPr>
          <p:cNvPr id="117" name="Shape 115"/>
          <p:cNvSpPr/>
          <p:nvPr/>
        </p:nvSpPr>
        <p:spPr>
          <a:xfrm>
            <a:off x="10931469" y="3806710"/>
            <a:ext cx="69494" cy="79490"/>
          </a:xfrm>
          <a:prstGeom prst="rect">
            <a:avLst/>
          </a:prstGeom>
          <a:solidFill>
            <a:srgbClr val="1E4380"/>
          </a:solidFill>
          <a:ln w="12700">
            <a:solidFill>
              <a:srgbClr val="333333"/>
            </a:solidFill>
            <a:prstDash val="solid"/>
          </a:ln>
        </p:spPr>
      </p:sp>
      <p:sp>
        <p:nvSpPr>
          <p:cNvPr id="118" name="Shape 116"/>
          <p:cNvSpPr/>
          <p:nvPr/>
        </p:nvSpPr>
        <p:spPr>
          <a:xfrm>
            <a:off x="10966338" y="3809083"/>
            <a:ext cx="69494" cy="77117"/>
          </a:xfrm>
          <a:prstGeom prst="rect">
            <a:avLst/>
          </a:prstGeom>
          <a:solidFill>
            <a:srgbClr val="1E4380"/>
          </a:solidFill>
          <a:ln w="12700">
            <a:solidFill>
              <a:srgbClr val="333333"/>
            </a:solidFill>
            <a:prstDash val="solid"/>
          </a:ln>
        </p:spPr>
      </p:sp>
      <p:sp>
        <p:nvSpPr>
          <p:cNvPr id="119" name="Shape 117"/>
          <p:cNvSpPr/>
          <p:nvPr/>
        </p:nvSpPr>
        <p:spPr>
          <a:xfrm>
            <a:off x="11001207" y="3811376"/>
            <a:ext cx="69494" cy="74824"/>
          </a:xfrm>
          <a:prstGeom prst="rect">
            <a:avLst/>
          </a:prstGeom>
          <a:solidFill>
            <a:srgbClr val="1E4380"/>
          </a:solidFill>
          <a:ln w="12700">
            <a:solidFill>
              <a:srgbClr val="333333"/>
            </a:solidFill>
            <a:prstDash val="solid"/>
          </a:ln>
        </p:spPr>
      </p:sp>
      <p:sp>
        <p:nvSpPr>
          <p:cNvPr id="120" name="Shape 118"/>
          <p:cNvSpPr/>
          <p:nvPr/>
        </p:nvSpPr>
        <p:spPr>
          <a:xfrm>
            <a:off x="11036076" y="3813593"/>
            <a:ext cx="69494" cy="72607"/>
          </a:xfrm>
          <a:prstGeom prst="rect">
            <a:avLst/>
          </a:prstGeom>
          <a:solidFill>
            <a:srgbClr val="1E4380"/>
          </a:solidFill>
          <a:ln w="12700">
            <a:solidFill>
              <a:srgbClr val="333333"/>
            </a:solidFill>
            <a:prstDash val="solid"/>
          </a:ln>
        </p:spPr>
      </p:sp>
      <p:sp>
        <p:nvSpPr>
          <p:cNvPr id="121" name="Shape 119"/>
          <p:cNvSpPr/>
          <p:nvPr/>
        </p:nvSpPr>
        <p:spPr>
          <a:xfrm>
            <a:off x="11070946" y="3815735"/>
            <a:ext cx="69494" cy="70465"/>
          </a:xfrm>
          <a:prstGeom prst="rect">
            <a:avLst/>
          </a:prstGeom>
          <a:solidFill>
            <a:srgbClr val="1E4380"/>
          </a:solidFill>
          <a:ln w="12700">
            <a:solidFill>
              <a:srgbClr val="333333"/>
            </a:solidFill>
            <a:prstDash val="solid"/>
          </a:ln>
        </p:spPr>
      </p:sp>
      <p:sp>
        <p:nvSpPr>
          <p:cNvPr id="122" name="Shape 120"/>
          <p:cNvSpPr/>
          <p:nvPr/>
        </p:nvSpPr>
        <p:spPr>
          <a:xfrm>
            <a:off x="11105815" y="3817807"/>
            <a:ext cx="69494" cy="68393"/>
          </a:xfrm>
          <a:prstGeom prst="rect">
            <a:avLst/>
          </a:prstGeom>
          <a:solidFill>
            <a:srgbClr val="1E4380"/>
          </a:solidFill>
          <a:ln w="12700">
            <a:solidFill>
              <a:srgbClr val="333333"/>
            </a:solidFill>
            <a:prstDash val="solid"/>
          </a:ln>
        </p:spPr>
      </p:sp>
      <p:sp>
        <p:nvSpPr>
          <p:cNvPr id="123" name="Shape 121"/>
          <p:cNvSpPr/>
          <p:nvPr/>
        </p:nvSpPr>
        <p:spPr>
          <a:xfrm>
            <a:off x="11140684" y="3819809"/>
            <a:ext cx="69494" cy="66391"/>
          </a:xfrm>
          <a:prstGeom prst="rect">
            <a:avLst/>
          </a:prstGeom>
          <a:solidFill>
            <a:srgbClr val="1E4380"/>
          </a:solidFill>
          <a:ln w="12700">
            <a:solidFill>
              <a:srgbClr val="333333"/>
            </a:solidFill>
            <a:prstDash val="solid"/>
          </a:ln>
        </p:spPr>
      </p:sp>
      <p:sp>
        <p:nvSpPr>
          <p:cNvPr id="124" name="Shape 122"/>
          <p:cNvSpPr/>
          <p:nvPr/>
        </p:nvSpPr>
        <p:spPr>
          <a:xfrm>
            <a:off x="11175553" y="3821746"/>
            <a:ext cx="69494" cy="64454"/>
          </a:xfrm>
          <a:prstGeom prst="rect">
            <a:avLst/>
          </a:prstGeom>
          <a:solidFill>
            <a:srgbClr val="1E4380"/>
          </a:solidFill>
          <a:ln w="12700">
            <a:solidFill>
              <a:srgbClr val="333333"/>
            </a:solidFill>
            <a:prstDash val="solid"/>
          </a:ln>
        </p:spPr>
      </p:sp>
      <p:sp>
        <p:nvSpPr>
          <p:cNvPr id="125" name="Shape 123"/>
          <p:cNvSpPr/>
          <p:nvPr/>
        </p:nvSpPr>
        <p:spPr>
          <a:xfrm>
            <a:off x="11210422" y="3823620"/>
            <a:ext cx="69494" cy="62580"/>
          </a:xfrm>
          <a:prstGeom prst="rect">
            <a:avLst/>
          </a:prstGeom>
          <a:solidFill>
            <a:srgbClr val="1E4380"/>
          </a:solidFill>
          <a:ln w="12700">
            <a:solidFill>
              <a:srgbClr val="333333"/>
            </a:solidFill>
            <a:prstDash val="solid"/>
          </a:ln>
        </p:spPr>
      </p:sp>
      <p:sp>
        <p:nvSpPr>
          <p:cNvPr id="126" name="Shape 124"/>
          <p:cNvSpPr/>
          <p:nvPr/>
        </p:nvSpPr>
        <p:spPr>
          <a:xfrm>
            <a:off x="11245291" y="3825432"/>
            <a:ext cx="69494" cy="60768"/>
          </a:xfrm>
          <a:prstGeom prst="rect">
            <a:avLst/>
          </a:prstGeom>
          <a:solidFill>
            <a:srgbClr val="1E4380"/>
          </a:solidFill>
          <a:ln w="12700">
            <a:solidFill>
              <a:srgbClr val="333333"/>
            </a:solidFill>
            <a:prstDash val="solid"/>
          </a:ln>
        </p:spPr>
      </p:sp>
      <p:sp>
        <p:nvSpPr>
          <p:cNvPr id="127" name="Shape 125"/>
          <p:cNvSpPr/>
          <p:nvPr/>
        </p:nvSpPr>
        <p:spPr>
          <a:xfrm>
            <a:off x="11280160" y="3827185"/>
            <a:ext cx="69494" cy="59015"/>
          </a:xfrm>
          <a:prstGeom prst="rect">
            <a:avLst/>
          </a:prstGeom>
          <a:solidFill>
            <a:srgbClr val="1E4380"/>
          </a:solidFill>
          <a:ln w="12700">
            <a:solidFill>
              <a:srgbClr val="333333"/>
            </a:solidFill>
            <a:prstDash val="solid"/>
          </a:ln>
        </p:spPr>
      </p:sp>
      <p:sp>
        <p:nvSpPr>
          <p:cNvPr id="128" name="Shape 126"/>
          <p:cNvSpPr/>
          <p:nvPr/>
        </p:nvSpPr>
        <p:spPr>
          <a:xfrm>
            <a:off x="11315029" y="3828881"/>
            <a:ext cx="69494" cy="57319"/>
          </a:xfrm>
          <a:prstGeom prst="rect">
            <a:avLst/>
          </a:prstGeom>
          <a:solidFill>
            <a:srgbClr val="1E4380"/>
          </a:solidFill>
          <a:ln w="12700">
            <a:solidFill>
              <a:srgbClr val="333333"/>
            </a:solidFill>
            <a:prstDash val="solid"/>
          </a:ln>
        </p:spPr>
      </p:sp>
      <p:sp>
        <p:nvSpPr>
          <p:cNvPr id="129" name="Shape 127"/>
          <p:cNvSpPr/>
          <p:nvPr/>
        </p:nvSpPr>
        <p:spPr>
          <a:xfrm>
            <a:off x="11349899" y="3830522"/>
            <a:ext cx="69494" cy="55678"/>
          </a:xfrm>
          <a:prstGeom prst="rect">
            <a:avLst/>
          </a:prstGeom>
          <a:solidFill>
            <a:srgbClr val="1E4380"/>
          </a:solidFill>
          <a:ln w="12700">
            <a:solidFill>
              <a:srgbClr val="333333"/>
            </a:solidFill>
            <a:prstDash val="solid"/>
          </a:ln>
        </p:spPr>
      </p:sp>
      <p:sp>
        <p:nvSpPr>
          <p:cNvPr id="130" name="Shape 128"/>
          <p:cNvSpPr/>
          <p:nvPr/>
        </p:nvSpPr>
        <p:spPr>
          <a:xfrm>
            <a:off x="11384768" y="3832111"/>
            <a:ext cx="69494" cy="54089"/>
          </a:xfrm>
          <a:prstGeom prst="rect">
            <a:avLst/>
          </a:prstGeom>
          <a:solidFill>
            <a:srgbClr val="1E4380"/>
          </a:solidFill>
          <a:ln w="12700">
            <a:solidFill>
              <a:srgbClr val="333333"/>
            </a:solidFill>
            <a:prstDash val="solid"/>
          </a:ln>
        </p:spPr>
      </p:sp>
      <p:sp>
        <p:nvSpPr>
          <p:cNvPr id="131" name="Shape 129"/>
          <p:cNvSpPr/>
          <p:nvPr/>
        </p:nvSpPr>
        <p:spPr>
          <a:xfrm>
            <a:off x="11419637" y="3833648"/>
            <a:ext cx="69494" cy="52552"/>
          </a:xfrm>
          <a:prstGeom prst="rect">
            <a:avLst/>
          </a:prstGeom>
          <a:solidFill>
            <a:srgbClr val="1E4380"/>
          </a:solidFill>
          <a:ln w="12700">
            <a:solidFill>
              <a:srgbClr val="333333"/>
            </a:solidFill>
            <a:prstDash val="solid"/>
          </a:ln>
        </p:spPr>
      </p:sp>
      <p:sp>
        <p:nvSpPr>
          <p:cNvPr id="132" name="Shape 130"/>
          <p:cNvSpPr/>
          <p:nvPr/>
        </p:nvSpPr>
        <p:spPr>
          <a:xfrm>
            <a:off x="11454506" y="3835136"/>
            <a:ext cx="69494" cy="51064"/>
          </a:xfrm>
          <a:prstGeom prst="rect">
            <a:avLst/>
          </a:prstGeom>
          <a:solidFill>
            <a:srgbClr val="1E4380"/>
          </a:solidFill>
          <a:ln w="12700">
            <a:solidFill>
              <a:srgbClr val="333333"/>
            </a:solidFill>
            <a:prstDash val="solid"/>
          </a:ln>
        </p:spPr>
      </p:sp>
      <p:sp>
        <p:nvSpPr>
          <p:cNvPr id="133" name="Shape 131"/>
          <p:cNvSpPr/>
          <p:nvPr/>
        </p:nvSpPr>
        <p:spPr>
          <a:xfrm>
            <a:off x="11489375" y="3836577"/>
            <a:ext cx="69494" cy="49623"/>
          </a:xfrm>
          <a:prstGeom prst="rect">
            <a:avLst/>
          </a:prstGeom>
          <a:solidFill>
            <a:srgbClr val="1E4380"/>
          </a:solidFill>
          <a:ln w="12700">
            <a:solidFill>
              <a:srgbClr val="333333"/>
            </a:solidFill>
            <a:prstDash val="solid"/>
          </a:ln>
        </p:spPr>
      </p:sp>
      <p:sp>
        <p:nvSpPr>
          <p:cNvPr id="134" name="Shape 132"/>
          <p:cNvSpPr/>
          <p:nvPr/>
        </p:nvSpPr>
        <p:spPr>
          <a:xfrm>
            <a:off x="11524244" y="3837972"/>
            <a:ext cx="69494" cy="48228"/>
          </a:xfrm>
          <a:prstGeom prst="rect">
            <a:avLst/>
          </a:prstGeom>
          <a:solidFill>
            <a:srgbClr val="1E4380"/>
          </a:solidFill>
          <a:ln w="12700">
            <a:solidFill>
              <a:srgbClr val="333333"/>
            </a:solidFill>
            <a:prstDash val="solid"/>
          </a:ln>
        </p:spPr>
      </p:sp>
      <p:sp>
        <p:nvSpPr>
          <p:cNvPr id="135" name="Shape 133"/>
          <p:cNvSpPr/>
          <p:nvPr/>
        </p:nvSpPr>
        <p:spPr>
          <a:xfrm>
            <a:off x="11559113" y="3839323"/>
            <a:ext cx="69494" cy="46877"/>
          </a:xfrm>
          <a:prstGeom prst="rect">
            <a:avLst/>
          </a:prstGeom>
          <a:solidFill>
            <a:srgbClr val="1E4380"/>
          </a:solidFill>
          <a:ln w="12700">
            <a:solidFill>
              <a:srgbClr val="333333"/>
            </a:solidFill>
            <a:prstDash val="solid"/>
          </a:ln>
        </p:spPr>
      </p:sp>
      <p:sp>
        <p:nvSpPr>
          <p:cNvPr id="136" name="Shape 134"/>
          <p:cNvSpPr/>
          <p:nvPr/>
        </p:nvSpPr>
        <p:spPr>
          <a:xfrm>
            <a:off x="7515758" y="2084832"/>
            <a:ext cx="0" cy="1801368"/>
          </a:xfrm>
          <a:prstGeom prst="line">
            <a:avLst/>
          </a:prstGeom>
          <a:noFill/>
          <a:ln w="22225">
            <a:solidFill>
              <a:srgbClr val="FFFFFF"/>
            </a:solidFill>
            <a:prstDash val="dash"/>
          </a:ln>
        </p:spPr>
      </p:sp>
      <p:sp>
        <p:nvSpPr>
          <p:cNvPr id="137" name="Text 135"/>
          <p:cNvSpPr/>
          <p:nvPr/>
        </p:nvSpPr>
        <p:spPr>
          <a:xfrm>
            <a:off x="6281318" y="1810512"/>
            <a:ext cx="2468880" cy="256032"/>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línea de pobreza</a:t>
            </a:r>
            <a:endParaRPr lang="en-US" sz="1000" dirty="0"/>
          </a:p>
        </p:txBody>
      </p:sp>
      <p:sp>
        <p:nvSpPr>
          <p:cNvPr id="138" name="Text 136"/>
          <p:cNvSpPr/>
          <p:nvPr/>
        </p:nvSpPr>
        <p:spPr>
          <a:xfrm>
            <a:off x="6858000" y="3977640"/>
            <a:ext cx="4754880" cy="256032"/>
          </a:xfrm>
          <a:prstGeom prst="rect">
            <a:avLst/>
          </a:prstGeom>
          <a:noFill/>
          <a:ln/>
        </p:spPr>
        <p:txBody>
          <a:bodyPr wrap="square" lIns="0" tIns="0" rIns="0" bIns="0" rtlCol="0" anchor="ctr"/>
          <a:lstStyle/>
          <a:p>
            <a:pPr algn="ctr" indent="0" marL="0">
              <a:buNone/>
            </a:pPr>
            <a:r>
              <a:rPr lang="en-US" sz="1050" i="1" dirty="0">
                <a:solidFill>
                  <a:srgbClr val="E6115E"/>
                </a:solidFill>
                <a:latin typeface="Calibri" pitchFamily="34" charset="0"/>
                <a:ea typeface="Calibri" pitchFamily="34" charset="-122"/>
                <a:cs typeface="Calibri" pitchFamily="34" charset="-120"/>
              </a:rPr>
              <a:t>todo lo magenta es pobreza</a:t>
            </a:r>
            <a:endParaRPr lang="en-US" sz="1050" dirty="0"/>
          </a:p>
        </p:txBody>
      </p:sp>
      <p:sp>
        <p:nvSpPr>
          <p:cNvPr id="139" name="Shape 137"/>
          <p:cNvSpPr/>
          <p:nvPr/>
        </p:nvSpPr>
        <p:spPr>
          <a:xfrm>
            <a:off x="685800" y="1188720"/>
            <a:ext cx="2834640" cy="347472"/>
          </a:xfrm>
          <a:prstGeom prst="roundRect">
            <a:avLst>
              <a:gd name="adj" fmla="val 50000"/>
            </a:avLst>
          </a:prstGeom>
          <a:solidFill>
            <a:srgbClr val="E6115E"/>
          </a:solidFill>
          <a:ln w="12700">
            <a:solidFill>
              <a:srgbClr val="E6115E"/>
            </a:solidFill>
            <a:prstDash val="solid"/>
          </a:ln>
        </p:spPr>
      </p:sp>
      <p:sp>
        <p:nvSpPr>
          <p:cNvPr id="140" name="Text 138"/>
          <p:cNvSpPr/>
          <p:nvPr/>
        </p:nvSpPr>
        <p:spPr>
          <a:xfrm>
            <a:off x="685800" y="118872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TALLER INTEGRADOR</a:t>
            </a:r>
            <a:endParaRPr lang="en-US" sz="1150" dirty="0"/>
          </a:p>
        </p:txBody>
      </p:sp>
      <p:sp>
        <p:nvSpPr>
          <p:cNvPr id="141" name="Text 139"/>
          <p:cNvSpPr/>
          <p:nvPr/>
        </p:nvSpPr>
        <p:spPr>
          <a:xfrm>
            <a:off x="685800" y="1737360"/>
            <a:ext cx="5852160" cy="1737360"/>
          </a:xfrm>
          <a:prstGeom prst="rect">
            <a:avLst/>
          </a:prstGeom>
          <a:noFill/>
          <a:ln/>
        </p:spPr>
        <p:txBody>
          <a:bodyPr wrap="square" lIns="0" tIns="0" rIns="0" bIns="0" rtlCol="0" anchor="t"/>
          <a:lstStyle/>
          <a:p>
            <a:pPr indent="0" marL="0">
              <a:lnSpc>
                <a:spcPct val="98000"/>
              </a:lnSpc>
              <a:buNone/>
            </a:pPr>
            <a:r>
              <a:rPr lang="en-US" sz="4400" b="1" dirty="0">
                <a:solidFill>
                  <a:srgbClr val="FFFFFF"/>
                </a:solidFill>
                <a:latin typeface="Calibri" pitchFamily="34" charset="0"/>
                <a:ea typeface="Calibri" pitchFamily="34" charset="-122"/>
                <a:cs typeface="Calibri" pitchFamily="34" charset="-120"/>
              </a:rPr>
              <a:t>¿De dónde sale</a:t>
            </a:r>
            <a:endParaRPr lang="en-US" sz="4400" dirty="0"/>
          </a:p>
          <a:p>
            <a:pPr indent="0" marL="0">
              <a:lnSpc>
                <a:spcPct val="98000"/>
              </a:lnSpc>
              <a:buNone/>
            </a:pPr>
            <a:r>
              <a:rPr lang="en-US" sz="4400" b="1" dirty="0">
                <a:solidFill>
                  <a:srgbClr val="FFFFFF"/>
                </a:solidFill>
                <a:latin typeface="Calibri" pitchFamily="34" charset="0"/>
                <a:ea typeface="Calibri" pitchFamily="34" charset="-122"/>
                <a:cs typeface="Calibri" pitchFamily="34" charset="-120"/>
              </a:rPr>
              <a:t>el 27.6 %?</a:t>
            </a:r>
            <a:endParaRPr lang="en-US" sz="4400" dirty="0"/>
          </a:p>
        </p:txBody>
      </p:sp>
      <p:sp>
        <p:nvSpPr>
          <p:cNvPr id="142" name="Text 140"/>
          <p:cNvSpPr/>
          <p:nvPr/>
        </p:nvSpPr>
        <p:spPr>
          <a:xfrm>
            <a:off x="713232" y="3566160"/>
            <a:ext cx="5852160" cy="822960"/>
          </a:xfrm>
          <a:prstGeom prst="rect">
            <a:avLst/>
          </a:prstGeom>
          <a:noFill/>
          <a:ln/>
        </p:spPr>
        <p:txBody>
          <a:bodyPr wrap="square" lIns="0" tIns="0" rIns="0" bIns="0" rtlCol="0" anchor="t"/>
          <a:lstStyle/>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Reconstruir la cifra oficial de pobreza del Perú desde el microdato,</a:t>
            </a:r>
            <a:endParaRPr lang="en-US" sz="1500" dirty="0"/>
          </a:p>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y después averiguar qué tan segura es.</a:t>
            </a:r>
            <a:endParaRPr lang="en-US" sz="1500" dirty="0"/>
          </a:p>
        </p:txBody>
      </p:sp>
      <p:sp>
        <p:nvSpPr>
          <p:cNvPr id="143" name="Text 141"/>
          <p:cNvSpPr/>
          <p:nvPr/>
        </p:nvSpPr>
        <p:spPr>
          <a:xfrm>
            <a:off x="71323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144" name="Text 142"/>
          <p:cNvSpPr/>
          <p:nvPr/>
        </p:nvSpPr>
        <p:spPr>
          <a:xfrm>
            <a:off x="71323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notebook en vivo</a:t>
            </a:r>
            <a:endParaRPr lang="en-US" sz="1150" dirty="0"/>
          </a:p>
        </p:txBody>
      </p:sp>
      <p:sp>
        <p:nvSpPr>
          <p:cNvPr id="145" name="Text 143"/>
          <p:cNvSpPr/>
          <p:nvPr/>
        </p:nvSpPr>
        <p:spPr>
          <a:xfrm>
            <a:off x="350215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33 691</a:t>
            </a:r>
            <a:endParaRPr lang="en-US" sz="2000" dirty="0"/>
          </a:p>
        </p:txBody>
      </p:sp>
      <p:sp>
        <p:nvSpPr>
          <p:cNvPr id="146" name="Text 144"/>
          <p:cNvSpPr/>
          <p:nvPr/>
        </p:nvSpPr>
        <p:spPr>
          <a:xfrm>
            <a:off x="350215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hogares de ENAHO 2024</a:t>
            </a:r>
            <a:endParaRPr lang="en-US" sz="1150" dirty="0"/>
          </a:p>
        </p:txBody>
      </p:sp>
      <p:sp>
        <p:nvSpPr>
          <p:cNvPr id="147" name="Text 145"/>
          <p:cNvSpPr/>
          <p:nvPr/>
        </p:nvSpPr>
        <p:spPr>
          <a:xfrm>
            <a:off x="629107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6 clases</a:t>
            </a:r>
            <a:endParaRPr lang="en-US" sz="2000" dirty="0"/>
          </a:p>
        </p:txBody>
      </p:sp>
      <p:sp>
        <p:nvSpPr>
          <p:cNvPr id="148" name="Text 146"/>
          <p:cNvSpPr/>
          <p:nvPr/>
        </p:nvSpPr>
        <p:spPr>
          <a:xfrm>
            <a:off x="629107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integradas en una</a:t>
            </a:r>
            <a:endParaRPr lang="en-US" sz="1150" dirty="0"/>
          </a:p>
        </p:txBody>
      </p:sp>
      <p:sp>
        <p:nvSpPr>
          <p:cNvPr id="149" name="Text 147"/>
          <p:cNvSpPr/>
          <p:nvPr/>
        </p:nvSpPr>
        <p:spPr>
          <a:xfrm>
            <a:off x="713232" y="6172200"/>
            <a:ext cx="8229600" cy="320040"/>
          </a:xfrm>
          <a:prstGeom prst="rect">
            <a:avLst/>
          </a:prstGeom>
          <a:noFill/>
          <a:ln/>
        </p:spPr>
        <p:txBody>
          <a:bodyPr wrap="square" lIns="0" tIns="0" rIns="0" bIns="0" rtlCol="0" anchor="ctr"/>
          <a:lstStyle/>
          <a:p>
            <a:pPr indent="0" marL="0">
              <a:buNone/>
            </a:pPr>
            <a:r>
              <a:rPr lang="en-US" sz="1100" i="1" dirty="0">
                <a:solidFill>
                  <a:srgbClr val="7C93C4"/>
                </a:solidFill>
                <a:latin typeface="Calibri" pitchFamily="34" charset="0"/>
                <a:ea typeface="Calibri" pitchFamily="34" charset="-122"/>
                <a:cs typeface="Calibri" pitchFamily="34" charset="-120"/>
              </a:rPr>
              <a:t>Fuente: INEI · ENAHO 2023 y 2024 · módulos 34 y 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EL TITULAR</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cifra que vamos a reconstruir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la pregunta de negocio: ¿la caída de 2024 es real, o cabe dentro del ruido del muestreo?</a:t>
            </a:r>
            <a:endParaRPr lang="en-US" sz="1400" dirty="0"/>
          </a:p>
        </p:txBody>
      </p:sp>
      <p:graphicFrame>
        <p:nvGraphicFramePr>
          <p:cNvPr id="6" name="Chart 0" descr=""/>
          <p:cNvGraphicFramePr/>
          <p:nvPr/>
        </p:nvGraphicFramePr>
        <p:xfrm>
          <a:off x="548640" y="1965960"/>
          <a:ext cx="6675120" cy="3017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1965960"/>
            <a:ext cx="4187952" cy="1371600"/>
          </a:xfrm>
          <a:prstGeom prst="roundRect">
            <a:avLst>
              <a:gd name="adj" fmla="val 4000"/>
            </a:avLst>
          </a:prstGeom>
          <a:solidFill>
            <a:srgbClr val="0A2559"/>
          </a:solidFill>
          <a:ln w="12700">
            <a:solidFill>
              <a:srgbClr val="0A2559"/>
            </a:solidFill>
            <a:prstDash val="solid"/>
          </a:ln>
        </p:spPr>
      </p:sp>
      <p:sp>
        <p:nvSpPr>
          <p:cNvPr id="8" name="Shape 5"/>
          <p:cNvSpPr/>
          <p:nvPr/>
        </p:nvSpPr>
        <p:spPr>
          <a:xfrm>
            <a:off x="769924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936992" y="2130552"/>
            <a:ext cx="35112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Las dos preguntas del taller</a:t>
            </a:r>
            <a:endParaRPr lang="en-US" sz="1400" dirty="0"/>
          </a:p>
        </p:txBody>
      </p:sp>
      <p:sp>
        <p:nvSpPr>
          <p:cNvPr id="10" name="Text 7"/>
          <p:cNvSpPr/>
          <p:nvPr/>
        </p:nvSpPr>
        <p:spPr>
          <a:xfrm>
            <a:off x="7699248" y="2496312"/>
            <a:ext cx="3703320" cy="777240"/>
          </a:xfrm>
          <a:prstGeom prst="rect">
            <a:avLst/>
          </a:prstGeom>
          <a:noFill/>
          <a:ln/>
        </p:spPr>
        <p:txBody>
          <a:bodyPr wrap="square" lIns="0" tIns="0" rIns="0" bIns="0" rtlCol="0" anchor="t"/>
          <a:lstStyle/>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1 · ¿De dónde sale exactamente ese 27.6 %?</a:t>
            </a:r>
            <a:endParaRPr lang="en-US" sz="1200" dirty="0"/>
          </a:p>
          <a:p>
            <a:pPr algn="l" indent="0" marL="0">
              <a:lnSpc>
                <a:spcPct val="112000"/>
              </a:lnSpc>
              <a:buNone/>
            </a:pPr>
            <a:endParaRPr lang="en-US" sz="1200" dirty="0"/>
          </a:p>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2 · ¿Qué tan seguro es, y bajó de verdad respecto a 2023?</a:t>
            </a:r>
            <a:endParaRPr lang="en-US" sz="1200" dirty="0"/>
          </a:p>
        </p:txBody>
      </p:sp>
      <p:sp>
        <p:nvSpPr>
          <p:cNvPr id="11" name="Shape 8"/>
          <p:cNvSpPr/>
          <p:nvPr/>
        </p:nvSpPr>
        <p:spPr>
          <a:xfrm>
            <a:off x="7452360" y="3456432"/>
            <a:ext cx="4187952" cy="1527048"/>
          </a:xfrm>
          <a:prstGeom prst="roundRect">
            <a:avLst>
              <a:gd name="adj" fmla="val 3593"/>
            </a:avLst>
          </a:prstGeom>
          <a:solidFill>
            <a:srgbClr val="FFFFFF"/>
          </a:solidFill>
          <a:ln w="12700">
            <a:solidFill>
              <a:srgbClr val="D2DBEC"/>
            </a:solidFill>
            <a:prstDash val="solid"/>
          </a:ln>
        </p:spPr>
      </p:sp>
      <p:sp>
        <p:nvSpPr>
          <p:cNvPr id="12" name="Shape 9"/>
          <p:cNvSpPr/>
          <p:nvPr/>
        </p:nvSpPr>
        <p:spPr>
          <a:xfrm>
            <a:off x="7699248" y="3721608"/>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7936992" y="3621024"/>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 que sí sabemos de la serie</a:t>
            </a:r>
            <a:endParaRPr lang="en-US" sz="1400" dirty="0"/>
          </a:p>
        </p:txBody>
      </p:sp>
      <p:sp>
        <p:nvSpPr>
          <p:cNvPr id="14" name="Text 11"/>
          <p:cNvSpPr/>
          <p:nvPr/>
        </p:nvSpPr>
        <p:spPr>
          <a:xfrm>
            <a:off x="7699248" y="3986784"/>
            <a:ext cx="3703320" cy="91440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El salto de 2020 es la pandemia: 10 puntos en un año. La recuperación fue parcial y en 2023 volvió a subir.</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caída de 2024 son 1.5 puntos. Parece poco — y ahí está el problema interesante.</a:t>
            </a:r>
            <a:endParaRPr lang="en-US" sz="1150" dirty="0"/>
          </a:p>
        </p:txBody>
      </p:sp>
      <p:sp>
        <p:nvSpPr>
          <p:cNvPr id="15" name="Shape 12"/>
          <p:cNvSpPr/>
          <p:nvPr/>
        </p:nvSpPr>
        <p:spPr>
          <a:xfrm>
            <a:off x="548640" y="5138928"/>
            <a:ext cx="11091672" cy="1051560"/>
          </a:xfrm>
          <a:prstGeom prst="roundRect">
            <a:avLst>
              <a:gd name="adj" fmla="val 5217"/>
            </a:avLst>
          </a:prstGeom>
          <a:solidFill>
            <a:srgbClr val="E9EEF8"/>
          </a:solidFill>
          <a:ln w="12700">
            <a:solidFill>
              <a:srgbClr val="D2DBEC"/>
            </a:solidFill>
            <a:prstDash val="solid"/>
          </a:ln>
        </p:spPr>
      </p:sp>
      <p:sp>
        <p:nvSpPr>
          <p:cNvPr id="16" name="Shape 13"/>
          <p:cNvSpPr/>
          <p:nvPr/>
        </p:nvSpPr>
        <p:spPr>
          <a:xfrm>
            <a:off x="804672" y="538581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1042416" y="5285232"/>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regla del taller</a:t>
            </a:r>
            <a:endParaRPr lang="en-US" sz="1400" dirty="0"/>
          </a:p>
        </p:txBody>
      </p:sp>
      <p:sp>
        <p:nvSpPr>
          <p:cNvPr id="18" name="Text 15"/>
          <p:cNvSpPr/>
          <p:nvPr/>
        </p:nvSpPr>
        <p:spPr>
          <a:xfrm>
            <a:off x="804672" y="5614416"/>
            <a:ext cx="10607040" cy="457200"/>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Cada decisión metodológica que tomemos hoy va a CAMBIAR la respuesta. No es un ejercicio de estilo: ignorar los factores de expansión mueve la cifra 7.4 puntos, e ignorar el diseño convierte una caída dudosa en un titular contundente.</a:t>
            </a:r>
            <a:endParaRPr lang="en-US" sz="1200" dirty="0"/>
          </a:p>
        </p:txBody>
      </p:sp>
      <p:sp>
        <p:nvSpPr>
          <p:cNvPr id="19" name="Text 16"/>
          <p:cNvSpPr/>
          <p:nvPr/>
        </p:nvSpPr>
        <p:spPr>
          <a:xfrm>
            <a:off x="548640" y="630936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Serie de pobreza monetaria del INEI. Las cifras de 2023 y 2024 las reproduciremos nosotros en el bloque 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Este taller es un notebook conducido: yo ejecuto y explico, tú sigues y completas.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914400"/>
        </p:xfrm>
        <a:graphic>
          <a:graphicData uri="http://schemas.openxmlformats.org/drawingml/2006/table">
            <a:tbl>
              <a:tblPr/>
              <a:tblGrid>
                <a:gridCol w="685800"/>
                <a:gridCol w="3977640"/>
                <a:gridCol w="731520"/>
                <a:gridCol w="192024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clase revive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titular y los datos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Factores de expansión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TEMA NUEVO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Reconstruir la cifra desde el gasto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1, 2 y 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¿Qué tan seguro es? El efecto de 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3 y 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Urbano vs rural · ¿bajó la 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5 y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informe auditable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4, 5 y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7" name="Shape 4"/>
          <p:cNvSpPr/>
          <p:nvPr/>
        </p:nvSpPr>
        <p:spPr>
          <a:xfrm>
            <a:off x="548640" y="4937760"/>
            <a:ext cx="7315200" cy="1243584"/>
          </a:xfrm>
          <a:prstGeom prst="roundRect">
            <a:avLst>
              <a:gd name="adj" fmla="val 4412"/>
            </a:avLst>
          </a:prstGeom>
          <a:solidFill>
            <a:srgbClr val="0A2559"/>
          </a:solidFill>
          <a:ln w="12700">
            <a:solidFill>
              <a:srgbClr val="0A2559"/>
            </a:solidFill>
            <a:prstDash val="solid"/>
          </a:ln>
        </p:spPr>
      </p:sp>
      <p:sp>
        <p:nvSpPr>
          <p:cNvPr id="8" name="Shape 5"/>
          <p:cNvSpPr/>
          <p:nvPr/>
        </p:nvSpPr>
        <p:spPr>
          <a:xfrm>
            <a:off x="804672" y="518464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084064"/>
            <a:ext cx="61630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el bloque 1 es el más largo</a:t>
            </a:r>
            <a:endParaRPr lang="en-US" sz="1400" dirty="0"/>
          </a:p>
        </p:txBody>
      </p:sp>
      <p:sp>
        <p:nvSpPr>
          <p:cNvPr id="10" name="Text 7"/>
          <p:cNvSpPr/>
          <p:nvPr/>
        </p:nvSpPr>
        <p:spPr>
          <a:xfrm>
            <a:off x="804672" y="5431536"/>
            <a:ext cx="6812280" cy="640080"/>
          </a:xfrm>
          <a:prstGeom prst="rect">
            <a:avLst/>
          </a:prstGeom>
          <a:noFill/>
          <a:ln/>
        </p:spPr>
        <p:txBody>
          <a:bodyPr wrap="square" lIns="0" tIns="0" rIns="0" bIns="0" rtlCol="0" anchor="t"/>
          <a:lstStyle/>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Los factores de expansión son el único tema nuevo del día, y sin ellos nada de lo demás tiene sentido: la cifra oficial no se puede calcular sin ellos. Van primero porque todo lo que sigue depende de ese paso.</a:t>
            </a:r>
            <a:endParaRPr lang="en-US" sz="1150" dirty="0"/>
          </a:p>
        </p:txBody>
      </p:sp>
      <p:sp>
        <p:nvSpPr>
          <p:cNvPr id="11" name="Shape 8"/>
          <p:cNvSpPr/>
          <p:nvPr/>
        </p:nvSpPr>
        <p:spPr>
          <a:xfrm>
            <a:off x="8092440" y="2011680"/>
            <a:ext cx="3547872" cy="2377440"/>
          </a:xfrm>
          <a:prstGeom prst="roundRect">
            <a:avLst>
              <a:gd name="adj" fmla="val 2308"/>
            </a:avLst>
          </a:prstGeom>
          <a:solidFill>
            <a:srgbClr val="E9EEF8"/>
          </a:solidFill>
          <a:ln w="12700">
            <a:solidFill>
              <a:srgbClr val="D2DBEC"/>
            </a:solidFill>
            <a:prstDash val="solid"/>
          </a:ln>
        </p:spPr>
      </p:sp>
      <p:sp>
        <p:nvSpPr>
          <p:cNvPr id="12" name="Shape 9"/>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2212848"/>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4" name="Text 11"/>
          <p:cNvSpPr/>
          <p:nvPr/>
        </p:nvSpPr>
        <p:spPr>
          <a:xfrm>
            <a:off x="8339328" y="2606040"/>
            <a:ext cx="3063240" cy="1691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Calcular una estimación con diseño complejo.</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Reconstruir una estadística oficial.</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Medir un efecto de diseño.</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Escribir un informe auditable.</a:t>
            </a:r>
            <a:endParaRPr lang="en-US" sz="1150" dirty="0"/>
          </a:p>
        </p:txBody>
      </p:sp>
      <p:sp>
        <p:nvSpPr>
          <p:cNvPr id="15" name="Shape 12"/>
          <p:cNvSpPr/>
          <p:nvPr/>
        </p:nvSpPr>
        <p:spPr>
          <a:xfrm>
            <a:off x="8092440" y="4553712"/>
            <a:ext cx="3547872" cy="1627632"/>
          </a:xfrm>
          <a:prstGeom prst="roundRect">
            <a:avLst>
              <a:gd name="adj" fmla="val 3371"/>
            </a:avLst>
          </a:prstGeom>
          <a:solidFill>
            <a:srgbClr val="E9EEF8"/>
          </a:solidFill>
          <a:ln w="12700">
            <a:solidFill>
              <a:srgbClr val="D2DBEC"/>
            </a:solidFill>
            <a:prstDash val="solid"/>
          </a:ln>
        </p:spPr>
      </p:sp>
      <p:sp>
        <p:nvSpPr>
          <p:cNvPr id="16" name="Shape 13"/>
          <p:cNvSpPr/>
          <p:nvPr/>
        </p:nvSpPr>
        <p:spPr>
          <a:xfrm>
            <a:off x="8339328" y="4800600"/>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577072" y="4700016"/>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Los datos</a:t>
            </a:r>
            <a:endParaRPr lang="en-US" sz="1400" dirty="0"/>
          </a:p>
        </p:txBody>
      </p:sp>
      <p:sp>
        <p:nvSpPr>
          <p:cNvPr id="18" name="Text 15"/>
          <p:cNvSpPr/>
          <p:nvPr/>
        </p:nvSpPr>
        <p:spPr>
          <a:xfrm>
            <a:off x="8339328" y="5047488"/>
            <a:ext cx="3063240" cy="1005840"/>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ENAHO 2023 y 2024, módulo 34 (Sumarias) + módulo 01 (NBI).</a:t>
            </a:r>
            <a:endParaRPr lang="en-US" sz="1100" dirty="0"/>
          </a:p>
          <a:p>
            <a:pPr algn="l" indent="0" marL="0">
              <a:lnSpc>
                <a:spcPct val="106000"/>
              </a:lnSpc>
              <a:buNone/>
            </a:pPr>
            <a:endParaRPr lang="en-US" sz="1100" dirty="0"/>
          </a:p>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33 691 hogares en 2024, 5 359 conglomerados. Un CSV de 1.3 MB en el repo del curso.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20040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004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1 · TEMA NUEVO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ENAHO no es un muestreo aleatorio simple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por eso un hogar de la muestra no vale lo mismo que otro. Aquí está la pieza que faltaba en el curso.</a:t>
            </a:r>
            <a:endParaRPr lang="en-US" sz="1400" dirty="0"/>
          </a:p>
        </p:txBody>
      </p:sp>
      <p:sp>
        <p:nvSpPr>
          <p:cNvPr id="6" name="Shape 4"/>
          <p:cNvSpPr/>
          <p:nvPr/>
        </p:nvSpPr>
        <p:spPr>
          <a:xfrm>
            <a:off x="548640" y="1965960"/>
            <a:ext cx="3520440" cy="1463040"/>
          </a:xfrm>
          <a:prstGeom prst="roundRect">
            <a:avLst>
              <a:gd name="adj" fmla="val 3750"/>
            </a:avLst>
          </a:prstGeom>
          <a:solidFill>
            <a:srgbClr val="FFFFFF"/>
          </a:solidFill>
          <a:ln w="12700">
            <a:solidFill>
              <a:srgbClr val="D2DBEC"/>
            </a:solidFill>
            <a:prstDash val="solid"/>
          </a:ln>
        </p:spPr>
      </p:sp>
      <p:sp>
        <p:nvSpPr>
          <p:cNvPr id="7" name="Shape 5"/>
          <p:cNvSpPr/>
          <p:nvPr/>
        </p:nvSpPr>
        <p:spPr>
          <a:xfrm>
            <a:off x="777240" y="2176272"/>
            <a:ext cx="118872" cy="118872"/>
          </a:xfrm>
          <a:prstGeom prst="roundRect">
            <a:avLst>
              <a:gd name="adj" fmla="val 30769"/>
            </a:avLst>
          </a:prstGeom>
          <a:solidFill>
            <a:srgbClr val="1A56E8"/>
          </a:solidFill>
          <a:ln w="12700">
            <a:solidFill>
              <a:srgbClr val="1A56E8"/>
            </a:solidFill>
            <a:prstDash val="solid"/>
          </a:ln>
        </p:spPr>
      </p:sp>
      <p:sp>
        <p:nvSpPr>
          <p:cNvPr id="8" name="Text 6"/>
          <p:cNvSpPr/>
          <p:nvPr/>
        </p:nvSpPr>
        <p:spPr>
          <a:xfrm>
            <a:off x="105156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Estratificado</a:t>
            </a:r>
            <a:endParaRPr lang="en-US" sz="1400" dirty="0"/>
          </a:p>
        </p:txBody>
      </p:sp>
      <p:sp>
        <p:nvSpPr>
          <p:cNvPr id="9" name="Text 7"/>
          <p:cNvSpPr/>
          <p:nvPr/>
        </p:nvSpPr>
        <p:spPr>
          <a:xfrm>
            <a:off x="77724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El país se divide en 8 dominios y 8 estratos, y se muestrea dentro de cada uno.</a:t>
            </a:r>
            <a:endParaRPr lang="en-US" sz="1150" dirty="0"/>
          </a:p>
        </p:txBody>
      </p:sp>
      <p:sp>
        <p:nvSpPr>
          <p:cNvPr id="10" name="Shape 8"/>
          <p:cNvSpPr/>
          <p:nvPr/>
        </p:nvSpPr>
        <p:spPr>
          <a:xfrm>
            <a:off x="4297680" y="1965960"/>
            <a:ext cx="3520440" cy="1463040"/>
          </a:xfrm>
          <a:prstGeom prst="roundRect">
            <a:avLst>
              <a:gd name="adj" fmla="val 3750"/>
            </a:avLst>
          </a:prstGeom>
          <a:solidFill>
            <a:srgbClr val="FFFFFF"/>
          </a:solidFill>
          <a:ln w="12700">
            <a:solidFill>
              <a:srgbClr val="D2DBEC"/>
            </a:solidFill>
            <a:prstDash val="solid"/>
          </a:ln>
        </p:spPr>
      </p:sp>
      <p:sp>
        <p:nvSpPr>
          <p:cNvPr id="11" name="Shape 9"/>
          <p:cNvSpPr/>
          <p:nvPr/>
        </p:nvSpPr>
        <p:spPr>
          <a:xfrm>
            <a:off x="4526280" y="2176272"/>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480060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conglomerados</a:t>
            </a:r>
            <a:endParaRPr lang="en-US" sz="1400" dirty="0"/>
          </a:p>
        </p:txBody>
      </p:sp>
      <p:sp>
        <p:nvSpPr>
          <p:cNvPr id="13" name="Text 11"/>
          <p:cNvSpPr/>
          <p:nvPr/>
        </p:nvSpPr>
        <p:spPr>
          <a:xfrm>
            <a:off x="452628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No se sortean hogares sueltos: se sortean áreas geográficas y dentro de ellas ~6 hogares.</a:t>
            </a:r>
            <a:endParaRPr lang="en-US" sz="1150" dirty="0"/>
          </a:p>
        </p:txBody>
      </p:sp>
      <p:sp>
        <p:nvSpPr>
          <p:cNvPr id="14" name="Shape 12"/>
          <p:cNvSpPr/>
          <p:nvPr/>
        </p:nvSpPr>
        <p:spPr>
          <a:xfrm>
            <a:off x="8046720" y="1965960"/>
            <a:ext cx="3520440" cy="1463040"/>
          </a:xfrm>
          <a:prstGeom prst="roundRect">
            <a:avLst>
              <a:gd name="adj" fmla="val 3750"/>
            </a:avLst>
          </a:prstGeom>
          <a:solidFill>
            <a:srgbClr val="FFFFFF"/>
          </a:solidFill>
          <a:ln w="12700">
            <a:solidFill>
              <a:srgbClr val="D2DBEC"/>
            </a:solidFill>
            <a:prstDash val="solid"/>
          </a:ln>
        </p:spPr>
      </p:sp>
      <p:sp>
        <p:nvSpPr>
          <p:cNvPr id="15" name="Shape 13"/>
          <p:cNvSpPr/>
          <p:nvPr/>
        </p:nvSpPr>
        <p:spPr>
          <a:xfrm>
            <a:off x="8275320" y="2176272"/>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54964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Con sobremuestreo</a:t>
            </a:r>
            <a:endParaRPr lang="en-US" sz="1400" dirty="0"/>
          </a:p>
        </p:txBody>
      </p:sp>
      <p:sp>
        <p:nvSpPr>
          <p:cNvPr id="17" name="Text 15"/>
          <p:cNvSpPr/>
          <p:nvPr/>
        </p:nvSpPr>
        <p:spPr>
          <a:xfrm>
            <a:off x="827532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Las zonas rurales y los departamentos chicos se sobremuestrean a propósito.</a:t>
            </a:r>
            <a:endParaRPr lang="en-US" sz="1150" dirty="0"/>
          </a:p>
        </p:txBody>
      </p:sp>
      <p:sp>
        <p:nvSpPr>
          <p:cNvPr id="18" name="Shape 16"/>
          <p:cNvSpPr/>
          <p:nvPr/>
        </p:nvSpPr>
        <p:spPr>
          <a:xfrm>
            <a:off x="548640" y="3566160"/>
            <a:ext cx="5468112" cy="1371600"/>
          </a:xfrm>
          <a:prstGeom prst="roundRect">
            <a:avLst>
              <a:gd name="adj" fmla="val 4000"/>
            </a:avLst>
          </a:prstGeom>
          <a:solidFill>
            <a:srgbClr val="0A2559"/>
          </a:solidFill>
          <a:ln w="12700">
            <a:solidFill>
              <a:srgbClr val="0A2559"/>
            </a:solidFill>
            <a:prstDash val="solid"/>
          </a:ln>
        </p:spPr>
      </p:sp>
      <p:sp>
        <p:nvSpPr>
          <p:cNvPr id="19" name="Shape 17"/>
          <p:cNvSpPr/>
          <p:nvPr/>
        </p:nvSpPr>
        <p:spPr>
          <a:xfrm>
            <a:off x="804672" y="383133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37307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se sobremuestrea a propósito</a:t>
            </a:r>
            <a:endParaRPr lang="en-US" sz="1400" dirty="0"/>
          </a:p>
        </p:txBody>
      </p:sp>
      <p:sp>
        <p:nvSpPr>
          <p:cNvPr id="21" name="Text 19"/>
          <p:cNvSpPr/>
          <p:nvPr/>
        </p:nvSpPr>
        <p:spPr>
          <a:xfrm>
            <a:off x="804672" y="409651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Si la ENAHO sorteara al azar puro, Madre de Dios saldría con unos 30 hogares y no se podría decir nada de ese departamento. Sobremuestrearlo es una decisión deliberada para poder publicar cifras departamentales.</a:t>
            </a:r>
            <a:endParaRPr lang="en-US" sz="1150" dirty="0"/>
          </a:p>
        </p:txBody>
      </p:sp>
      <p:sp>
        <p:nvSpPr>
          <p:cNvPr id="22" name="Shape 20"/>
          <p:cNvSpPr/>
          <p:nvPr/>
        </p:nvSpPr>
        <p:spPr>
          <a:xfrm>
            <a:off x="6172200" y="3566160"/>
            <a:ext cx="5468112" cy="1371600"/>
          </a:xfrm>
          <a:prstGeom prst="roundRect">
            <a:avLst>
              <a:gd name="adj" fmla="val 4000"/>
            </a:avLst>
          </a:prstGeom>
          <a:solidFill>
            <a:srgbClr val="E9EEF8"/>
          </a:solidFill>
          <a:ln w="12700">
            <a:solidFill>
              <a:srgbClr val="D2DBEC"/>
            </a:solidFill>
            <a:prstDash val="solid"/>
          </a:ln>
        </p:spPr>
      </p:sp>
      <p:sp>
        <p:nvSpPr>
          <p:cNvPr id="23" name="Shape 21"/>
          <p:cNvSpPr/>
          <p:nvPr/>
        </p:nvSpPr>
        <p:spPr>
          <a:xfrm>
            <a:off x="6419088" y="3831336"/>
            <a:ext cx="118872" cy="118872"/>
          </a:xfrm>
          <a:prstGeom prst="roundRect">
            <a:avLst>
              <a:gd name="adj" fmla="val 30769"/>
            </a:avLst>
          </a:prstGeom>
          <a:solidFill>
            <a:srgbClr val="E6115E"/>
          </a:solidFill>
          <a:ln w="12700">
            <a:solidFill>
              <a:srgbClr val="E6115E"/>
            </a:solidFill>
            <a:prstDash val="solid"/>
          </a:ln>
        </p:spPr>
      </p:sp>
      <p:sp>
        <p:nvSpPr>
          <p:cNvPr id="24" name="Text 22"/>
          <p:cNvSpPr/>
          <p:nvPr/>
        </p:nvSpPr>
        <p:spPr>
          <a:xfrm>
            <a:off x="6656832" y="37307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consecuencia</a:t>
            </a:r>
            <a:endParaRPr lang="en-US" sz="1400" dirty="0"/>
          </a:p>
        </p:txBody>
      </p:sp>
      <p:sp>
        <p:nvSpPr>
          <p:cNvPr id="25" name="Text 23"/>
          <p:cNvSpPr/>
          <p:nvPr/>
        </p:nvSpPr>
        <p:spPr>
          <a:xfrm>
            <a:off x="6419088" y="409651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Un hogar rural de Amazonas puede representar a 40 hogares del país; uno de Lima, a casi 2 000. Promediar sin ponderar equivale a asumir que todos valen lo mismo, y no lo valen.</a:t>
            </a:r>
            <a:endParaRPr lang="en-US" sz="1150" dirty="0"/>
          </a:p>
        </p:txBody>
      </p:sp>
      <p:sp>
        <p:nvSpPr>
          <p:cNvPr id="26" name="Shape 24"/>
          <p:cNvSpPr/>
          <p:nvPr/>
        </p:nvSpPr>
        <p:spPr>
          <a:xfrm>
            <a:off x="548640" y="5074920"/>
            <a:ext cx="11091672" cy="1115568"/>
          </a:xfrm>
          <a:prstGeom prst="roundRect">
            <a:avLst>
              <a:gd name="adj" fmla="val 4918"/>
            </a:avLst>
          </a:prstGeom>
          <a:solidFill>
            <a:srgbClr val="FFFFFF"/>
          </a:solidFill>
          <a:ln w="12700">
            <a:solidFill>
              <a:srgbClr val="D2DBEC"/>
            </a:solidFill>
            <a:prstDash val="solid"/>
          </a:ln>
        </p:spPr>
      </p:sp>
      <p:sp>
        <p:nvSpPr>
          <p:cNvPr id="27" name="Shape 25"/>
          <p:cNvSpPr/>
          <p:nvPr/>
        </p:nvSpPr>
        <p:spPr>
          <a:xfrm>
            <a:off x="804672" y="5321808"/>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1042416" y="5221224"/>
            <a:ext cx="7077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solución: el factor de expansión</a:t>
            </a:r>
            <a:endParaRPr lang="en-US" sz="1400" dirty="0"/>
          </a:p>
        </p:txBody>
      </p:sp>
      <p:sp>
        <p:nvSpPr>
          <p:cNvPr id="29" name="Text 27"/>
          <p:cNvSpPr/>
          <p:nvPr/>
        </p:nvSpPr>
        <p:spPr>
          <a:xfrm>
            <a:off x="804672" y="5541264"/>
            <a:ext cx="10515600" cy="274320"/>
          </a:xfrm>
          <a:prstGeom prst="rect">
            <a:avLst/>
          </a:prstGeom>
          <a:noFill/>
          <a:ln/>
        </p:spPr>
        <p:txBody>
          <a:bodyPr wrap="square" lIns="0" tIns="0" rIns="0" bIns="0" rtlCol="0" anchor="ctr"/>
          <a:lstStyle/>
          <a:p>
            <a:pPr indent="0" marL="0">
              <a:buNone/>
            </a:pPr>
            <a:r>
              <a:rPr lang="en-US" sz="1250" b="1" dirty="0">
                <a:solidFill>
                  <a:srgbClr val="1A56E8"/>
                </a:solidFill>
                <a:latin typeface="Courier New" pitchFamily="34" charset="0"/>
                <a:ea typeface="Courier New" pitchFamily="34" charset="-122"/>
                <a:cs typeface="Courier New" pitchFamily="34" charset="-120"/>
              </a:rPr>
              <a:t>factor07  =  a cuántos hogares del país representa este hogar de la muestra</a:t>
            </a:r>
            <a:endParaRPr lang="en-US" sz="1250" dirty="0"/>
          </a:p>
        </p:txBody>
      </p:sp>
      <p:sp>
        <p:nvSpPr>
          <p:cNvPr id="30" name="Text 28"/>
          <p:cNvSpPr/>
          <p:nvPr/>
        </p:nvSpPr>
        <p:spPr>
          <a:xfrm>
            <a:off x="804672" y="5815584"/>
            <a:ext cx="10607040" cy="310896"/>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En este dataset va de 1.1 a 1 996, y su suma da 10 360 811: los hogares del Perú. Para estimar cualquier cosa a nivel país: np.average(x, weights=w).</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1 · EL RESULTADO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Tres formas de calcular la misma tasa, y solo una es la oficial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Este es el momento en que el titular deja de ser un misterio.</a:t>
            </a:r>
            <a:endParaRPr lang="en-US" sz="1400" dirty="0"/>
          </a:p>
        </p:txBody>
      </p:sp>
      <p:graphicFrame>
        <p:nvGraphicFramePr>
          <p:cNvPr id="6" name="Chart 0" descr=""/>
          <p:cNvGraphicFramePr/>
          <p:nvPr/>
        </p:nvGraphicFramePr>
        <p:xfrm>
          <a:off x="548640" y="1965960"/>
          <a:ext cx="658368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60920" y="1965960"/>
            <a:ext cx="4279392" cy="1234440"/>
          </a:xfrm>
          <a:prstGeom prst="roundRect">
            <a:avLst>
              <a:gd name="adj" fmla="val 4444"/>
            </a:avLst>
          </a:prstGeom>
          <a:solidFill>
            <a:srgbClr val="0A2559"/>
          </a:solidFill>
          <a:ln w="12700">
            <a:solidFill>
              <a:srgbClr val="0A2559"/>
            </a:solidFill>
            <a:prstDash val="solid"/>
          </a:ln>
        </p:spPr>
      </p:sp>
      <p:sp>
        <p:nvSpPr>
          <p:cNvPr id="8" name="Shape 5"/>
          <p:cNvSpPr/>
          <p:nvPr/>
        </p:nvSpPr>
        <p:spPr>
          <a:xfrm>
            <a:off x="7607808" y="221284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845552" y="2112264"/>
            <a:ext cx="36027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Las dos correcciones</a:t>
            </a:r>
            <a:endParaRPr lang="en-US" sz="1400" dirty="0"/>
          </a:p>
        </p:txBody>
      </p:sp>
      <p:sp>
        <p:nvSpPr>
          <p:cNvPr id="10" name="Text 7"/>
          <p:cNvSpPr/>
          <p:nvPr/>
        </p:nvSpPr>
        <p:spPr>
          <a:xfrm>
            <a:off x="7607808" y="2450592"/>
            <a:ext cx="3794760" cy="658368"/>
          </a:xfrm>
          <a:prstGeom prst="rect">
            <a:avLst/>
          </a:prstGeom>
          <a:noFill/>
          <a:ln/>
        </p:spPr>
        <p:txBody>
          <a:bodyPr wrap="square" lIns="0" tIns="0" rIns="0" bIns="0" rtlCol="0" anchor="t"/>
          <a:lstStyle/>
          <a:p>
            <a:pPr algn="l" indent="0" marL="0">
              <a:lnSpc>
                <a:spcPct val="114000"/>
              </a:lnSpc>
              <a:buNone/>
            </a:pPr>
            <a:r>
              <a:rPr lang="en-US" sz="1150" dirty="0">
                <a:solidFill>
                  <a:srgbClr val="C9D6F2"/>
                </a:solidFill>
                <a:latin typeface="Calibri" pitchFamily="34" charset="0"/>
                <a:ea typeface="Calibri" pitchFamily="34" charset="-122"/>
                <a:cs typeface="Calibri" pitchFamily="34" charset="-120"/>
              </a:rPr>
              <a:t>(a) ponderar: 20.22 → 21.85 %</a:t>
            </a:r>
            <a:endParaRPr lang="en-US" sz="1150" dirty="0"/>
          </a:p>
          <a:p>
            <a:pPr algn="l" indent="0" marL="0">
              <a:lnSpc>
                <a:spcPct val="114000"/>
              </a:lnSpc>
              <a:buNone/>
            </a:pPr>
            <a:r>
              <a:rPr lang="en-US" sz="1150" dirty="0">
                <a:solidFill>
                  <a:srgbClr val="C9D6F2"/>
                </a:solidFill>
                <a:latin typeface="Calibri" pitchFamily="34" charset="0"/>
                <a:ea typeface="Calibri" pitchFamily="34" charset="-122"/>
                <a:cs typeface="Calibri" pitchFamily="34" charset="-120"/>
              </a:rPr>
              <a:t>(b) contar PERSONAS, no hogares: 21.85 → 27.58 %</a:t>
            </a:r>
            <a:endParaRPr lang="en-US" sz="1150" dirty="0"/>
          </a:p>
        </p:txBody>
      </p:sp>
      <p:sp>
        <p:nvSpPr>
          <p:cNvPr id="11" name="Shape 8"/>
          <p:cNvSpPr/>
          <p:nvPr/>
        </p:nvSpPr>
        <p:spPr>
          <a:xfrm>
            <a:off x="7360920" y="3310128"/>
            <a:ext cx="4279392" cy="1581912"/>
          </a:xfrm>
          <a:prstGeom prst="roundRect">
            <a:avLst>
              <a:gd name="adj" fmla="val 3468"/>
            </a:avLst>
          </a:prstGeom>
          <a:solidFill>
            <a:srgbClr val="FFFFFF"/>
          </a:solidFill>
          <a:ln w="12700">
            <a:solidFill>
              <a:srgbClr val="D2DBEC"/>
            </a:solidFill>
            <a:prstDash val="solid"/>
          </a:ln>
        </p:spPr>
      </p:sp>
      <p:sp>
        <p:nvSpPr>
          <p:cNvPr id="12" name="Shape 9"/>
          <p:cNvSpPr/>
          <p:nvPr/>
        </p:nvSpPr>
        <p:spPr>
          <a:xfrm>
            <a:off x="7607808" y="357530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7845552" y="3474720"/>
            <a:ext cx="360273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importa contar personas</a:t>
            </a:r>
            <a:endParaRPr lang="en-US" sz="1400" dirty="0"/>
          </a:p>
        </p:txBody>
      </p:sp>
      <p:sp>
        <p:nvSpPr>
          <p:cNvPr id="14" name="Text 11"/>
          <p:cNvSpPr/>
          <p:nvPr/>
        </p:nvSpPr>
        <p:spPr>
          <a:xfrm>
            <a:off x="7607808" y="3840480"/>
            <a:ext cx="3794760" cy="96012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cifra oficial es «% de la población», no «% de los hogares». Y los hogares pobres tienen más miembros: 4.4 personas contra 3.2 en los no pobres.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Esa diferencia explica los 5.7 puntos del paso (b).</a:t>
            </a:r>
            <a:endParaRPr lang="en-US" sz="1150" dirty="0"/>
          </a:p>
        </p:txBody>
      </p:sp>
      <p:sp>
        <p:nvSpPr>
          <p:cNvPr id="15" name="Shape 12"/>
          <p:cNvSpPr/>
          <p:nvPr/>
        </p:nvSpPr>
        <p:spPr>
          <a:xfrm>
            <a:off x="548640" y="5029200"/>
            <a:ext cx="11091672" cy="1170432"/>
          </a:xfrm>
          <a:prstGeom prst="roundRect">
            <a:avLst>
              <a:gd name="adj" fmla="val 4688"/>
            </a:avLst>
          </a:prstGeom>
          <a:solidFill>
            <a:srgbClr val="E6115E"/>
          </a:solidFill>
          <a:ln w="12700">
            <a:solidFill>
              <a:srgbClr val="E6115E"/>
            </a:solidFill>
            <a:prstDash val="solid"/>
          </a:ln>
        </p:spPr>
      </p:sp>
      <p:sp>
        <p:nvSpPr>
          <p:cNvPr id="16" name="Shape 13"/>
          <p:cNvSpPr/>
          <p:nvPr/>
        </p:nvSpPr>
        <p:spPr>
          <a:xfrm>
            <a:off x="804672" y="5294376"/>
            <a:ext cx="118872" cy="118872"/>
          </a:xfrm>
          <a:prstGeom prst="roundRect">
            <a:avLst>
              <a:gd name="adj" fmla="val 30769"/>
            </a:avLst>
          </a:prstGeom>
          <a:solidFill>
            <a:srgbClr val="FFFFFF"/>
          </a:solidFill>
          <a:ln w="12700">
            <a:solidFill>
              <a:srgbClr val="FFFFFF"/>
            </a:solidFill>
            <a:prstDash val="solid"/>
          </a:ln>
        </p:spPr>
      </p:sp>
      <p:sp>
        <p:nvSpPr>
          <p:cNvPr id="17" name="Text 14"/>
          <p:cNvSpPr/>
          <p:nvPr/>
        </p:nvSpPr>
        <p:spPr>
          <a:xfrm>
            <a:off x="1042416" y="5193792"/>
            <a:ext cx="7077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 que hay que llevarse del bloque</a:t>
            </a:r>
            <a:endParaRPr lang="en-US" sz="1400" dirty="0"/>
          </a:p>
        </p:txBody>
      </p:sp>
      <p:sp>
        <p:nvSpPr>
          <p:cNvPr id="18" name="Text 15"/>
          <p:cNvSpPr/>
          <p:nvPr/>
        </p:nvSpPr>
        <p:spPr>
          <a:xfrm>
            <a:off x="804672" y="5541264"/>
            <a:ext cx="10607040" cy="548640"/>
          </a:xfrm>
          <a:prstGeom prst="rect">
            <a:avLst/>
          </a:prstGeom>
          <a:noFill/>
          <a:ln/>
        </p:spPr>
        <p:txBody>
          <a:bodyPr wrap="square" lIns="0" tIns="0" rIns="0" bIns="0" rtlCol="0" anchor="t"/>
          <a:lstStyle/>
          <a:p>
            <a:pPr algn="l" indent="0" marL="0">
              <a:lnSpc>
                <a:spcPct val="106000"/>
              </a:lnSpc>
              <a:buNone/>
            </a:pPr>
            <a:r>
              <a:rPr lang="en-US" sz="1200" dirty="0">
                <a:solidFill>
                  <a:srgbClr val="FFE9F1"/>
                </a:solidFill>
                <a:latin typeface="Calibri" pitchFamily="34" charset="0"/>
                <a:ea typeface="Calibri" pitchFamily="34" charset="-122"/>
                <a:cs typeface="Calibri" pitchFamily="34" charset="-120"/>
              </a:rPr>
              <a:t>Un analista que ignore los factores de expansión reportaría 20.2 % en lugar de 27.6 %. Son 7.4 puntos porcentuales, o unos 2.5 millones de personas — y su código puede estar perfectamente libre de bugs. Es un error de diseño, no de programación, y ninguna revisión de código lo detecta.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definición oficial, en tres líneas de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de paso revive la lognormal de la Clase 3, con datos reales del INEI.</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 hogar es pobre si su GASTO PER CÁPITA MENSUAL está por debajo de la LÍNEA DE POBREZA de su dominio</a:t>
            </a:r>
            <a:endParaRPr lang="en-US" sz="1500" dirty="0"/>
          </a:p>
        </p:txBody>
      </p:sp>
      <p:sp>
        <p:nvSpPr>
          <p:cNvPr id="8" name="Shape 6"/>
          <p:cNvSpPr/>
          <p:nvPr/>
        </p:nvSpPr>
        <p:spPr>
          <a:xfrm>
            <a:off x="548640" y="2999232"/>
            <a:ext cx="3520440" cy="1737360"/>
          </a:xfrm>
          <a:prstGeom prst="roundRect">
            <a:avLst>
              <a:gd name="adj" fmla="val 3158"/>
            </a:avLst>
          </a:prstGeom>
          <a:solidFill>
            <a:srgbClr val="FFFFFF"/>
          </a:solidFill>
          <a:ln w="12700">
            <a:solidFill>
              <a:srgbClr val="D2DBEC"/>
            </a:solidFill>
            <a:prstDash val="solid"/>
          </a:ln>
        </p:spPr>
      </p:sp>
      <p:sp>
        <p:nvSpPr>
          <p:cNvPr id="9" name="Shape 7"/>
          <p:cNvSpPr/>
          <p:nvPr/>
        </p:nvSpPr>
        <p:spPr>
          <a:xfrm>
            <a:off x="749808" y="3163824"/>
            <a:ext cx="365760" cy="365760"/>
          </a:xfrm>
          <a:prstGeom prst="roundRect">
            <a:avLst>
              <a:gd name="adj" fmla="val 50000"/>
            </a:avLst>
          </a:prstGeom>
          <a:solidFill>
            <a:srgbClr val="1A56E8"/>
          </a:solidFill>
          <a:ln w="12700">
            <a:solidFill>
              <a:srgbClr val="1A56E8"/>
            </a:solidFill>
            <a:prstDash val="solid"/>
          </a:ln>
        </p:spPr>
      </p:sp>
      <p:sp>
        <p:nvSpPr>
          <p:cNvPr id="10" name="Text 8"/>
          <p:cNvSpPr/>
          <p:nvPr/>
        </p:nvSpPr>
        <p:spPr>
          <a:xfrm>
            <a:off x="74980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20700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El gasto per cápita</a:t>
            </a:r>
            <a:endParaRPr lang="en-US" sz="1350" dirty="0"/>
          </a:p>
        </p:txBody>
      </p:sp>
      <p:sp>
        <p:nvSpPr>
          <p:cNvPr id="12" name="Text 10"/>
          <p:cNvSpPr/>
          <p:nvPr/>
        </p:nvSpPr>
        <p:spPr>
          <a:xfrm>
            <a:off x="74980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gpc = gashog2d / mieperho / 12</a:t>
            </a:r>
            <a:endParaRPr lang="en-US" sz="950" dirty="0"/>
          </a:p>
        </p:txBody>
      </p:sp>
      <p:sp>
        <p:nvSpPr>
          <p:cNvPr id="13" name="Text 11"/>
          <p:cNvSpPr/>
          <p:nvPr/>
        </p:nvSpPr>
        <p:spPr>
          <a:xfrm>
            <a:off x="74980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El gasto que trae la ENAHO es anual y del hogar entero. Hay que pasarlo a mensual y por persona.</a:t>
            </a:r>
            <a:endParaRPr lang="en-US" sz="1100" dirty="0"/>
          </a:p>
        </p:txBody>
      </p:sp>
      <p:sp>
        <p:nvSpPr>
          <p:cNvPr id="14" name="Shape 12"/>
          <p:cNvSpPr/>
          <p:nvPr/>
        </p:nvSpPr>
        <p:spPr>
          <a:xfrm>
            <a:off x="4297680" y="2999232"/>
            <a:ext cx="3520440" cy="1737360"/>
          </a:xfrm>
          <a:prstGeom prst="roundRect">
            <a:avLst>
              <a:gd name="adj" fmla="val 3158"/>
            </a:avLst>
          </a:prstGeom>
          <a:solidFill>
            <a:srgbClr val="FFFFFF"/>
          </a:solidFill>
          <a:ln w="12700">
            <a:solidFill>
              <a:srgbClr val="D2DBEC"/>
            </a:solidFill>
            <a:prstDash val="solid"/>
          </a:ln>
        </p:spPr>
      </p:sp>
      <p:sp>
        <p:nvSpPr>
          <p:cNvPr id="15" name="Shape 13"/>
          <p:cNvSpPr/>
          <p:nvPr/>
        </p:nvSpPr>
        <p:spPr>
          <a:xfrm>
            <a:off x="4498848" y="3163824"/>
            <a:ext cx="365760" cy="365760"/>
          </a:xfrm>
          <a:prstGeom prst="roundRect">
            <a:avLst>
              <a:gd name="adj" fmla="val 50000"/>
            </a:avLst>
          </a:prstGeom>
          <a:solidFill>
            <a:srgbClr val="1A56E8"/>
          </a:solidFill>
          <a:ln w="12700">
            <a:solidFill>
              <a:srgbClr val="1A56E8"/>
            </a:solidFill>
            <a:prstDash val="solid"/>
          </a:ln>
        </p:spPr>
      </p:sp>
      <p:sp>
        <p:nvSpPr>
          <p:cNvPr id="16" name="Text 14"/>
          <p:cNvSpPr/>
          <p:nvPr/>
        </p:nvSpPr>
        <p:spPr>
          <a:xfrm>
            <a:off x="449884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495604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comparación</a:t>
            </a:r>
            <a:endParaRPr lang="en-US" sz="1350" dirty="0"/>
          </a:p>
        </p:txBody>
      </p:sp>
      <p:sp>
        <p:nvSpPr>
          <p:cNvPr id="18" name="Text 16"/>
          <p:cNvSpPr/>
          <p:nvPr/>
        </p:nvSpPr>
        <p:spPr>
          <a:xfrm>
            <a:off x="449884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pobre = gpc &lt; linea</a:t>
            </a:r>
            <a:endParaRPr lang="en-US" sz="950" dirty="0"/>
          </a:p>
        </p:txBody>
      </p:sp>
      <p:sp>
        <p:nvSpPr>
          <p:cNvPr id="19" name="Text 17"/>
          <p:cNvSpPr/>
          <p:nvPr/>
        </p:nvSpPr>
        <p:spPr>
          <a:xfrm>
            <a:off x="449884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Un UMBRAL, no un cuantil: es el costo de una canasta básica. Tiene 82 valores, de S/ 316 a S/ 559.</a:t>
            </a:r>
            <a:endParaRPr lang="en-US" sz="1100" dirty="0"/>
          </a:p>
        </p:txBody>
      </p:sp>
      <p:sp>
        <p:nvSpPr>
          <p:cNvPr id="20" name="Shape 18"/>
          <p:cNvSpPr/>
          <p:nvPr/>
        </p:nvSpPr>
        <p:spPr>
          <a:xfrm>
            <a:off x="8046720" y="2999232"/>
            <a:ext cx="3520440" cy="1737360"/>
          </a:xfrm>
          <a:prstGeom prst="roundRect">
            <a:avLst>
              <a:gd name="adj" fmla="val 3158"/>
            </a:avLst>
          </a:prstGeom>
          <a:solidFill>
            <a:srgbClr val="FFFFFF"/>
          </a:solidFill>
          <a:ln w="12700">
            <a:solidFill>
              <a:srgbClr val="D2DBEC"/>
            </a:solidFill>
            <a:prstDash val="solid"/>
          </a:ln>
        </p:spPr>
      </p:sp>
      <p:sp>
        <p:nvSpPr>
          <p:cNvPr id="21" name="Shape 19"/>
          <p:cNvSpPr/>
          <p:nvPr/>
        </p:nvSpPr>
        <p:spPr>
          <a:xfrm>
            <a:off x="8247888" y="3163824"/>
            <a:ext cx="365760" cy="365760"/>
          </a:xfrm>
          <a:prstGeom prst="roundRect">
            <a:avLst>
              <a:gd name="adj" fmla="val 50000"/>
            </a:avLst>
          </a:prstGeom>
          <a:solidFill>
            <a:srgbClr val="E6115E"/>
          </a:solidFill>
          <a:ln w="12700">
            <a:solidFill>
              <a:srgbClr val="E6115E"/>
            </a:solidFill>
            <a:prstDash val="solid"/>
          </a:ln>
        </p:spPr>
      </p:sp>
      <p:sp>
        <p:nvSpPr>
          <p:cNvPr id="22" name="Text 20"/>
          <p:cNvSpPr/>
          <p:nvPr/>
        </p:nvSpPr>
        <p:spPr>
          <a:xfrm>
            <a:off x="824788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70508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expansión</a:t>
            </a:r>
            <a:endParaRPr lang="en-US" sz="1350" dirty="0"/>
          </a:p>
        </p:txBody>
      </p:sp>
      <p:sp>
        <p:nvSpPr>
          <p:cNvPr id="24" name="Text 22"/>
          <p:cNvSpPr/>
          <p:nvPr/>
        </p:nvSpPr>
        <p:spPr>
          <a:xfrm>
            <a:off x="824788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np.average(pobre, weights=w_per)</a:t>
            </a:r>
            <a:endParaRPr lang="en-US" sz="950" dirty="0"/>
          </a:p>
        </p:txBody>
      </p:sp>
      <p:sp>
        <p:nvSpPr>
          <p:cNvPr id="25" name="Text 23"/>
          <p:cNvSpPr/>
          <p:nvPr/>
        </p:nvSpPr>
        <p:spPr>
          <a:xfrm>
            <a:off x="824788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Y con eso sale la cifra oficial. Tres líneas.</a:t>
            </a:r>
            <a:endParaRPr lang="en-US" sz="1100" dirty="0"/>
          </a:p>
        </p:txBody>
      </p:sp>
      <p:sp>
        <p:nvSpPr>
          <p:cNvPr id="26" name="Text 24"/>
          <p:cNvSpPr/>
          <p:nvPr/>
        </p:nvSpPr>
        <p:spPr>
          <a:xfrm>
            <a:off x="777240" y="4892040"/>
            <a:ext cx="3657600" cy="603504"/>
          </a:xfrm>
          <a:prstGeom prst="rect">
            <a:avLst/>
          </a:prstGeom>
          <a:noFill/>
          <a:ln/>
        </p:spPr>
        <p:txBody>
          <a:bodyPr wrap="square" lIns="0" tIns="0" rIns="0" bIns="0" rtlCol="0" anchor="ctr"/>
          <a:lstStyle/>
          <a:p>
            <a:pPr algn="l" indent="0" marL="0">
              <a:buNone/>
            </a:pPr>
            <a:r>
              <a:rPr lang="en-US" sz="3400" b="1" dirty="0">
                <a:solidFill>
                  <a:srgbClr val="12B886"/>
                </a:solidFill>
                <a:latin typeface="Calibri" pitchFamily="34" charset="0"/>
                <a:ea typeface="Calibri" pitchFamily="34" charset="-122"/>
                <a:cs typeface="Calibri" pitchFamily="34" charset="-120"/>
              </a:rPr>
              <a:t>100.00 %</a:t>
            </a:r>
            <a:endParaRPr lang="en-US" sz="3400" dirty="0"/>
          </a:p>
        </p:txBody>
      </p:sp>
      <p:sp>
        <p:nvSpPr>
          <p:cNvPr id="27" name="Text 25"/>
          <p:cNvSpPr/>
          <p:nvPr/>
        </p:nvSpPr>
        <p:spPr>
          <a:xfrm>
            <a:off x="777240" y="5458968"/>
            <a:ext cx="365760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coincidencia entre la variable que</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construyen y la del INEI, hogar por hogar</a:t>
            </a:r>
            <a:endParaRPr lang="en-US" sz="1150" dirty="0"/>
          </a:p>
        </p:txBody>
      </p:sp>
      <p:sp>
        <p:nvSpPr>
          <p:cNvPr id="28" name="Text 26"/>
          <p:cNvSpPr/>
          <p:nvPr/>
        </p:nvSpPr>
        <p:spPr>
          <a:xfrm>
            <a:off x="4663440" y="4892040"/>
            <a:ext cx="3657600" cy="603504"/>
          </a:xfrm>
          <a:prstGeom prst="rect">
            <a:avLst/>
          </a:prstGeom>
          <a:noFill/>
          <a:ln/>
        </p:spPr>
        <p:txBody>
          <a:bodyPr wrap="square" lIns="0" tIns="0" rIns="0" bIns="0" rtlCol="0" anchor="ctr"/>
          <a:lstStyle/>
          <a:p>
            <a:pPr algn="l" indent="0" marL="0">
              <a:buNone/>
            </a:pPr>
            <a:r>
              <a:rPr lang="en-US" sz="2800" b="1" dirty="0">
                <a:solidFill>
                  <a:srgbClr val="1A56E8"/>
                </a:solidFill>
                <a:latin typeface="Calibri" pitchFamily="34" charset="0"/>
                <a:ea typeface="Calibri" pitchFamily="34" charset="-122"/>
                <a:cs typeface="Calibri" pitchFamily="34" charset="-120"/>
              </a:rPr>
              <a:t>3.80 → 0.10</a:t>
            </a:r>
            <a:endParaRPr lang="en-US" sz="2800" dirty="0"/>
          </a:p>
        </p:txBody>
      </p:sp>
      <p:sp>
        <p:nvSpPr>
          <p:cNvPr id="29" name="Text 27"/>
          <p:cNvSpPr/>
          <p:nvPr/>
        </p:nvSpPr>
        <p:spPr>
          <a:xfrm>
            <a:off x="4663440" y="5458968"/>
            <a:ext cx="365760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asimetría del gasto, y del log del gasto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es la lognormal de la Clase 3</a:t>
            </a:r>
            <a:endParaRPr lang="en-US" sz="1150" dirty="0"/>
          </a:p>
        </p:txBody>
      </p:sp>
      <p:sp>
        <p:nvSpPr>
          <p:cNvPr id="30" name="Text 28"/>
          <p:cNvSpPr/>
          <p:nvPr/>
        </p:nvSpPr>
        <p:spPr>
          <a:xfrm>
            <a:off x="8503920" y="4892040"/>
            <a:ext cx="3108960" cy="603504"/>
          </a:xfrm>
          <a:prstGeom prst="rect">
            <a:avLst/>
          </a:prstGeom>
          <a:noFill/>
          <a:ln/>
        </p:spPr>
        <p:txBody>
          <a:bodyPr wrap="square" lIns="0" tIns="0" rIns="0" bIns="0" rtlCol="0" anchor="ctr"/>
          <a:lstStyle/>
          <a:p>
            <a:pPr algn="l" indent="0" marL="0">
              <a:buNone/>
            </a:pPr>
            <a:r>
              <a:rPr lang="en-US" sz="3400" b="1" dirty="0">
                <a:solidFill>
                  <a:srgbClr val="E6115E"/>
                </a:solidFill>
                <a:latin typeface="Calibri" pitchFamily="34" charset="0"/>
                <a:ea typeface="Calibri" pitchFamily="34" charset="-122"/>
                <a:cs typeface="Calibri" pitchFamily="34" charset="-120"/>
              </a:rPr>
              <a:t>S/ 637</a:t>
            </a:r>
            <a:endParaRPr lang="en-US" sz="3400" dirty="0"/>
          </a:p>
        </p:txBody>
      </p:sp>
      <p:sp>
        <p:nvSpPr>
          <p:cNvPr id="31" name="Text 29"/>
          <p:cNvSpPr/>
          <p:nvPr/>
        </p:nvSpPr>
        <p:spPr>
          <a:xfrm>
            <a:off x="8503920" y="5458968"/>
            <a:ext cx="31089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la mediana PONDERADA del gasto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(la muestral es S/ 681: hay que ponderar)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182880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18288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3</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Y ahora el intervalo… que no se puede calcular como aprendimos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La slide 17 de la Clase 4 lo anticipó: con datos por conglomerados el intervalo clásico sale falsamente angosto.</a:t>
            </a:r>
            <a:endParaRPr lang="en-US" sz="1400" dirty="0"/>
          </a:p>
        </p:txBody>
      </p:sp>
      <p:sp>
        <p:nvSpPr>
          <p:cNvPr id="6" name="Shape 4"/>
          <p:cNvSpPr/>
          <p:nvPr/>
        </p:nvSpPr>
        <p:spPr>
          <a:xfrm>
            <a:off x="548640" y="1965960"/>
            <a:ext cx="5468112" cy="1572768"/>
          </a:xfrm>
          <a:prstGeom prst="roundRect">
            <a:avLst>
              <a:gd name="adj" fmla="val 3488"/>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Cómo se sortea realmente la muestra</a:t>
            </a:r>
            <a:endParaRPr lang="en-US" sz="1400" dirty="0"/>
          </a:p>
        </p:txBody>
      </p:sp>
      <p:sp>
        <p:nvSpPr>
          <p:cNvPr id="9" name="Text 7"/>
          <p:cNvSpPr/>
          <p:nvPr/>
        </p:nvSpPr>
        <p:spPr>
          <a:xfrm>
            <a:off x="804672" y="2496312"/>
            <a:ext cx="4983480" cy="91440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No se eligen 33 691 hogares al azar en todo el Perú. Se eligen 5 359 conglomerados — áreas geográficas — y dentro de cada uno se encuesta a unos 6 hogares vecinos.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Sortear hogares sueltos por todo el país sería carísimo en trabajo de campo.</a:t>
            </a:r>
            <a:endParaRPr lang="en-US" sz="1150" dirty="0"/>
          </a:p>
        </p:txBody>
      </p:sp>
      <p:sp>
        <p:nvSpPr>
          <p:cNvPr id="10" name="Shape 8"/>
          <p:cNvSpPr/>
          <p:nvPr/>
        </p:nvSpPr>
        <p:spPr>
          <a:xfrm>
            <a:off x="6172200" y="1965960"/>
            <a:ext cx="5468112" cy="1572768"/>
          </a:xfrm>
          <a:prstGeom prst="roundRect">
            <a:avLst>
              <a:gd name="adj" fmla="val 3488"/>
            </a:avLst>
          </a:prstGeom>
          <a:solidFill>
            <a:srgbClr val="0A2559"/>
          </a:solidFill>
          <a:ln w="12700">
            <a:solidFill>
              <a:srgbClr val="0A2559"/>
            </a:solidFill>
            <a:prstDash val="solid"/>
          </a:ln>
        </p:spPr>
      </p:sp>
      <p:sp>
        <p:nvSpPr>
          <p:cNvPr id="11" name="Shape 9"/>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6656832" y="21305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 los vecinos se parecen</a:t>
            </a:r>
            <a:endParaRPr lang="en-US" sz="1400" dirty="0"/>
          </a:p>
        </p:txBody>
      </p:sp>
      <p:sp>
        <p:nvSpPr>
          <p:cNvPr id="13" name="Text 11"/>
          <p:cNvSpPr/>
          <p:nvPr/>
        </p:nvSpPr>
        <p:spPr>
          <a:xfrm>
            <a:off x="6419088" y="2496312"/>
            <a:ext cx="4983480" cy="91440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Un 42 % de los conglomerados son homogéneos: o todos sus hogares son pobres o ninguno lo es. Es una proporción enorme.</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Por eso cada hogar adicional dentro del mismo conglomerado aporta menos información nueva que un hogar sorteado al azar en el país.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675888"/>
          <a:ext cx="11091672" cy="914400"/>
        </p:xfrm>
        <a:graphic>
          <a:graphicData uri="http://schemas.openxmlformats.org/drawingml/2006/table">
            <a:tbl>
              <a:tblPr/>
              <a:tblGrid>
                <a:gridCol w="3657600"/>
                <a:gridCol w="2011680"/>
                <a:gridCol w="3593592"/>
                <a:gridCol w="1828800"/>
              </a:tblGrid>
              <a:tr h="402336">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Error estándar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IC 95 % de la tasa de 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Ancho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Ingenuo — muestreo aleatorio simple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0.243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[27.10 %, 28.06 %]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0.95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Con el diseño real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0.525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[26.55 %, 28.61 %]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2.06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5" name="Shape 12"/>
          <p:cNvSpPr/>
          <p:nvPr/>
        </p:nvSpPr>
        <p:spPr>
          <a:xfrm>
            <a:off x="548640" y="5029200"/>
            <a:ext cx="11091672" cy="1170432"/>
          </a:xfrm>
          <a:prstGeom prst="roundRect">
            <a:avLst>
              <a:gd name="adj" fmla="val 4688"/>
            </a:avLst>
          </a:prstGeom>
          <a:solidFill>
            <a:srgbClr val="E6115E"/>
          </a:solidFill>
          <a:ln w="12700">
            <a:solidFill>
              <a:srgbClr val="E6115E"/>
            </a:solidFill>
            <a:prstDash val="solid"/>
          </a:ln>
        </p:spPr>
      </p:sp>
      <p:sp>
        <p:nvSpPr>
          <p:cNvPr id="16" name="Shape 13"/>
          <p:cNvSpPr/>
          <p:nvPr/>
        </p:nvSpPr>
        <p:spPr>
          <a:xfrm>
            <a:off x="804672" y="5276088"/>
            <a:ext cx="118872" cy="118872"/>
          </a:xfrm>
          <a:prstGeom prst="roundRect">
            <a:avLst>
              <a:gd name="adj" fmla="val 30769"/>
            </a:avLst>
          </a:prstGeom>
          <a:solidFill>
            <a:srgbClr val="FFFFFF"/>
          </a:solidFill>
          <a:ln w="12700">
            <a:solidFill>
              <a:srgbClr val="FFFFFF"/>
            </a:solidFill>
            <a:prstDash val="solid"/>
          </a:ln>
        </p:spPr>
      </p:sp>
      <p:sp>
        <p:nvSpPr>
          <p:cNvPr id="17" name="Text 14"/>
          <p:cNvSpPr/>
          <p:nvPr/>
        </p:nvSpPr>
        <p:spPr>
          <a:xfrm>
            <a:off x="1042416" y="5175504"/>
            <a:ext cx="7077456"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EFECTO DE DISEÑO APROXIMADO:  DEFF ≈ 4.66</a:t>
            </a:r>
            <a:endParaRPr lang="en-US" sz="1600" dirty="0"/>
          </a:p>
        </p:txBody>
      </p:sp>
      <p:sp>
        <p:nvSpPr>
          <p:cNvPr id="18" name="Text 15"/>
          <p:cNvSpPr/>
          <p:nvPr/>
        </p:nvSpPr>
        <p:spPr>
          <a:xfrm>
            <a:off x="804672" y="5522976"/>
            <a:ext cx="10607040" cy="603504"/>
          </a:xfrm>
          <a:prstGeom prst="rect">
            <a:avLst/>
          </a:prstGeom>
          <a:noFill/>
          <a:ln/>
        </p:spPr>
        <p:txBody>
          <a:bodyPr wrap="square" lIns="0" tIns="0" rIns="0" bIns="0" rtlCol="0" anchor="t"/>
          <a:lstStyle/>
          <a:p>
            <a:pPr algn="l" indent="0" marL="0">
              <a:lnSpc>
                <a:spcPct val="108000"/>
              </a:lnSpc>
              <a:buNone/>
            </a:pPr>
            <a:r>
              <a:rPr lang="en-US" sz="1200" dirty="0">
                <a:solidFill>
                  <a:srgbClr val="FFE9F1"/>
                </a:solidFill>
                <a:latin typeface="Calibri" pitchFamily="34" charset="0"/>
                <a:ea typeface="Calibri" pitchFamily="34" charset="-122"/>
                <a:cs typeface="Calibri" pitchFamily="34" charset="-120"/>
              </a:rPr>
              <a:t>El intervalo ingenuo es 2.16 veces más angosto de lo que corresponde, y el tamaño de muestra EFECTIVO es de 7 238 hogares, no 33 691.</a:t>
            </a:r>
            <a:endParaRPr lang="en-US" sz="1200" dirty="0"/>
          </a:p>
          <a:p>
            <a:pPr algn="l" indent="0" marL="0">
              <a:lnSpc>
                <a:spcPct val="108000"/>
              </a:lnSpc>
              <a:buNone/>
            </a:pPr>
            <a:endParaRPr lang="en-US" sz="1200" dirty="0"/>
          </a:p>
          <a:p>
            <a:pPr algn="l" indent="0" marL="0">
              <a:lnSpc>
                <a:spcPct val="108000"/>
              </a:lnSpc>
              <a:buNone/>
            </a:pPr>
            <a:r>
              <a:rPr lang="en-US" sz="1200" dirty="0">
                <a:solidFill>
                  <a:srgbClr val="FFE9F1"/>
                </a:solidFill>
                <a:latin typeface="Calibri" pitchFamily="34" charset="0"/>
                <a:ea typeface="Calibri" pitchFamily="34" charset="-122"/>
                <a:cs typeface="Calibri" pitchFamily="34" charset="-120"/>
              </a:rPr>
              <a:t>Corrige por conglomeración; no incorpora explícitamente la estratificación, lo que lo hace conservador. Es una aproximación didáctica, no el error estándar oficial del INEI.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92608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92608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4 · EL CLÍMAX</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¿Bajó la pobreza? Depende de si respetas el diseño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Misma caída de 1.5 puntos, dos análisis, dos titulares distintos.</a:t>
            </a:r>
            <a:endParaRPr lang="en-US" sz="1400" dirty="0"/>
          </a:p>
        </p:txBody>
      </p:sp>
      <p:sp>
        <p:nvSpPr>
          <p:cNvPr id="6" name="Text 4"/>
          <p:cNvSpPr/>
          <p:nvPr/>
        </p:nvSpPr>
        <p:spPr>
          <a:xfrm>
            <a:off x="777240" y="2057400"/>
            <a:ext cx="4937760" cy="603504"/>
          </a:xfrm>
          <a:prstGeom prst="rect">
            <a:avLst/>
          </a:prstGeom>
          <a:noFill/>
          <a:ln/>
        </p:spPr>
        <p:txBody>
          <a:bodyPr wrap="square" lIns="0" tIns="0" rIns="0" bIns="0" rtlCol="0" anchor="ctr"/>
          <a:lstStyle/>
          <a:p>
            <a:pPr algn="l" indent="0" marL="0">
              <a:buNone/>
            </a:pPr>
            <a:r>
              <a:rPr lang="en-US" sz="3200" b="1" dirty="0">
                <a:solidFill>
                  <a:srgbClr val="E6115E"/>
                </a:solidFill>
                <a:latin typeface="Calibri" pitchFamily="34" charset="0"/>
                <a:ea typeface="Calibri" pitchFamily="34" charset="-122"/>
                <a:cs typeface="Calibri" pitchFamily="34" charset="-120"/>
              </a:rPr>
              <a:t>p = 0.046</a:t>
            </a:r>
            <a:endParaRPr lang="en-US" sz="3200" dirty="0"/>
          </a:p>
        </p:txBody>
      </p:sp>
      <p:sp>
        <p:nvSpPr>
          <p:cNvPr id="7" name="Text 5"/>
          <p:cNvSpPr/>
          <p:nvPr/>
        </p:nvSpPr>
        <p:spPr>
          <a:xfrm>
            <a:off x="777240" y="262432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CON el diseño real</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significativa… por los pelos</a:t>
            </a:r>
            <a:endParaRPr lang="en-US" sz="1150" dirty="0"/>
          </a:p>
        </p:txBody>
      </p:sp>
      <p:sp>
        <p:nvSpPr>
          <p:cNvPr id="8" name="Text 6"/>
          <p:cNvSpPr/>
          <p:nvPr/>
        </p:nvSpPr>
        <p:spPr>
          <a:xfrm>
            <a:off x="6400800" y="2057400"/>
            <a:ext cx="4937760" cy="603504"/>
          </a:xfrm>
          <a:prstGeom prst="rect">
            <a:avLst/>
          </a:prstGeom>
          <a:noFill/>
          <a:ln/>
        </p:spPr>
        <p:txBody>
          <a:bodyPr wrap="square" lIns="0" tIns="0" rIns="0" bIns="0" rtlCol="0" anchor="ctr"/>
          <a:lstStyle/>
          <a:p>
            <a:pPr algn="l" indent="0" marL="0">
              <a:buNone/>
            </a:pPr>
            <a:r>
              <a:rPr lang="en-US" sz="3200" b="1" dirty="0">
                <a:solidFill>
                  <a:srgbClr val="5B6B87"/>
                </a:solidFill>
                <a:latin typeface="Calibri" pitchFamily="34" charset="0"/>
                <a:ea typeface="Calibri" pitchFamily="34" charset="-122"/>
                <a:cs typeface="Calibri" pitchFamily="34" charset="-120"/>
              </a:rPr>
              <a:t>p = 0.0000027</a:t>
            </a:r>
            <a:endParaRPr lang="en-US" sz="3200" dirty="0"/>
          </a:p>
        </p:txBody>
      </p:sp>
      <p:sp>
        <p:nvSpPr>
          <p:cNvPr id="9" name="Text 7"/>
          <p:cNvSpPr/>
          <p:nvPr/>
        </p:nvSpPr>
        <p:spPr>
          <a:xfrm>
            <a:off x="6400800" y="262432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IGNORANDO el diseño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parecería contundente</a:t>
            </a:r>
            <a:endParaRPr lang="en-US" sz="1150" dirty="0"/>
          </a:p>
        </p:txBody>
      </p:sp>
      <p:sp>
        <p:nvSpPr>
          <p:cNvPr id="10" name="Shape 8"/>
          <p:cNvSpPr/>
          <p:nvPr/>
        </p:nvSpPr>
        <p:spPr>
          <a:xfrm>
            <a:off x="777240" y="3383280"/>
            <a:ext cx="10607040" cy="0"/>
          </a:xfrm>
          <a:prstGeom prst="line">
            <a:avLst/>
          </a:prstGeom>
          <a:noFill/>
          <a:ln w="12700">
            <a:solidFill>
              <a:srgbClr val="D2DBE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584448"/>
          <a:ext cx="11091672" cy="914400"/>
        </p:xfrm>
        <a:graphic>
          <a:graphicData uri="http://schemas.openxmlformats.org/drawingml/2006/table">
            <a:tbl>
              <a:tblPr/>
              <a:tblGrid>
                <a:gridCol w="2103120"/>
                <a:gridCol w="1737360"/>
                <a:gridCol w="1737360"/>
                <a:gridCol w="1828800"/>
                <a:gridCol w="2103120"/>
                <a:gridCol w="1581912"/>
              </a:tblGrid>
              <a:tr h="402336">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2024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Caída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EE de la caída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Con 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29.05 %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27.58 %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−1.47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0.734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Ingenuo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−1.47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0.313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−4.69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2" name="Shape 9"/>
          <p:cNvSpPr/>
          <p:nvPr/>
        </p:nvSpPr>
        <p:spPr>
          <a:xfrm>
            <a:off x="548640" y="4864608"/>
            <a:ext cx="6766560" cy="1325880"/>
          </a:xfrm>
          <a:prstGeom prst="roundRect">
            <a:avLst>
              <a:gd name="adj" fmla="val 4138"/>
            </a:avLst>
          </a:prstGeom>
          <a:solidFill>
            <a:srgbClr val="0A2559"/>
          </a:solidFill>
          <a:ln w="12700">
            <a:solidFill>
              <a:srgbClr val="0A2559"/>
            </a:solidFill>
            <a:prstDash val="solid"/>
          </a:ln>
        </p:spPr>
      </p:sp>
      <p:sp>
        <p:nvSpPr>
          <p:cNvPr id="13" name="Shape 10"/>
          <p:cNvSpPr/>
          <p:nvPr/>
        </p:nvSpPr>
        <p:spPr>
          <a:xfrm>
            <a:off x="804672" y="5129784"/>
            <a:ext cx="118872" cy="118872"/>
          </a:xfrm>
          <a:prstGeom prst="roundRect">
            <a:avLst>
              <a:gd name="adj" fmla="val 30769"/>
            </a:avLst>
          </a:prstGeom>
          <a:solidFill>
            <a:srgbClr val="E6115E"/>
          </a:solidFill>
          <a:ln w="12700">
            <a:solidFill>
              <a:srgbClr val="E6115E"/>
            </a:solidFill>
            <a:prstDash val="solid"/>
          </a:ln>
        </p:spPr>
      </p:sp>
      <p:sp>
        <p:nvSpPr>
          <p:cNvPr id="14" name="Text 11"/>
          <p:cNvSpPr/>
          <p:nvPr/>
        </p:nvSpPr>
        <p:spPr>
          <a:xfrm>
            <a:off x="1042416" y="5029200"/>
            <a:ext cx="598017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Mira el intervalo de la caída</a:t>
            </a:r>
            <a:endParaRPr lang="en-US" sz="1400" dirty="0"/>
          </a:p>
        </p:txBody>
      </p:sp>
      <p:sp>
        <p:nvSpPr>
          <p:cNvPr id="15" name="Text 12"/>
          <p:cNvSpPr/>
          <p:nvPr/>
        </p:nvSpPr>
        <p:spPr>
          <a:xfrm>
            <a:off x="804672" y="5376672"/>
            <a:ext cx="6263640" cy="292608"/>
          </a:xfrm>
          <a:prstGeom prst="rect">
            <a:avLst/>
          </a:prstGeom>
          <a:noFill/>
          <a:ln/>
        </p:spPr>
        <p:txBody>
          <a:bodyPr wrap="square" lIns="0" tIns="0" rIns="0" bIns="0" rtlCol="0" anchor="ctr"/>
          <a:lstStyle/>
          <a:p>
            <a:pPr indent="0" marL="0">
              <a:buNone/>
            </a:pPr>
            <a:r>
              <a:rPr lang="en-US" sz="1300" b="1" dirty="0">
                <a:solidFill>
                  <a:srgbClr val="4A82FF"/>
                </a:solidFill>
                <a:latin typeface="Courier New" pitchFamily="34" charset="0"/>
                <a:ea typeface="Courier New" pitchFamily="34" charset="-122"/>
                <a:cs typeface="Courier New" pitchFamily="34" charset="-120"/>
              </a:rPr>
              <a:t>IC 95 %:  [ −2.91 ,  −0.03 ]  puntos porcentuales</a:t>
            </a:r>
            <a:endParaRPr lang="en-US" sz="1300" dirty="0"/>
          </a:p>
        </p:txBody>
      </p:sp>
      <p:sp>
        <p:nvSpPr>
          <p:cNvPr id="16" name="Text 13"/>
          <p:cNvSpPr/>
          <p:nvPr/>
        </p:nvSpPr>
        <p:spPr>
          <a:xfrm>
            <a:off x="804672" y="5687568"/>
            <a:ext cx="6263640" cy="45720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El límite superior está a TRES CENTÉSIMAS de punto de cero. El intervalo admite caídas de casi 3 puntos… o de prácticamente nada.</a:t>
            </a:r>
            <a:endParaRPr lang="en-US" sz="1150" dirty="0"/>
          </a:p>
        </p:txBody>
      </p:sp>
      <p:sp>
        <p:nvSpPr>
          <p:cNvPr id="17" name="Shape 14"/>
          <p:cNvSpPr/>
          <p:nvPr/>
        </p:nvSpPr>
        <p:spPr>
          <a:xfrm>
            <a:off x="7452360" y="4864608"/>
            <a:ext cx="4187952" cy="1325880"/>
          </a:xfrm>
          <a:prstGeom prst="roundRect">
            <a:avLst>
              <a:gd name="adj" fmla="val 4138"/>
            </a:avLst>
          </a:prstGeom>
          <a:solidFill>
            <a:srgbClr val="FFFFFF"/>
          </a:solidFill>
          <a:ln w="12700">
            <a:solidFill>
              <a:srgbClr val="D2DBEC"/>
            </a:solidFill>
            <a:prstDash val="solid"/>
          </a:ln>
        </p:spPr>
      </p:sp>
      <p:sp>
        <p:nvSpPr>
          <p:cNvPr id="18" name="Shape 15"/>
          <p:cNvSpPr/>
          <p:nvPr/>
        </p:nvSpPr>
        <p:spPr>
          <a:xfrm>
            <a:off x="7699248" y="5129784"/>
            <a:ext cx="118872" cy="118872"/>
          </a:xfrm>
          <a:prstGeom prst="roundRect">
            <a:avLst>
              <a:gd name="adj" fmla="val 30769"/>
            </a:avLst>
          </a:prstGeom>
          <a:solidFill>
            <a:srgbClr val="E6115E"/>
          </a:solidFill>
          <a:ln w="12700">
            <a:solidFill>
              <a:srgbClr val="E6115E"/>
            </a:solidFill>
            <a:prstDash val="solid"/>
          </a:ln>
        </p:spPr>
      </p:sp>
      <p:sp>
        <p:nvSpPr>
          <p:cNvPr id="19" name="Text 16"/>
          <p:cNvSpPr/>
          <p:nvPr/>
        </p:nvSpPr>
        <p:spPr>
          <a:xfrm>
            <a:off x="7936992" y="5029200"/>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lectura honesta</a:t>
            </a:r>
            <a:endParaRPr lang="en-US" sz="1400" dirty="0"/>
          </a:p>
        </p:txBody>
      </p:sp>
      <p:sp>
        <p:nvSpPr>
          <p:cNvPr id="20" name="Text 17"/>
          <p:cNvSpPr/>
          <p:nvPr/>
        </p:nvSpPr>
        <p:spPr>
          <a:xfrm>
            <a:off x="7699248" y="5376672"/>
            <a:ext cx="3703320" cy="749808"/>
          </a:xfrm>
          <a:prstGeom prst="rect">
            <a:avLst/>
          </a:prstGeom>
          <a:noFill/>
          <a:ln/>
        </p:spPr>
        <p:txBody>
          <a:bodyPr wrap="square" lIns="0" tIns="0" rIns="0" bIns="0" rtlCol="0" anchor="t"/>
          <a:lstStyle/>
          <a:p>
            <a:pPr algn="l" indent="0" marL="0">
              <a:lnSpc>
                <a:spcPct val="106000"/>
              </a:lnSpc>
              <a:buNone/>
            </a:pPr>
            <a:r>
              <a:rPr lang="en-US" sz="1100" i="1" dirty="0">
                <a:solidFill>
                  <a:srgbClr val="2C3A55"/>
                </a:solidFill>
                <a:latin typeface="Calibri" pitchFamily="34" charset="0"/>
                <a:ea typeface="Calibri" pitchFamily="34" charset="-122"/>
                <a:cs typeface="Calibri" pitchFamily="34" charset="-120"/>
              </a:rPr>
              <a:t>«Bajo esta aproximación la caída alcanza el 5 % por margen estrecho. Es un resultado FRONTERIZO: al incorporar la covarianza del panel rotativo el p pasa a 0.034. Hay evidencia de mejora, no una reducción demostrada.»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4 · LAS BRECHAS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Dónde está la pobreza, y cuántas comparaciones son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Aquí se aplica la Clase 6 completa: identificar el diseño, Levene, Welch, y el efecto en unidades reales.</a:t>
            </a:r>
            <a:endParaRPr lang="en-US" sz="1400" dirty="0"/>
          </a:p>
        </p:txBody>
      </p:sp>
      <p:graphicFrame>
        <p:nvGraphicFramePr>
          <p:cNvPr id="6" name="Chart 0" descr=""/>
          <p:cNvGraphicFramePr/>
          <p:nvPr/>
        </p:nvGraphicFramePr>
        <p:xfrm>
          <a:off x="548640" y="1965960"/>
          <a:ext cx="667512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52360" y="1965960"/>
          <a:ext cx="4187952" cy="914400"/>
        </p:xfrm>
        <a:graphic>
          <a:graphicData uri="http://schemas.openxmlformats.org/drawingml/2006/table">
            <a:tbl>
              <a:tblPr/>
              <a:tblGrid>
                <a:gridCol w="1234440"/>
                <a:gridCol w="868680"/>
                <a:gridCol w="1133856"/>
                <a:gridCol w="950976"/>
              </a:tblGrid>
              <a:tr h="384048">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Gasto medio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urbano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22 031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24.81 %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 861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rural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11 660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39.30 %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S/ 455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8" name="Shape 4"/>
          <p:cNvSpPr/>
          <p:nvPr/>
        </p:nvSpPr>
        <p:spPr>
          <a:xfrm>
            <a:off x="7452360" y="3246120"/>
            <a:ext cx="4187952" cy="1234440"/>
          </a:xfrm>
          <a:prstGeom prst="roundRect">
            <a:avLst>
              <a:gd name="adj" fmla="val 4444"/>
            </a:avLst>
          </a:prstGeom>
          <a:solidFill>
            <a:srgbClr val="0A2559"/>
          </a:solidFill>
          <a:ln w="12700">
            <a:solidFill>
              <a:srgbClr val="0A2559"/>
            </a:solidFill>
            <a:prstDash val="solid"/>
          </a:ln>
        </p:spPr>
      </p:sp>
      <p:sp>
        <p:nvSpPr>
          <p:cNvPr id="9" name="Shape 5"/>
          <p:cNvSpPr/>
          <p:nvPr/>
        </p:nvSpPr>
        <p:spPr>
          <a:xfrm>
            <a:off x="7699248" y="3493008"/>
            <a:ext cx="118872" cy="118872"/>
          </a:xfrm>
          <a:prstGeom prst="roundRect">
            <a:avLst>
              <a:gd name="adj" fmla="val 30769"/>
            </a:avLst>
          </a:prstGeom>
          <a:solidFill>
            <a:srgbClr val="E6115E"/>
          </a:solidFill>
          <a:ln w="12700">
            <a:solidFill>
              <a:srgbClr val="E6115E"/>
            </a:solidFill>
            <a:prstDash val="solid"/>
          </a:ln>
        </p:spPr>
      </p:sp>
      <p:sp>
        <p:nvSpPr>
          <p:cNvPr id="10" name="Text 6"/>
          <p:cNvSpPr/>
          <p:nvPr/>
        </p:nvSpPr>
        <p:spPr>
          <a:xfrm>
            <a:off x="7936992" y="3392424"/>
            <a:ext cx="35112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Clase 6, aplicada</a:t>
            </a:r>
            <a:endParaRPr lang="en-US" sz="1400" dirty="0"/>
          </a:p>
        </p:txBody>
      </p:sp>
      <p:sp>
        <p:nvSpPr>
          <p:cNvPr id="11" name="Text 7"/>
          <p:cNvSpPr/>
          <p:nvPr/>
        </p:nvSpPr>
        <p:spPr>
          <a:xfrm>
            <a:off x="7699248" y="3712464"/>
            <a:ext cx="3703320" cy="694944"/>
          </a:xfrm>
          <a:prstGeom prst="rect">
            <a:avLst/>
          </a:prstGeom>
          <a:noFill/>
          <a:ln/>
        </p:spPr>
        <p:txBody>
          <a:bodyPr wrap="square" lIns="0" tIns="0" rIns="0" bIns="0" rtlCol="0" anchor="t"/>
          <a:lstStyle/>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Levene rechaza igualdad de varianzas → va Welch.</a:t>
            </a:r>
            <a:endParaRPr lang="en-US" sz="1100" dirty="0"/>
          </a:p>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t = 80.5, gl = 33 085, p &lt; 0.001.</a:t>
            </a:r>
            <a:endParaRPr lang="en-US" sz="1100" dirty="0"/>
          </a:p>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d de Cohen = 0.75: efecto mediano-grande.</a:t>
            </a:r>
            <a:endParaRPr lang="en-US" sz="1100" dirty="0"/>
          </a:p>
        </p:txBody>
      </p:sp>
      <p:sp>
        <p:nvSpPr>
          <p:cNvPr id="12" name="Shape 8"/>
          <p:cNvSpPr/>
          <p:nvPr/>
        </p:nvSpPr>
        <p:spPr>
          <a:xfrm>
            <a:off x="7452360" y="4553712"/>
            <a:ext cx="4187952" cy="1298448"/>
          </a:xfrm>
          <a:prstGeom prst="roundRect">
            <a:avLst>
              <a:gd name="adj" fmla="val 4225"/>
            </a:avLst>
          </a:prstGeom>
          <a:solidFill>
            <a:srgbClr val="E9EEF8"/>
          </a:solidFill>
          <a:ln w="12700">
            <a:solidFill>
              <a:srgbClr val="D2DBEC"/>
            </a:solidFill>
            <a:prstDash val="solid"/>
          </a:ln>
        </p:spPr>
      </p:sp>
      <p:sp>
        <p:nvSpPr>
          <p:cNvPr id="13" name="Shape 9"/>
          <p:cNvSpPr/>
          <p:nvPr/>
        </p:nvSpPr>
        <p:spPr>
          <a:xfrm>
            <a:off x="7699248" y="4800600"/>
            <a:ext cx="118872" cy="118872"/>
          </a:xfrm>
          <a:prstGeom prst="roundRect">
            <a:avLst>
              <a:gd name="adj" fmla="val 30769"/>
            </a:avLst>
          </a:prstGeom>
          <a:solidFill>
            <a:srgbClr val="E6115E"/>
          </a:solidFill>
          <a:ln w="12700">
            <a:solidFill>
              <a:srgbClr val="E6115E"/>
            </a:solidFill>
            <a:prstDash val="solid"/>
          </a:ln>
        </p:spPr>
      </p:sp>
      <p:sp>
        <p:nvSpPr>
          <p:cNvPr id="14" name="Text 10"/>
          <p:cNvSpPr/>
          <p:nvPr/>
        </p:nvSpPr>
        <p:spPr>
          <a:xfrm>
            <a:off x="7936992" y="4700016"/>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Y las comparaciones múltiples</a:t>
            </a:r>
            <a:endParaRPr lang="en-US" sz="1400" dirty="0"/>
          </a:p>
        </p:txBody>
      </p:sp>
      <p:sp>
        <p:nvSpPr>
          <p:cNvPr id="15" name="Text 11"/>
          <p:cNvSpPr/>
          <p:nvPr/>
        </p:nvSpPr>
        <p:spPr>
          <a:xfrm>
            <a:off x="7699248" y="5047488"/>
            <a:ext cx="3703320" cy="713232"/>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Con 8 dominios hay 28 pares posibles. Sin corregir, la probabilidad de al menos un falso positivo es del 76 %. Es la Clase 5 apareciendo sola.</a:t>
            </a:r>
            <a:endParaRPr lang="en-US" sz="1100" dirty="0"/>
          </a:p>
        </p:txBody>
      </p:sp>
      <p:sp>
        <p:nvSpPr>
          <p:cNvPr id="16" name="Shape 12"/>
          <p:cNvSpPr/>
          <p:nvPr/>
        </p:nvSpPr>
        <p:spPr>
          <a:xfrm>
            <a:off x="548640" y="5321808"/>
            <a:ext cx="6675120" cy="868680"/>
          </a:xfrm>
          <a:prstGeom prst="roundRect">
            <a:avLst>
              <a:gd name="adj" fmla="val 6316"/>
            </a:avLst>
          </a:prstGeom>
          <a:solidFill>
            <a:srgbClr val="FFFFFF"/>
          </a:solidFill>
          <a:ln w="12700">
            <a:solidFill>
              <a:srgbClr val="D2DBEC"/>
            </a:solidFill>
            <a:prstDash val="solid"/>
          </a:ln>
        </p:spPr>
      </p:sp>
      <p:sp>
        <p:nvSpPr>
          <p:cNvPr id="17" name="Text 13"/>
          <p:cNvSpPr/>
          <p:nvPr/>
        </p:nvSpPr>
        <p:spPr>
          <a:xfrm>
            <a:off x="822960" y="5321808"/>
            <a:ext cx="6217920" cy="86868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Lo que sí se puede afirmar sin ambigüedad: la brecha entre Sierra Norte (45.7 %) y Costa Centro (14.0 %) es de 31.7 puntos porcentuales.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5661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5661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HONESTIDAD METODOLÓGICA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diseño real no cae limpio en ninguna casilla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Un detalle que descubrimos en los datos y que conviene decir en el informe, no esconder.</a:t>
            </a:r>
            <a:endParaRPr lang="en-US" sz="1400" dirty="0"/>
          </a:p>
        </p:txBody>
      </p:sp>
      <p:sp>
        <p:nvSpPr>
          <p:cNvPr id="6" name="Text 4"/>
          <p:cNvSpPr/>
          <p:nvPr/>
        </p:nvSpPr>
        <p:spPr>
          <a:xfrm>
            <a:off x="777240" y="2103120"/>
            <a:ext cx="4937760" cy="603504"/>
          </a:xfrm>
          <a:prstGeom prst="rect">
            <a:avLst/>
          </a:prstGeom>
          <a:noFill/>
          <a:ln/>
        </p:spPr>
        <p:txBody>
          <a:bodyPr wrap="square" lIns="0" tIns="0" rIns="0" bIns="0" rtlCol="0" anchor="ctr"/>
          <a:lstStyle/>
          <a:p>
            <a:pPr algn="l" indent="0" marL="0">
              <a:buNone/>
            </a:pPr>
            <a:r>
              <a:rPr lang="en-US" sz="3600" b="1" dirty="0">
                <a:solidFill>
                  <a:srgbClr val="E6115E"/>
                </a:solidFill>
                <a:latin typeface="Calibri" pitchFamily="34" charset="0"/>
                <a:ea typeface="Calibri" pitchFamily="34" charset="-122"/>
                <a:cs typeface="Calibri" pitchFamily="34" charset="-120"/>
              </a:rPr>
              <a:t>26.2 %</a:t>
            </a:r>
            <a:endParaRPr lang="en-US" sz="3600" dirty="0"/>
          </a:p>
        </p:txBody>
      </p:sp>
      <p:sp>
        <p:nvSpPr>
          <p:cNvPr id="7" name="Text 5"/>
          <p:cNvSpPr/>
          <p:nvPr/>
        </p:nvSpPr>
        <p:spPr>
          <a:xfrm>
            <a:off x="777240" y="267004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de los hogares de 2024 ya habían sido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encuestados en 2023: panel rotativo</a:t>
            </a:r>
            <a:endParaRPr lang="en-US" sz="1150" dirty="0"/>
          </a:p>
        </p:txBody>
      </p:sp>
      <p:sp>
        <p:nvSpPr>
          <p:cNvPr id="8" name="Shape 6"/>
          <p:cNvSpPr/>
          <p:nvPr/>
        </p:nvSpPr>
        <p:spPr>
          <a:xfrm>
            <a:off x="6172200" y="2057400"/>
            <a:ext cx="5468112" cy="1371600"/>
          </a:xfrm>
          <a:prstGeom prst="roundRect">
            <a:avLst>
              <a:gd name="adj" fmla="val 4000"/>
            </a:avLst>
          </a:prstGeom>
          <a:solidFill>
            <a:srgbClr val="0A2559"/>
          </a:solidFill>
          <a:ln w="12700">
            <a:solidFill>
              <a:srgbClr val="0A2559"/>
            </a:solidFill>
            <a:prstDash val="solid"/>
          </a:ln>
        </p:spPr>
      </p:sp>
      <p:sp>
        <p:nvSpPr>
          <p:cNvPr id="9" name="Shape 7"/>
          <p:cNvSpPr/>
          <p:nvPr/>
        </p:nvSpPr>
        <p:spPr>
          <a:xfrm>
            <a:off x="6419088" y="2322576"/>
            <a:ext cx="118872" cy="118872"/>
          </a:xfrm>
          <a:prstGeom prst="roundRect">
            <a:avLst>
              <a:gd name="adj" fmla="val 30769"/>
            </a:avLst>
          </a:prstGeom>
          <a:solidFill>
            <a:srgbClr val="E6115E"/>
          </a:solidFill>
          <a:ln w="12700">
            <a:solidFill>
              <a:srgbClr val="E6115E"/>
            </a:solidFill>
            <a:prstDash val="solid"/>
          </a:ln>
        </p:spPr>
      </p:sp>
      <p:sp>
        <p:nvSpPr>
          <p:cNvPr id="10" name="Text 8"/>
          <p:cNvSpPr/>
          <p:nvPr/>
        </p:nvSpPr>
        <p:spPr>
          <a:xfrm>
            <a:off x="6656832" y="222199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esto complica</a:t>
            </a:r>
            <a:endParaRPr lang="en-US" sz="1400" dirty="0"/>
          </a:p>
        </p:txBody>
      </p:sp>
      <p:sp>
        <p:nvSpPr>
          <p:cNvPr id="11" name="Text 9"/>
          <p:cNvSpPr/>
          <p:nvPr/>
        </p:nvSpPr>
        <p:spPr>
          <a:xfrm>
            <a:off x="6419088" y="258775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En la Clase 6 vimos tres diseños: independiente, emparejado y k grupos. La comparación 2023-2024 no es ninguno de los tres: es una mezcla, con una cuarta parte de solapamiento.</a:t>
            </a:r>
            <a:endParaRPr lang="en-US" sz="1150" dirty="0"/>
          </a:p>
        </p:txBody>
      </p:sp>
      <p:sp>
        <p:nvSpPr>
          <p:cNvPr id="12" name="Shape 10"/>
          <p:cNvSpPr/>
          <p:nvPr/>
        </p:nvSpPr>
        <p:spPr>
          <a:xfrm>
            <a:off x="548640" y="3657600"/>
            <a:ext cx="11091672" cy="768096"/>
          </a:xfrm>
          <a:prstGeom prst="roundRect">
            <a:avLst>
              <a:gd name="adj" fmla="val 7143"/>
            </a:avLst>
          </a:prstGeom>
          <a:solidFill>
            <a:srgbClr val="FFFFFF"/>
          </a:solidFill>
          <a:ln w="12700">
            <a:solidFill>
              <a:srgbClr val="D2DBEC"/>
            </a:solidFill>
            <a:prstDash val="solid"/>
          </a:ln>
        </p:spPr>
      </p:sp>
      <p:sp>
        <p:nvSpPr>
          <p:cNvPr id="13" name="Shape 11"/>
          <p:cNvSpPr/>
          <p:nvPr/>
        </p:nvSpPr>
        <p:spPr>
          <a:xfrm>
            <a:off x="777240" y="3813048"/>
            <a:ext cx="118872" cy="118872"/>
          </a:xfrm>
          <a:prstGeom prst="roundRect">
            <a:avLst>
              <a:gd name="adj" fmla="val 30769"/>
            </a:avLst>
          </a:prstGeom>
          <a:solidFill>
            <a:srgbClr val="1A56E8"/>
          </a:solidFill>
          <a:ln w="12700">
            <a:solidFill>
              <a:srgbClr val="1A56E8"/>
            </a:solidFill>
            <a:prstDash val="solid"/>
          </a:ln>
        </p:spPr>
      </p:sp>
      <p:sp>
        <p:nvSpPr>
          <p:cNvPr id="14" name="Text 12"/>
          <p:cNvSpPr/>
          <p:nvPr/>
        </p:nvSpPr>
        <p:spPr>
          <a:xfrm>
            <a:off x="1024128" y="3730752"/>
            <a:ext cx="237744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Qué hicimos</a:t>
            </a:r>
            <a:endParaRPr lang="en-US" sz="1250" dirty="0"/>
          </a:p>
        </p:txBody>
      </p:sp>
      <p:sp>
        <p:nvSpPr>
          <p:cNvPr id="15" name="Text 13"/>
          <p:cNvSpPr/>
          <p:nvPr/>
        </p:nvSpPr>
        <p:spPr>
          <a:xfrm>
            <a:off x="3520440" y="3767328"/>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Tratarlo como muestras independientes, que es la práctica estándar del INEI y de la literatura.</a:t>
            </a:r>
            <a:endParaRPr lang="en-US" sz="1150" dirty="0"/>
          </a:p>
        </p:txBody>
      </p:sp>
      <p:sp>
        <p:nvSpPr>
          <p:cNvPr id="16" name="Shape 14"/>
          <p:cNvSpPr/>
          <p:nvPr/>
        </p:nvSpPr>
        <p:spPr>
          <a:xfrm>
            <a:off x="548640" y="4517136"/>
            <a:ext cx="11091672" cy="768096"/>
          </a:xfrm>
          <a:prstGeom prst="roundRect">
            <a:avLst>
              <a:gd name="adj" fmla="val 7143"/>
            </a:avLst>
          </a:prstGeom>
          <a:solidFill>
            <a:srgbClr val="FFFFFF"/>
          </a:solidFill>
          <a:ln w="12700">
            <a:solidFill>
              <a:srgbClr val="D2DBEC"/>
            </a:solidFill>
            <a:prstDash val="solid"/>
          </a:ln>
        </p:spPr>
      </p:sp>
      <p:sp>
        <p:nvSpPr>
          <p:cNvPr id="17" name="Shape 15"/>
          <p:cNvSpPr/>
          <p:nvPr/>
        </p:nvSpPr>
        <p:spPr>
          <a:xfrm>
            <a:off x="777240" y="4672584"/>
            <a:ext cx="118872" cy="118872"/>
          </a:xfrm>
          <a:prstGeom prst="roundRect">
            <a:avLst>
              <a:gd name="adj" fmla="val 30769"/>
            </a:avLst>
          </a:prstGeom>
          <a:solidFill>
            <a:srgbClr val="12B886"/>
          </a:solidFill>
          <a:ln w="12700">
            <a:solidFill>
              <a:srgbClr val="12B886"/>
            </a:solidFill>
            <a:prstDash val="solid"/>
          </a:ln>
        </p:spPr>
      </p:sp>
      <p:sp>
        <p:nvSpPr>
          <p:cNvPr id="18" name="Text 16"/>
          <p:cNvSpPr/>
          <p:nvPr/>
        </p:nvSpPr>
        <p:spPr>
          <a:xfrm>
            <a:off x="1024128" y="4590288"/>
            <a:ext cx="237744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Y lo COMPROBAMOS, no lo supusimos</a:t>
            </a:r>
            <a:endParaRPr lang="en-US" sz="1250" dirty="0"/>
          </a:p>
        </p:txBody>
      </p:sp>
      <p:sp>
        <p:nvSpPr>
          <p:cNvPr id="19" name="Text 17"/>
          <p:cNvSpPr/>
          <p:nvPr/>
        </p:nvSpPr>
        <p:spPr>
          <a:xfrm>
            <a:off x="3520440" y="4626864"/>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Medimos la correlación de la pobreza en los hogares del panel: r = 0.44, positiva. Por eso asumir independencia sobreestima el EE y la prueba es conservadora. Afirmarlo sin medirlo habría sido el mismo error que este curso combate.</a:t>
            </a:r>
            <a:endParaRPr lang="en-US" sz="1150" dirty="0"/>
          </a:p>
        </p:txBody>
      </p:sp>
      <p:sp>
        <p:nvSpPr>
          <p:cNvPr id="20" name="Shape 18"/>
          <p:cNvSpPr/>
          <p:nvPr/>
        </p:nvSpPr>
        <p:spPr>
          <a:xfrm>
            <a:off x="548640" y="5376672"/>
            <a:ext cx="11091672" cy="768096"/>
          </a:xfrm>
          <a:prstGeom prst="roundRect">
            <a:avLst>
              <a:gd name="adj" fmla="val 7143"/>
            </a:avLst>
          </a:prstGeom>
          <a:solidFill>
            <a:srgbClr val="0A2559"/>
          </a:solidFill>
          <a:ln w="12700">
            <a:solidFill>
              <a:srgbClr val="0A2559"/>
            </a:solidFill>
            <a:prstDash val="solid"/>
          </a:ln>
        </p:spPr>
      </p:sp>
      <p:sp>
        <p:nvSpPr>
          <p:cNvPr id="21" name="Shape 19"/>
          <p:cNvSpPr/>
          <p:nvPr/>
        </p:nvSpPr>
        <p:spPr>
          <a:xfrm>
            <a:off x="777240" y="5532120"/>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24128" y="5449824"/>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Por qué hay que decirlo</a:t>
            </a:r>
            <a:endParaRPr lang="en-US" sz="1250" dirty="0"/>
          </a:p>
        </p:txBody>
      </p:sp>
      <p:sp>
        <p:nvSpPr>
          <p:cNvPr id="23" name="Text 21"/>
          <p:cNvSpPr/>
          <p:nvPr/>
        </p:nvSpPr>
        <p:spPr>
          <a:xfrm>
            <a:off x="3520440" y="5486400"/>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Un auditor con formación estadística lo va a notar. Declararlo cuesta una frase y salva la credibilidad del informe entero.</a:t>
            </a:r>
            <a:endParaRPr lang="en-US" sz="1150" dirty="0"/>
          </a:p>
        </p:txBody>
      </p:sp>
      <p:sp>
        <p:nvSpPr>
          <p:cNvPr id="24" name="Shape 22"/>
          <p:cNvSpPr/>
          <p:nvPr/>
        </p:nvSpPr>
        <p:spPr>
          <a:xfrm>
            <a:off x="548640" y="6263640"/>
            <a:ext cx="11091672" cy="0"/>
          </a:xfrm>
          <a:prstGeom prst="roundRect">
            <a:avLst>
              <a:gd name="adj" fmla="val Infinity"/>
            </a:avLst>
          </a:prstGeom>
          <a:solidFill>
            <a:srgbClr val="E9EEF8"/>
          </a:solidFill>
          <a:ln w="12700">
            <a:solidFill>
              <a:srgbClr val="D2DBEC"/>
            </a:solidFill>
            <a:prstDash val="solid"/>
          </a:ln>
        </p:spPr>
      </p:sp>
      <p:sp>
        <p:nvSpPr>
          <p:cNvPr id="25" name="Text 23"/>
          <p:cNvSpPr/>
          <p:nvPr/>
        </p:nvSpPr>
        <p:spPr>
          <a:xfrm>
            <a:off x="548640" y="6272784"/>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Lección de la Clase 6, slide 5: identifica el diseño antes de elegir la prueba. Y acepta que a veces el mundo real no cae limpio en ninguna casilla.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informe que un comité puede auditar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Todo lo anterior no vale nada si el informe no lo comunica.</a:t>
            </a:r>
            <a:endParaRPr lang="en-US" sz="1400" dirty="0"/>
          </a:p>
        </p:txBody>
      </p:sp>
      <p:sp>
        <p:nvSpPr>
          <p:cNvPr id="6" name="Shape 4"/>
          <p:cNvSpPr/>
          <p:nvPr/>
        </p:nvSpPr>
        <p:spPr>
          <a:xfrm>
            <a:off x="548640" y="1965960"/>
            <a:ext cx="5468112" cy="1691640"/>
          </a:xfrm>
          <a:prstGeom prst="roundRect">
            <a:avLst>
              <a:gd name="adj" fmla="val 3243"/>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Versión incompleta — la habitual</a:t>
            </a:r>
            <a:endParaRPr lang="en-US" sz="1400" dirty="0"/>
          </a:p>
        </p:txBody>
      </p:sp>
      <p:sp>
        <p:nvSpPr>
          <p:cNvPr id="9" name="Text 7"/>
          <p:cNvSpPr/>
          <p:nvPr/>
        </p:nvSpPr>
        <p:spPr>
          <a:xfrm>
            <a:off x="804672" y="2514600"/>
            <a:ext cx="4983480" cy="548640"/>
          </a:xfrm>
          <a:prstGeom prst="rect">
            <a:avLst/>
          </a:prstGeom>
          <a:noFill/>
          <a:ln/>
        </p:spPr>
        <p:txBody>
          <a:bodyPr wrap="square" lIns="0" tIns="0" rIns="0" bIns="0" rtlCol="0" anchor="t"/>
          <a:lstStyle/>
          <a:p>
            <a:pPr algn="l" indent="0" marL="0">
              <a:lnSpc>
                <a:spcPct val="108000"/>
              </a:lnSpc>
              <a:buNone/>
            </a:pPr>
            <a:r>
              <a:rPr lang="en-US" sz="1200" i="1" dirty="0">
                <a:solidFill>
                  <a:srgbClr val="2C3A55"/>
                </a:solidFill>
                <a:latin typeface="Calibri" pitchFamily="34" charset="0"/>
                <a:ea typeface="Calibri" pitchFamily="34" charset="-122"/>
                <a:cs typeface="Calibri" pitchFamily="34" charset="-120"/>
              </a:rPr>
              <a:t>«La pobreza monetaria en 2024 fue de 27.6 %, menor que el 29.0 % de 2023.»</a:t>
            </a:r>
            <a:endParaRPr lang="en-US" sz="1200" dirty="0"/>
          </a:p>
        </p:txBody>
      </p:sp>
      <p:sp>
        <p:nvSpPr>
          <p:cNvPr id="10" name="Text 8"/>
          <p:cNvSpPr/>
          <p:nvPr/>
        </p:nvSpPr>
        <p:spPr>
          <a:xfrm>
            <a:off x="804672" y="3090672"/>
            <a:ext cx="4983480" cy="502920"/>
          </a:xfrm>
          <a:prstGeom prst="rect">
            <a:avLst/>
          </a:prstGeom>
          <a:noFill/>
          <a:ln/>
        </p:spPr>
        <p:txBody>
          <a:bodyPr wrap="square" lIns="0" tIns="0" rIns="0" bIns="0" rtlCol="0" anchor="t"/>
          <a:lstStyle/>
          <a:p>
            <a:pPr algn="l" indent="0" marL="0">
              <a:lnSpc>
                <a:spcPct val="106000"/>
              </a:lnSpc>
              <a:buNone/>
            </a:pPr>
            <a:r>
              <a:rPr lang="en-US" sz="1050" dirty="0">
                <a:solidFill>
                  <a:srgbClr val="5B6B87"/>
                </a:solidFill>
                <a:latin typeface="Calibri" pitchFamily="34" charset="0"/>
                <a:ea typeface="Calibri" pitchFamily="34" charset="-122"/>
                <a:cs typeface="Calibri" pitchFamily="34" charset="-120"/>
              </a:rPr>
              <a:t>Qué falta: el intervalo, el diseño de la encuesta, si la caída es distinguible del ruido, y qué no permite concluir la muestra.</a:t>
            </a:r>
            <a:endParaRPr lang="en-US" sz="1050" dirty="0"/>
          </a:p>
        </p:txBody>
      </p:sp>
      <p:sp>
        <p:nvSpPr>
          <p:cNvPr id="11" name="Shape 9"/>
          <p:cNvSpPr/>
          <p:nvPr/>
        </p:nvSpPr>
        <p:spPr>
          <a:xfrm>
            <a:off x="6172200" y="1965960"/>
            <a:ext cx="5468112" cy="1691640"/>
          </a:xfrm>
          <a:prstGeom prst="roundRect">
            <a:avLst>
              <a:gd name="adj" fmla="val 3243"/>
            </a:avLst>
          </a:prstGeom>
          <a:solidFill>
            <a:srgbClr val="0A2559"/>
          </a:solidFill>
          <a:ln w="12700">
            <a:solidFill>
              <a:srgbClr val="0A2559"/>
            </a:solidFill>
            <a:prstDash val="solid"/>
          </a:ln>
        </p:spPr>
      </p:sp>
      <p:sp>
        <p:nvSpPr>
          <p:cNvPr id="12" name="Shape 10"/>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305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Versión completa — la auditable</a:t>
            </a:r>
            <a:endParaRPr lang="en-US" sz="1400" dirty="0"/>
          </a:p>
        </p:txBody>
      </p:sp>
      <p:sp>
        <p:nvSpPr>
          <p:cNvPr id="14" name="Text 12"/>
          <p:cNvSpPr/>
          <p:nvPr/>
        </p:nvSpPr>
        <p:spPr>
          <a:xfrm>
            <a:off x="6419088" y="2514600"/>
            <a:ext cx="4983480" cy="1078992"/>
          </a:xfrm>
          <a:prstGeom prst="rect">
            <a:avLst/>
          </a:prstGeom>
          <a:noFill/>
          <a:ln/>
        </p:spPr>
        <p:txBody>
          <a:bodyPr wrap="square" lIns="0" tIns="0" rIns="0" bIns="0" rtlCol="0" anchor="t"/>
          <a:lstStyle/>
          <a:p>
            <a:pPr algn="l" indent="0" marL="0">
              <a:lnSpc>
                <a:spcPct val="106000"/>
              </a:lnSpc>
              <a:buNone/>
            </a:pPr>
            <a:r>
              <a:rPr lang="en-US" sz="1050" i="1" dirty="0">
                <a:solidFill>
                  <a:srgbClr val="C9D6F2"/>
                </a:solidFill>
                <a:latin typeface="Calibri" pitchFamily="34" charset="0"/>
                <a:ea typeface="Calibri" pitchFamily="34" charset="-122"/>
                <a:cs typeface="Calibri" pitchFamily="34" charset="-120"/>
              </a:rPr>
              <a:t>«27.6 % (IC 95 %: 26.5 a 28.6 %), con DEFF = 4.7 y n efectivo de 7 238 hogares. La caída de 1.5 pp respecto a 2023 alcanza significancia al 5 % por margen estrecho (z = −2.00, p = 0.046); el IC de la caída admite desde 2.9 pp hasta prácticamente cero.»</a:t>
            </a:r>
            <a:endParaRPr lang="en-US" sz="1050" dirty="0"/>
          </a:p>
        </p:txBody>
      </p:sp>
      <p:sp>
        <p:nvSpPr>
          <p:cNvPr id="15" name="Shape 13"/>
          <p:cNvSpPr/>
          <p:nvPr/>
        </p:nvSpPr>
        <p:spPr>
          <a:xfrm>
            <a:off x="548640" y="3822192"/>
            <a:ext cx="3520440" cy="1024128"/>
          </a:xfrm>
          <a:prstGeom prst="roundRect">
            <a:avLst>
              <a:gd name="adj" fmla="val 5357"/>
            </a:avLst>
          </a:prstGeom>
          <a:solidFill>
            <a:srgbClr val="FFFFFF"/>
          </a:solidFill>
          <a:ln w="12700">
            <a:solidFill>
              <a:srgbClr val="D2DBEC"/>
            </a:solidFill>
            <a:prstDash val="solid"/>
          </a:ln>
        </p:spPr>
      </p:sp>
      <p:sp>
        <p:nvSpPr>
          <p:cNvPr id="16" name="Shape 14"/>
          <p:cNvSpPr/>
          <p:nvPr/>
        </p:nvSpPr>
        <p:spPr>
          <a:xfrm>
            <a:off x="749808" y="3995928"/>
            <a:ext cx="118872" cy="118872"/>
          </a:xfrm>
          <a:prstGeom prst="roundRect">
            <a:avLst>
              <a:gd name="adj" fmla="val 30769"/>
            </a:avLst>
          </a:prstGeom>
          <a:solidFill>
            <a:srgbClr val="1A56E8"/>
          </a:solidFill>
          <a:ln w="12700">
            <a:solidFill>
              <a:srgbClr val="1A56E8"/>
            </a:solidFill>
            <a:prstDash val="solid"/>
          </a:ln>
        </p:spPr>
      </p:sp>
      <p:sp>
        <p:nvSpPr>
          <p:cNvPr id="17" name="Text 15"/>
          <p:cNvSpPr/>
          <p:nvPr/>
        </p:nvSpPr>
        <p:spPr>
          <a:xfrm>
            <a:off x="100584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diseño de la encuesta</a:t>
            </a:r>
            <a:endParaRPr lang="en-US" sz="1100" dirty="0"/>
          </a:p>
        </p:txBody>
      </p:sp>
      <p:sp>
        <p:nvSpPr>
          <p:cNvPr id="18" name="Text 16"/>
          <p:cNvSpPr/>
          <p:nvPr/>
        </p:nvSpPr>
        <p:spPr>
          <a:xfrm>
            <a:off x="74980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Ponderación y conglomerados. Justifica el intervalo.</a:t>
            </a:r>
            <a:endParaRPr lang="en-US" sz="1050" dirty="0"/>
          </a:p>
        </p:txBody>
      </p:sp>
      <p:sp>
        <p:nvSpPr>
          <p:cNvPr id="19" name="Shape 17"/>
          <p:cNvSpPr/>
          <p:nvPr/>
        </p:nvSpPr>
        <p:spPr>
          <a:xfrm>
            <a:off x="4297680" y="3822192"/>
            <a:ext cx="3520440" cy="1024128"/>
          </a:xfrm>
          <a:prstGeom prst="roundRect">
            <a:avLst>
              <a:gd name="adj" fmla="val 5357"/>
            </a:avLst>
          </a:prstGeom>
          <a:solidFill>
            <a:srgbClr val="FFFFFF"/>
          </a:solidFill>
          <a:ln w="12700">
            <a:solidFill>
              <a:srgbClr val="D2DBEC"/>
            </a:solidFill>
            <a:prstDash val="solid"/>
          </a:ln>
        </p:spPr>
      </p:sp>
      <p:sp>
        <p:nvSpPr>
          <p:cNvPr id="20" name="Shape 18"/>
          <p:cNvSpPr/>
          <p:nvPr/>
        </p:nvSpPr>
        <p:spPr>
          <a:xfrm>
            <a:off x="4498848" y="3995928"/>
            <a:ext cx="118872" cy="118872"/>
          </a:xfrm>
          <a:prstGeom prst="roundRect">
            <a:avLst>
              <a:gd name="adj" fmla="val 30769"/>
            </a:avLst>
          </a:prstGeom>
          <a:solidFill>
            <a:srgbClr val="1A56E8"/>
          </a:solidFill>
          <a:ln w="12700">
            <a:solidFill>
              <a:srgbClr val="1A56E8"/>
            </a:solidFill>
            <a:prstDash val="solid"/>
          </a:ln>
        </p:spPr>
      </p:sp>
      <p:sp>
        <p:nvSpPr>
          <p:cNvPr id="21" name="Text 19"/>
          <p:cNvSpPr/>
          <p:nvPr/>
        </p:nvSpPr>
        <p:spPr>
          <a:xfrm>
            <a:off x="475488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intervalo, no solo el punto</a:t>
            </a:r>
            <a:endParaRPr lang="en-US" sz="1100" dirty="0"/>
          </a:p>
        </p:txBody>
      </p:sp>
      <p:sp>
        <p:nvSpPr>
          <p:cNvPr id="22" name="Text 20"/>
          <p:cNvSpPr/>
          <p:nvPr/>
        </p:nvSpPr>
        <p:spPr>
          <a:xfrm>
            <a:off x="449884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Y calculado con el diseño, no ingenuo.</a:t>
            </a:r>
            <a:endParaRPr lang="en-US" sz="1050" dirty="0"/>
          </a:p>
        </p:txBody>
      </p:sp>
      <p:sp>
        <p:nvSpPr>
          <p:cNvPr id="23" name="Shape 21"/>
          <p:cNvSpPr/>
          <p:nvPr/>
        </p:nvSpPr>
        <p:spPr>
          <a:xfrm>
            <a:off x="8046720" y="3822192"/>
            <a:ext cx="3520440" cy="1024128"/>
          </a:xfrm>
          <a:prstGeom prst="roundRect">
            <a:avLst>
              <a:gd name="adj" fmla="val 5357"/>
            </a:avLst>
          </a:prstGeom>
          <a:solidFill>
            <a:srgbClr val="FFFFFF"/>
          </a:solidFill>
          <a:ln w="12700">
            <a:solidFill>
              <a:srgbClr val="D2DBEC"/>
            </a:solidFill>
            <a:prstDash val="solid"/>
          </a:ln>
        </p:spPr>
      </p:sp>
      <p:sp>
        <p:nvSpPr>
          <p:cNvPr id="24" name="Shape 22"/>
          <p:cNvSpPr/>
          <p:nvPr/>
        </p:nvSpPr>
        <p:spPr>
          <a:xfrm>
            <a:off x="8247888" y="3995928"/>
            <a:ext cx="118872" cy="118872"/>
          </a:xfrm>
          <a:prstGeom prst="roundRect">
            <a:avLst>
              <a:gd name="adj" fmla="val 30769"/>
            </a:avLst>
          </a:prstGeom>
          <a:solidFill>
            <a:srgbClr val="1A56E8"/>
          </a:solidFill>
          <a:ln w="12700">
            <a:solidFill>
              <a:srgbClr val="1A56E8"/>
            </a:solidFill>
            <a:prstDash val="solid"/>
          </a:ln>
        </p:spPr>
      </p:sp>
      <p:sp>
        <p:nvSpPr>
          <p:cNvPr id="25" name="Text 23"/>
          <p:cNvSpPr/>
          <p:nvPr/>
        </p:nvSpPr>
        <p:spPr>
          <a:xfrm>
            <a:off x="850392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efecto en unidades reales</a:t>
            </a:r>
            <a:endParaRPr lang="en-US" sz="1100" dirty="0"/>
          </a:p>
        </p:txBody>
      </p:sp>
      <p:sp>
        <p:nvSpPr>
          <p:cNvPr id="26" name="Text 24"/>
          <p:cNvSpPr/>
          <p:nvPr/>
        </p:nvSpPr>
        <p:spPr>
          <a:xfrm>
            <a:off x="824788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Puntos porcentuales, soles, personas.</a:t>
            </a:r>
            <a:endParaRPr lang="en-US" sz="1050" dirty="0"/>
          </a:p>
        </p:txBody>
      </p:sp>
      <p:sp>
        <p:nvSpPr>
          <p:cNvPr id="27" name="Shape 25"/>
          <p:cNvSpPr/>
          <p:nvPr/>
        </p:nvSpPr>
        <p:spPr>
          <a:xfrm>
            <a:off x="548640" y="4956048"/>
            <a:ext cx="3520440" cy="1024128"/>
          </a:xfrm>
          <a:prstGeom prst="roundRect">
            <a:avLst>
              <a:gd name="adj" fmla="val 5357"/>
            </a:avLst>
          </a:prstGeom>
          <a:solidFill>
            <a:srgbClr val="FFFFFF"/>
          </a:solidFill>
          <a:ln w="12700">
            <a:solidFill>
              <a:srgbClr val="D2DBEC"/>
            </a:solidFill>
            <a:prstDash val="solid"/>
          </a:ln>
        </p:spPr>
      </p:sp>
      <p:sp>
        <p:nvSpPr>
          <p:cNvPr id="28" name="Shape 26"/>
          <p:cNvSpPr/>
          <p:nvPr/>
        </p:nvSpPr>
        <p:spPr>
          <a:xfrm>
            <a:off x="749808" y="5129784"/>
            <a:ext cx="118872" cy="118872"/>
          </a:xfrm>
          <a:prstGeom prst="roundRect">
            <a:avLst>
              <a:gd name="adj" fmla="val 30769"/>
            </a:avLst>
          </a:prstGeom>
          <a:solidFill>
            <a:srgbClr val="1A56E8"/>
          </a:solidFill>
          <a:ln w="12700">
            <a:solidFill>
              <a:srgbClr val="1A56E8"/>
            </a:solidFill>
            <a:prstDash val="solid"/>
          </a:ln>
        </p:spPr>
      </p:sp>
      <p:sp>
        <p:nvSpPr>
          <p:cNvPr id="29" name="Text 27"/>
          <p:cNvSpPr/>
          <p:nvPr/>
        </p:nvSpPr>
        <p:spPr>
          <a:xfrm>
            <a:off x="100584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Cuántas comparaciones hiciste</a:t>
            </a:r>
            <a:endParaRPr lang="en-US" sz="1100" dirty="0"/>
          </a:p>
        </p:txBody>
      </p:sp>
      <p:sp>
        <p:nvSpPr>
          <p:cNvPr id="30" name="Text 28"/>
          <p:cNvSpPr/>
          <p:nvPr/>
        </p:nvSpPr>
        <p:spPr>
          <a:xfrm>
            <a:off x="74980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Y si corregiste. Los 28 pares de dominios.</a:t>
            </a:r>
            <a:endParaRPr lang="en-US" sz="1050" dirty="0"/>
          </a:p>
        </p:txBody>
      </p:sp>
      <p:sp>
        <p:nvSpPr>
          <p:cNvPr id="31" name="Shape 29"/>
          <p:cNvSpPr/>
          <p:nvPr/>
        </p:nvSpPr>
        <p:spPr>
          <a:xfrm>
            <a:off x="4297680" y="4956048"/>
            <a:ext cx="3520440" cy="1024128"/>
          </a:xfrm>
          <a:prstGeom prst="roundRect">
            <a:avLst>
              <a:gd name="adj" fmla="val 5357"/>
            </a:avLst>
          </a:prstGeom>
          <a:solidFill>
            <a:srgbClr val="FFFFFF"/>
          </a:solidFill>
          <a:ln w="12700">
            <a:solidFill>
              <a:srgbClr val="D2DBEC"/>
            </a:solidFill>
            <a:prstDash val="solid"/>
          </a:ln>
        </p:spPr>
      </p:sp>
      <p:sp>
        <p:nvSpPr>
          <p:cNvPr id="32" name="Shape 30"/>
          <p:cNvSpPr/>
          <p:nvPr/>
        </p:nvSpPr>
        <p:spPr>
          <a:xfrm>
            <a:off x="4498848" y="5129784"/>
            <a:ext cx="118872" cy="118872"/>
          </a:xfrm>
          <a:prstGeom prst="roundRect">
            <a:avLst>
              <a:gd name="adj" fmla="val 30769"/>
            </a:avLst>
          </a:prstGeom>
          <a:solidFill>
            <a:srgbClr val="1A56E8"/>
          </a:solidFill>
          <a:ln w="12700">
            <a:solidFill>
              <a:srgbClr val="1A56E8"/>
            </a:solidFill>
            <a:prstDash val="solid"/>
          </a:ln>
        </p:spPr>
      </p:sp>
      <p:sp>
        <p:nvSpPr>
          <p:cNvPr id="33" name="Text 31"/>
          <p:cNvSpPr/>
          <p:nvPr/>
        </p:nvSpPr>
        <p:spPr>
          <a:xfrm>
            <a:off x="475488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tamaño del efecto</a:t>
            </a:r>
            <a:endParaRPr lang="en-US" sz="1100" dirty="0"/>
          </a:p>
        </p:txBody>
      </p:sp>
      <p:sp>
        <p:nvSpPr>
          <p:cNvPr id="34" name="Text 32"/>
          <p:cNvSpPr/>
          <p:nvPr/>
        </p:nvSpPr>
        <p:spPr>
          <a:xfrm>
            <a:off x="449884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d de Cohen para grupos; la brecha en pp.</a:t>
            </a:r>
            <a:endParaRPr lang="en-US" sz="1050" dirty="0"/>
          </a:p>
        </p:txBody>
      </p:sp>
      <p:sp>
        <p:nvSpPr>
          <p:cNvPr id="35" name="Shape 33"/>
          <p:cNvSpPr/>
          <p:nvPr/>
        </p:nvSpPr>
        <p:spPr>
          <a:xfrm>
            <a:off x="8046720" y="4956048"/>
            <a:ext cx="3520440" cy="1024128"/>
          </a:xfrm>
          <a:prstGeom prst="roundRect">
            <a:avLst>
              <a:gd name="adj" fmla="val 5357"/>
            </a:avLst>
          </a:prstGeom>
          <a:solidFill>
            <a:srgbClr val="FFFFFF"/>
          </a:solidFill>
          <a:ln w="12700">
            <a:solidFill>
              <a:srgbClr val="D2DBEC"/>
            </a:solidFill>
            <a:prstDash val="solid"/>
          </a:ln>
        </p:spPr>
      </p:sp>
      <p:sp>
        <p:nvSpPr>
          <p:cNvPr id="36" name="Shape 34"/>
          <p:cNvSpPr/>
          <p:nvPr/>
        </p:nvSpPr>
        <p:spPr>
          <a:xfrm>
            <a:off x="8247888" y="5129784"/>
            <a:ext cx="118872" cy="118872"/>
          </a:xfrm>
          <a:prstGeom prst="roundRect">
            <a:avLst>
              <a:gd name="adj" fmla="val 30769"/>
            </a:avLst>
          </a:prstGeom>
          <a:solidFill>
            <a:srgbClr val="1A56E8"/>
          </a:solidFill>
          <a:ln w="12700">
            <a:solidFill>
              <a:srgbClr val="1A56E8"/>
            </a:solidFill>
            <a:prstDash val="solid"/>
          </a:ln>
        </p:spPr>
      </p:sp>
      <p:sp>
        <p:nvSpPr>
          <p:cNvPr id="37" name="Text 35"/>
          <p:cNvSpPr/>
          <p:nvPr/>
        </p:nvSpPr>
        <p:spPr>
          <a:xfrm>
            <a:off x="850392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Qué NO se puede concluir</a:t>
            </a:r>
            <a:endParaRPr lang="en-US" sz="1100" dirty="0"/>
          </a:p>
        </p:txBody>
      </p:sp>
      <p:sp>
        <p:nvSpPr>
          <p:cNvPr id="38" name="Text 36"/>
          <p:cNvSpPr/>
          <p:nvPr/>
        </p:nvSpPr>
        <p:spPr>
          <a:xfrm>
            <a:off x="824788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El panel rotativo. Un solo año de comparación.</a:t>
            </a:r>
            <a:endParaRPr lang="en-US" sz="1050" dirty="0"/>
          </a:p>
        </p:txBody>
      </p:sp>
      <p:sp>
        <p:nvSpPr>
          <p:cNvPr id="39" name="Text 37"/>
          <p:cNvSpPr/>
          <p:nvPr/>
        </p:nvSpPr>
        <p:spPr>
          <a:xfrm>
            <a:off x="548640" y="616305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El sexto punto es el que más cuesta escribir y el que más credibilidad da. Un informe que reconoce sus límites es más creíble, no menos.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9046007" y="1765488"/>
            <a:ext cx="47549" cy="63312"/>
          </a:xfrm>
          <a:prstGeom prst="rect">
            <a:avLst/>
          </a:prstGeom>
          <a:solidFill>
            <a:srgbClr val="E6115E"/>
          </a:solidFill>
          <a:ln w="12700">
            <a:solidFill>
              <a:srgbClr val="333333"/>
            </a:solidFill>
            <a:prstDash val="solid"/>
          </a:ln>
        </p:spPr>
      </p:sp>
      <p:sp>
        <p:nvSpPr>
          <p:cNvPr id="3" name="Shape 1"/>
          <p:cNvSpPr/>
          <p:nvPr/>
        </p:nvSpPr>
        <p:spPr>
          <a:xfrm>
            <a:off x="9072982" y="1641187"/>
            <a:ext cx="47549" cy="187613"/>
          </a:xfrm>
          <a:prstGeom prst="rect">
            <a:avLst/>
          </a:prstGeom>
          <a:solidFill>
            <a:srgbClr val="E6115E"/>
          </a:solidFill>
          <a:ln w="12700">
            <a:solidFill>
              <a:srgbClr val="333333"/>
            </a:solidFill>
            <a:prstDash val="solid"/>
          </a:ln>
        </p:spPr>
      </p:sp>
      <p:sp>
        <p:nvSpPr>
          <p:cNvPr id="4" name="Shape 2"/>
          <p:cNvSpPr/>
          <p:nvPr/>
        </p:nvSpPr>
        <p:spPr>
          <a:xfrm>
            <a:off x="9099956" y="1472132"/>
            <a:ext cx="47549" cy="356668"/>
          </a:xfrm>
          <a:prstGeom prst="rect">
            <a:avLst/>
          </a:prstGeom>
          <a:solidFill>
            <a:srgbClr val="E6115E"/>
          </a:solidFill>
          <a:ln w="12700">
            <a:solidFill>
              <a:srgbClr val="333333"/>
            </a:solidFill>
            <a:prstDash val="solid"/>
          </a:ln>
        </p:spPr>
      </p:sp>
      <p:sp>
        <p:nvSpPr>
          <p:cNvPr id="5" name="Shape 3"/>
          <p:cNvSpPr/>
          <p:nvPr/>
        </p:nvSpPr>
        <p:spPr>
          <a:xfrm>
            <a:off x="9126931" y="1289052"/>
            <a:ext cx="47549" cy="539748"/>
          </a:xfrm>
          <a:prstGeom prst="rect">
            <a:avLst/>
          </a:prstGeom>
          <a:solidFill>
            <a:srgbClr val="E6115E"/>
          </a:solidFill>
          <a:ln w="12700">
            <a:solidFill>
              <a:srgbClr val="333333"/>
            </a:solidFill>
            <a:prstDash val="solid"/>
          </a:ln>
        </p:spPr>
      </p:sp>
      <p:sp>
        <p:nvSpPr>
          <p:cNvPr id="6" name="Shape 4"/>
          <p:cNvSpPr/>
          <p:nvPr/>
        </p:nvSpPr>
        <p:spPr>
          <a:xfrm>
            <a:off x="9153906" y="1114651"/>
            <a:ext cx="47549" cy="714149"/>
          </a:xfrm>
          <a:prstGeom prst="rect">
            <a:avLst/>
          </a:prstGeom>
          <a:solidFill>
            <a:srgbClr val="E6115E"/>
          </a:solidFill>
          <a:ln w="12700">
            <a:solidFill>
              <a:srgbClr val="333333"/>
            </a:solidFill>
            <a:prstDash val="solid"/>
          </a:ln>
        </p:spPr>
      </p:sp>
      <p:sp>
        <p:nvSpPr>
          <p:cNvPr id="7" name="Shape 5"/>
          <p:cNvSpPr/>
          <p:nvPr/>
        </p:nvSpPr>
        <p:spPr>
          <a:xfrm>
            <a:off x="9180881" y="961906"/>
            <a:ext cx="47549" cy="866894"/>
          </a:xfrm>
          <a:prstGeom prst="rect">
            <a:avLst/>
          </a:prstGeom>
          <a:solidFill>
            <a:srgbClr val="E6115E"/>
          </a:solidFill>
          <a:ln w="12700">
            <a:solidFill>
              <a:srgbClr val="333333"/>
            </a:solidFill>
            <a:prstDash val="solid"/>
          </a:ln>
        </p:spPr>
      </p:sp>
      <p:sp>
        <p:nvSpPr>
          <p:cNvPr id="8" name="Shape 6"/>
          <p:cNvSpPr/>
          <p:nvPr/>
        </p:nvSpPr>
        <p:spPr>
          <a:xfrm>
            <a:off x="9207856" y="836437"/>
            <a:ext cx="47549" cy="992363"/>
          </a:xfrm>
          <a:prstGeom prst="rect">
            <a:avLst/>
          </a:prstGeom>
          <a:solidFill>
            <a:srgbClr val="E6115E"/>
          </a:solidFill>
          <a:ln w="12700">
            <a:solidFill>
              <a:srgbClr val="333333"/>
            </a:solidFill>
            <a:prstDash val="solid"/>
          </a:ln>
        </p:spPr>
      </p:sp>
      <p:sp>
        <p:nvSpPr>
          <p:cNvPr id="9" name="Shape 7"/>
          <p:cNvSpPr/>
          <p:nvPr/>
        </p:nvSpPr>
        <p:spPr>
          <a:xfrm>
            <a:off x="9234830" y="739203"/>
            <a:ext cx="47549" cy="1089597"/>
          </a:xfrm>
          <a:prstGeom prst="rect">
            <a:avLst/>
          </a:prstGeom>
          <a:solidFill>
            <a:srgbClr val="E6115E"/>
          </a:solidFill>
          <a:ln w="12700">
            <a:solidFill>
              <a:srgbClr val="333333"/>
            </a:solidFill>
            <a:prstDash val="solid"/>
          </a:ln>
        </p:spPr>
      </p:sp>
      <p:sp>
        <p:nvSpPr>
          <p:cNvPr id="10" name="Shape 8"/>
          <p:cNvSpPr/>
          <p:nvPr/>
        </p:nvSpPr>
        <p:spPr>
          <a:xfrm>
            <a:off x="9261805" y="668543"/>
            <a:ext cx="47549" cy="1160257"/>
          </a:xfrm>
          <a:prstGeom prst="rect">
            <a:avLst/>
          </a:prstGeom>
          <a:solidFill>
            <a:srgbClr val="E6115E"/>
          </a:solidFill>
          <a:ln w="12700">
            <a:solidFill>
              <a:srgbClr val="333333"/>
            </a:solidFill>
            <a:prstDash val="solid"/>
          </a:ln>
        </p:spPr>
      </p:sp>
      <p:sp>
        <p:nvSpPr>
          <p:cNvPr id="11" name="Shape 9"/>
          <p:cNvSpPr/>
          <p:nvPr/>
        </p:nvSpPr>
        <p:spPr>
          <a:xfrm>
            <a:off x="9288780" y="621522"/>
            <a:ext cx="47549" cy="1207278"/>
          </a:xfrm>
          <a:prstGeom prst="rect">
            <a:avLst/>
          </a:prstGeom>
          <a:solidFill>
            <a:srgbClr val="E6115E"/>
          </a:solidFill>
          <a:ln w="12700">
            <a:solidFill>
              <a:srgbClr val="333333"/>
            </a:solidFill>
            <a:prstDash val="solid"/>
          </a:ln>
        </p:spPr>
      </p:sp>
      <p:sp>
        <p:nvSpPr>
          <p:cNvPr id="12" name="Shape 10"/>
          <p:cNvSpPr/>
          <p:nvPr/>
        </p:nvSpPr>
        <p:spPr>
          <a:xfrm>
            <a:off x="9315755" y="594748"/>
            <a:ext cx="47549" cy="1234052"/>
          </a:xfrm>
          <a:prstGeom prst="rect">
            <a:avLst/>
          </a:prstGeom>
          <a:solidFill>
            <a:srgbClr val="E6115E"/>
          </a:solidFill>
          <a:ln w="12700">
            <a:solidFill>
              <a:srgbClr val="333333"/>
            </a:solidFill>
            <a:prstDash val="solid"/>
          </a:ln>
        </p:spPr>
      </p:sp>
      <p:sp>
        <p:nvSpPr>
          <p:cNvPr id="13" name="Shape 11"/>
          <p:cNvSpPr/>
          <p:nvPr/>
        </p:nvSpPr>
        <p:spPr>
          <a:xfrm>
            <a:off x="9342730" y="584831"/>
            <a:ext cx="47549" cy="1243969"/>
          </a:xfrm>
          <a:prstGeom prst="rect">
            <a:avLst/>
          </a:prstGeom>
          <a:solidFill>
            <a:srgbClr val="E6115E"/>
          </a:solidFill>
          <a:ln w="12700">
            <a:solidFill>
              <a:srgbClr val="333333"/>
            </a:solidFill>
            <a:prstDash val="solid"/>
          </a:ln>
        </p:spPr>
      </p:sp>
      <p:sp>
        <p:nvSpPr>
          <p:cNvPr id="14" name="Shape 12"/>
          <p:cNvSpPr/>
          <p:nvPr/>
        </p:nvSpPr>
        <p:spPr>
          <a:xfrm>
            <a:off x="9369704" y="588629"/>
            <a:ext cx="47549" cy="1240171"/>
          </a:xfrm>
          <a:prstGeom prst="rect">
            <a:avLst/>
          </a:prstGeom>
          <a:solidFill>
            <a:srgbClr val="1E4380"/>
          </a:solidFill>
          <a:ln w="12700">
            <a:solidFill>
              <a:srgbClr val="333333"/>
            </a:solidFill>
            <a:prstDash val="solid"/>
          </a:ln>
        </p:spPr>
      </p:sp>
      <p:sp>
        <p:nvSpPr>
          <p:cNvPr id="15" name="Shape 13"/>
          <p:cNvSpPr/>
          <p:nvPr/>
        </p:nvSpPr>
        <p:spPr>
          <a:xfrm>
            <a:off x="9396679" y="603352"/>
            <a:ext cx="47549" cy="1225448"/>
          </a:xfrm>
          <a:prstGeom prst="rect">
            <a:avLst/>
          </a:prstGeom>
          <a:solidFill>
            <a:srgbClr val="1E4380"/>
          </a:solidFill>
          <a:ln w="12700">
            <a:solidFill>
              <a:srgbClr val="333333"/>
            </a:solidFill>
            <a:prstDash val="solid"/>
          </a:ln>
        </p:spPr>
      </p:sp>
      <p:sp>
        <p:nvSpPr>
          <p:cNvPr id="16" name="Shape 14"/>
          <p:cNvSpPr/>
          <p:nvPr/>
        </p:nvSpPr>
        <p:spPr>
          <a:xfrm>
            <a:off x="9423654" y="626593"/>
            <a:ext cx="47549" cy="1202207"/>
          </a:xfrm>
          <a:prstGeom prst="rect">
            <a:avLst/>
          </a:prstGeom>
          <a:solidFill>
            <a:srgbClr val="1E4380"/>
          </a:solidFill>
          <a:ln w="12700">
            <a:solidFill>
              <a:srgbClr val="333333"/>
            </a:solidFill>
            <a:prstDash val="solid"/>
          </a:ln>
        </p:spPr>
      </p:sp>
      <p:sp>
        <p:nvSpPr>
          <p:cNvPr id="17" name="Shape 15"/>
          <p:cNvSpPr/>
          <p:nvPr/>
        </p:nvSpPr>
        <p:spPr>
          <a:xfrm>
            <a:off x="9450629" y="656318"/>
            <a:ext cx="47549" cy="1172482"/>
          </a:xfrm>
          <a:prstGeom prst="rect">
            <a:avLst/>
          </a:prstGeom>
          <a:solidFill>
            <a:srgbClr val="1E4380"/>
          </a:solidFill>
          <a:ln w="12700">
            <a:solidFill>
              <a:srgbClr val="333333"/>
            </a:solidFill>
            <a:prstDash val="solid"/>
          </a:ln>
        </p:spPr>
      </p:sp>
      <p:sp>
        <p:nvSpPr>
          <p:cNvPr id="18" name="Shape 16"/>
          <p:cNvSpPr/>
          <p:nvPr/>
        </p:nvSpPr>
        <p:spPr>
          <a:xfrm>
            <a:off x="9477604" y="690834"/>
            <a:ext cx="47549" cy="1137966"/>
          </a:xfrm>
          <a:prstGeom prst="rect">
            <a:avLst/>
          </a:prstGeom>
          <a:solidFill>
            <a:srgbClr val="1E4380"/>
          </a:solidFill>
          <a:ln w="12700">
            <a:solidFill>
              <a:srgbClr val="333333"/>
            </a:solidFill>
            <a:prstDash val="solid"/>
          </a:ln>
        </p:spPr>
      </p:sp>
      <p:sp>
        <p:nvSpPr>
          <p:cNvPr id="19" name="Shape 17"/>
          <p:cNvSpPr/>
          <p:nvPr/>
        </p:nvSpPr>
        <p:spPr>
          <a:xfrm>
            <a:off x="9504578" y="728750"/>
            <a:ext cx="47549" cy="1100050"/>
          </a:xfrm>
          <a:prstGeom prst="rect">
            <a:avLst/>
          </a:prstGeom>
          <a:solidFill>
            <a:srgbClr val="1E4380"/>
          </a:solidFill>
          <a:ln w="12700">
            <a:solidFill>
              <a:srgbClr val="333333"/>
            </a:solidFill>
            <a:prstDash val="solid"/>
          </a:ln>
        </p:spPr>
      </p:sp>
      <p:sp>
        <p:nvSpPr>
          <p:cNvPr id="20" name="Shape 18"/>
          <p:cNvSpPr/>
          <p:nvPr/>
        </p:nvSpPr>
        <p:spPr>
          <a:xfrm>
            <a:off x="9531553" y="768935"/>
            <a:ext cx="47549" cy="1059865"/>
          </a:xfrm>
          <a:prstGeom prst="rect">
            <a:avLst/>
          </a:prstGeom>
          <a:solidFill>
            <a:srgbClr val="1E4380"/>
          </a:solidFill>
          <a:ln w="12700">
            <a:solidFill>
              <a:srgbClr val="333333"/>
            </a:solidFill>
            <a:prstDash val="solid"/>
          </a:ln>
        </p:spPr>
      </p:sp>
      <p:sp>
        <p:nvSpPr>
          <p:cNvPr id="21" name="Shape 19"/>
          <p:cNvSpPr/>
          <p:nvPr/>
        </p:nvSpPr>
        <p:spPr>
          <a:xfrm>
            <a:off x="9558528" y="810478"/>
            <a:ext cx="47549" cy="1018322"/>
          </a:xfrm>
          <a:prstGeom prst="rect">
            <a:avLst/>
          </a:prstGeom>
          <a:solidFill>
            <a:srgbClr val="1E4380"/>
          </a:solidFill>
          <a:ln w="12700">
            <a:solidFill>
              <a:srgbClr val="333333"/>
            </a:solidFill>
            <a:prstDash val="solid"/>
          </a:ln>
        </p:spPr>
      </p:sp>
      <p:sp>
        <p:nvSpPr>
          <p:cNvPr id="22" name="Shape 20"/>
          <p:cNvSpPr/>
          <p:nvPr/>
        </p:nvSpPr>
        <p:spPr>
          <a:xfrm>
            <a:off x="9585503" y="852653"/>
            <a:ext cx="47549" cy="976147"/>
          </a:xfrm>
          <a:prstGeom prst="rect">
            <a:avLst/>
          </a:prstGeom>
          <a:solidFill>
            <a:srgbClr val="1E4380"/>
          </a:solidFill>
          <a:ln w="12700">
            <a:solidFill>
              <a:srgbClr val="333333"/>
            </a:solidFill>
            <a:prstDash val="solid"/>
          </a:ln>
        </p:spPr>
      </p:sp>
      <p:sp>
        <p:nvSpPr>
          <p:cNvPr id="23" name="Shape 21"/>
          <p:cNvSpPr/>
          <p:nvPr/>
        </p:nvSpPr>
        <p:spPr>
          <a:xfrm>
            <a:off x="9612478" y="894889"/>
            <a:ext cx="47549" cy="933911"/>
          </a:xfrm>
          <a:prstGeom prst="rect">
            <a:avLst/>
          </a:prstGeom>
          <a:solidFill>
            <a:srgbClr val="1E4380"/>
          </a:solidFill>
          <a:ln w="12700">
            <a:solidFill>
              <a:srgbClr val="333333"/>
            </a:solidFill>
            <a:prstDash val="solid"/>
          </a:ln>
        </p:spPr>
      </p:sp>
      <p:sp>
        <p:nvSpPr>
          <p:cNvPr id="24" name="Shape 22"/>
          <p:cNvSpPr/>
          <p:nvPr/>
        </p:nvSpPr>
        <p:spPr>
          <a:xfrm>
            <a:off x="9639452" y="936738"/>
            <a:ext cx="47549" cy="892062"/>
          </a:xfrm>
          <a:prstGeom prst="rect">
            <a:avLst/>
          </a:prstGeom>
          <a:solidFill>
            <a:srgbClr val="1E4380"/>
          </a:solidFill>
          <a:ln w="12700">
            <a:solidFill>
              <a:srgbClr val="333333"/>
            </a:solidFill>
            <a:prstDash val="solid"/>
          </a:ln>
        </p:spPr>
      </p:sp>
      <p:sp>
        <p:nvSpPr>
          <p:cNvPr id="25" name="Shape 23"/>
          <p:cNvSpPr/>
          <p:nvPr/>
        </p:nvSpPr>
        <p:spPr>
          <a:xfrm>
            <a:off x="9666427" y="977860"/>
            <a:ext cx="47549" cy="850940"/>
          </a:xfrm>
          <a:prstGeom prst="rect">
            <a:avLst/>
          </a:prstGeom>
          <a:solidFill>
            <a:srgbClr val="1E4380"/>
          </a:solidFill>
          <a:ln w="12700">
            <a:solidFill>
              <a:srgbClr val="333333"/>
            </a:solidFill>
            <a:prstDash val="solid"/>
          </a:ln>
        </p:spPr>
      </p:sp>
      <p:sp>
        <p:nvSpPr>
          <p:cNvPr id="26" name="Shape 24"/>
          <p:cNvSpPr/>
          <p:nvPr/>
        </p:nvSpPr>
        <p:spPr>
          <a:xfrm>
            <a:off x="9693402" y="1017997"/>
            <a:ext cx="47549" cy="810803"/>
          </a:xfrm>
          <a:prstGeom prst="rect">
            <a:avLst/>
          </a:prstGeom>
          <a:solidFill>
            <a:srgbClr val="1E4380"/>
          </a:solidFill>
          <a:ln w="12700">
            <a:solidFill>
              <a:srgbClr val="333333"/>
            </a:solidFill>
            <a:prstDash val="solid"/>
          </a:ln>
        </p:spPr>
      </p:sp>
      <p:sp>
        <p:nvSpPr>
          <p:cNvPr id="27" name="Shape 25"/>
          <p:cNvSpPr/>
          <p:nvPr/>
        </p:nvSpPr>
        <p:spPr>
          <a:xfrm>
            <a:off x="9720377" y="1056959"/>
            <a:ext cx="47549" cy="771841"/>
          </a:xfrm>
          <a:prstGeom prst="rect">
            <a:avLst/>
          </a:prstGeom>
          <a:solidFill>
            <a:srgbClr val="1E4380"/>
          </a:solidFill>
          <a:ln w="12700">
            <a:solidFill>
              <a:srgbClr val="333333"/>
            </a:solidFill>
            <a:prstDash val="solid"/>
          </a:ln>
        </p:spPr>
      </p:sp>
      <p:sp>
        <p:nvSpPr>
          <p:cNvPr id="28" name="Shape 26"/>
          <p:cNvSpPr/>
          <p:nvPr/>
        </p:nvSpPr>
        <p:spPr>
          <a:xfrm>
            <a:off x="9747352" y="1094613"/>
            <a:ext cx="47549" cy="734187"/>
          </a:xfrm>
          <a:prstGeom prst="rect">
            <a:avLst/>
          </a:prstGeom>
          <a:solidFill>
            <a:srgbClr val="1E4380"/>
          </a:solidFill>
          <a:ln w="12700">
            <a:solidFill>
              <a:srgbClr val="333333"/>
            </a:solidFill>
            <a:prstDash val="solid"/>
          </a:ln>
        </p:spPr>
      </p:sp>
      <p:sp>
        <p:nvSpPr>
          <p:cNvPr id="29" name="Shape 27"/>
          <p:cNvSpPr/>
          <p:nvPr/>
        </p:nvSpPr>
        <p:spPr>
          <a:xfrm>
            <a:off x="9774326" y="1130867"/>
            <a:ext cx="47549" cy="697933"/>
          </a:xfrm>
          <a:prstGeom prst="rect">
            <a:avLst/>
          </a:prstGeom>
          <a:solidFill>
            <a:srgbClr val="1E4380"/>
          </a:solidFill>
          <a:ln w="12700">
            <a:solidFill>
              <a:srgbClr val="333333"/>
            </a:solidFill>
            <a:prstDash val="solid"/>
          </a:ln>
        </p:spPr>
      </p:sp>
      <p:sp>
        <p:nvSpPr>
          <p:cNvPr id="30" name="Shape 28"/>
          <p:cNvSpPr/>
          <p:nvPr/>
        </p:nvSpPr>
        <p:spPr>
          <a:xfrm>
            <a:off x="9801301" y="1165668"/>
            <a:ext cx="47549" cy="663132"/>
          </a:xfrm>
          <a:prstGeom prst="rect">
            <a:avLst/>
          </a:prstGeom>
          <a:solidFill>
            <a:srgbClr val="1E4380"/>
          </a:solidFill>
          <a:ln w="12700">
            <a:solidFill>
              <a:srgbClr val="333333"/>
            </a:solidFill>
            <a:prstDash val="solid"/>
          </a:ln>
        </p:spPr>
      </p:sp>
      <p:sp>
        <p:nvSpPr>
          <p:cNvPr id="31" name="Shape 29"/>
          <p:cNvSpPr/>
          <p:nvPr/>
        </p:nvSpPr>
        <p:spPr>
          <a:xfrm>
            <a:off x="9828276" y="1198989"/>
            <a:ext cx="47549" cy="629811"/>
          </a:xfrm>
          <a:prstGeom prst="rect">
            <a:avLst/>
          </a:prstGeom>
          <a:solidFill>
            <a:srgbClr val="1E4380"/>
          </a:solidFill>
          <a:ln w="12700">
            <a:solidFill>
              <a:srgbClr val="333333"/>
            </a:solidFill>
            <a:prstDash val="solid"/>
          </a:ln>
        </p:spPr>
      </p:sp>
      <p:sp>
        <p:nvSpPr>
          <p:cNvPr id="32" name="Shape 30"/>
          <p:cNvSpPr/>
          <p:nvPr/>
        </p:nvSpPr>
        <p:spPr>
          <a:xfrm>
            <a:off x="9855251" y="1230823"/>
            <a:ext cx="47549" cy="597977"/>
          </a:xfrm>
          <a:prstGeom prst="rect">
            <a:avLst/>
          </a:prstGeom>
          <a:solidFill>
            <a:srgbClr val="1E4380"/>
          </a:solidFill>
          <a:ln w="12700">
            <a:solidFill>
              <a:srgbClr val="333333"/>
            </a:solidFill>
            <a:prstDash val="solid"/>
          </a:ln>
        </p:spPr>
      </p:sp>
      <p:sp>
        <p:nvSpPr>
          <p:cNvPr id="33" name="Shape 31"/>
          <p:cNvSpPr/>
          <p:nvPr/>
        </p:nvSpPr>
        <p:spPr>
          <a:xfrm>
            <a:off x="9882226" y="1261184"/>
            <a:ext cx="47549" cy="567616"/>
          </a:xfrm>
          <a:prstGeom prst="rect">
            <a:avLst/>
          </a:prstGeom>
          <a:solidFill>
            <a:srgbClr val="1E4380"/>
          </a:solidFill>
          <a:ln w="12700">
            <a:solidFill>
              <a:srgbClr val="333333"/>
            </a:solidFill>
            <a:prstDash val="solid"/>
          </a:ln>
        </p:spPr>
      </p:sp>
      <p:sp>
        <p:nvSpPr>
          <p:cNvPr id="34" name="Shape 32"/>
          <p:cNvSpPr/>
          <p:nvPr/>
        </p:nvSpPr>
        <p:spPr>
          <a:xfrm>
            <a:off x="9909200" y="1290095"/>
            <a:ext cx="47549" cy="538705"/>
          </a:xfrm>
          <a:prstGeom prst="rect">
            <a:avLst/>
          </a:prstGeom>
          <a:solidFill>
            <a:srgbClr val="1E4380"/>
          </a:solidFill>
          <a:ln w="12700">
            <a:solidFill>
              <a:srgbClr val="333333"/>
            </a:solidFill>
            <a:prstDash val="solid"/>
          </a:ln>
        </p:spPr>
      </p:sp>
      <p:sp>
        <p:nvSpPr>
          <p:cNvPr id="35" name="Shape 33"/>
          <p:cNvSpPr/>
          <p:nvPr/>
        </p:nvSpPr>
        <p:spPr>
          <a:xfrm>
            <a:off x="9936175" y="1317591"/>
            <a:ext cx="47549" cy="511209"/>
          </a:xfrm>
          <a:prstGeom prst="rect">
            <a:avLst/>
          </a:prstGeom>
          <a:solidFill>
            <a:srgbClr val="1E4380"/>
          </a:solidFill>
          <a:ln w="12700">
            <a:solidFill>
              <a:srgbClr val="333333"/>
            </a:solidFill>
            <a:prstDash val="solid"/>
          </a:ln>
        </p:spPr>
      </p:sp>
      <p:sp>
        <p:nvSpPr>
          <p:cNvPr id="36" name="Shape 34"/>
          <p:cNvSpPr/>
          <p:nvPr/>
        </p:nvSpPr>
        <p:spPr>
          <a:xfrm>
            <a:off x="9963150" y="1343713"/>
            <a:ext cx="47549" cy="485087"/>
          </a:xfrm>
          <a:prstGeom prst="rect">
            <a:avLst/>
          </a:prstGeom>
          <a:solidFill>
            <a:srgbClr val="1E4380"/>
          </a:solidFill>
          <a:ln w="12700">
            <a:solidFill>
              <a:srgbClr val="333333"/>
            </a:solidFill>
            <a:prstDash val="solid"/>
          </a:ln>
        </p:spPr>
      </p:sp>
      <p:sp>
        <p:nvSpPr>
          <p:cNvPr id="37" name="Shape 35"/>
          <p:cNvSpPr/>
          <p:nvPr/>
        </p:nvSpPr>
        <p:spPr>
          <a:xfrm>
            <a:off x="9990125" y="1368509"/>
            <a:ext cx="47549" cy="460291"/>
          </a:xfrm>
          <a:prstGeom prst="rect">
            <a:avLst/>
          </a:prstGeom>
          <a:solidFill>
            <a:srgbClr val="1E4380"/>
          </a:solidFill>
          <a:ln w="12700">
            <a:solidFill>
              <a:srgbClr val="333333"/>
            </a:solidFill>
            <a:prstDash val="solid"/>
          </a:ln>
        </p:spPr>
      </p:sp>
      <p:sp>
        <p:nvSpPr>
          <p:cNvPr id="38" name="Shape 36"/>
          <p:cNvSpPr/>
          <p:nvPr/>
        </p:nvSpPr>
        <p:spPr>
          <a:xfrm>
            <a:off x="10017100" y="1392028"/>
            <a:ext cx="47549" cy="436772"/>
          </a:xfrm>
          <a:prstGeom prst="rect">
            <a:avLst/>
          </a:prstGeom>
          <a:solidFill>
            <a:srgbClr val="1E4380"/>
          </a:solidFill>
          <a:ln w="12700">
            <a:solidFill>
              <a:srgbClr val="333333"/>
            </a:solidFill>
            <a:prstDash val="solid"/>
          </a:ln>
        </p:spPr>
      </p:sp>
      <p:sp>
        <p:nvSpPr>
          <p:cNvPr id="39" name="Shape 37"/>
          <p:cNvSpPr/>
          <p:nvPr/>
        </p:nvSpPr>
        <p:spPr>
          <a:xfrm>
            <a:off x="10044074" y="1414323"/>
            <a:ext cx="47549" cy="414477"/>
          </a:xfrm>
          <a:prstGeom prst="rect">
            <a:avLst/>
          </a:prstGeom>
          <a:solidFill>
            <a:srgbClr val="1E4380"/>
          </a:solidFill>
          <a:ln w="12700">
            <a:solidFill>
              <a:srgbClr val="333333"/>
            </a:solidFill>
            <a:prstDash val="solid"/>
          </a:ln>
        </p:spPr>
      </p:sp>
      <p:sp>
        <p:nvSpPr>
          <p:cNvPr id="40" name="Shape 38"/>
          <p:cNvSpPr/>
          <p:nvPr/>
        </p:nvSpPr>
        <p:spPr>
          <a:xfrm>
            <a:off x="10071049" y="1435447"/>
            <a:ext cx="47549" cy="393353"/>
          </a:xfrm>
          <a:prstGeom prst="rect">
            <a:avLst/>
          </a:prstGeom>
          <a:solidFill>
            <a:srgbClr val="1E4380"/>
          </a:solidFill>
          <a:ln w="12700">
            <a:solidFill>
              <a:srgbClr val="333333"/>
            </a:solidFill>
            <a:prstDash val="solid"/>
          </a:ln>
        </p:spPr>
      </p:sp>
      <p:sp>
        <p:nvSpPr>
          <p:cNvPr id="41" name="Shape 39"/>
          <p:cNvSpPr/>
          <p:nvPr/>
        </p:nvSpPr>
        <p:spPr>
          <a:xfrm>
            <a:off x="10098024" y="1455453"/>
            <a:ext cx="47549" cy="373347"/>
          </a:xfrm>
          <a:prstGeom prst="rect">
            <a:avLst/>
          </a:prstGeom>
          <a:solidFill>
            <a:srgbClr val="1E4380"/>
          </a:solidFill>
          <a:ln w="12700">
            <a:solidFill>
              <a:srgbClr val="333333"/>
            </a:solidFill>
            <a:prstDash val="solid"/>
          </a:ln>
        </p:spPr>
      </p:sp>
      <p:sp>
        <p:nvSpPr>
          <p:cNvPr id="42" name="Shape 40"/>
          <p:cNvSpPr/>
          <p:nvPr/>
        </p:nvSpPr>
        <p:spPr>
          <a:xfrm>
            <a:off x="10124999" y="1474395"/>
            <a:ext cx="47549" cy="354405"/>
          </a:xfrm>
          <a:prstGeom prst="rect">
            <a:avLst/>
          </a:prstGeom>
          <a:solidFill>
            <a:srgbClr val="1E4380"/>
          </a:solidFill>
          <a:ln w="12700">
            <a:solidFill>
              <a:srgbClr val="333333"/>
            </a:solidFill>
            <a:prstDash val="solid"/>
          </a:ln>
        </p:spPr>
      </p:sp>
      <p:sp>
        <p:nvSpPr>
          <p:cNvPr id="43" name="Shape 41"/>
          <p:cNvSpPr/>
          <p:nvPr/>
        </p:nvSpPr>
        <p:spPr>
          <a:xfrm>
            <a:off x="10151974" y="1492325"/>
            <a:ext cx="47549" cy="336475"/>
          </a:xfrm>
          <a:prstGeom prst="rect">
            <a:avLst/>
          </a:prstGeom>
          <a:solidFill>
            <a:srgbClr val="1E4380"/>
          </a:solidFill>
          <a:ln w="12700">
            <a:solidFill>
              <a:srgbClr val="333333"/>
            </a:solidFill>
            <a:prstDash val="solid"/>
          </a:ln>
        </p:spPr>
      </p:sp>
      <p:sp>
        <p:nvSpPr>
          <p:cNvPr id="44" name="Shape 42"/>
          <p:cNvSpPr/>
          <p:nvPr/>
        </p:nvSpPr>
        <p:spPr>
          <a:xfrm>
            <a:off x="10178948" y="1509294"/>
            <a:ext cx="47549" cy="319506"/>
          </a:xfrm>
          <a:prstGeom prst="rect">
            <a:avLst/>
          </a:prstGeom>
          <a:solidFill>
            <a:srgbClr val="1E4380"/>
          </a:solidFill>
          <a:ln w="12700">
            <a:solidFill>
              <a:srgbClr val="333333"/>
            </a:solidFill>
            <a:prstDash val="solid"/>
          </a:ln>
        </p:spPr>
      </p:sp>
      <p:sp>
        <p:nvSpPr>
          <p:cNvPr id="45" name="Shape 43"/>
          <p:cNvSpPr/>
          <p:nvPr/>
        </p:nvSpPr>
        <p:spPr>
          <a:xfrm>
            <a:off x="10205923" y="1525352"/>
            <a:ext cx="47549" cy="303448"/>
          </a:xfrm>
          <a:prstGeom prst="rect">
            <a:avLst/>
          </a:prstGeom>
          <a:solidFill>
            <a:srgbClr val="1E4380"/>
          </a:solidFill>
          <a:ln w="12700">
            <a:solidFill>
              <a:srgbClr val="333333"/>
            </a:solidFill>
            <a:prstDash val="solid"/>
          </a:ln>
        </p:spPr>
      </p:sp>
      <p:sp>
        <p:nvSpPr>
          <p:cNvPr id="46" name="Shape 44"/>
          <p:cNvSpPr/>
          <p:nvPr/>
        </p:nvSpPr>
        <p:spPr>
          <a:xfrm>
            <a:off x="10232898" y="1540546"/>
            <a:ext cx="47549" cy="288254"/>
          </a:xfrm>
          <a:prstGeom prst="rect">
            <a:avLst/>
          </a:prstGeom>
          <a:solidFill>
            <a:srgbClr val="1E4380"/>
          </a:solidFill>
          <a:ln w="12700">
            <a:solidFill>
              <a:srgbClr val="333333"/>
            </a:solidFill>
            <a:prstDash val="solid"/>
          </a:ln>
        </p:spPr>
      </p:sp>
      <p:sp>
        <p:nvSpPr>
          <p:cNvPr id="47" name="Shape 45"/>
          <p:cNvSpPr/>
          <p:nvPr/>
        </p:nvSpPr>
        <p:spPr>
          <a:xfrm>
            <a:off x="10259873" y="1554922"/>
            <a:ext cx="47549" cy="273878"/>
          </a:xfrm>
          <a:prstGeom prst="rect">
            <a:avLst/>
          </a:prstGeom>
          <a:solidFill>
            <a:srgbClr val="1E4380"/>
          </a:solidFill>
          <a:ln w="12700">
            <a:solidFill>
              <a:srgbClr val="333333"/>
            </a:solidFill>
            <a:prstDash val="solid"/>
          </a:ln>
        </p:spPr>
      </p:sp>
      <p:sp>
        <p:nvSpPr>
          <p:cNvPr id="48" name="Shape 46"/>
          <p:cNvSpPr/>
          <p:nvPr/>
        </p:nvSpPr>
        <p:spPr>
          <a:xfrm>
            <a:off x="10286848" y="1568524"/>
            <a:ext cx="47549" cy="260276"/>
          </a:xfrm>
          <a:prstGeom prst="rect">
            <a:avLst/>
          </a:prstGeom>
          <a:solidFill>
            <a:srgbClr val="1E4380"/>
          </a:solidFill>
          <a:ln w="12700">
            <a:solidFill>
              <a:srgbClr val="333333"/>
            </a:solidFill>
            <a:prstDash val="solid"/>
          </a:ln>
        </p:spPr>
      </p:sp>
      <p:sp>
        <p:nvSpPr>
          <p:cNvPr id="49" name="Shape 47"/>
          <p:cNvSpPr/>
          <p:nvPr/>
        </p:nvSpPr>
        <p:spPr>
          <a:xfrm>
            <a:off x="10313822" y="1581395"/>
            <a:ext cx="47549" cy="247405"/>
          </a:xfrm>
          <a:prstGeom prst="rect">
            <a:avLst/>
          </a:prstGeom>
          <a:solidFill>
            <a:srgbClr val="1E4380"/>
          </a:solidFill>
          <a:ln w="12700">
            <a:solidFill>
              <a:srgbClr val="333333"/>
            </a:solidFill>
            <a:prstDash val="solid"/>
          </a:ln>
        </p:spPr>
      </p:sp>
      <p:sp>
        <p:nvSpPr>
          <p:cNvPr id="50" name="Shape 48"/>
          <p:cNvSpPr/>
          <p:nvPr/>
        </p:nvSpPr>
        <p:spPr>
          <a:xfrm>
            <a:off x="10340797" y="1593575"/>
            <a:ext cx="47549" cy="235225"/>
          </a:xfrm>
          <a:prstGeom prst="rect">
            <a:avLst/>
          </a:prstGeom>
          <a:solidFill>
            <a:srgbClr val="1E4380"/>
          </a:solidFill>
          <a:ln w="12700">
            <a:solidFill>
              <a:srgbClr val="333333"/>
            </a:solidFill>
            <a:prstDash val="solid"/>
          </a:ln>
        </p:spPr>
      </p:sp>
      <p:sp>
        <p:nvSpPr>
          <p:cNvPr id="51" name="Shape 49"/>
          <p:cNvSpPr/>
          <p:nvPr/>
        </p:nvSpPr>
        <p:spPr>
          <a:xfrm>
            <a:off x="10367772" y="1605102"/>
            <a:ext cx="47549" cy="223698"/>
          </a:xfrm>
          <a:prstGeom prst="rect">
            <a:avLst/>
          </a:prstGeom>
          <a:solidFill>
            <a:srgbClr val="1E4380"/>
          </a:solidFill>
          <a:ln w="12700">
            <a:solidFill>
              <a:srgbClr val="333333"/>
            </a:solidFill>
            <a:prstDash val="solid"/>
          </a:ln>
        </p:spPr>
      </p:sp>
      <p:sp>
        <p:nvSpPr>
          <p:cNvPr id="52" name="Shape 50"/>
          <p:cNvSpPr/>
          <p:nvPr/>
        </p:nvSpPr>
        <p:spPr>
          <a:xfrm>
            <a:off x="10394747" y="1616012"/>
            <a:ext cx="47549" cy="212788"/>
          </a:xfrm>
          <a:prstGeom prst="rect">
            <a:avLst/>
          </a:prstGeom>
          <a:solidFill>
            <a:srgbClr val="1E4380"/>
          </a:solidFill>
          <a:ln w="12700">
            <a:solidFill>
              <a:srgbClr val="333333"/>
            </a:solidFill>
            <a:prstDash val="solid"/>
          </a:ln>
        </p:spPr>
      </p:sp>
      <p:sp>
        <p:nvSpPr>
          <p:cNvPr id="53" name="Shape 51"/>
          <p:cNvSpPr/>
          <p:nvPr/>
        </p:nvSpPr>
        <p:spPr>
          <a:xfrm>
            <a:off x="10421722" y="1626339"/>
            <a:ext cx="47549" cy="202461"/>
          </a:xfrm>
          <a:prstGeom prst="rect">
            <a:avLst/>
          </a:prstGeom>
          <a:solidFill>
            <a:srgbClr val="1E4380"/>
          </a:solidFill>
          <a:ln w="12700">
            <a:solidFill>
              <a:srgbClr val="333333"/>
            </a:solidFill>
            <a:prstDash val="solid"/>
          </a:ln>
        </p:spPr>
      </p:sp>
      <p:sp>
        <p:nvSpPr>
          <p:cNvPr id="54" name="Shape 52"/>
          <p:cNvSpPr/>
          <p:nvPr/>
        </p:nvSpPr>
        <p:spPr>
          <a:xfrm>
            <a:off x="10448696" y="1636117"/>
            <a:ext cx="47549" cy="192683"/>
          </a:xfrm>
          <a:prstGeom prst="rect">
            <a:avLst/>
          </a:prstGeom>
          <a:solidFill>
            <a:srgbClr val="1E4380"/>
          </a:solidFill>
          <a:ln w="12700">
            <a:solidFill>
              <a:srgbClr val="333333"/>
            </a:solidFill>
            <a:prstDash val="solid"/>
          </a:ln>
        </p:spPr>
      </p:sp>
      <p:sp>
        <p:nvSpPr>
          <p:cNvPr id="55" name="Shape 53"/>
          <p:cNvSpPr/>
          <p:nvPr/>
        </p:nvSpPr>
        <p:spPr>
          <a:xfrm>
            <a:off x="10475671" y="1645376"/>
            <a:ext cx="47549" cy="183424"/>
          </a:xfrm>
          <a:prstGeom prst="rect">
            <a:avLst/>
          </a:prstGeom>
          <a:solidFill>
            <a:srgbClr val="1E4380"/>
          </a:solidFill>
          <a:ln w="12700">
            <a:solidFill>
              <a:srgbClr val="333333"/>
            </a:solidFill>
            <a:prstDash val="solid"/>
          </a:ln>
        </p:spPr>
      </p:sp>
      <p:sp>
        <p:nvSpPr>
          <p:cNvPr id="56" name="Shape 54"/>
          <p:cNvSpPr/>
          <p:nvPr/>
        </p:nvSpPr>
        <p:spPr>
          <a:xfrm>
            <a:off x="10502646" y="1654144"/>
            <a:ext cx="47549" cy="174656"/>
          </a:xfrm>
          <a:prstGeom prst="rect">
            <a:avLst/>
          </a:prstGeom>
          <a:solidFill>
            <a:srgbClr val="1E4380"/>
          </a:solidFill>
          <a:ln w="12700">
            <a:solidFill>
              <a:srgbClr val="333333"/>
            </a:solidFill>
            <a:prstDash val="solid"/>
          </a:ln>
        </p:spPr>
      </p:sp>
      <p:sp>
        <p:nvSpPr>
          <p:cNvPr id="57" name="Shape 55"/>
          <p:cNvSpPr/>
          <p:nvPr/>
        </p:nvSpPr>
        <p:spPr>
          <a:xfrm>
            <a:off x="10529621" y="1662451"/>
            <a:ext cx="47549" cy="166349"/>
          </a:xfrm>
          <a:prstGeom prst="rect">
            <a:avLst/>
          </a:prstGeom>
          <a:solidFill>
            <a:srgbClr val="1E4380"/>
          </a:solidFill>
          <a:ln w="12700">
            <a:solidFill>
              <a:srgbClr val="333333"/>
            </a:solidFill>
            <a:prstDash val="solid"/>
          </a:ln>
        </p:spPr>
      </p:sp>
      <p:sp>
        <p:nvSpPr>
          <p:cNvPr id="58" name="Shape 56"/>
          <p:cNvSpPr/>
          <p:nvPr/>
        </p:nvSpPr>
        <p:spPr>
          <a:xfrm>
            <a:off x="10556596" y="1670321"/>
            <a:ext cx="47549" cy="158479"/>
          </a:xfrm>
          <a:prstGeom prst="rect">
            <a:avLst/>
          </a:prstGeom>
          <a:solidFill>
            <a:srgbClr val="1E4380"/>
          </a:solidFill>
          <a:ln w="12700">
            <a:solidFill>
              <a:srgbClr val="333333"/>
            </a:solidFill>
            <a:prstDash val="solid"/>
          </a:ln>
        </p:spPr>
      </p:sp>
      <p:sp>
        <p:nvSpPr>
          <p:cNvPr id="59" name="Shape 57"/>
          <p:cNvSpPr/>
          <p:nvPr/>
        </p:nvSpPr>
        <p:spPr>
          <a:xfrm>
            <a:off x="10583570" y="1677779"/>
            <a:ext cx="47549" cy="151021"/>
          </a:xfrm>
          <a:prstGeom prst="rect">
            <a:avLst/>
          </a:prstGeom>
          <a:solidFill>
            <a:srgbClr val="1E4380"/>
          </a:solidFill>
          <a:ln w="12700">
            <a:solidFill>
              <a:srgbClr val="333333"/>
            </a:solidFill>
            <a:prstDash val="solid"/>
          </a:ln>
        </p:spPr>
      </p:sp>
      <p:sp>
        <p:nvSpPr>
          <p:cNvPr id="60" name="Shape 58"/>
          <p:cNvSpPr/>
          <p:nvPr/>
        </p:nvSpPr>
        <p:spPr>
          <a:xfrm>
            <a:off x="10610545" y="1684848"/>
            <a:ext cx="47549" cy="143952"/>
          </a:xfrm>
          <a:prstGeom prst="rect">
            <a:avLst/>
          </a:prstGeom>
          <a:solidFill>
            <a:srgbClr val="1E4380"/>
          </a:solidFill>
          <a:ln w="12700">
            <a:solidFill>
              <a:srgbClr val="333333"/>
            </a:solidFill>
            <a:prstDash val="solid"/>
          </a:ln>
        </p:spPr>
      </p:sp>
      <p:sp>
        <p:nvSpPr>
          <p:cNvPr id="61" name="Shape 59"/>
          <p:cNvSpPr/>
          <p:nvPr/>
        </p:nvSpPr>
        <p:spPr>
          <a:xfrm>
            <a:off x="10637520" y="1691551"/>
            <a:ext cx="47549" cy="137249"/>
          </a:xfrm>
          <a:prstGeom prst="rect">
            <a:avLst/>
          </a:prstGeom>
          <a:solidFill>
            <a:srgbClr val="1E4380"/>
          </a:solidFill>
          <a:ln w="12700">
            <a:solidFill>
              <a:srgbClr val="333333"/>
            </a:solidFill>
            <a:prstDash val="solid"/>
          </a:ln>
        </p:spPr>
      </p:sp>
      <p:sp>
        <p:nvSpPr>
          <p:cNvPr id="62" name="Shape 60"/>
          <p:cNvSpPr/>
          <p:nvPr/>
        </p:nvSpPr>
        <p:spPr>
          <a:xfrm>
            <a:off x="10664495" y="1697907"/>
            <a:ext cx="47549" cy="130893"/>
          </a:xfrm>
          <a:prstGeom prst="rect">
            <a:avLst/>
          </a:prstGeom>
          <a:solidFill>
            <a:srgbClr val="1E4380"/>
          </a:solidFill>
          <a:ln w="12700">
            <a:solidFill>
              <a:srgbClr val="333333"/>
            </a:solidFill>
            <a:prstDash val="solid"/>
          </a:ln>
        </p:spPr>
      </p:sp>
      <p:sp>
        <p:nvSpPr>
          <p:cNvPr id="63" name="Shape 61"/>
          <p:cNvSpPr/>
          <p:nvPr/>
        </p:nvSpPr>
        <p:spPr>
          <a:xfrm>
            <a:off x="10691470" y="1703936"/>
            <a:ext cx="47549" cy="124864"/>
          </a:xfrm>
          <a:prstGeom prst="rect">
            <a:avLst/>
          </a:prstGeom>
          <a:solidFill>
            <a:srgbClr val="1E4380"/>
          </a:solidFill>
          <a:ln w="12700">
            <a:solidFill>
              <a:srgbClr val="333333"/>
            </a:solidFill>
            <a:prstDash val="solid"/>
          </a:ln>
        </p:spPr>
      </p:sp>
      <p:sp>
        <p:nvSpPr>
          <p:cNvPr id="64" name="Shape 62"/>
          <p:cNvSpPr/>
          <p:nvPr/>
        </p:nvSpPr>
        <p:spPr>
          <a:xfrm>
            <a:off x="10718444" y="1709656"/>
            <a:ext cx="47549" cy="119144"/>
          </a:xfrm>
          <a:prstGeom prst="rect">
            <a:avLst/>
          </a:prstGeom>
          <a:solidFill>
            <a:srgbClr val="1E4380"/>
          </a:solidFill>
          <a:ln w="12700">
            <a:solidFill>
              <a:srgbClr val="333333"/>
            </a:solidFill>
            <a:prstDash val="solid"/>
          </a:ln>
        </p:spPr>
      </p:sp>
      <p:sp>
        <p:nvSpPr>
          <p:cNvPr id="65" name="Shape 63"/>
          <p:cNvSpPr/>
          <p:nvPr/>
        </p:nvSpPr>
        <p:spPr>
          <a:xfrm>
            <a:off x="10745419" y="1715085"/>
            <a:ext cx="47549" cy="113715"/>
          </a:xfrm>
          <a:prstGeom prst="rect">
            <a:avLst/>
          </a:prstGeom>
          <a:solidFill>
            <a:srgbClr val="1E4380"/>
          </a:solidFill>
          <a:ln w="12700">
            <a:solidFill>
              <a:srgbClr val="333333"/>
            </a:solidFill>
            <a:prstDash val="solid"/>
          </a:ln>
        </p:spPr>
      </p:sp>
      <p:sp>
        <p:nvSpPr>
          <p:cNvPr id="66" name="Shape 64"/>
          <p:cNvSpPr/>
          <p:nvPr/>
        </p:nvSpPr>
        <p:spPr>
          <a:xfrm>
            <a:off x="10772394" y="1720238"/>
            <a:ext cx="47549" cy="108562"/>
          </a:xfrm>
          <a:prstGeom prst="rect">
            <a:avLst/>
          </a:prstGeom>
          <a:solidFill>
            <a:srgbClr val="1E4380"/>
          </a:solidFill>
          <a:ln w="12700">
            <a:solidFill>
              <a:srgbClr val="333333"/>
            </a:solidFill>
            <a:prstDash val="solid"/>
          </a:ln>
        </p:spPr>
      </p:sp>
      <p:sp>
        <p:nvSpPr>
          <p:cNvPr id="67" name="Shape 65"/>
          <p:cNvSpPr/>
          <p:nvPr/>
        </p:nvSpPr>
        <p:spPr>
          <a:xfrm>
            <a:off x="10799369" y="1725130"/>
            <a:ext cx="47549" cy="103670"/>
          </a:xfrm>
          <a:prstGeom prst="rect">
            <a:avLst/>
          </a:prstGeom>
          <a:solidFill>
            <a:srgbClr val="1E4380"/>
          </a:solidFill>
          <a:ln w="12700">
            <a:solidFill>
              <a:srgbClr val="333333"/>
            </a:solidFill>
            <a:prstDash val="solid"/>
          </a:ln>
        </p:spPr>
      </p:sp>
      <p:sp>
        <p:nvSpPr>
          <p:cNvPr id="68" name="Shape 66"/>
          <p:cNvSpPr/>
          <p:nvPr/>
        </p:nvSpPr>
        <p:spPr>
          <a:xfrm>
            <a:off x="10826344" y="1729777"/>
            <a:ext cx="47549" cy="99023"/>
          </a:xfrm>
          <a:prstGeom prst="rect">
            <a:avLst/>
          </a:prstGeom>
          <a:solidFill>
            <a:srgbClr val="1E4380"/>
          </a:solidFill>
          <a:ln w="12700">
            <a:solidFill>
              <a:srgbClr val="333333"/>
            </a:solidFill>
            <a:prstDash val="solid"/>
          </a:ln>
        </p:spPr>
      </p:sp>
      <p:sp>
        <p:nvSpPr>
          <p:cNvPr id="69" name="Shape 67"/>
          <p:cNvSpPr/>
          <p:nvPr/>
        </p:nvSpPr>
        <p:spPr>
          <a:xfrm>
            <a:off x="10853318" y="1734191"/>
            <a:ext cx="47549" cy="94609"/>
          </a:xfrm>
          <a:prstGeom prst="rect">
            <a:avLst/>
          </a:prstGeom>
          <a:solidFill>
            <a:srgbClr val="1E4380"/>
          </a:solidFill>
          <a:ln w="12700">
            <a:solidFill>
              <a:srgbClr val="333333"/>
            </a:solidFill>
            <a:prstDash val="solid"/>
          </a:ln>
        </p:spPr>
      </p:sp>
      <p:sp>
        <p:nvSpPr>
          <p:cNvPr id="70" name="Shape 68"/>
          <p:cNvSpPr/>
          <p:nvPr/>
        </p:nvSpPr>
        <p:spPr>
          <a:xfrm>
            <a:off x="10880293" y="1738385"/>
            <a:ext cx="47549" cy="90415"/>
          </a:xfrm>
          <a:prstGeom prst="rect">
            <a:avLst/>
          </a:prstGeom>
          <a:solidFill>
            <a:srgbClr val="1E4380"/>
          </a:solidFill>
          <a:ln w="12700">
            <a:solidFill>
              <a:srgbClr val="333333"/>
            </a:solidFill>
            <a:prstDash val="solid"/>
          </a:ln>
        </p:spPr>
      </p:sp>
      <p:sp>
        <p:nvSpPr>
          <p:cNvPr id="71" name="Shape 69"/>
          <p:cNvSpPr/>
          <p:nvPr/>
        </p:nvSpPr>
        <p:spPr>
          <a:xfrm>
            <a:off x="10907268" y="1742372"/>
            <a:ext cx="47549" cy="86428"/>
          </a:xfrm>
          <a:prstGeom prst="rect">
            <a:avLst/>
          </a:prstGeom>
          <a:solidFill>
            <a:srgbClr val="1E4380"/>
          </a:solidFill>
          <a:ln w="12700">
            <a:solidFill>
              <a:srgbClr val="333333"/>
            </a:solidFill>
            <a:prstDash val="solid"/>
          </a:ln>
        </p:spPr>
      </p:sp>
      <p:sp>
        <p:nvSpPr>
          <p:cNvPr id="72" name="Shape 70"/>
          <p:cNvSpPr/>
          <p:nvPr/>
        </p:nvSpPr>
        <p:spPr>
          <a:xfrm>
            <a:off x="10934243" y="1746162"/>
            <a:ext cx="47549" cy="82638"/>
          </a:xfrm>
          <a:prstGeom prst="rect">
            <a:avLst/>
          </a:prstGeom>
          <a:solidFill>
            <a:srgbClr val="1E4380"/>
          </a:solidFill>
          <a:ln w="12700">
            <a:solidFill>
              <a:srgbClr val="333333"/>
            </a:solidFill>
            <a:prstDash val="solid"/>
          </a:ln>
        </p:spPr>
      </p:sp>
      <p:sp>
        <p:nvSpPr>
          <p:cNvPr id="73" name="Shape 71"/>
          <p:cNvSpPr/>
          <p:nvPr/>
        </p:nvSpPr>
        <p:spPr>
          <a:xfrm>
            <a:off x="10961218" y="1749766"/>
            <a:ext cx="47549" cy="79034"/>
          </a:xfrm>
          <a:prstGeom prst="rect">
            <a:avLst/>
          </a:prstGeom>
          <a:solidFill>
            <a:srgbClr val="1E4380"/>
          </a:solidFill>
          <a:ln w="12700">
            <a:solidFill>
              <a:srgbClr val="333333"/>
            </a:solidFill>
            <a:prstDash val="solid"/>
          </a:ln>
        </p:spPr>
      </p:sp>
      <p:sp>
        <p:nvSpPr>
          <p:cNvPr id="74" name="Shape 72"/>
          <p:cNvSpPr/>
          <p:nvPr/>
        </p:nvSpPr>
        <p:spPr>
          <a:xfrm>
            <a:off x="10988192" y="1753194"/>
            <a:ext cx="47549" cy="75606"/>
          </a:xfrm>
          <a:prstGeom prst="rect">
            <a:avLst/>
          </a:prstGeom>
          <a:solidFill>
            <a:srgbClr val="1E4380"/>
          </a:solidFill>
          <a:ln w="12700">
            <a:solidFill>
              <a:srgbClr val="333333"/>
            </a:solidFill>
            <a:prstDash val="solid"/>
          </a:ln>
        </p:spPr>
      </p:sp>
      <p:sp>
        <p:nvSpPr>
          <p:cNvPr id="75" name="Shape 73"/>
          <p:cNvSpPr/>
          <p:nvPr/>
        </p:nvSpPr>
        <p:spPr>
          <a:xfrm>
            <a:off x="11015167" y="1756456"/>
            <a:ext cx="47549" cy="72344"/>
          </a:xfrm>
          <a:prstGeom prst="rect">
            <a:avLst/>
          </a:prstGeom>
          <a:solidFill>
            <a:srgbClr val="1E4380"/>
          </a:solidFill>
          <a:ln w="12700">
            <a:solidFill>
              <a:srgbClr val="333333"/>
            </a:solidFill>
            <a:prstDash val="solid"/>
          </a:ln>
        </p:spPr>
      </p:sp>
      <p:sp>
        <p:nvSpPr>
          <p:cNvPr id="76" name="Shape 74"/>
          <p:cNvSpPr/>
          <p:nvPr/>
        </p:nvSpPr>
        <p:spPr>
          <a:xfrm>
            <a:off x="11042142" y="1759560"/>
            <a:ext cx="47549" cy="69240"/>
          </a:xfrm>
          <a:prstGeom prst="rect">
            <a:avLst/>
          </a:prstGeom>
          <a:solidFill>
            <a:srgbClr val="1E4380"/>
          </a:solidFill>
          <a:ln w="12700">
            <a:solidFill>
              <a:srgbClr val="333333"/>
            </a:solidFill>
            <a:prstDash val="solid"/>
          </a:ln>
        </p:spPr>
      </p:sp>
      <p:sp>
        <p:nvSpPr>
          <p:cNvPr id="77" name="Shape 75"/>
          <p:cNvSpPr/>
          <p:nvPr/>
        </p:nvSpPr>
        <p:spPr>
          <a:xfrm>
            <a:off x="11069117" y="1762515"/>
            <a:ext cx="47549" cy="66285"/>
          </a:xfrm>
          <a:prstGeom prst="rect">
            <a:avLst/>
          </a:prstGeom>
          <a:solidFill>
            <a:srgbClr val="1E4380"/>
          </a:solidFill>
          <a:ln w="12700">
            <a:solidFill>
              <a:srgbClr val="333333"/>
            </a:solidFill>
            <a:prstDash val="solid"/>
          </a:ln>
        </p:spPr>
      </p:sp>
      <p:sp>
        <p:nvSpPr>
          <p:cNvPr id="78" name="Shape 76"/>
          <p:cNvSpPr/>
          <p:nvPr/>
        </p:nvSpPr>
        <p:spPr>
          <a:xfrm>
            <a:off x="11096092" y="1765328"/>
            <a:ext cx="47549" cy="63472"/>
          </a:xfrm>
          <a:prstGeom prst="rect">
            <a:avLst/>
          </a:prstGeom>
          <a:solidFill>
            <a:srgbClr val="1E4380"/>
          </a:solidFill>
          <a:ln w="12700">
            <a:solidFill>
              <a:srgbClr val="333333"/>
            </a:solidFill>
            <a:prstDash val="solid"/>
          </a:ln>
        </p:spPr>
      </p:sp>
      <p:sp>
        <p:nvSpPr>
          <p:cNvPr id="79" name="Shape 77"/>
          <p:cNvSpPr/>
          <p:nvPr/>
        </p:nvSpPr>
        <p:spPr>
          <a:xfrm>
            <a:off x="11123066" y="1768008"/>
            <a:ext cx="47549" cy="60792"/>
          </a:xfrm>
          <a:prstGeom prst="rect">
            <a:avLst/>
          </a:prstGeom>
          <a:solidFill>
            <a:srgbClr val="1E4380"/>
          </a:solidFill>
          <a:ln w="12700">
            <a:solidFill>
              <a:srgbClr val="333333"/>
            </a:solidFill>
            <a:prstDash val="solid"/>
          </a:ln>
        </p:spPr>
      </p:sp>
      <p:sp>
        <p:nvSpPr>
          <p:cNvPr id="80" name="Shape 78"/>
          <p:cNvSpPr/>
          <p:nvPr/>
        </p:nvSpPr>
        <p:spPr>
          <a:xfrm>
            <a:off x="11150041" y="1770561"/>
            <a:ext cx="47549" cy="58239"/>
          </a:xfrm>
          <a:prstGeom prst="rect">
            <a:avLst/>
          </a:prstGeom>
          <a:solidFill>
            <a:srgbClr val="1E4380"/>
          </a:solidFill>
          <a:ln w="12700">
            <a:solidFill>
              <a:srgbClr val="333333"/>
            </a:solidFill>
            <a:prstDash val="solid"/>
          </a:ln>
        </p:spPr>
      </p:sp>
      <p:sp>
        <p:nvSpPr>
          <p:cNvPr id="81" name="Shape 79"/>
          <p:cNvSpPr/>
          <p:nvPr/>
        </p:nvSpPr>
        <p:spPr>
          <a:xfrm>
            <a:off x="11177016" y="1772993"/>
            <a:ext cx="47549" cy="55807"/>
          </a:xfrm>
          <a:prstGeom prst="rect">
            <a:avLst/>
          </a:prstGeom>
          <a:solidFill>
            <a:srgbClr val="1E4380"/>
          </a:solidFill>
          <a:ln w="12700">
            <a:solidFill>
              <a:srgbClr val="333333"/>
            </a:solidFill>
            <a:prstDash val="solid"/>
          </a:ln>
        </p:spPr>
      </p:sp>
      <p:sp>
        <p:nvSpPr>
          <p:cNvPr id="82" name="Shape 80"/>
          <p:cNvSpPr/>
          <p:nvPr/>
        </p:nvSpPr>
        <p:spPr>
          <a:xfrm>
            <a:off x="11203991" y="1775312"/>
            <a:ext cx="47549" cy="53488"/>
          </a:xfrm>
          <a:prstGeom prst="rect">
            <a:avLst/>
          </a:prstGeom>
          <a:solidFill>
            <a:srgbClr val="1E4380"/>
          </a:solidFill>
          <a:ln w="12700">
            <a:solidFill>
              <a:srgbClr val="333333"/>
            </a:solidFill>
            <a:prstDash val="solid"/>
          </a:ln>
        </p:spPr>
      </p:sp>
      <p:sp>
        <p:nvSpPr>
          <p:cNvPr id="83" name="Shape 81"/>
          <p:cNvSpPr/>
          <p:nvPr/>
        </p:nvSpPr>
        <p:spPr>
          <a:xfrm>
            <a:off x="11230966" y="1777523"/>
            <a:ext cx="47549" cy="51277"/>
          </a:xfrm>
          <a:prstGeom prst="rect">
            <a:avLst/>
          </a:prstGeom>
          <a:solidFill>
            <a:srgbClr val="1E4380"/>
          </a:solidFill>
          <a:ln w="12700">
            <a:solidFill>
              <a:srgbClr val="333333"/>
            </a:solidFill>
            <a:prstDash val="solid"/>
          </a:ln>
        </p:spPr>
      </p:sp>
      <p:sp>
        <p:nvSpPr>
          <p:cNvPr id="84" name="Shape 82"/>
          <p:cNvSpPr/>
          <p:nvPr/>
        </p:nvSpPr>
        <p:spPr>
          <a:xfrm>
            <a:off x="11257940" y="1779630"/>
            <a:ext cx="47549" cy="49170"/>
          </a:xfrm>
          <a:prstGeom prst="rect">
            <a:avLst/>
          </a:prstGeom>
          <a:solidFill>
            <a:srgbClr val="1E4380"/>
          </a:solidFill>
          <a:ln w="12700">
            <a:solidFill>
              <a:srgbClr val="333333"/>
            </a:solidFill>
            <a:prstDash val="solid"/>
          </a:ln>
        </p:spPr>
      </p:sp>
      <p:sp>
        <p:nvSpPr>
          <p:cNvPr id="85" name="Shape 83"/>
          <p:cNvSpPr/>
          <p:nvPr/>
        </p:nvSpPr>
        <p:spPr>
          <a:xfrm>
            <a:off x="11284915" y="1781641"/>
            <a:ext cx="47549" cy="47159"/>
          </a:xfrm>
          <a:prstGeom prst="rect">
            <a:avLst/>
          </a:prstGeom>
          <a:solidFill>
            <a:srgbClr val="1E4380"/>
          </a:solidFill>
          <a:ln w="12700">
            <a:solidFill>
              <a:srgbClr val="333333"/>
            </a:solidFill>
            <a:prstDash val="solid"/>
          </a:ln>
        </p:spPr>
      </p:sp>
      <p:sp>
        <p:nvSpPr>
          <p:cNvPr id="86" name="Shape 84"/>
          <p:cNvSpPr/>
          <p:nvPr/>
        </p:nvSpPr>
        <p:spPr>
          <a:xfrm>
            <a:off x="11311890" y="1783560"/>
            <a:ext cx="47549" cy="45240"/>
          </a:xfrm>
          <a:prstGeom prst="rect">
            <a:avLst/>
          </a:prstGeom>
          <a:solidFill>
            <a:srgbClr val="1E4380"/>
          </a:solidFill>
          <a:ln w="12700">
            <a:solidFill>
              <a:srgbClr val="333333"/>
            </a:solidFill>
            <a:prstDash val="solid"/>
          </a:ln>
        </p:spPr>
      </p:sp>
      <p:sp>
        <p:nvSpPr>
          <p:cNvPr id="87" name="Shape 85"/>
          <p:cNvSpPr/>
          <p:nvPr/>
        </p:nvSpPr>
        <p:spPr>
          <a:xfrm>
            <a:off x="11338865" y="1785390"/>
            <a:ext cx="47549" cy="43410"/>
          </a:xfrm>
          <a:prstGeom prst="rect">
            <a:avLst/>
          </a:prstGeom>
          <a:solidFill>
            <a:srgbClr val="1E4380"/>
          </a:solidFill>
          <a:ln w="12700">
            <a:solidFill>
              <a:srgbClr val="333333"/>
            </a:solidFill>
            <a:prstDash val="solid"/>
          </a:ln>
        </p:spPr>
      </p:sp>
      <p:sp>
        <p:nvSpPr>
          <p:cNvPr id="88" name="Shape 86"/>
          <p:cNvSpPr/>
          <p:nvPr/>
        </p:nvSpPr>
        <p:spPr>
          <a:xfrm>
            <a:off x="11365840" y="1787138"/>
            <a:ext cx="47549" cy="41662"/>
          </a:xfrm>
          <a:prstGeom prst="rect">
            <a:avLst/>
          </a:prstGeom>
          <a:solidFill>
            <a:srgbClr val="1E4380"/>
          </a:solidFill>
          <a:ln w="12700">
            <a:solidFill>
              <a:srgbClr val="333333"/>
            </a:solidFill>
            <a:prstDash val="solid"/>
          </a:ln>
        </p:spPr>
      </p:sp>
      <p:sp>
        <p:nvSpPr>
          <p:cNvPr id="89" name="Shape 87"/>
          <p:cNvSpPr/>
          <p:nvPr/>
        </p:nvSpPr>
        <p:spPr>
          <a:xfrm>
            <a:off x="11392814" y="1788806"/>
            <a:ext cx="47549" cy="39994"/>
          </a:xfrm>
          <a:prstGeom prst="rect">
            <a:avLst/>
          </a:prstGeom>
          <a:solidFill>
            <a:srgbClr val="1E4380"/>
          </a:solidFill>
          <a:ln w="12700">
            <a:solidFill>
              <a:srgbClr val="333333"/>
            </a:solidFill>
            <a:prstDash val="solid"/>
          </a:ln>
        </p:spPr>
      </p:sp>
      <p:sp>
        <p:nvSpPr>
          <p:cNvPr id="90" name="Shape 88"/>
          <p:cNvSpPr/>
          <p:nvPr/>
        </p:nvSpPr>
        <p:spPr>
          <a:xfrm>
            <a:off x="11419789" y="1790400"/>
            <a:ext cx="47549" cy="38400"/>
          </a:xfrm>
          <a:prstGeom prst="rect">
            <a:avLst/>
          </a:prstGeom>
          <a:solidFill>
            <a:srgbClr val="1E4380"/>
          </a:solidFill>
          <a:ln w="12700">
            <a:solidFill>
              <a:srgbClr val="333333"/>
            </a:solidFill>
            <a:prstDash val="solid"/>
          </a:ln>
        </p:spPr>
      </p:sp>
      <p:sp>
        <p:nvSpPr>
          <p:cNvPr id="91" name="Shape 89"/>
          <p:cNvSpPr/>
          <p:nvPr/>
        </p:nvSpPr>
        <p:spPr>
          <a:xfrm>
            <a:off x="11446764" y="1791922"/>
            <a:ext cx="47549" cy="36878"/>
          </a:xfrm>
          <a:prstGeom prst="rect">
            <a:avLst/>
          </a:prstGeom>
          <a:solidFill>
            <a:srgbClr val="1E4380"/>
          </a:solidFill>
          <a:ln w="12700">
            <a:solidFill>
              <a:srgbClr val="333333"/>
            </a:solidFill>
            <a:prstDash val="solid"/>
          </a:ln>
        </p:spPr>
      </p:sp>
      <p:sp>
        <p:nvSpPr>
          <p:cNvPr id="92" name="Shape 90"/>
          <p:cNvSpPr/>
          <p:nvPr/>
        </p:nvSpPr>
        <p:spPr>
          <a:xfrm>
            <a:off x="11473739" y="1793376"/>
            <a:ext cx="47549" cy="35424"/>
          </a:xfrm>
          <a:prstGeom prst="rect">
            <a:avLst/>
          </a:prstGeom>
          <a:solidFill>
            <a:srgbClr val="1E4380"/>
          </a:solidFill>
          <a:ln w="12700">
            <a:solidFill>
              <a:srgbClr val="333333"/>
            </a:solidFill>
            <a:prstDash val="solid"/>
          </a:ln>
        </p:spPr>
      </p:sp>
      <p:sp>
        <p:nvSpPr>
          <p:cNvPr id="93" name="Shape 91"/>
          <p:cNvSpPr/>
          <p:nvPr/>
        </p:nvSpPr>
        <p:spPr>
          <a:xfrm>
            <a:off x="11500714" y="1794766"/>
            <a:ext cx="47549" cy="34034"/>
          </a:xfrm>
          <a:prstGeom prst="rect">
            <a:avLst/>
          </a:prstGeom>
          <a:solidFill>
            <a:srgbClr val="1E4380"/>
          </a:solidFill>
          <a:ln w="12700">
            <a:solidFill>
              <a:srgbClr val="333333"/>
            </a:solidFill>
            <a:prstDash val="solid"/>
          </a:ln>
        </p:spPr>
      </p:sp>
      <p:sp>
        <p:nvSpPr>
          <p:cNvPr id="94" name="Shape 92"/>
          <p:cNvSpPr/>
          <p:nvPr/>
        </p:nvSpPr>
        <p:spPr>
          <a:xfrm>
            <a:off x="11527688" y="1796095"/>
            <a:ext cx="47549" cy="32705"/>
          </a:xfrm>
          <a:prstGeom prst="rect">
            <a:avLst/>
          </a:prstGeom>
          <a:solidFill>
            <a:srgbClr val="1E4380"/>
          </a:solidFill>
          <a:ln w="12700">
            <a:solidFill>
              <a:srgbClr val="333333"/>
            </a:solidFill>
            <a:prstDash val="solid"/>
          </a:ln>
        </p:spPr>
      </p:sp>
      <p:sp>
        <p:nvSpPr>
          <p:cNvPr id="95" name="Shape 93"/>
          <p:cNvSpPr/>
          <p:nvPr/>
        </p:nvSpPr>
        <p:spPr>
          <a:xfrm>
            <a:off x="11554663" y="1797365"/>
            <a:ext cx="47549" cy="31435"/>
          </a:xfrm>
          <a:prstGeom prst="rect">
            <a:avLst/>
          </a:prstGeom>
          <a:solidFill>
            <a:srgbClr val="1E4380"/>
          </a:solidFill>
          <a:ln w="12700">
            <a:solidFill>
              <a:srgbClr val="333333"/>
            </a:solidFill>
            <a:prstDash val="solid"/>
          </a:ln>
        </p:spPr>
      </p:sp>
      <p:sp>
        <p:nvSpPr>
          <p:cNvPr id="96" name="Shape 94"/>
          <p:cNvSpPr/>
          <p:nvPr/>
        </p:nvSpPr>
        <p:spPr>
          <a:xfrm>
            <a:off x="11581638" y="1798580"/>
            <a:ext cx="47549" cy="30220"/>
          </a:xfrm>
          <a:prstGeom prst="rect">
            <a:avLst/>
          </a:prstGeom>
          <a:solidFill>
            <a:srgbClr val="1E4380"/>
          </a:solidFill>
          <a:ln w="12700">
            <a:solidFill>
              <a:srgbClr val="333333"/>
            </a:solidFill>
            <a:prstDash val="solid"/>
          </a:ln>
        </p:spPr>
      </p:sp>
      <p:sp>
        <p:nvSpPr>
          <p:cNvPr id="97" name="Shape 95"/>
          <p:cNvSpPr/>
          <p:nvPr/>
        </p:nvSpPr>
        <p:spPr>
          <a:xfrm>
            <a:off x="11608613" y="1799742"/>
            <a:ext cx="47549" cy="29058"/>
          </a:xfrm>
          <a:prstGeom prst="rect">
            <a:avLst/>
          </a:prstGeom>
          <a:solidFill>
            <a:srgbClr val="1E4380"/>
          </a:solidFill>
          <a:ln w="12700">
            <a:solidFill>
              <a:srgbClr val="333333"/>
            </a:solidFill>
            <a:prstDash val="solid"/>
          </a:ln>
        </p:spPr>
      </p:sp>
      <p:sp>
        <p:nvSpPr>
          <p:cNvPr id="98" name="Shape 96"/>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99" name="Text 97"/>
          <p:cNvSpPr/>
          <p:nvPr/>
        </p:nvSpPr>
        <p:spPr>
          <a:xfrm>
            <a:off x="548640" y="45720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100" name="Text 98"/>
          <p:cNvSpPr/>
          <p:nvPr/>
        </p:nvSpPr>
        <p:spPr>
          <a:xfrm>
            <a:off x="548640" y="91440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01" name="Text 99"/>
          <p:cNvSpPr/>
          <p:nvPr/>
        </p:nvSpPr>
        <p:spPr>
          <a:xfrm>
            <a:off x="548640" y="1572768"/>
            <a:ext cx="8412480" cy="457200"/>
          </a:xfrm>
          <a:prstGeom prst="rect">
            <a:avLst/>
          </a:prstGeom>
          <a:noFill/>
          <a:ln/>
        </p:spPr>
        <p:txBody>
          <a:bodyPr wrap="square" lIns="0" tIns="0" rIns="0" bIns="0" rtlCol="0" anchor="t"/>
          <a:lstStyle/>
          <a:p>
            <a:pPr algn="l" indent="0" marL="0">
              <a:lnSpc>
                <a:spcPct val="108000"/>
              </a:lnSpc>
              <a:buNone/>
            </a:pPr>
            <a:r>
              <a:rPr lang="en-US" sz="1500" i="1" dirty="0">
                <a:solidFill>
                  <a:srgbClr val="C9D6F2"/>
                </a:solidFill>
                <a:latin typeface="Calibri" pitchFamily="34" charset="0"/>
                <a:ea typeface="Calibri" pitchFamily="34" charset="-122"/>
                <a:cs typeface="Calibri" pitchFamily="34" charset="-120"/>
              </a:rPr>
              <a:t>La estadística aplicada no es elegir la función correcta de scipy. Es saber qué le pasó a los datos antes de llegar a tus manos.</a:t>
            </a:r>
            <a:endParaRPr lang="en-US" sz="1500" dirty="0"/>
          </a:p>
        </p:txBody>
      </p:sp>
      <p:sp>
        <p:nvSpPr>
          <p:cNvPr id="102" name="Shape 100"/>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103" name="Shape 101"/>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04" name="Text 102"/>
          <p:cNvSpPr/>
          <p:nvPr/>
        </p:nvSpPr>
        <p:spPr>
          <a:xfrm>
            <a:off x="1042416"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Los cinco números del taller</a:t>
            </a:r>
            <a:endParaRPr lang="en-US" sz="1500" dirty="0"/>
          </a:p>
        </p:txBody>
      </p:sp>
      <p:sp>
        <p:nvSpPr>
          <p:cNvPr id="105" name="Text 103"/>
          <p:cNvSpPr/>
          <p:nvPr/>
        </p:nvSpPr>
        <p:spPr>
          <a:xfrm>
            <a:off x="804672" y="279806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27.58 %</a:t>
            </a:r>
            <a:endParaRPr lang="en-US" sz="1200" dirty="0"/>
          </a:p>
        </p:txBody>
      </p:sp>
      <p:sp>
        <p:nvSpPr>
          <p:cNvPr id="106" name="Text 104"/>
          <p:cNvSpPr/>
          <p:nvPr/>
        </p:nvSpPr>
        <p:spPr>
          <a:xfrm>
            <a:off x="2697480" y="279806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la cifra oficial, reproducida</a:t>
            </a:r>
            <a:endParaRPr lang="en-US" sz="1050" dirty="0"/>
          </a:p>
        </p:txBody>
      </p:sp>
      <p:sp>
        <p:nvSpPr>
          <p:cNvPr id="107" name="Text 105"/>
          <p:cNvSpPr/>
          <p:nvPr/>
        </p:nvSpPr>
        <p:spPr>
          <a:xfrm>
            <a:off x="804672" y="316382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100.00 %</a:t>
            </a:r>
            <a:endParaRPr lang="en-US" sz="1200" dirty="0"/>
          </a:p>
        </p:txBody>
      </p:sp>
      <p:sp>
        <p:nvSpPr>
          <p:cNvPr id="108" name="Text 106"/>
          <p:cNvSpPr/>
          <p:nvPr/>
        </p:nvSpPr>
        <p:spPr>
          <a:xfrm>
            <a:off x="2697480" y="316382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coincidencia con la variable del INEI</a:t>
            </a:r>
            <a:endParaRPr lang="en-US" sz="1050" dirty="0"/>
          </a:p>
        </p:txBody>
      </p:sp>
      <p:sp>
        <p:nvSpPr>
          <p:cNvPr id="109" name="Text 107"/>
          <p:cNvSpPr/>
          <p:nvPr/>
        </p:nvSpPr>
        <p:spPr>
          <a:xfrm>
            <a:off x="804672" y="352958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7.4 pp</a:t>
            </a:r>
            <a:endParaRPr lang="en-US" sz="1200" dirty="0"/>
          </a:p>
        </p:txBody>
      </p:sp>
      <p:sp>
        <p:nvSpPr>
          <p:cNvPr id="110" name="Text 108"/>
          <p:cNvSpPr/>
          <p:nvPr/>
        </p:nvSpPr>
        <p:spPr>
          <a:xfrm>
            <a:off x="2697480" y="352958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de error si ignoras los pesos</a:t>
            </a:r>
            <a:endParaRPr lang="en-US" sz="1050" dirty="0"/>
          </a:p>
        </p:txBody>
      </p:sp>
      <p:sp>
        <p:nvSpPr>
          <p:cNvPr id="111" name="Text 109"/>
          <p:cNvSpPr/>
          <p:nvPr/>
        </p:nvSpPr>
        <p:spPr>
          <a:xfrm>
            <a:off x="804672" y="389534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DEFF ≈ 4.66</a:t>
            </a:r>
            <a:endParaRPr lang="en-US" sz="1200" dirty="0"/>
          </a:p>
        </p:txBody>
      </p:sp>
      <p:sp>
        <p:nvSpPr>
          <p:cNvPr id="112" name="Text 110"/>
          <p:cNvSpPr/>
          <p:nvPr/>
        </p:nvSpPr>
        <p:spPr>
          <a:xfrm>
            <a:off x="2697480" y="389534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n efectivo 7 238 de 33 691</a:t>
            </a:r>
            <a:endParaRPr lang="en-US" sz="1050" dirty="0"/>
          </a:p>
        </p:txBody>
      </p:sp>
      <p:sp>
        <p:nvSpPr>
          <p:cNvPr id="113" name="Text 111"/>
          <p:cNvSpPr/>
          <p:nvPr/>
        </p:nvSpPr>
        <p:spPr>
          <a:xfrm>
            <a:off x="804672" y="426110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0.046 vs 0.0000027</a:t>
            </a:r>
            <a:endParaRPr lang="en-US" sz="1200" dirty="0"/>
          </a:p>
        </p:txBody>
      </p:sp>
      <p:sp>
        <p:nvSpPr>
          <p:cNvPr id="114" name="Text 112"/>
          <p:cNvSpPr/>
          <p:nvPr/>
        </p:nvSpPr>
        <p:spPr>
          <a:xfrm>
            <a:off x="2697480" y="426110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el mismo p, con y sin diseño</a:t>
            </a:r>
            <a:endParaRPr lang="en-US" sz="1050" dirty="0"/>
          </a:p>
        </p:txBody>
      </p:sp>
      <p:sp>
        <p:nvSpPr>
          <p:cNvPr id="115" name="Text 113"/>
          <p:cNvSpPr/>
          <p:nvPr/>
        </p:nvSpPr>
        <p:spPr>
          <a:xfrm>
            <a:off x="804672" y="462686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fronterizo</a:t>
            </a:r>
            <a:endParaRPr lang="en-US" sz="1200" dirty="0"/>
          </a:p>
        </p:txBody>
      </p:sp>
      <p:sp>
        <p:nvSpPr>
          <p:cNvPr id="116" name="Text 114"/>
          <p:cNvSpPr/>
          <p:nvPr/>
        </p:nvSpPr>
        <p:spPr>
          <a:xfrm>
            <a:off x="2697480" y="462686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y con la covarianza del panel, 0.034</a:t>
            </a:r>
            <a:endParaRPr lang="en-US" sz="1050" dirty="0"/>
          </a:p>
        </p:txBody>
      </p:sp>
      <p:sp>
        <p:nvSpPr>
          <p:cNvPr id="117" name="Shape 115"/>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118" name="Shape 116"/>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119" name="Text 117"/>
          <p:cNvSpPr/>
          <p:nvPr/>
        </p:nvSpPr>
        <p:spPr>
          <a:xfrm>
            <a:off x="6656832"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Reto para llevar</a:t>
            </a:r>
            <a:endParaRPr lang="en-US" sz="1500" dirty="0"/>
          </a:p>
        </p:txBody>
      </p:sp>
      <p:sp>
        <p:nvSpPr>
          <p:cNvPr id="120" name="Text 118"/>
          <p:cNvSpPr/>
          <p:nvPr/>
        </p:nvSpPr>
        <p:spPr>
          <a:xfrm>
            <a:off x="6419088" y="2798064"/>
            <a:ext cx="4983480" cy="1783080"/>
          </a:xfrm>
          <a:prstGeom prst="rect">
            <a:avLst/>
          </a:prstGeom>
          <a:noFill/>
          <a:ln/>
        </p:spPr>
        <p:txBody>
          <a:bodyPr wrap="square" lIns="0" tIns="0" rIns="0" bIns="0" rtlCol="0" anchor="t"/>
          <a:lstStyle/>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Busca un número que tu organización publique o reporte de forma recurrente: una tasa, un promedio, un indicador de dashboard.</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Contesta cuatro cosas: ¿de qué muestra sale? ¿esa muestra tiene pesos? ¿el intervalo que se reporta considera el diseño? ¿y alguien puede reproducir el número desde el dato crudo?</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Si no puedes contestar ninguna, ya sabes qué hacer el lunes.</a:t>
            </a:r>
            <a:endParaRPr lang="en-US" sz="1150" dirty="0"/>
          </a:p>
        </p:txBody>
      </p:sp>
      <p:sp>
        <p:nvSpPr>
          <p:cNvPr id="121" name="Shape 119"/>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122" name="Shape 120"/>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123" name="Text 121"/>
          <p:cNvSpPr/>
          <p:nvPr/>
        </p:nvSpPr>
        <p:spPr>
          <a:xfrm>
            <a:off x="1042416" y="5056632"/>
            <a:ext cx="7077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 que este taller demostró</a:t>
            </a:r>
            <a:endParaRPr lang="en-US" sz="1500" dirty="0"/>
          </a:p>
        </p:txBody>
      </p:sp>
      <p:sp>
        <p:nvSpPr>
          <p:cNvPr id="124" name="Text 122"/>
          <p:cNvSpPr/>
          <p:nvPr/>
        </p:nvSpPr>
        <p:spPr>
          <a:xfrm>
            <a:off x="804672" y="5422392"/>
            <a:ext cx="10607040" cy="640080"/>
          </a:xfrm>
          <a:prstGeom prst="rect">
            <a:avLst/>
          </a:prstGeom>
          <a:noFill/>
          <a:ln/>
        </p:spPr>
        <p:txBody>
          <a:bodyPr wrap="square" lIns="0" tIns="0" rIns="0" bIns="0" rtlCol="0" anchor="t"/>
          <a:lstStyle/>
          <a:p>
            <a:pPr algn="l" indent="0" marL="0">
              <a:lnSpc>
                <a:spcPct val="110000"/>
              </a:lnSpc>
              <a:buNone/>
            </a:pPr>
            <a:r>
              <a:rPr lang="en-US" sz="1250" dirty="0">
                <a:solidFill>
                  <a:srgbClr val="C9D6F2"/>
                </a:solidFill>
                <a:latin typeface="Calibri" pitchFamily="34" charset="0"/>
                <a:ea typeface="Calibri" pitchFamily="34" charset="-122"/>
                <a:cs typeface="Calibri" pitchFamily="34" charset="-120"/>
              </a:rPr>
              <a:t>Las seis clases anteriores no fueron ejercicios de pizarra. Cada una apareció hoy con datos del INEI, y en cada punto la decisión metodológica cambió la respuesta: ignorar los pesos movía la cifra 7.4 puntos; ignorar el diseño hacía el intervalo 2.2 veces más angosto, y convertía una caída fronteriza en un titular contundente.</a:t>
            </a:r>
            <a:endParaRPr lang="en-US" sz="1250" dirty="0"/>
          </a:p>
        </p:txBody>
      </p:sp>
      <p:sp>
        <p:nvSpPr>
          <p:cNvPr id="125" name="Text 123"/>
          <p:cNvSpPr/>
          <p:nvPr/>
        </p:nvSpPr>
        <p:spPr>
          <a:xfrm>
            <a:off x="548640" y="6263640"/>
            <a:ext cx="8412480" cy="320040"/>
          </a:xfrm>
          <a:prstGeom prst="rect">
            <a:avLst/>
          </a:prstGeom>
          <a:noFill/>
          <a:ln/>
        </p:spPr>
        <p:txBody>
          <a:bodyPr wrap="square" lIns="0" tIns="0" rIns="0" bIns="0" rtlCol="0" anchor="ctr"/>
          <a:lstStyle/>
          <a:p>
            <a:pPr indent="0" marL="0">
              <a:buNone/>
            </a:pPr>
            <a:r>
              <a:rPr lang="en-US" sz="1050" i="1" dirty="0">
                <a:solidFill>
                  <a:srgbClr val="7C93C4"/>
                </a:solidFill>
                <a:latin typeface="Calibri" pitchFamily="34" charset="0"/>
                <a:ea typeface="Calibri" pitchFamily="34" charset="-122"/>
                <a:cs typeface="Calibri" pitchFamily="34" charset="-120"/>
              </a:rPr>
              <a:t>Estadística Descriptiva e Inferencial · Taller integrador · ENAHO 2023-2024 · INEI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 Pobreza ENAHO</dc:title>
  <dc:subject>PptxGenJS Presentation</dc:subject>
  <dc:creator>Rodrigo</dc:creator>
  <cp:lastModifiedBy>Rodrigo</cp:lastModifiedBy>
  <cp:revision>1</cp:revision>
  <dcterms:created xsi:type="dcterms:W3CDTF">2026-08-18T00:02:29Z</dcterms:created>
  <dcterms:modified xsi:type="dcterms:W3CDTF">2026-08-18T00:02:29Z</dcterms:modified>
</cp:coreProperties>
</file>