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La POBLACIÓN: montos individuales</c:v>
                </c:pt>
              </c:strCache>
            </c:strRef>
          </c:tx>
          <c:spPr>
            <a:solidFill>
              <a:srgbClr val="9BB4E8"/>
            </a:solidFill>
            <a:ln w="38100" cap="flat">
              <a:solidFill>
                <a:srgbClr val="9BB4E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BB4E8"/>
              </a:solidFill>
              <a:ln w="9525" cap="flat">
                <a:solidFill>
                  <a:srgbClr val="9BB4E8"/>
                </a:solidFill>
                <a:prstDash val="solid"/>
                <a:round/>
              </a:ln>
              <a:effectLst/>
            </c:spPr>
          </c:marker>
          <c:cat>
            <c:multiLvlStrRef>
              <c:f>Sheet1!$A$2:$A$92</c:f>
              <c:multiLvlStrCache>
                <c:ptCount val="91"/>
                <c:lvl>
                  <c:pt idx="0">
                    <c:v>0.0k</c:v>
                  </c:pt>
                  <c:pt idx="1">
                    <c:v/>
                  </c:pt>
                  <c:pt idx="2">
                    <c:v/>
                  </c:pt>
                  <c:pt idx="3">
                    <c:v/>
                  </c:pt>
                  <c:pt idx="4">
                    <c:v/>
                  </c:pt>
                  <c:pt idx="5">
                    <c:v/>
                  </c:pt>
                  <c:pt idx="6">
                    <c:v/>
                  </c:pt>
                  <c:pt idx="7">
                    <c:v/>
                  </c:pt>
                  <c:pt idx="8">
                    <c:v/>
                  </c:pt>
                  <c:pt idx="9">
                    <c:v/>
                  </c:pt>
                  <c:pt idx="10">
                    <c:v/>
                  </c:pt>
                  <c:pt idx="11">
                    <c:v/>
                  </c:pt>
                  <c:pt idx="12">
                    <c:v/>
                  </c:pt>
                  <c:pt idx="13">
                    <c:v/>
                  </c:pt>
                  <c:pt idx="14">
                    <c:v/>
                  </c:pt>
                  <c:pt idx="15">
                    <c:v>1.5k</c:v>
                  </c:pt>
                  <c:pt idx="16">
                    <c:v/>
                  </c:pt>
                  <c:pt idx="17">
                    <c:v/>
                  </c:pt>
                  <c:pt idx="18">
                    <c:v/>
                  </c:pt>
                  <c:pt idx="19">
                    <c:v/>
                  </c:pt>
                  <c:pt idx="20">
                    <c:v/>
                  </c:pt>
                  <c:pt idx="21">
                    <c:v/>
                  </c:pt>
                  <c:pt idx="22">
                    <c:v/>
                  </c:pt>
                  <c:pt idx="23">
                    <c:v/>
                  </c:pt>
                  <c:pt idx="24">
                    <c:v/>
                  </c:pt>
                  <c:pt idx="25">
                    <c:v/>
                  </c:pt>
                  <c:pt idx="26">
                    <c:v/>
                  </c:pt>
                  <c:pt idx="27">
                    <c:v/>
                  </c:pt>
                  <c:pt idx="28">
                    <c:v/>
                  </c:pt>
                  <c:pt idx="29">
                    <c:v/>
                  </c:pt>
                  <c:pt idx="30">
                    <c:v>3.0k</c:v>
                  </c:pt>
                  <c:pt idx="31">
                    <c:v/>
                  </c:pt>
                  <c:pt idx="32">
                    <c:v/>
                  </c:pt>
                  <c:pt idx="33">
                    <c:v/>
                  </c:pt>
                  <c:pt idx="34">
                    <c:v/>
                  </c:pt>
                  <c:pt idx="35">
                    <c:v/>
                  </c:pt>
                  <c:pt idx="36">
                    <c:v/>
                  </c:pt>
                  <c:pt idx="37">
                    <c:v/>
                  </c:pt>
                  <c:pt idx="38">
                    <c:v/>
                  </c:pt>
                  <c:pt idx="39">
                    <c:v/>
                  </c:pt>
                  <c:pt idx="40">
                    <c:v/>
                  </c:pt>
                  <c:pt idx="41">
                    <c:v/>
                  </c:pt>
                  <c:pt idx="42">
                    <c:v/>
                  </c:pt>
                  <c:pt idx="43">
                    <c:v/>
                  </c:pt>
                  <c:pt idx="44">
                    <c:v/>
                  </c:pt>
                  <c:pt idx="45">
                    <c:v>4.5k</c:v>
                  </c:pt>
                  <c:pt idx="46">
                    <c:v/>
                  </c:pt>
                  <c:pt idx="47">
                    <c:v/>
                  </c:pt>
                  <c:pt idx="48">
                    <c:v/>
                  </c:pt>
                  <c:pt idx="49">
                    <c:v/>
                  </c:pt>
                  <c:pt idx="50">
                    <c:v/>
                  </c:pt>
                  <c:pt idx="51">
                    <c:v/>
                  </c:pt>
                  <c:pt idx="52">
                    <c:v/>
                  </c:pt>
                  <c:pt idx="53">
                    <c:v/>
                  </c:pt>
                  <c:pt idx="54">
                    <c:v/>
                  </c:pt>
                  <c:pt idx="55">
                    <c:v/>
                  </c:pt>
                  <c:pt idx="56">
                    <c:v/>
                  </c:pt>
                  <c:pt idx="57">
                    <c:v/>
                  </c:pt>
                  <c:pt idx="58">
                    <c:v/>
                  </c:pt>
                  <c:pt idx="59">
                    <c:v/>
                  </c:pt>
                  <c:pt idx="60">
                    <c:v>6.0k</c:v>
                  </c:pt>
                  <c:pt idx="61">
                    <c:v/>
                  </c:pt>
                  <c:pt idx="62">
                    <c:v/>
                  </c:pt>
                  <c:pt idx="63">
                    <c:v/>
                  </c:pt>
                  <c:pt idx="64">
                    <c:v/>
                  </c:pt>
                  <c:pt idx="65">
                    <c:v/>
                  </c:pt>
                  <c:pt idx="66">
                    <c:v/>
                  </c:pt>
                  <c:pt idx="67">
                    <c:v/>
                  </c:pt>
                  <c:pt idx="68">
                    <c:v/>
                  </c:pt>
                  <c:pt idx="69">
                    <c:v/>
                  </c:pt>
                  <c:pt idx="70">
                    <c:v/>
                  </c:pt>
                  <c:pt idx="71">
                    <c:v/>
                  </c:pt>
                  <c:pt idx="72">
                    <c:v/>
                  </c:pt>
                  <c:pt idx="73">
                    <c:v/>
                  </c:pt>
                  <c:pt idx="74">
                    <c:v/>
                  </c:pt>
                  <c:pt idx="75">
                    <c:v>7.5k</c:v>
                  </c:pt>
                  <c:pt idx="76">
                    <c:v/>
                  </c:pt>
                  <c:pt idx="77">
                    <c:v/>
                  </c:pt>
                  <c:pt idx="78">
                    <c:v/>
                  </c:pt>
                  <c:pt idx="79">
                    <c:v/>
                  </c:pt>
                  <c:pt idx="80">
                    <c:v/>
                  </c:pt>
                  <c:pt idx="81">
                    <c:v/>
                  </c:pt>
                  <c:pt idx="82">
                    <c:v/>
                  </c:pt>
                  <c:pt idx="83">
                    <c:v/>
                  </c:pt>
                  <c:pt idx="84">
                    <c:v/>
                  </c:pt>
                  <c:pt idx="85">
                    <c:v/>
                  </c:pt>
                  <c:pt idx="86">
                    <c:v/>
                  </c:pt>
                  <c:pt idx="87">
                    <c:v/>
                  </c:pt>
                  <c:pt idx="88">
                    <c:v/>
                  </c:pt>
                  <c:pt idx="89">
                    <c:v/>
                  </c:pt>
                  <c:pt idx="90">
                    <c:v>9.0k</c:v>
                  </c:pt>
                </c:lvl>
              </c:multiLvlStrCache>
            </c:multiLvlStrRef>
          </c:cat>
          <c:val>
            <c:numRef>
              <c:f>Sheet1!$B$2:$B$92</c:f>
              <c:numCache>
                <c:formatCode>General</c:formatCode>
                <c:ptCount val="91"/>
                <c:pt idx="0">
                  <c:v>0</c:v>
                </c:pt>
                <c:pt idx="1">
                  <c:v>0.0007080962652327843</c:v>
                </c:pt>
                <c:pt idx="2">
                  <c:v>0.018842826904009142</c:v>
                </c:pt>
                <c:pt idx="3">
                  <c:v>0.08153516670226157</c:v>
                </c:pt>
                <c:pt idx="4">
                  <c:v>0.18809054768535355</c:v>
                </c:pt>
                <c:pt idx="5">
                  <c:v>0.3202095719904976</c:v>
                </c:pt>
                <c:pt idx="6">
                  <c:v>0.4586375740335862</c:v>
                </c:pt>
                <c:pt idx="7">
                  <c:v>0.5894000538120165</c:v>
                </c:pt>
                <c:pt idx="8">
                  <c:v>0.7042957069149977</c:v>
                </c:pt>
                <c:pt idx="9">
                  <c:v>0.7995770681733468</c:v>
                </c:pt>
                <c:pt idx="10">
                  <c:v>0.8744496827066296</c:v>
                </c:pt>
                <c:pt idx="11">
                  <c:v>0.9298764888122631</c:v>
                </c:pt>
                <c:pt idx="12">
                  <c:v>0.967746161294453</c:v>
                </c:pt>
                <c:pt idx="13">
                  <c:v>0.9903382227266369</c:v>
                </c:pt>
                <c:pt idx="14">
                  <c:v>1</c:v>
                </c:pt>
                <c:pt idx="15">
                  <c:v>0.9989647443391394</c:v>
                </c:pt>
                <c:pt idx="16">
                  <c:v>0.9892595895305984</c:v>
                </c:pt>
                <c:pt idx="17">
                  <c:v>0.9726684656320632</c:v>
                </c:pt>
                <c:pt idx="18">
                  <c:v>0.9507271832395718</c:v>
                </c:pt>
                <c:pt idx="19">
                  <c:v>0.9247362299593596</c:v>
                </c:pt>
                <c:pt idx="20">
                  <c:v>0.895782340624881</c:v>
                </c:pt>
                <c:pt idx="21">
                  <c:v>0.8647634733713738</c:v>
                </c:pt>
                <c:pt idx="22">
                  <c:v>0.8324140899790716</c:v>
                </c:pt>
                <c:pt idx="23">
                  <c:v>0.7993290521755096</c:v>
                </c:pt>
                <c:pt idx="24">
                  <c:v>0.7659853096839021</c:v>
                </c:pt>
                <c:pt idx="25">
                  <c:v>0.7327610707725252</c:v>
                </c:pt>
                <c:pt idx="26">
                  <c:v>0.6999524417486229</c:v>
                </c:pt>
                <c:pt idx="27">
                  <c:v>0.6677876816741745</c:v>
                </c:pt>
                <c:pt idx="28">
                  <c:v>0.636439295707146</c:v>
                </c:pt>
                <c:pt idx="29">
                  <c:v>0.6060342184696935</c:v>
                </c:pt>
                <c:pt idx="30">
                  <c:v>0.5766623387291744</c:v>
                </c:pt>
                <c:pt idx="31">
                  <c:v>0.5483836014414648</c:v>
                </c:pt>
                <c:pt idx="32">
                  <c:v>0.5212339007477269</c:v>
                </c:pt>
                <c:pt idx="33">
                  <c:v>0.4952299525209316</c:v>
                </c:pt>
                <c:pt idx="34">
                  <c:v>0.4703733102028105</c:v>
                </c:pt>
                <c:pt idx="35">
                  <c:v>0.44665366438880016</c:v>
                </c:pt>
                <c:pt idx="36">
                  <c:v>0.42405154558595193</c:v>
                </c:pt>
                <c:pt idx="37">
                  <c:v>0.4025405310170556</c:v>
                </c:pt>
                <c:pt idx="38">
                  <c:v>0.38208904024824425</c:v>
                </c:pt>
                <c:pt idx="39">
                  <c:v>0.362661790615767</c:v>
                </c:pt>
                <c:pt idx="40">
                  <c:v>0.34422097169520904</c:v>
                </c:pt>
                <c:pt idx="41">
                  <c:v>0.32672718814700186</c:v>
                </c:pt>
                <c:pt idx="42">
                  <c:v>0.3101402119428662</c:v>
                </c:pt>
                <c:pt idx="43">
                  <c:v>0.2944195780027311</c:v>
                </c:pt>
                <c:pt idx="44">
                  <c:v>0.27952505144691087</c:v>
                </c:pt>
                <c:pt idx="45">
                  <c:v>0.26541698981477907</c:v>
                </c:pt>
                <c:pt idx="46">
                  <c:v>0.2520566195635657</c:v>
                </c:pt>
                <c:pt idx="47">
                  <c:v>0.23940624280642134</c:v>
                </c:pt>
                <c:pt idx="48">
                  <c:v>0.2274293874646758</c:v>
                </c:pt>
                <c:pt idx="49">
                  <c:v>0.21609091170017508</c:v>
                </c:pt>
                <c:pt idx="50">
                  <c:v>0.20535707157974684</c:v>
                </c:pt>
                <c:pt idx="51">
                  <c:v>0.19519555933845098</c:v>
                </c:pt>
                <c:pt idx="52">
                  <c:v>0.18557551829549362</c:v>
                </c:pt>
                <c:pt idx="53">
                  <c:v>0.17646753939010826</c:v>
                </c:pt>
                <c:pt idx="54">
                  <c:v>0.16784364340574123</c:v>
                </c:pt>
                <c:pt idx="55">
                  <c:v>0.15967725220743323</c:v>
                </c:pt>
                <c:pt idx="56">
                  <c:v>0.1519431517027642</c:v>
                </c:pt>
                <c:pt idx="57">
                  <c:v>0.14461744872909535</c:v>
                </c:pt>
                <c:pt idx="58">
                  <c:v>0.13767752365071534</c:v>
                </c:pt>
                <c:pt idx="59">
                  <c:v>0.13110198010382582</c:v>
                </c:pt>
                <c:pt idx="60">
                  <c:v>0.12487059304239224</c:v>
                </c:pt>
                <c:pt idx="61">
                  <c:v>0.1189642560034068</c:v>
                </c:pt>
                <c:pt idx="62">
                  <c:v>0.11336492831737281</c:v>
                </c:pt>
                <c:pt idx="63">
                  <c:v>0.10805558283165717</c:v>
                </c:pt>
                <c:pt idx="64">
                  <c:v>0.10302015458485364</c:v>
                </c:pt>
                <c:pt idx="65">
                  <c:v>0.09824349076449435</c:v>
                </c:pt>
                <c:pt idx="66">
                  <c:v>0.09371130219426804</c:v>
                </c:pt>
                <c:pt idx="67">
                  <c:v>0.08941011652695104</c:v>
                </c:pt>
                <c:pt idx="68">
                  <c:v>0.0853272332627109</c:v>
                </c:pt>
                <c:pt idx="69">
                  <c:v>0.08145068066697839</c:v>
                </c:pt>
                <c:pt idx="70">
                  <c:v>0.07776917462573257</c:v>
                </c:pt>
                <c:pt idx="71">
                  <c:v>0.07427207944723548</c:v>
                </c:pt>
                <c:pt idx="72">
                  <c:v>0.07094937059661094</c:v>
                </c:pt>
                <c:pt idx="73">
                  <c:v>0.06779159933210564</c:v>
                </c:pt>
                <c:pt idx="74">
                  <c:v>0.06478985919846524</c:v>
                </c:pt>
                <c:pt idx="75">
                  <c:v>0.06193575432284477</c:v>
                </c:pt>
                <c:pt idx="76">
                  <c:v>0.059221369451426184</c:v>
                </c:pt>
                <c:pt idx="77">
                  <c:v>0.056639241659894944</c:v>
                </c:pt>
                <c:pt idx="78">
                  <c:v>0.05418233366772276</c:v>
                </c:pt>
                <c:pt idx="79">
                  <c:v>0.05184400868443659</c:v>
                </c:pt>
                <c:pt idx="80">
                  <c:v>0.04961800671544466</c:v>
                </c:pt>
                <c:pt idx="81">
                  <c:v>0.04749842225527986</c:v>
                </c:pt>
                <c:pt idx="82">
                  <c:v>0.04547968329712716</c:v>
                </c:pt>
                <c:pt idx="83">
                  <c:v>0.04355653158904653</c:v>
                </c:pt>
                <c:pt idx="84">
                  <c:v>0.04172400406925583</c:v>
                </c:pt>
                <c:pt idx="85">
                  <c:v>0.03997741541509038</c:v>
                </c:pt>
                <c:pt idx="86">
                  <c:v>0.03831234164272513</c:v>
                </c:pt>
                <c:pt idx="87">
                  <c:v>0.03672460469733888</c:v>
                </c:pt>
                <c:pt idx="88">
                  <c:v>0.03521025797609021</c:v>
                </c:pt>
                <c:pt idx="89">
                  <c:v>0.033765572728984804</c:v>
                </c:pt>
                <c:pt idx="90">
                  <c:v>0.03238702528543057</c:v>
                </c:pt>
              </c:numCache>
            </c:numRef>
          </c:val>
          <c:smooth val="1"/>
        </c:ser>
        <c:ser>
          <c:idx val="1"/>
          <c:order val="1"/>
          <c:tx>
            <c:strRef>
              <c:f>Sheet1!$C$1</c:f>
              <c:strCache>
                <c:ptCount val="1"/>
                <c:pt idx="0">
                  <c:v>La DISTRIBUCIÓN MUESTRAL de x̄ con n = 40</c:v>
                </c:pt>
              </c:strCache>
            </c:strRef>
          </c:tx>
          <c:spPr>
            <a:solidFill>
              <a:srgbClr val="E6115E"/>
            </a:solidFill>
            <a:ln w="38100" cap="flat">
              <a:solidFill>
                <a:srgbClr val="E6115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6115E"/>
              </a:solidFill>
              <a:ln w="9525" cap="flat">
                <a:solidFill>
                  <a:srgbClr val="E6115E"/>
                </a:solidFill>
                <a:prstDash val="solid"/>
                <a:round/>
              </a:ln>
              <a:effectLst/>
            </c:spPr>
          </c:marker>
          <c:cat>
            <c:multiLvlStrRef>
              <c:f>Sheet1!$A$2:$A$92</c:f>
              <c:multiLvlStrCache>
                <c:ptCount val="91"/>
                <c:lvl>
                  <c:pt idx="0">
                    <c:v>0.0k</c:v>
                  </c:pt>
                  <c:pt idx="1">
                    <c:v/>
                  </c:pt>
                  <c:pt idx="2">
                    <c:v/>
                  </c:pt>
                  <c:pt idx="3">
                    <c:v/>
                  </c:pt>
                  <c:pt idx="4">
                    <c:v/>
                  </c:pt>
                  <c:pt idx="5">
                    <c:v/>
                  </c:pt>
                  <c:pt idx="6">
                    <c:v/>
                  </c:pt>
                  <c:pt idx="7">
                    <c:v/>
                  </c:pt>
                  <c:pt idx="8">
                    <c:v/>
                  </c:pt>
                  <c:pt idx="9">
                    <c:v/>
                  </c:pt>
                  <c:pt idx="10">
                    <c:v/>
                  </c:pt>
                  <c:pt idx="11">
                    <c:v/>
                  </c:pt>
                  <c:pt idx="12">
                    <c:v/>
                  </c:pt>
                  <c:pt idx="13">
                    <c:v/>
                  </c:pt>
                  <c:pt idx="14">
                    <c:v/>
                  </c:pt>
                  <c:pt idx="15">
                    <c:v>1.5k</c:v>
                  </c:pt>
                  <c:pt idx="16">
                    <c:v/>
                  </c:pt>
                  <c:pt idx="17">
                    <c:v/>
                  </c:pt>
                  <c:pt idx="18">
                    <c:v/>
                  </c:pt>
                  <c:pt idx="19">
                    <c:v/>
                  </c:pt>
                  <c:pt idx="20">
                    <c:v/>
                  </c:pt>
                  <c:pt idx="21">
                    <c:v/>
                  </c:pt>
                  <c:pt idx="22">
                    <c:v/>
                  </c:pt>
                  <c:pt idx="23">
                    <c:v/>
                  </c:pt>
                  <c:pt idx="24">
                    <c:v/>
                  </c:pt>
                  <c:pt idx="25">
                    <c:v/>
                  </c:pt>
                  <c:pt idx="26">
                    <c:v/>
                  </c:pt>
                  <c:pt idx="27">
                    <c:v/>
                  </c:pt>
                  <c:pt idx="28">
                    <c:v/>
                  </c:pt>
                  <c:pt idx="29">
                    <c:v/>
                  </c:pt>
                  <c:pt idx="30">
                    <c:v>3.0k</c:v>
                  </c:pt>
                  <c:pt idx="31">
                    <c:v/>
                  </c:pt>
                  <c:pt idx="32">
                    <c:v/>
                  </c:pt>
                  <c:pt idx="33">
                    <c:v/>
                  </c:pt>
                  <c:pt idx="34">
                    <c:v/>
                  </c:pt>
                  <c:pt idx="35">
                    <c:v/>
                  </c:pt>
                  <c:pt idx="36">
                    <c:v/>
                  </c:pt>
                  <c:pt idx="37">
                    <c:v/>
                  </c:pt>
                  <c:pt idx="38">
                    <c:v/>
                  </c:pt>
                  <c:pt idx="39">
                    <c:v/>
                  </c:pt>
                  <c:pt idx="40">
                    <c:v/>
                  </c:pt>
                  <c:pt idx="41">
                    <c:v/>
                  </c:pt>
                  <c:pt idx="42">
                    <c:v/>
                  </c:pt>
                  <c:pt idx="43">
                    <c:v/>
                  </c:pt>
                  <c:pt idx="44">
                    <c:v/>
                  </c:pt>
                  <c:pt idx="45">
                    <c:v>4.5k</c:v>
                  </c:pt>
                  <c:pt idx="46">
                    <c:v/>
                  </c:pt>
                  <c:pt idx="47">
                    <c:v/>
                  </c:pt>
                  <c:pt idx="48">
                    <c:v/>
                  </c:pt>
                  <c:pt idx="49">
                    <c:v/>
                  </c:pt>
                  <c:pt idx="50">
                    <c:v/>
                  </c:pt>
                  <c:pt idx="51">
                    <c:v/>
                  </c:pt>
                  <c:pt idx="52">
                    <c:v/>
                  </c:pt>
                  <c:pt idx="53">
                    <c:v/>
                  </c:pt>
                  <c:pt idx="54">
                    <c:v/>
                  </c:pt>
                  <c:pt idx="55">
                    <c:v/>
                  </c:pt>
                  <c:pt idx="56">
                    <c:v/>
                  </c:pt>
                  <c:pt idx="57">
                    <c:v/>
                  </c:pt>
                  <c:pt idx="58">
                    <c:v/>
                  </c:pt>
                  <c:pt idx="59">
                    <c:v/>
                  </c:pt>
                  <c:pt idx="60">
                    <c:v>6.0k</c:v>
                  </c:pt>
                  <c:pt idx="61">
                    <c:v/>
                  </c:pt>
                  <c:pt idx="62">
                    <c:v/>
                  </c:pt>
                  <c:pt idx="63">
                    <c:v/>
                  </c:pt>
                  <c:pt idx="64">
                    <c:v/>
                  </c:pt>
                  <c:pt idx="65">
                    <c:v/>
                  </c:pt>
                  <c:pt idx="66">
                    <c:v/>
                  </c:pt>
                  <c:pt idx="67">
                    <c:v/>
                  </c:pt>
                  <c:pt idx="68">
                    <c:v/>
                  </c:pt>
                  <c:pt idx="69">
                    <c:v/>
                  </c:pt>
                  <c:pt idx="70">
                    <c:v/>
                  </c:pt>
                  <c:pt idx="71">
                    <c:v/>
                  </c:pt>
                  <c:pt idx="72">
                    <c:v/>
                  </c:pt>
                  <c:pt idx="73">
                    <c:v/>
                  </c:pt>
                  <c:pt idx="74">
                    <c:v/>
                  </c:pt>
                  <c:pt idx="75">
                    <c:v>7.5k</c:v>
                  </c:pt>
                  <c:pt idx="76">
                    <c:v/>
                  </c:pt>
                  <c:pt idx="77">
                    <c:v/>
                  </c:pt>
                  <c:pt idx="78">
                    <c:v/>
                  </c:pt>
                  <c:pt idx="79">
                    <c:v/>
                  </c:pt>
                  <c:pt idx="80">
                    <c:v/>
                  </c:pt>
                  <c:pt idx="81">
                    <c:v/>
                  </c:pt>
                  <c:pt idx="82">
                    <c:v/>
                  </c:pt>
                  <c:pt idx="83">
                    <c:v/>
                  </c:pt>
                  <c:pt idx="84">
                    <c:v/>
                  </c:pt>
                  <c:pt idx="85">
                    <c:v/>
                  </c:pt>
                  <c:pt idx="86">
                    <c:v/>
                  </c:pt>
                  <c:pt idx="87">
                    <c:v/>
                  </c:pt>
                  <c:pt idx="88">
                    <c:v/>
                  </c:pt>
                  <c:pt idx="89">
                    <c:v/>
                  </c:pt>
                  <c:pt idx="90">
                    <c:v>9.0k</c:v>
                  </c:pt>
                </c:lvl>
              </c:multiLvlStrCache>
            </c:multiLvlStrRef>
          </c:cat>
          <c:val>
            <c:numRef>
              <c:f>Sheet1!$C$2:$C$92</c:f>
              <c:numCache>
                <c:formatCode>General</c:formatCode>
                <c:ptCount val="91"/>
                <c:pt idx="0">
                  <c:v>1.8339049789235388e-14</c:v>
                </c:pt>
                <c:pt idx="1">
                  <c:v>1.4584407588399273e-13</c:v>
                </c:pt>
                <c:pt idx="2">
                  <c:v>1.0811225529242848e-12</c:v>
                </c:pt>
                <c:pt idx="3">
                  <c:v>7.470251647408333e-12</c:v>
                </c:pt>
                <c:pt idx="4">
                  <c:v>4.8113805425810396e-11</c:v>
                </c:pt>
                <c:pt idx="5">
                  <c:v>2.8885397866886196e-10</c:v>
                </c:pt>
                <c:pt idx="6">
                  <c:v>1.616445888560371e-9</c:v>
                </c:pt>
                <c:pt idx="7">
                  <c:v>8.431758492558332e-9</c:v>
                </c:pt>
                <c:pt idx="8">
                  <c:v>4.099673939651277e-8</c:v>
                </c:pt>
                <c:pt idx="9">
                  <c:v>1.858038234016622e-7</c:v>
                </c:pt>
                <c:pt idx="10">
                  <c:v>7.84935816787345e-7</c:v>
                </c:pt>
                <c:pt idx="11">
                  <c:v>0.0000030909203737683288</c:v>
                </c:pt>
                <c:pt idx="12">
                  <c:v>0.00001134529149353016</c:v>
                </c:pt>
                <c:pt idx="13">
                  <c:v>0.00003881661596074774</c:v>
                </c:pt>
                <c:pt idx="14">
                  <c:v>0.00012379236321097948</c:v>
                </c:pt>
                <c:pt idx="15">
                  <c:v>0.00036799693999327657</c:v>
                </c:pt>
                <c:pt idx="16">
                  <c:v>0.001019691341926387</c:v>
                </c:pt>
                <c:pt idx="17">
                  <c:v>0.002633706811117748</c:v>
                </c:pt>
                <c:pt idx="18">
                  <c:v>0.006340745070433715</c:v>
                </c:pt>
                <c:pt idx="19">
                  <c:v>0.014229424291469695</c:v>
                </c:pt>
                <c:pt idx="20">
                  <c:v>0.029765181603859454</c:v>
                </c:pt>
                <c:pt idx="21">
                  <c:v>0.05803686095333104</c:v>
                </c:pt>
                <c:pt idx="22">
                  <c:v>0.10548081177375383</c:v>
                </c:pt>
                <c:pt idx="23">
                  <c:v>0.17869696765792908</c:v>
                </c:pt>
                <c:pt idx="24">
                  <c:v>0.2821857464246965</c:v>
                </c:pt>
                <c:pt idx="25">
                  <c:v>0.4153623559790301</c:v>
                </c:pt>
                <c:pt idx="26">
                  <c:v>0.5698930568131058</c:v>
                </c:pt>
                <c:pt idx="27">
                  <c:v>0.7288426328647977</c:v>
                </c:pt>
                <c:pt idx="28">
                  <c:v>0.8688570741779273</c:v>
                </c:pt>
                <c:pt idx="29">
                  <c:v>0.9654662248925662</c:v>
                </c:pt>
                <c:pt idx="30">
                  <c:v>1</c:v>
                </c:pt>
                <c:pt idx="31">
                  <c:v>0.9654662248925627</c:v>
                </c:pt>
                <c:pt idx="32">
                  <c:v>0.8688570741779207</c:v>
                </c:pt>
                <c:pt idx="33">
                  <c:v>0.7288426328647892</c:v>
                </c:pt>
                <c:pt idx="34">
                  <c:v>0.5698930568130969</c:v>
                </c:pt>
                <c:pt idx="35">
                  <c:v>0.41536235597902216</c:v>
                </c:pt>
                <c:pt idx="36">
                  <c:v>0.28218574642469</c:v>
                </c:pt>
                <c:pt idx="37">
                  <c:v>0.1786969676579243</c:v>
                </c:pt>
                <c:pt idx="38">
                  <c:v>0.1054808117737507</c:v>
                </c:pt>
                <c:pt idx="39">
                  <c:v>0.05803686095332901</c:v>
                </c:pt>
                <c:pt idx="40">
                  <c:v>0.029765181603858288</c:v>
                </c:pt>
                <c:pt idx="41">
                  <c:v>0.014229424291469114</c:v>
                </c:pt>
                <c:pt idx="42">
                  <c:v>0.006340745070433423</c:v>
                </c:pt>
                <c:pt idx="43">
                  <c:v>0.0026337068111176192</c:v>
                </c:pt>
                <c:pt idx="44">
                  <c:v>0.0010196913419263328</c:v>
                </c:pt>
                <c:pt idx="45">
                  <c:v>0.0003679969399932553</c:v>
                </c:pt>
                <c:pt idx="46">
                  <c:v>0.000123792363210972</c:v>
                </c:pt>
                <c:pt idx="47">
                  <c:v>0.00003881661596074526</c:v>
                </c:pt>
                <c:pt idx="48">
                  <c:v>0.000011345291493529395</c:v>
                </c:pt>
                <c:pt idx="49">
                  <c:v>0.0000030909203737680925</c:v>
                </c:pt>
                <c:pt idx="50">
                  <c:v>7.849358167872849e-7</c:v>
                </c:pt>
                <c:pt idx="51">
                  <c:v>1.858038234016477e-7</c:v>
                </c:pt>
                <c:pt idx="52">
                  <c:v>4.099673939650928e-8</c:v>
                </c:pt>
                <c:pt idx="53">
                  <c:v>8.431758492557614e-9</c:v>
                </c:pt>
                <c:pt idx="54">
                  <c:v>1.6164458885602159e-9</c:v>
                </c:pt>
                <c:pt idx="55">
                  <c:v>2.8885397866883327e-10</c:v>
                </c:pt>
                <c:pt idx="56">
                  <c:v>4.8113805425805614e-11</c:v>
                </c:pt>
                <c:pt idx="57">
                  <c:v>7.470251647407564e-12</c:v>
                </c:pt>
                <c:pt idx="58">
                  <c:v>1.0811225529241697e-12</c:v>
                </c:pt>
                <c:pt idx="59">
                  <c:v>1.4584407588397564e-13</c:v>
                </c:pt>
                <c:pt idx="60">
                  <c:v>1.8339049789233173e-14</c:v>
                </c:pt>
                <c:pt idx="61">
                  <c:v>2.149507857078364e-15</c:v>
                </c:pt>
                <c:pt idx="62">
                  <c:v>2.3484180785704225e-16</c:v>
                </c:pt>
                <c:pt idx="63">
                  <c:v>2.3915857871378935e-17</c:v>
                </c:pt>
                <c:pt idx="64">
                  <c:v>2.270234312452909e-18</c:v>
                </c:pt>
                <c:pt idx="65">
                  <c:v>2.0087670389906696e-19</c:v>
                </c:pt>
                <c:pt idx="66">
                  <c:v>1.656771574201071e-20</c:v>
                </c:pt>
                <c:pt idx="67">
                  <c:v>1.2737079700129314e-21</c:v>
                </c:pt>
                <c:pt idx="68">
                  <c:v>9.12748796129024e-23</c:v>
                </c:pt>
                <c:pt idx="69">
                  <c:v>6.096868695738065e-24</c:v>
                </c:pt>
                <c:pt idx="70">
                  <c:v>3.7960907477257495e-25</c:v>
                </c:pt>
                <c:pt idx="71">
                  <c:v>2.2031319089198225e-26</c:v>
                </c:pt>
                <c:pt idx="72">
                  <c:v>1.1918417263564366e-27</c:v>
                </c:pt>
                <c:pt idx="73">
                  <c:v>6.009949768008237e-29</c:v>
                </c:pt>
                <c:pt idx="74">
                  <c:v>2.8248622110114827e-30</c:v>
                </c:pt>
                <c:pt idx="75">
                  <c:v>1.2376500581553924e-31</c:v>
                </c:pt>
                <c:pt idx="76">
                  <c:v>5.054435221252457e-33</c:v>
                </c:pt>
                <c:pt idx="77">
                  <c:v>1.9240731269835084e-34</c:v>
                </c:pt>
                <c:pt idx="78">
                  <c:v>6.827232355967186e-36</c:v>
                </c:pt>
                <c:pt idx="79">
                  <c:v>2.2580937269510744e-37</c:v>
                </c:pt>
                <c:pt idx="80">
                  <c:v>6.961669722699212e-39</c:v>
                </c:pt>
                <c:pt idx="81">
                  <c:v>2.0005943479816392e-40</c:v>
                </c:pt>
                <c:pt idx="82">
                  <c:v>5.3589392057278736e-42</c:v>
                </c:pt>
                <c:pt idx="83">
                  <c:v>1.3380513904997525e-43</c:v>
                </c:pt>
                <c:pt idx="84">
                  <c:v>3.1141600415093345e-45</c:v>
                </c:pt>
                <c:pt idx="85">
                  <c:v>6.755900314478273e-47</c:v>
                </c:pt>
                <c:pt idx="86">
                  <c:v>1.3661541585287491e-48</c:v>
                </c:pt>
                <c:pt idx="87">
                  <c:v>2.5750778002660955e-50</c:v>
                </c:pt>
                <c:pt idx="88">
                  <c:v>4.524339350175443e-52</c:v>
                </c:pt>
                <c:pt idx="89">
                  <c:v>7.409589697263779e-54</c:v>
                </c:pt>
                <c:pt idx="90">
                  <c:v>1.1311164497832724e-55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B6B87"/>
                    </a:solidFill>
                    <a:latin typeface="Arial"/>
                  </a:defRPr>
                </a:pPr>
                <a:r>
                  <a:rPr sz="1000" b="0" i="0" u="none" strike="noStrike">
                    <a:solidFill>
                      <a:srgbClr val="5B6B87"/>
                    </a:solidFill>
                    <a:latin typeface="Arial"/>
                  </a:rPr>
                  <a:t>soles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1E8F5"/>
              </a:solidFill>
              <a:prstDash val="solid"/>
              <a:round/>
            </a:ln>
          </c:spPr>
        </c:majorGridlines>
        <c:title>
          <c:tx>
            <c:rich>
              <a:bodyPr/>
              <a:lstStyle/>
              <a:p>
                <a:pPr>
                  <a:defRPr sz="900" b="0" i="0" u="none" strike="noStrike">
                    <a:solidFill>
                      <a:srgbClr val="5B6B87"/>
                    </a:solidFill>
                    <a:latin typeface="Arial"/>
                  </a:defRPr>
                </a:pPr>
                <a:r>
                  <a:rPr sz="900" b="0" i="0" u="none" strike="noStrike">
                    <a:solidFill>
                      <a:srgbClr val="5B6B87"/>
                    </a:solidFill>
                    <a:latin typeface="Arial"/>
                  </a:rPr>
                  <a:t>densidad (cada curva escalada a su propio máximo)</a:t>
                </a:r>
              </a:p>
            </c:rich>
          </c:tx>
          <c:layout/>
          <c:overlay val="0"/>
        </c:title>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C3A55"/>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EE</c:v>
                </c:pt>
              </c:strCache>
            </c:strRef>
          </c:tx>
          <c:spPr>
            <a:solidFill>
              <a:srgbClr val="E6115E"/>
            </a:solidFill>
            <a:ln w="40640" cap="flat">
              <a:solidFill>
                <a:srgbClr val="E6115E"/>
              </a:solidFill>
              <a:prstDash val="solid"/>
              <a:round/>
            </a:ln>
            <a:effectLst/>
          </c:spPr>
          <c:invertIfNegative val="0"/>
          <c:dLbls>
            <c:numFmt formatCode="0" sourceLinked="0"/>
            <c:txPr>
              <a:bodyPr/>
              <a:lstStyle/>
              <a:p>
                <a:pPr>
                  <a:defRPr b="1" i="0" strike="noStrike" sz="1000" u="none">
                    <a:solidFill>
                      <a:srgbClr val="0A2559"/>
                    </a:solidFill>
                    <a:latin typeface="Arial"/>
                  </a:defRPr>
                </a:pPr>
              </a:p>
            </c:txPr>
            <c:dLblPos val="t"/>
            <c:showLegendKey val="0"/>
            <c:showVal val="1"/>
            <c:showCatName val="0"/>
            <c:showSerName val="0"/>
            <c:showPercent val="0"/>
            <c:showBubbleSize val="0"/>
            <c:showLeaderLines val="0"/>
          </c:dLbls>
          <c:marker>
            <c:symbol val="circle"/>
            <c:size val="7"/>
            <c:spPr>
              <a:solidFill>
                <a:srgbClr val="E6115E"/>
              </a:solidFill>
              <a:ln w="9525" cap="flat">
                <a:solidFill>
                  <a:srgbClr val="E6115E"/>
                </a:solidFill>
                <a:prstDash val="solid"/>
                <a:round/>
              </a:ln>
              <a:effectLst/>
            </c:spPr>
          </c:marker>
          <c:cat>
            <c:multiLvlStrRef>
              <c:f>Sheet1!$A$2:$A$9</c:f>
              <c:multiLvlStrCache>
                <c:ptCount val="8"/>
                <c:lvl>
                  <c:pt idx="0">
                    <c:v>10</c:v>
                  </c:pt>
                  <c:pt idx="1">
                    <c:v>25</c:v>
                  </c:pt>
                  <c:pt idx="2">
                    <c:v>50</c:v>
                  </c:pt>
                  <c:pt idx="3">
                    <c:v>100</c:v>
                  </c:pt>
                  <c:pt idx="4">
                    <c:v>200</c:v>
                  </c:pt>
                  <c:pt idx="5">
                    <c:v>400</c:v>
                  </c:pt>
                  <c:pt idx="6">
                    <c:v>800</c:v>
                  </c:pt>
                  <c:pt idx="7">
                    <c:v>1600</c:v>
                  </c:pt>
                </c:lvl>
              </c:multiLvlStrCache>
            </c:multiLvlStrRef>
          </c:cat>
          <c:val>
            <c:numRef>
              <c:f>Sheet1!$B$2:$B$9</c:f>
              <c:numCache>
                <c:formatCode>General</c:formatCode>
                <c:ptCount val="8"/>
                <c:pt idx="0">
                  <c:v>754.4</c:v>
                </c:pt>
                <c:pt idx="1">
                  <c:v>477.1</c:v>
                </c:pt>
                <c:pt idx="2">
                  <c:v>337.4</c:v>
                </c:pt>
                <c:pt idx="3">
                  <c:v>238.6</c:v>
                </c:pt>
                <c:pt idx="4">
                  <c:v>168.7</c:v>
                </c:pt>
                <c:pt idx="5">
                  <c:v>119.3</c:v>
                </c:pt>
                <c:pt idx="6">
                  <c:v>84.3</c:v>
                </c:pt>
                <c:pt idx="7">
                  <c:v>59.6</c:v>
                </c:pt>
              </c:numCache>
            </c:numRef>
          </c:val>
          <c:smooth val="1"/>
        </c:ser>
        <c:dLbls>
          <c:numFmt formatCode="0" sourceLinked="0"/>
          <c:txPr>
            <a:bodyPr/>
            <a:lstStyle/>
            <a:p>
              <a:pPr>
                <a:defRPr b="1" i="0" strike="noStrike" sz="1000" u="none">
                  <a:solidFill>
                    <a:srgbClr val="0A2559"/>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B6B87"/>
                    </a:solidFill>
                    <a:latin typeface="Arial"/>
                  </a:defRPr>
                </a:pPr>
                <a:r>
                  <a:rPr sz="1000" b="0" i="0" u="none" strike="noStrike">
                    <a:solidFill>
                      <a:srgbClr val="5B6B87"/>
                    </a:solidFill>
                    <a:latin typeface="Arial"/>
                  </a:rPr>
                  <a:t>tamaño de la muestra (n)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C3A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1E8F5"/>
              </a:solidFill>
              <a:prstDash val="solid"/>
              <a:round/>
            </a:ln>
          </c:spPr>
        </c:majorGridlines>
        <c:title>
          <c:tx>
            <c:rich>
              <a:bodyPr/>
              <a:lstStyle/>
              <a:p>
                <a:pPr>
                  <a:defRPr sz="1000" b="0" i="0" u="none" strike="noStrike">
                    <a:solidFill>
                      <a:srgbClr val="5B6B87"/>
                    </a:solidFill>
                    <a:latin typeface="Arial"/>
                  </a:defRPr>
                </a:pPr>
                <a:r>
                  <a:rPr sz="1000" b="0" i="0" u="none" strike="noStrike">
                    <a:solidFill>
                      <a:srgbClr val="5B6B87"/>
                    </a:solidFill>
                    <a:latin typeface="Arial"/>
                  </a:rPr>
                  <a:t>error estándar de x̄ (S/)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Arranca con esto: 'todo lo que hicieron en las tres primeras clases fue describir. Hoy empieza inferir, que es afirmar algo sobre lo que NO midieron.' Y la pregunta del título es literal: es la pregunta que un comité hace siempre y la que hoy aprenden a contestar con un número. Si alguien trajo el reto de la Clase 3 (curtosis y % fuera de ±3σ), pídelo ahora y úsalo: engancha directo con la slide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de la tarjeta blanca es que la Clase 3 no fue contenido desechable: el σ/√n que midieron en el bloque 3 es literalmente el error estándar de hoy. Dilo así de explícito. La tarjeta oscura es la pregunta operativa de toda la sesión: 3 125 no es la respuesta, es el centro de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bloque 4 (proporciones y tamaño de muestra) es el que se comprime si vienen retrasados: es el más autocontenido y el notebook lo cubre entero. Los bloques 2 y 3 no se tocan: son la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Dedícale tiempo real a esta slide: 4 minutos, no 1. Es la que decide si el resto de la sesión se entiende. Truco que funciona: pregunta '¿μ cambia si tomo otra muestra?'. No — μ es un número fijo del mundo que no conocemos. '¿Y x̄?' Sí, cambia con cada muestra. Por eso x̄ tiene distribución y μ no. Esa asimetría es toda la inferencia clásica. El EE es el concepto nuevo del día: no es la dispersión de los datos, es la dispersión del estimador.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tabla es el corazón de la slide. Señala las tres x̄ y di: 'las tres son correctas y las tres son distintas. Ninguna es μ.' Después señala la última fila: 'esto es lo que buscamos y esto es lo que nunca vemos.' Pregunta al grupo: '¿cuál de las tres muestras está bien?'. Todas. Eso es lo perturbador y hay que dejarlo perturbar 20 segundos. Si alguien nota que las tres x̄ quedaron por DEBAJO de μ, es una observación excelente y hay que premiarla: con una población asimétrica, más de la mitad de las muestras cae por debajo de la media, porque la media está arrastrada por la cola derecha. Eso mismo es lo que va a romper la cobertura del intervalo en la slide 17 — anúncialo y déjalo pendiente.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cuatro tarjetas van rápido: 90 segundos en total, no más. La tarjeta oscura es la slide. La frase que hay que decir despacio: 'aumentar n no arregla el sesgo; lo esconde, porque te da un intervalo más angosto alrededor del número equivocado.' Los tres ejemplos del final son de su trabajo real — el primero (revisar solo lo que ya alertó el sistema) le pasa a todo equipo de fraude. Pregunta si alguien lo reconoce. Suele haber silencio culpable.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minutos y es el caso más rentable del módulo. La estructura del argumento: 2.3 millones contra 50 000, y ganó el chico. Deja que alguien diga 'entonces el tamaño no importa' — y corrígelo: el tamaño importa MUCHO, pero solo después de que el muestreo sea correcto. Primero exactitud, después precisión. La frase de cierre ('la precisión no es exactitud') es la que quiero que anoten.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slide del bloque 2 y el concepto que más cuesta. Guion: señala la curva clara y di 'esto es lo que ves cuando abres tu tabla'. Señala la magenta: 'esto es lo que NO ves nunca, porque solo tomas una muestra — pero es la que te permite hacer inferencia'. Si alguien pregunta cómo la conocemos si nunca la vemos: la conocemos por teoría (el TLC nos da su forma y el σ/√n su ancho). Ese es el regalo de la Clase 3 y hay que cobrarlo aquí.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gráfico se lee en la caída: entre n=10 y n=100 el EE se desploma; entre n=800 y n=1600 casi no se mueve. Ahí está toda la economía del muestreo. La tabla es la herramienta que se van a llevar a una reunión de presupuesto. Y el 29 % de la última fila (1 − 1/√2) es el número que sorprende: duplicar la muestra NO reduce el error a la mitad.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cuadros de arriba son 90 segundos. La tarjeta oscura es lo que nadie les explicó nunca. La mayoría copia ddof=1 de un ejemplo de Stack Overflow sin saber por qué. Aquí lo ven medido: dividir entre n subestima la varianza en un 20 % con n=5. No es teoría, es un número. Si preguntan de dónde sale exactamente el n−1: E[Σ(x−x̄)²] = (n−1)σ². Basta con decirlo, no lo derives.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Haz el cálculo completo en la pizarra, los tres pasos, mientras la slide está en pantalla. El paso que se equivocan es el EE: dividen entre n en vez de √n. Insiste ahí. Y el remate es la tarjeta oscura: el ancho del intervalo (unos 1 400 soles) es la información que el comité necesita y que un solo número esconde. Pregunta: '¿les sirve una estimación con ±700 de margen?'. Si dicen que no, la respuesta es más muestra o mejor diseño — y ahí vuelve la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la tarjeta oscura literalmente, palabra por palabra, y luego el error 1. No te pongas dogmático con el error 1: aclara que en la práctica todos hablan así y que la intuición no es mala; lo que no se puede es escribirlo en un informe formal, porque un auditor con formación estadística lo va a marcar. El error 2 (intervalo de predicción) es el que causa daño operativo real: alguien promete que el 95 % de las transacciones caerá en un rango y no es eso lo que calculó. El error 4 vuelve en el Módulo 2 con las pruebas de hipótesis.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 la slide en pantalla 30 segundos en silencio y que la lean. Después la frase: 'si eligen 95 %, están firmando que 1 de cada 20 de sus conclusiones va a ser falsa. Eso no es un defecto del método: es el precio, y ustedes eligieron el precio.' Pregunta: '¿y si quiero equivocarme menos?'. Respuesta: subes a 99 %, y el intervalo se ensancha un 32 %. No hay almuerzo gratis. Si el número simulado no da exactamente 5, mejor: es la oportunidad de decir que 5 es la esperanza, no una cuota.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gancho es la tabla: señala el límite inferior negativo y espera. Alguien va a decir 'eso no puede ser'. Exacto. Es el caso más común en fraude y AML: tasas de 0.1 % o menos, donde la fórmula del libro devuelve basura. No hace falta derivar Wilson. Basta con que sepan que existe, que es la que hay que usar, y el nombre del método en statsmodels. Lo trabajan completo en el bloque 4 del Colab, midiendo la cobertura real de cada 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es la más 'utilizable' del día: es la que van a abrir cuando alguien pregunte cuántos casos revisar. Señala la fila del 3 %: 1 068. Ese es el origen del n≈1000 de todas las encuestas y de la sensación de que 1 000 es un número mágico. No lo es: sale de despejar la fórmula con margen 3 % y p=0.5. La advertencia de la tarjeta izquierda importa en fraude: un margen absoluto de ±1 punto sobre una tasa de 0.5 % es inútil, porque el margen es el doble de la tasa.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para el caso y uno para la tarjeta oscura, que es lo que importa. El paralelo con su trabajo está en la tarjeta 'tu versión del error 2': un modelo validado con datos viejos es exactamente el error de 1948. Si el grupo trabaja en riesgo, esto conecta directo con monitoreo de drift — y vale mencionarlo, porque es el puente al Módulo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número de la primera tarjeta es el más importante de la slide: 92.3 % de cobertura real cuando prometiste 95 %. No es un error de cálculo: es la asimetría de la lognormal, que con n=40 todavía no está lo bastante 'normalizada' por el TLC. Conecta explícitamente con la Clase 3, slide 12: 'n=30 no siempre alcanza' — aquí está el precio concreto de esa advertencia. El bootstrap se explica en 90 segundos con los tres pasos y nada más. No entres en variantes (BCa, básico, t-bootstrap): eso es Módulo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Anuncia 'slide para fotografiar' y da 20 segundos de silencio. Después recorre solo dos filas: la segunda (la que usarán el 80 % de las veces) y la tercera (Wilson, por el caso de fraude). La tarjeta oscura del final es el cierre conceptual de toda la sesión y hay que decirla mirando al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error 1 es el más frecuente y el más fácil de corregir: pide que a partir de hoy ningún promedio salga de su teclado sin su intervalo al lado. El error 2 es el que causa problemas operativos. El error 4 es el técnico y lo van a practicar en el bloque 4. Si el tiempo aprieta, di solo el 1 y el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Reparte el enlace del Colab acá, no antes. Trabajan en parejas. Recorre el aula durante el bloque 3: ahí es donde se traban armando el IC vectorizado sobre 10 000 muestras a la vez. El bloque 4 es el que más los va a sorprender: ver la cobertura de Wald caer al 88 % con tasas bajas convence más que cualquier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el checklist y pide pulgares arriba o abajo en cada punto. El punto crítico es el segundo (el EE): si no lo tienen, la Clase 5 no va a funcionar. El reto es deliberadamente incómodo: la segunda pregunta ('¿cómo se eligió esa muestra?') es la que va a generar las mejores conversaciones de la próxima sesión, porque en muchos casos la respuesta honesta es 'no se eligió, tomé lo que había'. Cierra con la frase de arriba: un número sin su intervalo es una opinión con decimales.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59"/>
        </a:solidFill>
      </p:bgPr>
    </p:bg>
    <p:spTree>
      <p:nvGrpSpPr>
        <p:cNvPr id="1" name=""/>
        <p:cNvGrpSpPr/>
        <p:nvPr/>
      </p:nvGrpSpPr>
      <p:grpSpPr>
        <a:xfrm>
          <a:off x="0" y="0"/>
          <a:ext cx="0" cy="0"/>
          <a:chOff x="0" y="0"/>
          <a:chExt cx="0" cy="0"/>
        </a:xfrm>
      </p:grpSpPr>
      <p:sp>
        <p:nvSpPr>
          <p:cNvPr id="2" name="Shape 0"/>
          <p:cNvSpPr/>
          <p:nvPr/>
        </p:nvSpPr>
        <p:spPr>
          <a:xfrm>
            <a:off x="7223760" y="2076090"/>
            <a:ext cx="0" cy="1239876"/>
          </a:xfrm>
          <a:prstGeom prst="line">
            <a:avLst/>
          </a:prstGeom>
          <a:noFill/>
          <a:ln w="31750">
            <a:solidFill>
              <a:srgbClr val="2E5AA8"/>
            </a:solidFill>
            <a:prstDash val="solid"/>
          </a:ln>
        </p:spPr>
      </p:sp>
      <p:sp>
        <p:nvSpPr>
          <p:cNvPr id="3" name="Shape 1"/>
          <p:cNvSpPr/>
          <p:nvPr/>
        </p:nvSpPr>
        <p:spPr>
          <a:xfrm>
            <a:off x="7155180" y="2627448"/>
            <a:ext cx="137160" cy="137160"/>
          </a:xfrm>
          <a:prstGeom prst="roundRect">
            <a:avLst>
              <a:gd name="adj" fmla="val 50000"/>
            </a:avLst>
          </a:prstGeom>
          <a:solidFill>
            <a:srgbClr val="4A82FF"/>
          </a:solidFill>
          <a:ln w="12700">
            <a:solidFill>
              <a:srgbClr val="4A82FF"/>
            </a:solidFill>
            <a:prstDash val="solid"/>
          </a:ln>
        </p:spPr>
      </p:sp>
      <p:sp>
        <p:nvSpPr>
          <p:cNvPr id="4" name="Shape 2"/>
          <p:cNvSpPr/>
          <p:nvPr/>
        </p:nvSpPr>
        <p:spPr>
          <a:xfrm>
            <a:off x="7754112" y="1929472"/>
            <a:ext cx="0" cy="1417505"/>
          </a:xfrm>
          <a:prstGeom prst="line">
            <a:avLst/>
          </a:prstGeom>
          <a:noFill/>
          <a:ln w="31750">
            <a:solidFill>
              <a:srgbClr val="2E5AA8"/>
            </a:solidFill>
            <a:prstDash val="solid"/>
          </a:ln>
        </p:spPr>
      </p:sp>
      <p:sp>
        <p:nvSpPr>
          <p:cNvPr id="5" name="Shape 3"/>
          <p:cNvSpPr/>
          <p:nvPr/>
        </p:nvSpPr>
        <p:spPr>
          <a:xfrm>
            <a:off x="7685532" y="2569644"/>
            <a:ext cx="137160" cy="137160"/>
          </a:xfrm>
          <a:prstGeom prst="roundRect">
            <a:avLst>
              <a:gd name="adj" fmla="val 50000"/>
            </a:avLst>
          </a:prstGeom>
          <a:solidFill>
            <a:srgbClr val="4A82FF"/>
          </a:solidFill>
          <a:ln w="12700">
            <a:solidFill>
              <a:srgbClr val="4A82FF"/>
            </a:solidFill>
            <a:prstDash val="solid"/>
          </a:ln>
        </p:spPr>
      </p:sp>
      <p:sp>
        <p:nvSpPr>
          <p:cNvPr id="6" name="Shape 4"/>
          <p:cNvSpPr/>
          <p:nvPr/>
        </p:nvSpPr>
        <p:spPr>
          <a:xfrm>
            <a:off x="8284464" y="1702547"/>
            <a:ext cx="0" cy="1275684"/>
          </a:xfrm>
          <a:prstGeom prst="line">
            <a:avLst/>
          </a:prstGeom>
          <a:noFill/>
          <a:ln w="31750">
            <a:solidFill>
              <a:srgbClr val="2E5AA8"/>
            </a:solidFill>
            <a:prstDash val="solid"/>
          </a:ln>
        </p:spPr>
      </p:sp>
      <p:sp>
        <p:nvSpPr>
          <p:cNvPr id="7" name="Shape 5"/>
          <p:cNvSpPr/>
          <p:nvPr/>
        </p:nvSpPr>
        <p:spPr>
          <a:xfrm>
            <a:off x="8215884" y="2271809"/>
            <a:ext cx="137160" cy="137160"/>
          </a:xfrm>
          <a:prstGeom prst="roundRect">
            <a:avLst>
              <a:gd name="adj" fmla="val 50000"/>
            </a:avLst>
          </a:prstGeom>
          <a:solidFill>
            <a:srgbClr val="4A82FF"/>
          </a:solidFill>
          <a:ln w="12700">
            <a:solidFill>
              <a:srgbClr val="4A82FF"/>
            </a:solidFill>
            <a:prstDash val="solid"/>
          </a:ln>
        </p:spPr>
      </p:sp>
      <p:sp>
        <p:nvSpPr>
          <p:cNvPr id="8" name="Shape 6"/>
          <p:cNvSpPr/>
          <p:nvPr/>
        </p:nvSpPr>
        <p:spPr>
          <a:xfrm>
            <a:off x="8814816" y="2925998"/>
            <a:ext cx="0" cy="1406135"/>
          </a:xfrm>
          <a:prstGeom prst="line">
            <a:avLst/>
          </a:prstGeom>
          <a:noFill/>
          <a:ln w="31750">
            <a:solidFill>
              <a:srgbClr val="2E5AA8"/>
            </a:solidFill>
            <a:prstDash val="solid"/>
          </a:ln>
        </p:spPr>
      </p:sp>
      <p:sp>
        <p:nvSpPr>
          <p:cNvPr id="9" name="Shape 7"/>
          <p:cNvSpPr/>
          <p:nvPr/>
        </p:nvSpPr>
        <p:spPr>
          <a:xfrm>
            <a:off x="8746236" y="3560485"/>
            <a:ext cx="137160" cy="137160"/>
          </a:xfrm>
          <a:prstGeom prst="roundRect">
            <a:avLst>
              <a:gd name="adj" fmla="val 50000"/>
            </a:avLst>
          </a:prstGeom>
          <a:solidFill>
            <a:srgbClr val="4A82FF"/>
          </a:solidFill>
          <a:ln w="12700">
            <a:solidFill>
              <a:srgbClr val="4A82FF"/>
            </a:solidFill>
            <a:prstDash val="solid"/>
          </a:ln>
        </p:spPr>
      </p:sp>
      <p:sp>
        <p:nvSpPr>
          <p:cNvPr id="10" name="Shape 8"/>
          <p:cNvSpPr/>
          <p:nvPr/>
        </p:nvSpPr>
        <p:spPr>
          <a:xfrm>
            <a:off x="9345168" y="2335999"/>
            <a:ext cx="0" cy="1366501"/>
          </a:xfrm>
          <a:prstGeom prst="line">
            <a:avLst/>
          </a:prstGeom>
          <a:noFill/>
          <a:ln w="31750">
            <a:solidFill>
              <a:srgbClr val="E6115E"/>
            </a:solidFill>
            <a:prstDash val="solid"/>
          </a:ln>
        </p:spPr>
      </p:sp>
      <p:sp>
        <p:nvSpPr>
          <p:cNvPr id="11" name="Shape 9"/>
          <p:cNvSpPr/>
          <p:nvPr/>
        </p:nvSpPr>
        <p:spPr>
          <a:xfrm>
            <a:off x="9276588" y="2950670"/>
            <a:ext cx="137160" cy="137160"/>
          </a:xfrm>
          <a:prstGeom prst="roundRect">
            <a:avLst>
              <a:gd name="adj" fmla="val 50000"/>
            </a:avLst>
          </a:prstGeom>
          <a:solidFill>
            <a:srgbClr val="E6115E"/>
          </a:solidFill>
          <a:ln w="12700">
            <a:solidFill>
              <a:srgbClr val="E6115E"/>
            </a:solidFill>
            <a:prstDash val="solid"/>
          </a:ln>
        </p:spPr>
      </p:sp>
      <p:sp>
        <p:nvSpPr>
          <p:cNvPr id="12" name="Shape 10"/>
          <p:cNvSpPr/>
          <p:nvPr/>
        </p:nvSpPr>
        <p:spPr>
          <a:xfrm>
            <a:off x="9875520" y="2924337"/>
            <a:ext cx="0" cy="1246663"/>
          </a:xfrm>
          <a:prstGeom prst="line">
            <a:avLst/>
          </a:prstGeom>
          <a:noFill/>
          <a:ln w="31750">
            <a:solidFill>
              <a:srgbClr val="2E5AA8"/>
            </a:solidFill>
            <a:prstDash val="solid"/>
          </a:ln>
        </p:spPr>
      </p:sp>
      <p:sp>
        <p:nvSpPr>
          <p:cNvPr id="13" name="Shape 11"/>
          <p:cNvSpPr/>
          <p:nvPr/>
        </p:nvSpPr>
        <p:spPr>
          <a:xfrm>
            <a:off x="9806940" y="3479089"/>
            <a:ext cx="137160" cy="137160"/>
          </a:xfrm>
          <a:prstGeom prst="roundRect">
            <a:avLst>
              <a:gd name="adj" fmla="val 50000"/>
            </a:avLst>
          </a:prstGeom>
          <a:solidFill>
            <a:srgbClr val="4A82FF"/>
          </a:solidFill>
          <a:ln w="12700">
            <a:solidFill>
              <a:srgbClr val="4A82FF"/>
            </a:solidFill>
            <a:prstDash val="solid"/>
          </a:ln>
        </p:spPr>
      </p:sp>
      <p:sp>
        <p:nvSpPr>
          <p:cNvPr id="14" name="Shape 12"/>
          <p:cNvSpPr/>
          <p:nvPr/>
        </p:nvSpPr>
        <p:spPr>
          <a:xfrm>
            <a:off x="10405872" y="1975163"/>
            <a:ext cx="0" cy="1316607"/>
          </a:xfrm>
          <a:prstGeom prst="line">
            <a:avLst/>
          </a:prstGeom>
          <a:noFill/>
          <a:ln w="31750">
            <a:solidFill>
              <a:srgbClr val="2E5AA8"/>
            </a:solidFill>
            <a:prstDash val="solid"/>
          </a:ln>
        </p:spPr>
      </p:sp>
      <p:sp>
        <p:nvSpPr>
          <p:cNvPr id="15" name="Shape 13"/>
          <p:cNvSpPr/>
          <p:nvPr/>
        </p:nvSpPr>
        <p:spPr>
          <a:xfrm>
            <a:off x="10337292" y="2564887"/>
            <a:ext cx="137160" cy="137160"/>
          </a:xfrm>
          <a:prstGeom prst="roundRect">
            <a:avLst>
              <a:gd name="adj" fmla="val 50000"/>
            </a:avLst>
          </a:prstGeom>
          <a:solidFill>
            <a:srgbClr val="4A82FF"/>
          </a:solidFill>
          <a:ln w="12700">
            <a:solidFill>
              <a:srgbClr val="4A82FF"/>
            </a:solidFill>
            <a:prstDash val="solid"/>
          </a:ln>
        </p:spPr>
      </p:sp>
      <p:sp>
        <p:nvSpPr>
          <p:cNvPr id="16" name="Shape 14"/>
          <p:cNvSpPr/>
          <p:nvPr/>
        </p:nvSpPr>
        <p:spPr>
          <a:xfrm>
            <a:off x="10936224" y="2811563"/>
            <a:ext cx="0" cy="1186052"/>
          </a:xfrm>
          <a:prstGeom prst="line">
            <a:avLst/>
          </a:prstGeom>
          <a:noFill/>
          <a:ln w="31750">
            <a:solidFill>
              <a:srgbClr val="2E5AA8"/>
            </a:solidFill>
            <a:prstDash val="solid"/>
          </a:ln>
        </p:spPr>
      </p:sp>
      <p:sp>
        <p:nvSpPr>
          <p:cNvPr id="17" name="Shape 15"/>
          <p:cNvSpPr/>
          <p:nvPr/>
        </p:nvSpPr>
        <p:spPr>
          <a:xfrm>
            <a:off x="10867644" y="3336009"/>
            <a:ext cx="137160" cy="137160"/>
          </a:xfrm>
          <a:prstGeom prst="roundRect">
            <a:avLst>
              <a:gd name="adj" fmla="val 50000"/>
            </a:avLst>
          </a:prstGeom>
          <a:solidFill>
            <a:srgbClr val="4A82FF"/>
          </a:solidFill>
          <a:ln w="12700">
            <a:solidFill>
              <a:srgbClr val="4A82FF"/>
            </a:solidFill>
            <a:prstDash val="solid"/>
          </a:ln>
        </p:spPr>
      </p:sp>
      <p:sp>
        <p:nvSpPr>
          <p:cNvPr id="18" name="Shape 16"/>
          <p:cNvSpPr/>
          <p:nvPr/>
        </p:nvSpPr>
        <p:spPr>
          <a:xfrm>
            <a:off x="11466576" y="2948079"/>
            <a:ext cx="0" cy="1134136"/>
          </a:xfrm>
          <a:prstGeom prst="line">
            <a:avLst/>
          </a:prstGeom>
          <a:noFill/>
          <a:ln w="31750">
            <a:solidFill>
              <a:srgbClr val="2E5AA8"/>
            </a:solidFill>
            <a:prstDash val="solid"/>
          </a:ln>
        </p:spPr>
      </p:sp>
      <p:sp>
        <p:nvSpPr>
          <p:cNvPr id="19" name="Shape 17"/>
          <p:cNvSpPr/>
          <p:nvPr/>
        </p:nvSpPr>
        <p:spPr>
          <a:xfrm>
            <a:off x="11397996" y="3446566"/>
            <a:ext cx="137160" cy="137160"/>
          </a:xfrm>
          <a:prstGeom prst="roundRect">
            <a:avLst>
              <a:gd name="adj" fmla="val 50000"/>
            </a:avLst>
          </a:prstGeom>
          <a:solidFill>
            <a:srgbClr val="4A82FF"/>
          </a:solidFill>
          <a:ln w="12700">
            <a:solidFill>
              <a:srgbClr val="4A82FF"/>
            </a:solidFill>
            <a:prstDash val="solid"/>
          </a:ln>
        </p:spPr>
      </p:sp>
      <p:sp>
        <p:nvSpPr>
          <p:cNvPr id="20" name="Shape 18"/>
          <p:cNvSpPr/>
          <p:nvPr/>
        </p:nvSpPr>
        <p:spPr>
          <a:xfrm>
            <a:off x="6949440" y="3063240"/>
            <a:ext cx="4617720" cy="0"/>
          </a:xfrm>
          <a:prstGeom prst="line">
            <a:avLst/>
          </a:prstGeom>
          <a:noFill/>
          <a:ln w="12700">
            <a:solidFill>
              <a:srgbClr val="1E4380"/>
            </a:solidFill>
            <a:prstDash val="dash"/>
          </a:ln>
        </p:spPr>
      </p:sp>
      <p:sp>
        <p:nvSpPr>
          <p:cNvPr id="21" name="Shape 19"/>
          <p:cNvSpPr/>
          <p:nvPr/>
        </p:nvSpPr>
        <p:spPr>
          <a:xfrm>
            <a:off x="685800" y="1188720"/>
            <a:ext cx="2743200" cy="347472"/>
          </a:xfrm>
          <a:prstGeom prst="roundRect">
            <a:avLst>
              <a:gd name="adj" fmla="val 50000"/>
            </a:avLst>
          </a:prstGeom>
          <a:solidFill>
            <a:srgbClr val="E6115E"/>
          </a:solidFill>
          <a:ln w="12700">
            <a:solidFill>
              <a:srgbClr val="E6115E"/>
            </a:solidFill>
            <a:prstDash val="solid"/>
          </a:ln>
        </p:spPr>
      </p:sp>
      <p:sp>
        <p:nvSpPr>
          <p:cNvPr id="22" name="Text 20"/>
          <p:cNvSpPr/>
          <p:nvPr/>
        </p:nvSpPr>
        <p:spPr>
          <a:xfrm>
            <a:off x="685800" y="1188720"/>
            <a:ext cx="274320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MÓDULO 2 · CLASE 4</a:t>
            </a:r>
            <a:endParaRPr lang="en-US" sz="1150" dirty="0"/>
          </a:p>
        </p:txBody>
      </p:sp>
      <p:sp>
        <p:nvSpPr>
          <p:cNvPr id="23" name="Text 21"/>
          <p:cNvSpPr/>
          <p:nvPr/>
        </p:nvSpPr>
        <p:spPr>
          <a:xfrm>
            <a:off x="685800" y="1737360"/>
            <a:ext cx="6126480" cy="1737360"/>
          </a:xfrm>
          <a:prstGeom prst="rect">
            <a:avLst/>
          </a:prstGeom>
          <a:noFill/>
          <a:ln/>
        </p:spPr>
        <p:txBody>
          <a:bodyPr wrap="square" lIns="0" tIns="0" rIns="0" bIns="0" rtlCol="0" anchor="t"/>
          <a:lstStyle/>
          <a:p>
            <a:pPr indent="0" marL="0">
              <a:lnSpc>
                <a:spcPct val="98000"/>
              </a:lnSpc>
              <a:buNone/>
            </a:pPr>
            <a:r>
              <a:rPr lang="en-US" sz="4000" b="1" dirty="0">
                <a:solidFill>
                  <a:srgbClr val="FFFFFF"/>
                </a:solidFill>
                <a:latin typeface="Calibri" pitchFamily="34" charset="0"/>
                <a:ea typeface="Calibri" pitchFamily="34" charset="-122"/>
                <a:cs typeface="Calibri" pitchFamily="34" charset="-120"/>
              </a:rPr>
              <a:t>¿Y qué tan seguro</a:t>
            </a:r>
            <a:endParaRPr lang="en-US" sz="4000" dirty="0"/>
          </a:p>
          <a:p>
            <a:pPr indent="0" marL="0">
              <a:lnSpc>
                <a:spcPct val="98000"/>
              </a:lnSpc>
              <a:buNone/>
            </a:pPr>
            <a:r>
              <a:rPr lang="en-US" sz="4000" b="1" dirty="0">
                <a:solidFill>
                  <a:srgbClr val="FFFFFF"/>
                </a:solidFill>
                <a:latin typeface="Calibri" pitchFamily="34" charset="0"/>
                <a:ea typeface="Calibri" pitchFamily="34" charset="-122"/>
                <a:cs typeface="Calibri" pitchFamily="34" charset="-120"/>
              </a:rPr>
              <a:t>estás de ese número?</a:t>
            </a:r>
            <a:endParaRPr lang="en-US" sz="4000" dirty="0"/>
          </a:p>
        </p:txBody>
      </p:sp>
      <p:sp>
        <p:nvSpPr>
          <p:cNvPr id="24" name="Text 22"/>
          <p:cNvSpPr/>
          <p:nvPr/>
        </p:nvSpPr>
        <p:spPr>
          <a:xfrm>
            <a:off x="713232" y="3611880"/>
            <a:ext cx="6126480" cy="777240"/>
          </a:xfrm>
          <a:prstGeom prst="rect">
            <a:avLst/>
          </a:prstGeom>
          <a:noFill/>
          <a:ln/>
        </p:spPr>
        <p:txBody>
          <a:bodyPr wrap="square" lIns="0" tIns="0" rIns="0" bIns="0" rtlCol="0" anchor="t"/>
          <a:lstStyle/>
          <a:p>
            <a:pPr algn="l" indent="0" marL="0">
              <a:lnSpc>
                <a:spcPct val="120000"/>
              </a:lnSpc>
              <a:buNone/>
            </a:pPr>
            <a:r>
              <a:rPr lang="en-US" sz="1500" dirty="0">
                <a:solidFill>
                  <a:srgbClr val="C9D6F2"/>
                </a:solidFill>
                <a:latin typeface="Calibri" pitchFamily="34" charset="0"/>
                <a:ea typeface="Calibri" pitchFamily="34" charset="-122"/>
                <a:cs typeface="Calibri" pitchFamily="34" charset="-120"/>
              </a:rPr>
              <a:t>Del parámetro al estimador: muestreo, distribuciones muestrales,</a:t>
            </a:r>
            <a:endParaRPr lang="en-US" sz="1500" dirty="0"/>
          </a:p>
          <a:p>
            <a:pPr algn="l" indent="0" marL="0">
              <a:lnSpc>
                <a:spcPct val="120000"/>
              </a:lnSpc>
              <a:buNone/>
            </a:pPr>
            <a:r>
              <a:rPr lang="en-US" sz="1500" dirty="0">
                <a:solidFill>
                  <a:srgbClr val="C9D6F2"/>
                </a:solidFill>
                <a:latin typeface="Calibri" pitchFamily="34" charset="0"/>
                <a:ea typeface="Calibri" pitchFamily="34" charset="-122"/>
                <a:cs typeface="Calibri" pitchFamily="34" charset="-120"/>
              </a:rPr>
              <a:t>error estándar e intervalos de confianza.</a:t>
            </a:r>
            <a:endParaRPr lang="en-US" sz="1500" dirty="0"/>
          </a:p>
        </p:txBody>
      </p:sp>
      <p:sp>
        <p:nvSpPr>
          <p:cNvPr id="25" name="Text 23"/>
          <p:cNvSpPr/>
          <p:nvPr/>
        </p:nvSpPr>
        <p:spPr>
          <a:xfrm>
            <a:off x="713232" y="5029200"/>
            <a:ext cx="2560320" cy="365760"/>
          </a:xfrm>
          <a:prstGeom prst="rect">
            <a:avLst/>
          </a:prstGeom>
          <a:noFill/>
          <a:ln/>
        </p:spPr>
        <p:txBody>
          <a:bodyPr wrap="square" lIns="0" tIns="0" rIns="0" bIns="0" rtlCol="0" anchor="ctr"/>
          <a:lstStyle/>
          <a:p>
            <a:pPr indent="0" marL="0">
              <a:buNone/>
            </a:pPr>
            <a:r>
              <a:rPr lang="en-US" sz="2000" b="1" dirty="0">
                <a:solidFill>
                  <a:srgbClr val="4A82FF"/>
                </a:solidFill>
                <a:latin typeface="Calibri" pitchFamily="34" charset="0"/>
                <a:ea typeface="Calibri" pitchFamily="34" charset="-122"/>
                <a:cs typeface="Calibri" pitchFamily="34" charset="-120"/>
              </a:rPr>
              <a:t>120 min</a:t>
            </a:r>
            <a:endParaRPr lang="en-US" sz="2000" dirty="0"/>
          </a:p>
        </p:txBody>
      </p:sp>
      <p:sp>
        <p:nvSpPr>
          <p:cNvPr id="26" name="Text 24"/>
          <p:cNvSpPr/>
          <p:nvPr/>
        </p:nvSpPr>
        <p:spPr>
          <a:xfrm>
            <a:off x="713232" y="5394960"/>
            <a:ext cx="2560320" cy="457200"/>
          </a:xfrm>
          <a:prstGeom prst="rect">
            <a:avLst/>
          </a:prstGeom>
          <a:noFill/>
          <a:ln/>
        </p:spPr>
        <p:txBody>
          <a:bodyPr wrap="square" lIns="0" tIns="0" rIns="0" bIns="0" rtlCol="0" anchor="t"/>
          <a:lstStyle/>
          <a:p>
            <a:pPr indent="0" marL="0">
              <a:buNone/>
            </a:pPr>
            <a:r>
              <a:rPr lang="en-US" sz="1150" dirty="0">
                <a:solidFill>
                  <a:srgbClr val="8FA6D4"/>
                </a:solidFill>
                <a:latin typeface="Calibri" pitchFamily="34" charset="0"/>
                <a:ea typeface="Calibri" pitchFamily="34" charset="-122"/>
                <a:cs typeface="Calibri" pitchFamily="34" charset="-120"/>
              </a:rPr>
              <a:t>1 sesión</a:t>
            </a:r>
            <a:endParaRPr lang="en-US" sz="1150" dirty="0"/>
          </a:p>
        </p:txBody>
      </p:sp>
      <p:sp>
        <p:nvSpPr>
          <p:cNvPr id="27" name="Text 25"/>
          <p:cNvSpPr/>
          <p:nvPr/>
        </p:nvSpPr>
        <p:spPr>
          <a:xfrm>
            <a:off x="3502152" y="5029200"/>
            <a:ext cx="2560320" cy="365760"/>
          </a:xfrm>
          <a:prstGeom prst="rect">
            <a:avLst/>
          </a:prstGeom>
          <a:noFill/>
          <a:ln/>
        </p:spPr>
        <p:txBody>
          <a:bodyPr wrap="square" lIns="0" tIns="0" rIns="0" bIns="0" rtlCol="0" anchor="ctr"/>
          <a:lstStyle/>
          <a:p>
            <a:pPr indent="0" marL="0">
              <a:buNone/>
            </a:pPr>
            <a:r>
              <a:rPr lang="en-US" sz="2000" b="1" dirty="0">
                <a:solidFill>
                  <a:srgbClr val="4A82FF"/>
                </a:solidFill>
                <a:latin typeface="Calibri" pitchFamily="34" charset="0"/>
                <a:ea typeface="Calibri" pitchFamily="34" charset="-122"/>
                <a:cs typeface="Calibri" pitchFamily="34" charset="-120"/>
              </a:rPr>
              <a:t>5 bloques</a:t>
            </a:r>
            <a:endParaRPr lang="en-US" sz="2000" dirty="0"/>
          </a:p>
        </p:txBody>
      </p:sp>
      <p:sp>
        <p:nvSpPr>
          <p:cNvPr id="28" name="Text 26"/>
          <p:cNvSpPr/>
          <p:nvPr/>
        </p:nvSpPr>
        <p:spPr>
          <a:xfrm>
            <a:off x="3502152" y="5394960"/>
            <a:ext cx="2560320" cy="457200"/>
          </a:xfrm>
          <a:prstGeom prst="rect">
            <a:avLst/>
          </a:prstGeom>
          <a:noFill/>
          <a:ln/>
        </p:spPr>
        <p:txBody>
          <a:bodyPr wrap="square" lIns="0" tIns="0" rIns="0" bIns="0" rtlCol="0" anchor="t"/>
          <a:lstStyle/>
          <a:p>
            <a:pPr indent="0" marL="0">
              <a:buNone/>
            </a:pPr>
            <a:r>
              <a:rPr lang="en-US" sz="1150" dirty="0">
                <a:solidFill>
                  <a:srgbClr val="8FA6D4"/>
                </a:solidFill>
                <a:latin typeface="Calibri" pitchFamily="34" charset="0"/>
                <a:ea typeface="Calibri" pitchFamily="34" charset="-122"/>
                <a:cs typeface="Calibri" pitchFamily="34" charset="-120"/>
              </a:rPr>
              <a:t>de laboratorio en Colab</a:t>
            </a:r>
            <a:endParaRPr lang="en-US" sz="1150" dirty="0"/>
          </a:p>
        </p:txBody>
      </p:sp>
      <p:sp>
        <p:nvSpPr>
          <p:cNvPr id="29" name="Text 27"/>
          <p:cNvSpPr/>
          <p:nvPr/>
        </p:nvSpPr>
        <p:spPr>
          <a:xfrm>
            <a:off x="6291072" y="5029200"/>
            <a:ext cx="2560320" cy="365760"/>
          </a:xfrm>
          <a:prstGeom prst="rect">
            <a:avLst/>
          </a:prstGeom>
          <a:noFill/>
          <a:ln/>
        </p:spPr>
        <p:txBody>
          <a:bodyPr wrap="square" lIns="0" tIns="0" rIns="0" bIns="0" rtlCol="0" anchor="ctr"/>
          <a:lstStyle/>
          <a:p>
            <a:pPr indent="0" marL="0">
              <a:buNone/>
            </a:pPr>
            <a:r>
              <a:rPr lang="en-US" sz="2000" b="1" dirty="0">
                <a:solidFill>
                  <a:srgbClr val="4A82FF"/>
                </a:solidFill>
                <a:latin typeface="Calibri" pitchFamily="34" charset="0"/>
                <a:ea typeface="Calibri" pitchFamily="34" charset="-122"/>
                <a:cs typeface="Calibri" pitchFamily="34" charset="-120"/>
              </a:rPr>
              <a:t>SEED = 42</a:t>
            </a:r>
            <a:endParaRPr lang="en-US" sz="2000" dirty="0"/>
          </a:p>
        </p:txBody>
      </p:sp>
      <p:sp>
        <p:nvSpPr>
          <p:cNvPr id="30" name="Text 28"/>
          <p:cNvSpPr/>
          <p:nvPr/>
        </p:nvSpPr>
        <p:spPr>
          <a:xfrm>
            <a:off x="6291072" y="5394960"/>
            <a:ext cx="2560320" cy="457200"/>
          </a:xfrm>
          <a:prstGeom prst="rect">
            <a:avLst/>
          </a:prstGeom>
          <a:noFill/>
          <a:ln/>
        </p:spPr>
        <p:txBody>
          <a:bodyPr wrap="square" lIns="0" tIns="0" rIns="0" bIns="0" rtlCol="0" anchor="t"/>
          <a:lstStyle/>
          <a:p>
            <a:pPr indent="0" marL="0">
              <a:buNone/>
            </a:pPr>
            <a:r>
              <a:rPr lang="en-US" sz="1150" dirty="0">
                <a:solidFill>
                  <a:srgbClr val="8FA6D4"/>
                </a:solidFill>
                <a:latin typeface="Calibri" pitchFamily="34" charset="0"/>
                <a:ea typeface="Calibri" pitchFamily="34" charset="-122"/>
                <a:cs typeface="Calibri" pitchFamily="34" charset="-120"/>
              </a:rPr>
              <a:t>slides y notebook coinciden</a:t>
            </a:r>
            <a:endParaRPr lang="en-US" sz="1150" dirty="0"/>
          </a:p>
        </p:txBody>
      </p:sp>
      <p:sp>
        <p:nvSpPr>
          <p:cNvPr id="31" name="Text 29"/>
          <p:cNvSpPr/>
          <p:nvPr/>
        </p:nvSpPr>
        <p:spPr>
          <a:xfrm>
            <a:off x="713232" y="6172200"/>
            <a:ext cx="8229600" cy="320040"/>
          </a:xfrm>
          <a:prstGeom prst="rect">
            <a:avLst/>
          </a:prstGeom>
          <a:noFill/>
          <a:ln/>
        </p:spPr>
        <p:txBody>
          <a:bodyPr wrap="square" lIns="0" tIns="0" rIns="0" bIns="0" rtlCol="0" anchor="ctr"/>
          <a:lstStyle/>
          <a:p>
            <a:pPr indent="0" marL="0">
              <a:buNone/>
            </a:pPr>
            <a:r>
              <a:rPr lang="en-US" sz="1100" i="1" dirty="0">
                <a:solidFill>
                  <a:srgbClr val="7C93C4"/>
                </a:solidFill>
                <a:latin typeface="Calibri" pitchFamily="34" charset="0"/>
                <a:ea typeface="Calibri" pitchFamily="34" charset="-122"/>
                <a:cs typeface="Calibri" pitchFamily="34" charset="-120"/>
              </a:rPr>
              <a:t>Estadística Descriptiva e Inferencial · 37 horas académicas · 14 sesiones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DÓNDE ESTAMOS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Aquí termina describir y empieza inferir</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Las tres primeras clases hablaban de datos que tenías. Esta habla de datos que no tienes.</a:t>
            </a:r>
            <a:endParaRPr lang="en-US" sz="1400" dirty="0"/>
          </a:p>
        </p:txBody>
      </p:sp>
      <p:sp>
        <p:nvSpPr>
          <p:cNvPr id="6" name="Shape 4"/>
          <p:cNvSpPr/>
          <p:nvPr/>
        </p:nvSpPr>
        <p:spPr>
          <a:xfrm>
            <a:off x="548640" y="2011680"/>
            <a:ext cx="5422392" cy="1600200"/>
          </a:xfrm>
          <a:prstGeom prst="roundRect">
            <a:avLst>
              <a:gd name="adj" fmla="val 3429"/>
            </a:avLst>
          </a:prstGeom>
          <a:solidFill>
            <a:srgbClr val="E9EEF8"/>
          </a:solidFill>
          <a:ln w="12700">
            <a:solidFill>
              <a:srgbClr val="D2DBEC"/>
            </a:solidFill>
            <a:prstDash val="solid"/>
          </a:ln>
        </p:spPr>
      </p:sp>
      <p:sp>
        <p:nvSpPr>
          <p:cNvPr id="7" name="Text 5"/>
          <p:cNvSpPr/>
          <p:nvPr/>
        </p:nvSpPr>
        <p:spPr>
          <a:xfrm>
            <a:off x="804672" y="2157984"/>
            <a:ext cx="4846320" cy="274320"/>
          </a:xfrm>
          <a:prstGeom prst="rect">
            <a:avLst/>
          </a:prstGeom>
          <a:noFill/>
          <a:ln/>
        </p:spPr>
        <p:txBody>
          <a:bodyPr wrap="square" lIns="0" tIns="0" rIns="0" bIns="0" rtlCol="0" anchor="ctr"/>
          <a:lstStyle/>
          <a:p>
            <a:pPr indent="0" marL="0">
              <a:buNone/>
            </a:pPr>
            <a:r>
              <a:rPr lang="en-US" sz="1100" b="1" spc="100" kern="0" dirty="0">
                <a:solidFill>
                  <a:srgbClr val="1A56E8"/>
                </a:solidFill>
                <a:latin typeface="Calibri" pitchFamily="34" charset="0"/>
                <a:ea typeface="Calibri" pitchFamily="34" charset="-122"/>
                <a:cs typeface="Calibri" pitchFamily="34" charset="-120"/>
              </a:rPr>
              <a:t>MÓDULO 1</a:t>
            </a:r>
            <a:endParaRPr lang="en-US" sz="1100" dirty="0"/>
          </a:p>
        </p:txBody>
      </p:sp>
      <p:sp>
        <p:nvSpPr>
          <p:cNvPr id="8" name="Text 6"/>
          <p:cNvSpPr/>
          <p:nvPr/>
        </p:nvSpPr>
        <p:spPr>
          <a:xfrm>
            <a:off x="804672" y="2432304"/>
            <a:ext cx="4846320" cy="347472"/>
          </a:xfrm>
          <a:prstGeom prst="rect">
            <a:avLst/>
          </a:prstGeom>
          <a:noFill/>
          <a:ln/>
        </p:spPr>
        <p:txBody>
          <a:bodyPr wrap="square" lIns="0" tIns="0" rIns="0" bIns="0" rtlCol="0" anchor="ctr"/>
          <a:lstStyle/>
          <a:p>
            <a:pPr indent="0" marL="0">
              <a:buNone/>
            </a:pPr>
            <a:r>
              <a:rPr lang="en-US" sz="1700" b="1" dirty="0">
                <a:solidFill>
                  <a:srgbClr val="0A2559"/>
                </a:solidFill>
                <a:latin typeface="Calibri" pitchFamily="34" charset="0"/>
                <a:ea typeface="Calibri" pitchFamily="34" charset="-122"/>
                <a:cs typeface="Calibri" pitchFamily="34" charset="-120"/>
              </a:rPr>
              <a:t>Clases 1 a 3</a:t>
            </a:r>
            <a:endParaRPr lang="en-US" sz="1700" dirty="0"/>
          </a:p>
        </p:txBody>
      </p:sp>
      <p:sp>
        <p:nvSpPr>
          <p:cNvPr id="9" name="Text 7"/>
          <p:cNvSpPr/>
          <p:nvPr/>
        </p:nvSpPr>
        <p:spPr>
          <a:xfrm>
            <a:off x="804672" y="2834640"/>
            <a:ext cx="4892040" cy="713232"/>
          </a:xfrm>
          <a:prstGeom prst="rect">
            <a:avLst/>
          </a:prstGeom>
          <a:noFill/>
          <a:ln/>
        </p:spPr>
        <p:txBody>
          <a:bodyPr wrap="square" lIns="0" tIns="0" rIns="0" bIns="0" rtlCol="0" anchor="t"/>
          <a:lstStyle/>
          <a:p>
            <a:pPr algn="l" indent="0" marL="0">
              <a:lnSpc>
                <a:spcPct val="112000"/>
              </a:lnSpc>
              <a:buNone/>
            </a:pPr>
            <a:r>
              <a:rPr lang="en-US" sz="1250" dirty="0">
                <a:solidFill>
                  <a:srgbClr val="2C3A55"/>
                </a:solidFill>
                <a:latin typeface="Calibri" pitchFamily="34" charset="0"/>
                <a:ea typeface="Calibri" pitchFamily="34" charset="-122"/>
                <a:cs typeface="Calibri" pitchFamily="34" charset="-120"/>
              </a:rPr>
              <a:t>Describir: contar, medir, comparar.</a:t>
            </a:r>
            <a:endParaRPr lang="en-US" sz="1250" dirty="0"/>
          </a:p>
          <a:p>
            <a:pPr algn="l" indent="0" marL="0">
              <a:lnSpc>
                <a:spcPct val="112000"/>
              </a:lnSpc>
              <a:buNone/>
            </a:pPr>
            <a:r>
              <a:rPr lang="en-US" sz="1250" dirty="0">
                <a:solidFill>
                  <a:srgbClr val="2C3A55"/>
                </a:solidFill>
                <a:latin typeface="Calibri" pitchFamily="34" charset="0"/>
                <a:ea typeface="Calibri" pitchFamily="34" charset="-122"/>
                <a:cs typeface="Calibri" pitchFamily="34" charset="-120"/>
              </a:rPr>
              <a:t>Siempre sobre lo que ya tenías en la mano.</a:t>
            </a:r>
            <a:endParaRPr lang="en-US" sz="1250" dirty="0"/>
          </a:p>
        </p:txBody>
      </p:sp>
      <p:sp>
        <p:nvSpPr>
          <p:cNvPr id="10" name="Shape 8"/>
          <p:cNvSpPr/>
          <p:nvPr/>
        </p:nvSpPr>
        <p:spPr>
          <a:xfrm>
            <a:off x="6217920" y="2011680"/>
            <a:ext cx="5422392" cy="1600200"/>
          </a:xfrm>
          <a:prstGeom prst="roundRect">
            <a:avLst>
              <a:gd name="adj" fmla="val 3429"/>
            </a:avLst>
          </a:prstGeom>
          <a:solidFill>
            <a:srgbClr val="0A2559"/>
          </a:solidFill>
          <a:ln w="12700">
            <a:solidFill>
              <a:srgbClr val="0A2559"/>
            </a:solidFill>
            <a:prstDash val="solid"/>
          </a:ln>
        </p:spPr>
      </p:sp>
      <p:sp>
        <p:nvSpPr>
          <p:cNvPr id="11" name="Text 9"/>
          <p:cNvSpPr/>
          <p:nvPr/>
        </p:nvSpPr>
        <p:spPr>
          <a:xfrm>
            <a:off x="6473952" y="2157984"/>
            <a:ext cx="4846320" cy="274320"/>
          </a:xfrm>
          <a:prstGeom prst="rect">
            <a:avLst/>
          </a:prstGeom>
          <a:noFill/>
          <a:ln/>
        </p:spPr>
        <p:txBody>
          <a:bodyPr wrap="square" lIns="0" tIns="0" rIns="0" bIns="0" rtlCol="0" anchor="ctr"/>
          <a:lstStyle/>
          <a:p>
            <a:pPr indent="0" marL="0">
              <a:buNone/>
            </a:pPr>
            <a:r>
              <a:rPr lang="en-US" sz="1100" b="1" spc="100" kern="0" dirty="0">
                <a:solidFill>
                  <a:srgbClr val="E6115E"/>
                </a:solidFill>
                <a:latin typeface="Calibri" pitchFamily="34" charset="0"/>
                <a:ea typeface="Calibri" pitchFamily="34" charset="-122"/>
                <a:cs typeface="Calibri" pitchFamily="34" charset="-120"/>
              </a:rPr>
              <a:t>MÓDULO 2</a:t>
            </a:r>
            <a:endParaRPr lang="en-US" sz="1100" dirty="0"/>
          </a:p>
        </p:txBody>
      </p:sp>
      <p:sp>
        <p:nvSpPr>
          <p:cNvPr id="12" name="Text 10"/>
          <p:cNvSpPr/>
          <p:nvPr/>
        </p:nvSpPr>
        <p:spPr>
          <a:xfrm>
            <a:off x="6473952" y="2432304"/>
            <a:ext cx="4846320" cy="34747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Clase 4 — hoy</a:t>
            </a:r>
            <a:endParaRPr lang="en-US" sz="1700" dirty="0"/>
          </a:p>
        </p:txBody>
      </p:sp>
      <p:sp>
        <p:nvSpPr>
          <p:cNvPr id="13" name="Text 11"/>
          <p:cNvSpPr/>
          <p:nvPr/>
        </p:nvSpPr>
        <p:spPr>
          <a:xfrm>
            <a:off x="6473952" y="2834640"/>
            <a:ext cx="4892040" cy="713232"/>
          </a:xfrm>
          <a:prstGeom prst="rect">
            <a:avLst/>
          </a:prstGeom>
          <a:noFill/>
          <a:ln/>
        </p:spPr>
        <p:txBody>
          <a:bodyPr wrap="square" lIns="0" tIns="0" rIns="0" bIns="0" rtlCol="0" anchor="t"/>
          <a:lstStyle/>
          <a:p>
            <a:pPr algn="l" indent="0" marL="0">
              <a:lnSpc>
                <a:spcPct val="112000"/>
              </a:lnSpc>
              <a:buNone/>
            </a:pPr>
            <a:r>
              <a:rPr lang="en-US" sz="1250" dirty="0">
                <a:solidFill>
                  <a:srgbClr val="C9D6F2"/>
                </a:solidFill>
                <a:latin typeface="Calibri" pitchFamily="34" charset="0"/>
                <a:ea typeface="Calibri" pitchFamily="34" charset="-122"/>
                <a:cs typeface="Calibri" pitchFamily="34" charset="-120"/>
              </a:rPr>
              <a:t>Inferir: decir algo sobre la población</a:t>
            </a:r>
            <a:endParaRPr lang="en-US" sz="1250" dirty="0"/>
          </a:p>
          <a:p>
            <a:pPr algn="l" indent="0" marL="0">
              <a:lnSpc>
                <a:spcPct val="112000"/>
              </a:lnSpc>
              <a:buNone/>
            </a:pPr>
            <a:r>
              <a:rPr lang="en-US" sz="1250" dirty="0">
                <a:solidFill>
                  <a:srgbClr val="C9D6F2"/>
                </a:solidFill>
                <a:latin typeface="Calibri" pitchFamily="34" charset="0"/>
                <a:ea typeface="Calibri" pitchFamily="34" charset="-122"/>
                <a:cs typeface="Calibri" pitchFamily="34" charset="-120"/>
              </a:rPr>
              <a:t>a partir de una muestra, y cuantificar el riesgo de equivocarse.</a:t>
            </a:r>
            <a:endParaRPr lang="en-US" sz="1250" dirty="0"/>
          </a:p>
        </p:txBody>
      </p:sp>
      <p:sp>
        <p:nvSpPr>
          <p:cNvPr id="14" name="Shape 12"/>
          <p:cNvSpPr/>
          <p:nvPr/>
        </p:nvSpPr>
        <p:spPr>
          <a:xfrm>
            <a:off x="548640" y="3858768"/>
            <a:ext cx="11091672" cy="1170432"/>
          </a:xfrm>
          <a:prstGeom prst="roundRect">
            <a:avLst>
              <a:gd name="adj" fmla="val 4688"/>
            </a:avLst>
          </a:prstGeom>
          <a:solidFill>
            <a:srgbClr val="FFFFFF"/>
          </a:solidFill>
          <a:ln w="12700">
            <a:solidFill>
              <a:srgbClr val="D2DBEC"/>
            </a:solidFill>
            <a:prstDash val="solid"/>
          </a:ln>
        </p:spPr>
      </p:sp>
      <p:sp>
        <p:nvSpPr>
          <p:cNvPr id="15" name="Shape 13"/>
          <p:cNvSpPr/>
          <p:nvPr/>
        </p:nvSpPr>
        <p:spPr>
          <a:xfrm>
            <a:off x="822960" y="4123944"/>
            <a:ext cx="118872" cy="118872"/>
          </a:xfrm>
          <a:prstGeom prst="roundRect">
            <a:avLst>
              <a:gd name="adj" fmla="val 30769"/>
            </a:avLst>
          </a:prstGeom>
          <a:solidFill>
            <a:srgbClr val="E6115E"/>
          </a:solidFill>
          <a:ln w="12700">
            <a:solidFill>
              <a:srgbClr val="E6115E"/>
            </a:solidFill>
            <a:prstDash val="solid"/>
          </a:ln>
        </p:spPr>
      </p:sp>
      <p:sp>
        <p:nvSpPr>
          <p:cNvPr id="16" name="Text 14"/>
          <p:cNvSpPr/>
          <p:nvPr/>
        </p:nvSpPr>
        <p:spPr>
          <a:xfrm>
            <a:off x="1060704" y="4023360"/>
            <a:ext cx="10277856" cy="292608"/>
          </a:xfrm>
          <a:prstGeom prst="rect">
            <a:avLst/>
          </a:prstGeom>
          <a:noFill/>
          <a:ln/>
        </p:spPr>
        <p:txBody>
          <a:bodyPr wrap="square" lIns="0" tIns="0" rIns="0" bIns="0" rtlCol="0" anchor="ctr"/>
          <a:lstStyle/>
          <a:p>
            <a:pPr indent="0" marL="0">
              <a:buNone/>
            </a:pPr>
            <a:r>
              <a:rPr lang="en-US" sz="1500" b="1" dirty="0">
                <a:solidFill>
                  <a:srgbClr val="0A2559"/>
                </a:solidFill>
                <a:latin typeface="Calibri" pitchFamily="34" charset="0"/>
                <a:ea typeface="Calibri" pitchFamily="34" charset="-122"/>
                <a:cs typeface="Calibri" pitchFamily="34" charset="-120"/>
              </a:rPr>
              <a:t>Lo que traes de la Clase 3 y hoy se vuelve herramienta</a:t>
            </a:r>
            <a:endParaRPr lang="en-US" sz="1500" dirty="0"/>
          </a:p>
        </p:txBody>
      </p:sp>
      <p:sp>
        <p:nvSpPr>
          <p:cNvPr id="17" name="Text 15"/>
          <p:cNvSpPr/>
          <p:nvPr/>
        </p:nvSpPr>
        <p:spPr>
          <a:xfrm>
            <a:off x="822960" y="4389120"/>
            <a:ext cx="10515600" cy="548640"/>
          </a:xfrm>
          <a:prstGeom prst="rect">
            <a:avLst/>
          </a:prstGeom>
          <a:noFill/>
          <a:ln/>
        </p:spPr>
        <p:txBody>
          <a:bodyPr wrap="square" lIns="0" tIns="0" rIns="0" bIns="0" rtlCol="0" anchor="t"/>
          <a:lstStyle/>
          <a:p>
            <a:pPr algn="l" indent="0" marL="0">
              <a:lnSpc>
                <a:spcPct val="115000"/>
              </a:lnSpc>
              <a:buNone/>
            </a:pPr>
            <a:r>
              <a:rPr lang="en-US" sz="1250" dirty="0">
                <a:solidFill>
                  <a:srgbClr val="2C3A55"/>
                </a:solidFill>
                <a:latin typeface="Calibri" pitchFamily="34" charset="0"/>
                <a:ea typeface="Calibri" pitchFamily="34" charset="-122"/>
                <a:cs typeface="Calibri" pitchFamily="34" charset="-120"/>
              </a:rPr>
              <a:t>El z y la lectura de Φ(z) → construyen el intervalo.     El σ/√n del TLC → es el error estándar, el corazón de todo.     La t de Student → aparece cada vez que estimas σ con tu muestra, que es siempre.</a:t>
            </a:r>
            <a:endParaRPr lang="en-US" sz="1250" dirty="0"/>
          </a:p>
        </p:txBody>
      </p:sp>
      <p:sp>
        <p:nvSpPr>
          <p:cNvPr id="18" name="Shape 16"/>
          <p:cNvSpPr/>
          <p:nvPr/>
        </p:nvSpPr>
        <p:spPr>
          <a:xfrm>
            <a:off x="548640" y="5230368"/>
            <a:ext cx="11091672" cy="969264"/>
          </a:xfrm>
          <a:prstGeom prst="roundRect">
            <a:avLst>
              <a:gd name="adj" fmla="val 5660"/>
            </a:avLst>
          </a:prstGeom>
          <a:solidFill>
            <a:srgbClr val="0A2559"/>
          </a:solidFill>
          <a:ln w="12700">
            <a:solidFill>
              <a:srgbClr val="0A2559"/>
            </a:solidFill>
            <a:prstDash val="solid"/>
          </a:ln>
        </p:spPr>
      </p:sp>
      <p:sp>
        <p:nvSpPr>
          <p:cNvPr id="19" name="Shape 17"/>
          <p:cNvSpPr/>
          <p:nvPr/>
        </p:nvSpPr>
        <p:spPr>
          <a:xfrm>
            <a:off x="822960" y="5477256"/>
            <a:ext cx="118872" cy="118872"/>
          </a:xfrm>
          <a:prstGeom prst="roundRect">
            <a:avLst>
              <a:gd name="adj" fmla="val 30769"/>
            </a:avLst>
          </a:prstGeom>
          <a:solidFill>
            <a:srgbClr val="E6115E"/>
          </a:solidFill>
          <a:ln w="12700">
            <a:solidFill>
              <a:srgbClr val="E6115E"/>
            </a:solidFill>
            <a:prstDash val="solid"/>
          </a:ln>
        </p:spPr>
      </p:sp>
      <p:sp>
        <p:nvSpPr>
          <p:cNvPr id="20" name="Text 18"/>
          <p:cNvSpPr/>
          <p:nvPr/>
        </p:nvSpPr>
        <p:spPr>
          <a:xfrm>
            <a:off x="1060704" y="5376672"/>
            <a:ext cx="61630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La pregunta que abre la clase</a:t>
            </a:r>
            <a:endParaRPr lang="en-US" sz="1400" dirty="0"/>
          </a:p>
        </p:txBody>
      </p:sp>
      <p:sp>
        <p:nvSpPr>
          <p:cNvPr id="21" name="Text 19"/>
          <p:cNvSpPr/>
          <p:nvPr/>
        </p:nvSpPr>
        <p:spPr>
          <a:xfrm>
            <a:off x="822960" y="5724144"/>
            <a:ext cx="10515600" cy="420624"/>
          </a:xfrm>
          <a:prstGeom prst="rect">
            <a:avLst/>
          </a:prstGeom>
          <a:noFill/>
          <a:ln/>
        </p:spPr>
        <p:txBody>
          <a:bodyPr wrap="square" lIns="0" tIns="0" rIns="0" bIns="0" rtlCol="0" anchor="t"/>
          <a:lstStyle/>
          <a:p>
            <a:pPr algn="l" indent="0" marL="0">
              <a:lnSpc>
                <a:spcPct val="105000"/>
              </a:lnSpc>
              <a:buNone/>
            </a:pPr>
            <a:r>
              <a:rPr lang="en-US" sz="1250" dirty="0">
                <a:solidFill>
                  <a:srgbClr val="C9D6F2"/>
                </a:solidFill>
                <a:latin typeface="Calibri" pitchFamily="34" charset="0"/>
                <a:ea typeface="Calibri" pitchFamily="34" charset="-122"/>
                <a:cs typeface="Calibri" pitchFamily="34" charset="-120"/>
              </a:rPr>
              <a:t>Revisaste a mano 40 transacciones de las 40 000 del mes y el monto promedio de tu muestra fue S/ 3 125. El comité pregunta: «¿entonces el promedio del mes es 3 125?». La respuesta honesta no es sí ni no: es un intervalo.</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AGENDA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Cómo repartimos los 120 minutos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45 min de construcción conceptual · 65 min de laboratorio en Colab · 10 min de cierre.</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7315200" cy="914400"/>
        </p:xfrm>
        <a:graphic>
          <a:graphicData uri="http://schemas.openxmlformats.org/drawingml/2006/table">
            <a:tbl>
              <a:tblPr/>
              <a:tblGrid>
                <a:gridCol w="685800"/>
                <a:gridCol w="4206240"/>
                <a:gridCol w="777240"/>
                <a:gridCol w="1645920"/>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Bloque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Contenido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Formato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384048">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Parámetro vs estimador · cómo se elige la muestra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Exposición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84048">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Distribución muestral y error estándar</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Exposición + simulación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84048">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El intervalo de confianza: construirlo y leerlo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Exposición + pizarra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84048">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Proporciones y tamaño de muestra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Exposición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84048">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Laboratorio guiado en Colab (5 bloques)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65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Práctica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84048">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Cierre, checklist y reto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Discusión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bl>
          </a:graphicData>
        </a:graphic>
      </p:graphicFrame>
      <p:sp>
        <p:nvSpPr>
          <p:cNvPr id="7" name="Shape 4"/>
          <p:cNvSpPr/>
          <p:nvPr/>
        </p:nvSpPr>
        <p:spPr>
          <a:xfrm>
            <a:off x="548640" y="4864608"/>
            <a:ext cx="7315200" cy="1316736"/>
          </a:xfrm>
          <a:prstGeom prst="roundRect">
            <a:avLst>
              <a:gd name="adj" fmla="val 4167"/>
            </a:avLst>
          </a:prstGeom>
          <a:solidFill>
            <a:srgbClr val="FFFFFF"/>
          </a:solidFill>
          <a:ln w="12700">
            <a:solidFill>
              <a:srgbClr val="D2DBEC"/>
            </a:solidFill>
            <a:prstDash val="solid"/>
          </a:ln>
        </p:spPr>
      </p:sp>
      <p:sp>
        <p:nvSpPr>
          <p:cNvPr id="8" name="Shape 5"/>
          <p:cNvSpPr/>
          <p:nvPr/>
        </p:nvSpPr>
        <p:spPr>
          <a:xfrm>
            <a:off x="804672" y="5111496"/>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1042416" y="5010912"/>
            <a:ext cx="652881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El cambio de mentalidad de hoy</a:t>
            </a:r>
            <a:endParaRPr lang="en-US" sz="1400" dirty="0"/>
          </a:p>
        </p:txBody>
      </p:sp>
      <p:sp>
        <p:nvSpPr>
          <p:cNvPr id="10" name="Text 7"/>
          <p:cNvSpPr/>
          <p:nvPr/>
        </p:nvSpPr>
        <p:spPr>
          <a:xfrm>
            <a:off x="804672" y="5376672"/>
            <a:ext cx="6766560" cy="685800"/>
          </a:xfrm>
          <a:prstGeom prst="rect">
            <a:avLst/>
          </a:prstGeom>
          <a:noFill/>
          <a:ln/>
        </p:spPr>
        <p:txBody>
          <a:bodyPr wrap="square" lIns="0" tIns="0" rIns="0" bIns="0" rtlCol="0" anchor="t"/>
          <a:lstStyle/>
          <a:p>
            <a:pPr algn="l" indent="0" marL="0">
              <a:lnSpc>
                <a:spcPct val="110000"/>
              </a:lnSpc>
              <a:buNone/>
            </a:pPr>
            <a:r>
              <a:rPr lang="en-US" sz="1200" dirty="0">
                <a:solidFill>
                  <a:srgbClr val="2C3A55"/>
                </a:solidFill>
                <a:latin typeface="Calibri" pitchFamily="34" charset="0"/>
                <a:ea typeface="Calibri" pitchFamily="34" charset="-122"/>
                <a:cs typeface="Calibri" pitchFamily="34" charset="-120"/>
              </a:rPr>
              <a:t>Hasta la Clase 3, cada número que calculaste era un hecho sobre tus datos. Desde hoy, cada número que calculas es una apuesta sobre datos que no viste — y toda apuesta viene con una probabilidad de perder. Ese es todo el Módulo 2.</a:t>
            </a:r>
            <a:endParaRPr lang="en-US" sz="1200" dirty="0"/>
          </a:p>
        </p:txBody>
      </p:sp>
      <p:sp>
        <p:nvSpPr>
          <p:cNvPr id="11" name="Shape 8"/>
          <p:cNvSpPr/>
          <p:nvPr/>
        </p:nvSpPr>
        <p:spPr>
          <a:xfrm>
            <a:off x="8092440" y="2011680"/>
            <a:ext cx="3547872" cy="2697480"/>
          </a:xfrm>
          <a:prstGeom prst="roundRect">
            <a:avLst>
              <a:gd name="adj" fmla="val 2034"/>
            </a:avLst>
          </a:prstGeom>
          <a:solidFill>
            <a:srgbClr val="E9EEF8"/>
          </a:solidFill>
          <a:ln w="12700">
            <a:solidFill>
              <a:srgbClr val="D2DBEC"/>
            </a:solidFill>
            <a:prstDash val="solid"/>
          </a:ln>
        </p:spPr>
      </p:sp>
      <p:sp>
        <p:nvSpPr>
          <p:cNvPr id="12" name="Shape 9"/>
          <p:cNvSpPr/>
          <p:nvPr/>
        </p:nvSpPr>
        <p:spPr>
          <a:xfrm>
            <a:off x="8339328" y="2313432"/>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8577072" y="2212848"/>
            <a:ext cx="287121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Qué te llevas hoy</a:t>
            </a:r>
            <a:endParaRPr lang="en-US" sz="1400" dirty="0"/>
          </a:p>
        </p:txBody>
      </p:sp>
      <p:sp>
        <p:nvSpPr>
          <p:cNvPr id="14" name="Text 11"/>
          <p:cNvSpPr/>
          <p:nvPr/>
        </p:nvSpPr>
        <p:spPr>
          <a:xfrm>
            <a:off x="8339328" y="2606040"/>
            <a:ext cx="3063240" cy="196596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2C3A55"/>
                </a:solidFill>
                <a:latin typeface="Calibri" pitchFamily="34" charset="0"/>
                <a:ea typeface="Calibri" pitchFamily="34" charset="-122"/>
                <a:cs typeface="Calibri" pitchFamily="34" charset="-120"/>
              </a:rPr>
              <a:t>Construir un intervalo de confianza a mano y en código.</a:t>
            </a:r>
            <a:endParaRPr lang="en-US" sz="1150" dirty="0"/>
          </a:p>
          <a:p>
            <a:pPr marL="342900" indent="-342900">
              <a:spcAft>
                <a:spcPts val="700"/>
              </a:spcAft>
              <a:buSzPct val="100000"/>
              <a:buChar char="•"/>
            </a:pPr>
            <a:r>
              <a:rPr lang="en-US" sz="1150" dirty="0">
                <a:solidFill>
                  <a:srgbClr val="2C3A55"/>
                </a:solidFill>
                <a:latin typeface="Calibri" pitchFamily="34" charset="0"/>
                <a:ea typeface="Calibri" pitchFamily="34" charset="-122"/>
                <a:cs typeface="Calibri" pitchFamily="34" charset="-120"/>
              </a:rPr>
              <a:t>Decir qué significa «95 %» sin equivocarte.</a:t>
            </a:r>
            <a:endParaRPr lang="en-US" sz="1150" dirty="0"/>
          </a:p>
          <a:p>
            <a:pPr marL="342900" indent="-342900">
              <a:spcAft>
                <a:spcPts val="700"/>
              </a:spcAft>
              <a:buSzPct val="100000"/>
              <a:buChar char="•"/>
            </a:pPr>
            <a:r>
              <a:rPr lang="en-US" sz="1150" dirty="0">
                <a:solidFill>
                  <a:srgbClr val="2C3A55"/>
                </a:solidFill>
                <a:latin typeface="Calibri" pitchFamily="34" charset="0"/>
                <a:ea typeface="Calibri" pitchFamily="34" charset="-122"/>
                <a:cs typeface="Calibri" pitchFamily="34" charset="-120"/>
              </a:rPr>
              <a:t>Calcular cuánta muestra necesitas antes de pedirla.</a:t>
            </a:r>
            <a:endParaRPr lang="en-US" sz="1150" dirty="0"/>
          </a:p>
          <a:p>
            <a:pPr marL="342900" indent="-342900">
              <a:spcAft>
                <a:spcPts val="700"/>
              </a:spcAft>
              <a:buSzPct val="100000"/>
              <a:buChar char="•"/>
            </a:pPr>
            <a:r>
              <a:rPr lang="en-US" sz="1150" dirty="0">
                <a:solidFill>
                  <a:srgbClr val="2C3A55"/>
                </a:solidFill>
                <a:latin typeface="Calibri" pitchFamily="34" charset="0"/>
                <a:ea typeface="Calibri" pitchFamily="34" charset="-122"/>
                <a:cs typeface="Calibri" pitchFamily="34" charset="-120"/>
              </a:rPr>
              <a:t>Reconocer cuándo el intervalo clásico no te protege.</a:t>
            </a:r>
            <a:endParaRPr lang="en-US" sz="1150" dirty="0"/>
          </a:p>
        </p:txBody>
      </p:sp>
      <p:sp>
        <p:nvSpPr>
          <p:cNvPr id="15" name="Shape 12"/>
          <p:cNvSpPr/>
          <p:nvPr/>
        </p:nvSpPr>
        <p:spPr>
          <a:xfrm>
            <a:off x="8092440" y="4864608"/>
            <a:ext cx="3547872" cy="1316736"/>
          </a:xfrm>
          <a:prstGeom prst="roundRect">
            <a:avLst>
              <a:gd name="adj" fmla="val 4167"/>
            </a:avLst>
          </a:prstGeom>
          <a:solidFill>
            <a:srgbClr val="0A2559"/>
          </a:solidFill>
          <a:ln w="12700">
            <a:solidFill>
              <a:srgbClr val="0A2559"/>
            </a:solidFill>
            <a:prstDash val="solid"/>
          </a:ln>
        </p:spPr>
      </p:sp>
      <p:sp>
        <p:nvSpPr>
          <p:cNvPr id="16" name="Shape 13"/>
          <p:cNvSpPr/>
          <p:nvPr/>
        </p:nvSpPr>
        <p:spPr>
          <a:xfrm>
            <a:off x="8339328" y="5129784"/>
            <a:ext cx="118872" cy="118872"/>
          </a:xfrm>
          <a:prstGeom prst="roundRect">
            <a:avLst>
              <a:gd name="adj" fmla="val 30769"/>
            </a:avLst>
          </a:prstGeom>
          <a:solidFill>
            <a:srgbClr val="E6115E"/>
          </a:solidFill>
          <a:ln w="12700">
            <a:solidFill>
              <a:srgbClr val="E6115E"/>
            </a:solidFill>
            <a:prstDash val="solid"/>
          </a:ln>
        </p:spPr>
      </p:sp>
      <p:sp>
        <p:nvSpPr>
          <p:cNvPr id="17" name="Text 14"/>
          <p:cNvSpPr/>
          <p:nvPr/>
        </p:nvSpPr>
        <p:spPr>
          <a:xfrm>
            <a:off x="8577072" y="5029200"/>
            <a:ext cx="287121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Prerrequisito</a:t>
            </a:r>
            <a:endParaRPr lang="en-US" sz="1400" dirty="0"/>
          </a:p>
        </p:txBody>
      </p:sp>
      <p:sp>
        <p:nvSpPr>
          <p:cNvPr id="18" name="Text 15"/>
          <p:cNvSpPr/>
          <p:nvPr/>
        </p:nvSpPr>
        <p:spPr>
          <a:xfrm>
            <a:off x="8339328" y="5413248"/>
            <a:ext cx="3063240" cy="640080"/>
          </a:xfrm>
          <a:prstGeom prst="rect">
            <a:avLst/>
          </a:prstGeom>
          <a:noFill/>
          <a:ln/>
        </p:spPr>
        <p:txBody>
          <a:bodyPr wrap="square" lIns="0" tIns="0" rIns="0" bIns="0" rtlCol="0" anchor="t"/>
          <a:lstStyle/>
          <a:p>
            <a:pPr algn="l" indent="0" marL="0">
              <a:lnSpc>
                <a:spcPct val="110000"/>
              </a:lnSpc>
              <a:buNone/>
            </a:pPr>
            <a:r>
              <a:rPr lang="en-US" sz="1150" dirty="0">
                <a:solidFill>
                  <a:srgbClr val="C9D6F2"/>
                </a:solidFill>
                <a:latin typeface="Calibri" pitchFamily="34" charset="0"/>
                <a:ea typeface="Calibri" pitchFamily="34" charset="-122"/>
                <a:cs typeface="Calibri" pitchFamily="34" charset="-120"/>
              </a:rPr>
              <a:t>Clase 3: el TLC, el σ/√n y la diferencia entre z y t. Si eso no está firme, el bloque 3 se cae.</a:t>
            </a:r>
            <a:endParaRPr lang="en-US" sz="1150" dirty="0"/>
          </a:p>
        </p:txBody>
      </p:sp>
      <p:sp>
        <p:nvSpPr>
          <p:cNvPr id="19" name="Text 16"/>
          <p:cNvSpPr/>
          <p:nvPr/>
        </p:nvSpPr>
        <p:spPr>
          <a:xfrm>
            <a:off x="548640" y="6345936"/>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Los bloques 1 a 4 suman 45 min de exposición efectiva; el material extra de las slides queda como apoyo de estudio.</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310896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31089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ANTES DE LA FÓRMULA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Diccionario: población a la izquierda, muestra a la derecha</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Esta slide es la más importante del día. Todo el Módulo 2 vive en la diferencia entre estas dos columnas.</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914400"/>
        </p:xfrm>
        <a:graphic>
          <a:graphicData uri="http://schemas.openxmlformats.org/drawingml/2006/table">
            <a:tbl>
              <a:tblPr/>
              <a:tblGrid>
                <a:gridCol w="1691640"/>
                <a:gridCol w="1874520"/>
                <a:gridCol w="2148840"/>
                <a:gridCol w="1691640"/>
                <a:gridCol w="3685032"/>
              </a:tblGrid>
              <a:tr h="42062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Qué mides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En la POBLACIÓN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En TU MUESTRA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En código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Diferencia clave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420624">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La media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0A2559"/>
                          </a:solidFill>
                          <a:latin typeface="Calibri" pitchFamily="34" charset="0"/>
                          <a:ea typeface="Calibri" pitchFamily="34" charset="-122"/>
                          <a:cs typeface="Calibri" pitchFamily="34" charset="-120"/>
                        </a:rPr>
                        <a:t>μ  «mu»</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x̄  «equis barra»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mu / x_barra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μ es fijo y desconocido; x̄ cambia con cada muestra.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r h="420624">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La dispersión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0A2559"/>
                          </a:solidFill>
                          <a:latin typeface="Calibri" pitchFamily="34" charset="0"/>
                          <a:ea typeface="Calibri" pitchFamily="34" charset="-122"/>
                          <a:cs typeface="Calibri" pitchFamily="34" charset="-120"/>
                        </a:rPr>
                        <a:t>σ  «sigma»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s  «ese»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sd / s (ddof=1)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s se calcula con n−1, no con n. Ver slide 10.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r h="420624">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Una proporción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0A2559"/>
                          </a:solidFill>
                          <a:latin typeface="Calibri" pitchFamily="34" charset="0"/>
                          <a:ea typeface="Calibri" pitchFamily="34" charset="-122"/>
                          <a:cs typeface="Calibri" pitchFamily="34" charset="-120"/>
                        </a:rPr>
                        <a:t>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p̂  «pe gorro»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p / p_hat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El gorro siempre significa «estimado a partir de datos».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r h="420624">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Cualquier parámetro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0A2559"/>
                          </a:solidFill>
                          <a:latin typeface="Calibri" pitchFamily="34" charset="0"/>
                          <a:ea typeface="Calibri" pitchFamily="34" charset="-122"/>
                          <a:cs typeface="Calibri" pitchFamily="34" charset="-120"/>
                        </a:rPr>
                        <a:t>θ  «theta»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θ̂  «theta gorro»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theta / theta_hat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Notación genérica: sirve para hablar de todos a la vez.</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206240"/>
            <a:ext cx="3520440" cy="1600200"/>
          </a:xfrm>
          <a:prstGeom prst="roundRect">
            <a:avLst>
              <a:gd name="adj" fmla="val 3429"/>
            </a:avLst>
          </a:prstGeom>
          <a:solidFill>
            <a:srgbClr val="FFFFFF"/>
          </a:solidFill>
          <a:ln w="12700">
            <a:solidFill>
              <a:srgbClr val="D2DBEC"/>
            </a:solidFill>
            <a:prstDash val="solid"/>
          </a:ln>
        </p:spPr>
      </p:sp>
      <p:sp>
        <p:nvSpPr>
          <p:cNvPr id="8" name="Shape 5"/>
          <p:cNvSpPr/>
          <p:nvPr/>
        </p:nvSpPr>
        <p:spPr>
          <a:xfrm>
            <a:off x="749808" y="4407408"/>
            <a:ext cx="1051560" cy="502920"/>
          </a:xfrm>
          <a:prstGeom prst="roundRect">
            <a:avLst>
              <a:gd name="adj" fmla="val 10909"/>
            </a:avLst>
          </a:prstGeom>
          <a:solidFill>
            <a:srgbClr val="0A2559"/>
          </a:solidFill>
          <a:ln w="12700">
            <a:solidFill>
              <a:srgbClr val="0A2559"/>
            </a:solidFill>
            <a:prstDash val="solid"/>
          </a:ln>
        </p:spPr>
      </p:sp>
      <p:sp>
        <p:nvSpPr>
          <p:cNvPr id="9" name="Text 6"/>
          <p:cNvSpPr/>
          <p:nvPr/>
        </p:nvSpPr>
        <p:spPr>
          <a:xfrm>
            <a:off x="749808" y="4407408"/>
            <a:ext cx="105156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EE</a:t>
            </a:r>
            <a:endParaRPr lang="en-US" sz="1700" dirty="0"/>
          </a:p>
        </p:txBody>
      </p:sp>
      <p:sp>
        <p:nvSpPr>
          <p:cNvPr id="10" name="Text 7"/>
          <p:cNvSpPr/>
          <p:nvPr/>
        </p:nvSpPr>
        <p:spPr>
          <a:xfrm>
            <a:off x="1920240" y="4407408"/>
            <a:ext cx="1965960" cy="502920"/>
          </a:xfrm>
          <a:prstGeom prst="rect">
            <a:avLst/>
          </a:prstGeom>
          <a:noFill/>
          <a:ln/>
        </p:spPr>
        <p:txBody>
          <a:bodyPr wrap="square" lIns="0" tIns="0" rIns="0" bIns="0" rtlCol="0" anchor="ctr"/>
          <a:lstStyle/>
          <a:p>
            <a:pPr indent="0" marL="0">
              <a:buNone/>
            </a:pPr>
            <a:r>
              <a:rPr lang="en-US" sz="1250" b="1" dirty="0">
                <a:solidFill>
                  <a:srgbClr val="E6115E"/>
                </a:solidFill>
                <a:latin typeface="Calibri" pitchFamily="34" charset="0"/>
                <a:ea typeface="Calibri" pitchFamily="34" charset="-122"/>
                <a:cs typeface="Calibri" pitchFamily="34" charset="-120"/>
              </a:rPr>
              <a:t>Error estándar</a:t>
            </a:r>
            <a:endParaRPr lang="en-US" sz="1250" dirty="0"/>
          </a:p>
        </p:txBody>
      </p:sp>
      <p:sp>
        <p:nvSpPr>
          <p:cNvPr id="11" name="Text 8"/>
          <p:cNvSpPr/>
          <p:nvPr/>
        </p:nvSpPr>
        <p:spPr>
          <a:xfrm>
            <a:off x="749808" y="5010912"/>
            <a:ext cx="3108960" cy="658368"/>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La desviación estándar del ESTIMADOR, no de los datos. EE(x̄) = σ/√n.</a:t>
            </a:r>
            <a:endParaRPr lang="en-US" sz="1150" dirty="0"/>
          </a:p>
        </p:txBody>
      </p:sp>
      <p:sp>
        <p:nvSpPr>
          <p:cNvPr id="12" name="Shape 9"/>
          <p:cNvSpPr/>
          <p:nvPr/>
        </p:nvSpPr>
        <p:spPr>
          <a:xfrm>
            <a:off x="4297680" y="4206240"/>
            <a:ext cx="3520440" cy="1600200"/>
          </a:xfrm>
          <a:prstGeom prst="roundRect">
            <a:avLst>
              <a:gd name="adj" fmla="val 3429"/>
            </a:avLst>
          </a:prstGeom>
          <a:solidFill>
            <a:srgbClr val="FFFFFF"/>
          </a:solidFill>
          <a:ln w="12700">
            <a:solidFill>
              <a:srgbClr val="D2DBEC"/>
            </a:solidFill>
            <a:prstDash val="solid"/>
          </a:ln>
        </p:spPr>
      </p:sp>
      <p:sp>
        <p:nvSpPr>
          <p:cNvPr id="13" name="Shape 10"/>
          <p:cNvSpPr/>
          <p:nvPr/>
        </p:nvSpPr>
        <p:spPr>
          <a:xfrm>
            <a:off x="4498848" y="4407408"/>
            <a:ext cx="1051560" cy="502920"/>
          </a:xfrm>
          <a:prstGeom prst="roundRect">
            <a:avLst>
              <a:gd name="adj" fmla="val 10909"/>
            </a:avLst>
          </a:prstGeom>
          <a:solidFill>
            <a:srgbClr val="0A2559"/>
          </a:solidFill>
          <a:ln w="12700">
            <a:solidFill>
              <a:srgbClr val="0A2559"/>
            </a:solidFill>
            <a:prstDash val="solid"/>
          </a:ln>
        </p:spPr>
      </p:sp>
      <p:sp>
        <p:nvSpPr>
          <p:cNvPr id="14" name="Text 11"/>
          <p:cNvSpPr/>
          <p:nvPr/>
        </p:nvSpPr>
        <p:spPr>
          <a:xfrm>
            <a:off x="4498848" y="4407408"/>
            <a:ext cx="105156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α</a:t>
            </a:r>
            <a:endParaRPr lang="en-US" sz="1700" dirty="0"/>
          </a:p>
        </p:txBody>
      </p:sp>
      <p:sp>
        <p:nvSpPr>
          <p:cNvPr id="15" name="Text 12"/>
          <p:cNvSpPr/>
          <p:nvPr/>
        </p:nvSpPr>
        <p:spPr>
          <a:xfrm>
            <a:off x="5669280" y="4407408"/>
            <a:ext cx="1965960" cy="502920"/>
          </a:xfrm>
          <a:prstGeom prst="rect">
            <a:avLst/>
          </a:prstGeom>
          <a:noFill/>
          <a:ln/>
        </p:spPr>
        <p:txBody>
          <a:bodyPr wrap="square" lIns="0" tIns="0" rIns="0" bIns="0" rtlCol="0" anchor="ctr"/>
          <a:lstStyle/>
          <a:p>
            <a:pPr indent="0" marL="0">
              <a:buNone/>
            </a:pPr>
            <a:r>
              <a:rPr lang="en-US" sz="1250" b="1" dirty="0">
                <a:solidFill>
                  <a:srgbClr val="E6115E"/>
                </a:solidFill>
                <a:latin typeface="Calibri" pitchFamily="34" charset="0"/>
                <a:ea typeface="Calibri" pitchFamily="34" charset="-122"/>
                <a:cs typeface="Calibri" pitchFamily="34" charset="-120"/>
              </a:rPr>
              <a:t>«alfa»</a:t>
            </a:r>
            <a:endParaRPr lang="en-US" sz="1250" dirty="0"/>
          </a:p>
        </p:txBody>
      </p:sp>
      <p:sp>
        <p:nvSpPr>
          <p:cNvPr id="16" name="Text 13"/>
          <p:cNvSpPr/>
          <p:nvPr/>
        </p:nvSpPr>
        <p:spPr>
          <a:xfrm>
            <a:off x="4498848" y="5010912"/>
            <a:ext cx="3108960" cy="658368"/>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La probabilidad de error que aceptas. Para un IC al 95 %, α = 0.05.</a:t>
            </a:r>
            <a:endParaRPr lang="en-US" sz="1150" dirty="0"/>
          </a:p>
        </p:txBody>
      </p:sp>
      <p:sp>
        <p:nvSpPr>
          <p:cNvPr id="17" name="Shape 14"/>
          <p:cNvSpPr/>
          <p:nvPr/>
        </p:nvSpPr>
        <p:spPr>
          <a:xfrm>
            <a:off x="8046720" y="4206240"/>
            <a:ext cx="3520440" cy="1600200"/>
          </a:xfrm>
          <a:prstGeom prst="roundRect">
            <a:avLst>
              <a:gd name="adj" fmla="val 3429"/>
            </a:avLst>
          </a:prstGeom>
          <a:solidFill>
            <a:srgbClr val="FFFFFF"/>
          </a:solidFill>
          <a:ln w="12700">
            <a:solidFill>
              <a:srgbClr val="D2DBEC"/>
            </a:solidFill>
            <a:prstDash val="solid"/>
          </a:ln>
        </p:spPr>
      </p:sp>
      <p:sp>
        <p:nvSpPr>
          <p:cNvPr id="18" name="Shape 15"/>
          <p:cNvSpPr/>
          <p:nvPr/>
        </p:nvSpPr>
        <p:spPr>
          <a:xfrm>
            <a:off x="8247888" y="4407408"/>
            <a:ext cx="1051560" cy="502920"/>
          </a:xfrm>
          <a:prstGeom prst="roundRect">
            <a:avLst>
              <a:gd name="adj" fmla="val 10909"/>
            </a:avLst>
          </a:prstGeom>
          <a:solidFill>
            <a:srgbClr val="0A2559"/>
          </a:solidFill>
          <a:ln w="12700">
            <a:solidFill>
              <a:srgbClr val="0A2559"/>
            </a:solidFill>
            <a:prstDash val="solid"/>
          </a:ln>
        </p:spPr>
      </p:sp>
      <p:sp>
        <p:nvSpPr>
          <p:cNvPr id="19" name="Text 16"/>
          <p:cNvSpPr/>
          <p:nvPr/>
        </p:nvSpPr>
        <p:spPr>
          <a:xfrm>
            <a:off x="8247888" y="4407408"/>
            <a:ext cx="105156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1 − α</a:t>
            </a:r>
            <a:endParaRPr lang="en-US" sz="1700" dirty="0"/>
          </a:p>
        </p:txBody>
      </p:sp>
      <p:sp>
        <p:nvSpPr>
          <p:cNvPr id="20" name="Text 17"/>
          <p:cNvSpPr/>
          <p:nvPr/>
        </p:nvSpPr>
        <p:spPr>
          <a:xfrm>
            <a:off x="9418320" y="4407408"/>
            <a:ext cx="1965960" cy="502920"/>
          </a:xfrm>
          <a:prstGeom prst="rect">
            <a:avLst/>
          </a:prstGeom>
          <a:noFill/>
          <a:ln/>
        </p:spPr>
        <p:txBody>
          <a:bodyPr wrap="square" lIns="0" tIns="0" rIns="0" bIns="0" rtlCol="0" anchor="ctr"/>
          <a:lstStyle/>
          <a:p>
            <a:pPr indent="0" marL="0">
              <a:buNone/>
            </a:pPr>
            <a:r>
              <a:rPr lang="en-US" sz="1250" b="1" dirty="0">
                <a:solidFill>
                  <a:srgbClr val="E6115E"/>
                </a:solidFill>
                <a:latin typeface="Calibri" pitchFamily="34" charset="0"/>
                <a:ea typeface="Calibri" pitchFamily="34" charset="-122"/>
                <a:cs typeface="Calibri" pitchFamily="34" charset="-120"/>
              </a:rPr>
              <a:t>Nivel de confianza</a:t>
            </a:r>
            <a:endParaRPr lang="en-US" sz="1250" dirty="0"/>
          </a:p>
        </p:txBody>
      </p:sp>
      <p:sp>
        <p:nvSpPr>
          <p:cNvPr id="21" name="Text 18"/>
          <p:cNvSpPr/>
          <p:nvPr/>
        </p:nvSpPr>
        <p:spPr>
          <a:xfrm>
            <a:off x="8247888" y="5010912"/>
            <a:ext cx="3108960" cy="658368"/>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El 95 % del que todos hablan. Lo eliges tú antes de mirar los datos.</a:t>
            </a:r>
            <a:endParaRPr lang="en-US" sz="1150" dirty="0"/>
          </a:p>
        </p:txBody>
      </p:sp>
      <p:sp>
        <p:nvSpPr>
          <p:cNvPr id="22" name="Text 19"/>
          <p:cNvSpPr/>
          <p:nvPr/>
        </p:nvSpPr>
        <p:spPr>
          <a:xfrm>
            <a:off x="548640" y="5943600"/>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El gorro (^) es la convención universal: si una letra lleva gorro, se calculó con datos y por lo tanto tiene incertidumbre.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EL SALTO CONCEPTUAL</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Uno es fijo y no lo conoces. El otro lo calculas y se mueve.</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Si esta distinción queda clara, el resto del módulo es aritmética.</a:t>
            </a:r>
            <a:endParaRPr lang="en-US" sz="1400" dirty="0"/>
          </a:p>
        </p:txBody>
      </p:sp>
      <p:sp>
        <p:nvSpPr>
          <p:cNvPr id="6" name="Shape 4"/>
          <p:cNvSpPr/>
          <p:nvPr/>
        </p:nvSpPr>
        <p:spPr>
          <a:xfrm>
            <a:off x="548640" y="1965960"/>
            <a:ext cx="5468112" cy="1965960"/>
          </a:xfrm>
          <a:prstGeom prst="roundRect">
            <a:avLst>
              <a:gd name="adj" fmla="val 2791"/>
            </a:avLst>
          </a:prstGeom>
          <a:solidFill>
            <a:srgbClr val="0A2559"/>
          </a:solidFill>
          <a:ln w="12700">
            <a:solidFill>
              <a:srgbClr val="0A2559"/>
            </a:solidFill>
            <a:prstDash val="solid"/>
          </a:ln>
        </p:spPr>
      </p:sp>
      <p:sp>
        <p:nvSpPr>
          <p:cNvPr id="7" name="Shape 5"/>
          <p:cNvSpPr/>
          <p:nvPr/>
        </p:nvSpPr>
        <p:spPr>
          <a:xfrm>
            <a:off x="804672" y="2249424"/>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148840"/>
            <a:ext cx="4791456"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El parámetro   μ</a:t>
            </a:r>
            <a:endParaRPr lang="en-US" sz="1600" dirty="0"/>
          </a:p>
        </p:txBody>
      </p:sp>
      <p:sp>
        <p:nvSpPr>
          <p:cNvPr id="9" name="Text 7"/>
          <p:cNvSpPr/>
          <p:nvPr/>
        </p:nvSpPr>
        <p:spPr>
          <a:xfrm>
            <a:off x="804672" y="2560320"/>
            <a:ext cx="4983480" cy="1298448"/>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C9D6F2"/>
                </a:solidFill>
                <a:latin typeface="Calibri" pitchFamily="34" charset="0"/>
                <a:ea typeface="Calibri" pitchFamily="34" charset="-122"/>
                <a:cs typeface="Calibri" pitchFamily="34" charset="-120"/>
              </a:rPr>
              <a:t>Es un número real y fijo del mundo.</a:t>
            </a:r>
            <a:endParaRPr lang="en-US" sz="1200" dirty="0"/>
          </a:p>
          <a:p>
            <a:pPr marL="342900" indent="-342900">
              <a:spcAft>
                <a:spcPts val="400"/>
              </a:spcAft>
              <a:buSzPct val="100000"/>
              <a:buChar char="•"/>
            </a:pPr>
            <a:r>
              <a:rPr lang="en-US" sz="1200" dirty="0">
                <a:solidFill>
                  <a:srgbClr val="C9D6F2"/>
                </a:solidFill>
                <a:latin typeface="Calibri" pitchFamily="34" charset="0"/>
                <a:ea typeface="Calibri" pitchFamily="34" charset="-122"/>
                <a:cs typeface="Calibri" pitchFamily="34" charset="-120"/>
              </a:rPr>
              <a:t>No lo conoces y casi nunca lo vas a conocer.</a:t>
            </a:r>
            <a:endParaRPr lang="en-US" sz="1200" dirty="0"/>
          </a:p>
          <a:p>
            <a:pPr marL="342900" indent="-342900">
              <a:spcAft>
                <a:spcPts val="400"/>
              </a:spcAft>
              <a:buSzPct val="100000"/>
              <a:buChar char="•"/>
            </a:pPr>
            <a:r>
              <a:rPr lang="en-US" sz="1200" dirty="0">
                <a:solidFill>
                  <a:srgbClr val="C9D6F2"/>
                </a:solidFill>
                <a:latin typeface="Calibri" pitchFamily="34" charset="0"/>
                <a:ea typeface="Calibri" pitchFamily="34" charset="-122"/>
                <a:cs typeface="Calibri" pitchFamily="34" charset="-120"/>
              </a:rPr>
              <a:t>No tiene distribución: es una constante.</a:t>
            </a:r>
            <a:endParaRPr lang="en-US" sz="1200" dirty="0"/>
          </a:p>
          <a:p>
            <a:pPr marL="342900" indent="-342900">
              <a:spcAft>
                <a:spcPts val="400"/>
              </a:spcAft>
              <a:buSzPct val="100000"/>
              <a:buChar char="•"/>
            </a:pPr>
            <a:r>
              <a:rPr lang="en-US" sz="1200" dirty="0">
                <a:solidFill>
                  <a:srgbClr val="C9D6F2"/>
                </a:solidFill>
                <a:latin typeface="Calibri" pitchFamily="34" charset="0"/>
                <a:ea typeface="Calibri" pitchFamily="34" charset="-122"/>
                <a:cs typeface="Calibri" pitchFamily="34" charset="-120"/>
              </a:rPr>
              <a:t>Si midieras las 40 000 transacciones, lo tendrías — y no necesitarías nada de esta clase.</a:t>
            </a:r>
            <a:endParaRPr lang="en-US" sz="1200" dirty="0"/>
          </a:p>
        </p:txBody>
      </p:sp>
      <p:sp>
        <p:nvSpPr>
          <p:cNvPr id="10" name="Shape 8"/>
          <p:cNvSpPr/>
          <p:nvPr/>
        </p:nvSpPr>
        <p:spPr>
          <a:xfrm>
            <a:off x="6172200" y="1965960"/>
            <a:ext cx="5468112" cy="1965960"/>
          </a:xfrm>
          <a:prstGeom prst="roundRect">
            <a:avLst>
              <a:gd name="adj" fmla="val 2791"/>
            </a:avLst>
          </a:prstGeom>
          <a:solidFill>
            <a:srgbClr val="FFFFFF"/>
          </a:solidFill>
          <a:ln w="12700">
            <a:solidFill>
              <a:srgbClr val="D2DBEC"/>
            </a:solidFill>
            <a:prstDash val="solid"/>
          </a:ln>
        </p:spPr>
      </p:sp>
      <p:sp>
        <p:nvSpPr>
          <p:cNvPr id="11" name="Shape 9"/>
          <p:cNvSpPr/>
          <p:nvPr/>
        </p:nvSpPr>
        <p:spPr>
          <a:xfrm>
            <a:off x="6419088" y="2249424"/>
            <a:ext cx="118872" cy="118872"/>
          </a:xfrm>
          <a:prstGeom prst="roundRect">
            <a:avLst>
              <a:gd name="adj" fmla="val 30769"/>
            </a:avLst>
          </a:prstGeom>
          <a:solidFill>
            <a:srgbClr val="E6115E"/>
          </a:solidFill>
          <a:ln w="12700">
            <a:solidFill>
              <a:srgbClr val="E6115E"/>
            </a:solidFill>
            <a:prstDash val="solid"/>
          </a:ln>
        </p:spPr>
      </p:sp>
      <p:sp>
        <p:nvSpPr>
          <p:cNvPr id="12" name="Text 10"/>
          <p:cNvSpPr/>
          <p:nvPr/>
        </p:nvSpPr>
        <p:spPr>
          <a:xfrm>
            <a:off x="6656832" y="2148840"/>
            <a:ext cx="4791456" cy="292608"/>
          </a:xfrm>
          <a:prstGeom prst="rect">
            <a:avLst/>
          </a:prstGeom>
          <a:noFill/>
          <a:ln/>
        </p:spPr>
        <p:txBody>
          <a:bodyPr wrap="square" lIns="0" tIns="0" rIns="0" bIns="0" rtlCol="0" anchor="ctr"/>
          <a:lstStyle/>
          <a:p>
            <a:pPr indent="0" marL="0">
              <a:buNone/>
            </a:pPr>
            <a:r>
              <a:rPr lang="en-US" sz="1600" b="1" dirty="0">
                <a:solidFill>
                  <a:srgbClr val="0A2559"/>
                </a:solidFill>
                <a:latin typeface="Calibri" pitchFamily="34" charset="0"/>
                <a:ea typeface="Calibri" pitchFamily="34" charset="-122"/>
                <a:cs typeface="Calibri" pitchFamily="34" charset="-120"/>
              </a:rPr>
              <a:t>El estimador   x̄</a:t>
            </a:r>
            <a:endParaRPr lang="en-US" sz="1600" dirty="0"/>
          </a:p>
        </p:txBody>
      </p:sp>
      <p:sp>
        <p:nvSpPr>
          <p:cNvPr id="13" name="Text 11"/>
          <p:cNvSpPr/>
          <p:nvPr/>
        </p:nvSpPr>
        <p:spPr>
          <a:xfrm>
            <a:off x="6419088" y="2560320"/>
            <a:ext cx="4983480" cy="1298448"/>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2C3A55"/>
                </a:solidFill>
                <a:latin typeface="Calibri" pitchFamily="34" charset="0"/>
                <a:ea typeface="Calibri" pitchFamily="34" charset="-122"/>
                <a:cs typeface="Calibri" pitchFamily="34" charset="-120"/>
              </a:rPr>
              <a:t>Es una función de tu muestra: lo calculas.</a:t>
            </a:r>
            <a:endParaRPr lang="en-US" sz="1200" dirty="0"/>
          </a:p>
          <a:p>
            <a:pPr marL="342900" indent="-342900">
              <a:spcAft>
                <a:spcPts val="400"/>
              </a:spcAft>
              <a:buSzPct val="100000"/>
              <a:buChar char="•"/>
            </a:pPr>
            <a:r>
              <a:rPr lang="en-US" sz="1200" dirty="0">
                <a:solidFill>
                  <a:srgbClr val="2C3A55"/>
                </a:solidFill>
                <a:latin typeface="Calibri" pitchFamily="34" charset="0"/>
                <a:ea typeface="Calibri" pitchFamily="34" charset="-122"/>
                <a:cs typeface="Calibri" pitchFamily="34" charset="-120"/>
              </a:rPr>
              <a:t>Cambia cada vez que tomas otra muestra.</a:t>
            </a:r>
            <a:endParaRPr lang="en-US" sz="1200" dirty="0"/>
          </a:p>
          <a:p>
            <a:pPr marL="342900" indent="-342900">
              <a:spcAft>
                <a:spcPts val="400"/>
              </a:spcAft>
              <a:buSzPct val="100000"/>
              <a:buChar char="•"/>
            </a:pPr>
            <a:r>
              <a:rPr lang="en-US" sz="1200" dirty="0">
                <a:solidFill>
                  <a:srgbClr val="2C3A55"/>
                </a:solidFill>
                <a:latin typeface="Calibri" pitchFamily="34" charset="0"/>
                <a:ea typeface="Calibri" pitchFamily="34" charset="-122"/>
                <a:cs typeface="Calibri" pitchFamily="34" charset="-120"/>
              </a:rPr>
              <a:t>Por eso SÍ tiene distribución — la distribución muestral.</a:t>
            </a:r>
            <a:endParaRPr lang="en-US" sz="1200" dirty="0"/>
          </a:p>
          <a:p>
            <a:pPr marL="342900" indent="-342900">
              <a:spcAft>
                <a:spcPts val="400"/>
              </a:spcAft>
              <a:buSzPct val="100000"/>
              <a:buChar char="•"/>
            </a:pPr>
            <a:r>
              <a:rPr lang="en-US" sz="1200" dirty="0">
                <a:solidFill>
                  <a:srgbClr val="2C3A55"/>
                </a:solidFill>
                <a:latin typeface="Calibri" pitchFamily="34" charset="0"/>
                <a:ea typeface="Calibri" pitchFamily="34" charset="-122"/>
                <a:cs typeface="Calibri" pitchFamily="34" charset="-120"/>
              </a:rPr>
              <a:t>Toda la inferencia consiste en usar esa distribución para acotar dónde puede estar μ.</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4114800"/>
          <a:ext cx="11091672" cy="914400"/>
        </p:xfrm>
        <a:graphic>
          <a:graphicData uri="http://schemas.openxmlformats.org/drawingml/2006/table">
            <a:tbl>
              <a:tblPr/>
              <a:tblGrid>
                <a:gridCol w="3108960"/>
                <a:gridCol w="1828800"/>
                <a:gridCol w="1828800"/>
                <a:gridCol w="4325112"/>
              </a:tblGrid>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Muestra de n = 40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x̄  (S/)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  (S/)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¿Es μ?</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365760">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Muestra 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2 704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2 252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No — es una estimación de μ</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65760">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Muestra 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2 877</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2 255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No — es una estimación de μ</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65760">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Muestra 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2 511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1 445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No — es una estimación de μ</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65760">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La población completa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A2559"/>
                          </a:solidFill>
                          <a:latin typeface="Calibri" pitchFamily="34" charset="0"/>
                          <a:ea typeface="Calibri" pitchFamily="34" charset="-122"/>
                          <a:cs typeface="Calibri" pitchFamily="34" charset="-120"/>
                        </a:rPr>
                        <a:t>μ = 3 000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A2559"/>
                          </a:solidFill>
                          <a:latin typeface="Calibri" pitchFamily="34" charset="0"/>
                          <a:ea typeface="Calibri" pitchFamily="34" charset="-122"/>
                          <a:cs typeface="Calibri" pitchFamily="34" charset="-120"/>
                        </a:rPr>
                        <a:t>σ = 2 386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Sí — pero en la vida real no lo ves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bl>
          </a:graphicData>
        </a:graphic>
      </p:graphicFrame>
      <p:sp>
        <p:nvSpPr>
          <p:cNvPr id="15" name="Text 12"/>
          <p:cNvSpPr/>
          <p:nvPr/>
        </p:nvSpPr>
        <p:spPr>
          <a:xfrm>
            <a:off x="548640" y="6035040"/>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Las tres muestras salen de la misma población lognormal (μ = 3 000, σ = 2 386), sembrada con SEED = 42. Reprodúcelas en el bloque 1 del Colab.</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MUESTREO</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Cómo se elige la muestra importa más que la fórmula</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Un intervalo perfectamente calculado sobre una muestra sesgada es un número perfectamente falso.</a:t>
            </a:r>
            <a:endParaRPr lang="en-US" sz="1400" dirty="0"/>
          </a:p>
        </p:txBody>
      </p:sp>
      <p:sp>
        <p:nvSpPr>
          <p:cNvPr id="6" name="Shape 4"/>
          <p:cNvSpPr/>
          <p:nvPr/>
        </p:nvSpPr>
        <p:spPr>
          <a:xfrm>
            <a:off x="548640" y="1965960"/>
            <a:ext cx="5422392" cy="1143000"/>
          </a:xfrm>
          <a:prstGeom prst="roundRect">
            <a:avLst>
              <a:gd name="adj" fmla="val 4800"/>
            </a:avLst>
          </a:prstGeom>
          <a:solidFill>
            <a:srgbClr val="FFFFFF"/>
          </a:solidFill>
          <a:ln w="12700">
            <a:solidFill>
              <a:srgbClr val="D2DBEC"/>
            </a:solidFill>
            <a:prstDash val="solid"/>
          </a:ln>
        </p:spPr>
      </p:sp>
      <p:sp>
        <p:nvSpPr>
          <p:cNvPr id="7" name="Text 5"/>
          <p:cNvSpPr/>
          <p:nvPr/>
        </p:nvSpPr>
        <p:spPr>
          <a:xfrm>
            <a:off x="786384" y="2093976"/>
            <a:ext cx="3017520"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Aleatorio simple</a:t>
            </a:r>
            <a:endParaRPr lang="en-US" sz="1400" dirty="0"/>
          </a:p>
        </p:txBody>
      </p:sp>
      <p:sp>
        <p:nvSpPr>
          <p:cNvPr id="8" name="Shape 6"/>
          <p:cNvSpPr/>
          <p:nvPr/>
        </p:nvSpPr>
        <p:spPr>
          <a:xfrm>
            <a:off x="3931920" y="2103120"/>
            <a:ext cx="1783080" cy="274320"/>
          </a:xfrm>
          <a:prstGeom prst="roundRect">
            <a:avLst>
              <a:gd name="adj" fmla="val 50000"/>
            </a:avLst>
          </a:prstGeom>
          <a:solidFill>
            <a:srgbClr val="1A56E8"/>
          </a:solidFill>
          <a:ln w="12700">
            <a:solidFill>
              <a:srgbClr val="1A56E8"/>
            </a:solidFill>
            <a:prstDash val="solid"/>
          </a:ln>
        </p:spPr>
      </p:sp>
      <p:sp>
        <p:nvSpPr>
          <p:cNvPr id="9" name="Text 7"/>
          <p:cNvSpPr/>
          <p:nvPr/>
        </p:nvSpPr>
        <p:spPr>
          <a:xfrm>
            <a:off x="3931920" y="2103120"/>
            <a:ext cx="178308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MAS</a:t>
            </a:r>
            <a:endParaRPr lang="en-US" sz="950" dirty="0"/>
          </a:p>
        </p:txBody>
      </p:sp>
      <p:sp>
        <p:nvSpPr>
          <p:cNvPr id="10" name="Text 8"/>
          <p:cNvSpPr/>
          <p:nvPr/>
        </p:nvSpPr>
        <p:spPr>
          <a:xfrm>
            <a:off x="786384" y="2450592"/>
            <a:ext cx="4937760" cy="566928"/>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Cada elemento tiene la misma probabilidad. Es la referencia teórica y la que asumen todas las fórmulas de hoy.</a:t>
            </a:r>
            <a:endParaRPr lang="en-US" sz="1150" dirty="0"/>
          </a:p>
        </p:txBody>
      </p:sp>
      <p:sp>
        <p:nvSpPr>
          <p:cNvPr id="11" name="Shape 9"/>
          <p:cNvSpPr/>
          <p:nvPr/>
        </p:nvSpPr>
        <p:spPr>
          <a:xfrm>
            <a:off x="6217920" y="1965960"/>
            <a:ext cx="5422392" cy="1143000"/>
          </a:xfrm>
          <a:prstGeom prst="roundRect">
            <a:avLst>
              <a:gd name="adj" fmla="val 4800"/>
            </a:avLst>
          </a:prstGeom>
          <a:solidFill>
            <a:srgbClr val="FFFFFF"/>
          </a:solidFill>
          <a:ln w="12700">
            <a:solidFill>
              <a:srgbClr val="D2DBEC"/>
            </a:solidFill>
            <a:prstDash val="solid"/>
          </a:ln>
        </p:spPr>
      </p:sp>
      <p:sp>
        <p:nvSpPr>
          <p:cNvPr id="12" name="Text 10"/>
          <p:cNvSpPr/>
          <p:nvPr/>
        </p:nvSpPr>
        <p:spPr>
          <a:xfrm>
            <a:off x="6455664" y="2093976"/>
            <a:ext cx="3017520"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Estratificado</a:t>
            </a:r>
            <a:endParaRPr lang="en-US" sz="1400" dirty="0"/>
          </a:p>
        </p:txBody>
      </p:sp>
      <p:sp>
        <p:nvSpPr>
          <p:cNvPr id="13" name="Shape 11"/>
          <p:cNvSpPr/>
          <p:nvPr/>
        </p:nvSpPr>
        <p:spPr>
          <a:xfrm>
            <a:off x="9601200" y="2103120"/>
            <a:ext cx="1783080" cy="274320"/>
          </a:xfrm>
          <a:prstGeom prst="roundRect">
            <a:avLst>
              <a:gd name="adj" fmla="val 50000"/>
            </a:avLst>
          </a:prstGeom>
          <a:solidFill>
            <a:srgbClr val="1A56E8"/>
          </a:solidFill>
          <a:ln w="12700">
            <a:solidFill>
              <a:srgbClr val="1A56E8"/>
            </a:solidFill>
            <a:prstDash val="solid"/>
          </a:ln>
        </p:spPr>
      </p:sp>
      <p:sp>
        <p:nvSpPr>
          <p:cNvPr id="14" name="Text 12"/>
          <p:cNvSpPr/>
          <p:nvPr/>
        </p:nvSpPr>
        <p:spPr>
          <a:xfrm>
            <a:off x="9601200" y="2103120"/>
            <a:ext cx="178308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por segmento</a:t>
            </a:r>
            <a:endParaRPr lang="en-US" sz="950" dirty="0"/>
          </a:p>
        </p:txBody>
      </p:sp>
      <p:sp>
        <p:nvSpPr>
          <p:cNvPr id="15" name="Text 13"/>
          <p:cNvSpPr/>
          <p:nvPr/>
        </p:nvSpPr>
        <p:spPr>
          <a:xfrm>
            <a:off x="6455664" y="2450592"/>
            <a:ext cx="4937760" cy="566928"/>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Divides la población en grupos homogéneos y muestreas en cada uno. Reduce el error si los estratos difieren.</a:t>
            </a:r>
            <a:endParaRPr lang="en-US" sz="1150" dirty="0"/>
          </a:p>
        </p:txBody>
      </p:sp>
      <p:sp>
        <p:nvSpPr>
          <p:cNvPr id="16" name="Shape 14"/>
          <p:cNvSpPr/>
          <p:nvPr/>
        </p:nvSpPr>
        <p:spPr>
          <a:xfrm>
            <a:off x="548640" y="3246120"/>
            <a:ext cx="5422392" cy="1143000"/>
          </a:xfrm>
          <a:prstGeom prst="roundRect">
            <a:avLst>
              <a:gd name="adj" fmla="val 4800"/>
            </a:avLst>
          </a:prstGeom>
          <a:solidFill>
            <a:srgbClr val="FFFFFF"/>
          </a:solidFill>
          <a:ln w="12700">
            <a:solidFill>
              <a:srgbClr val="D2DBEC"/>
            </a:solidFill>
            <a:prstDash val="solid"/>
          </a:ln>
        </p:spPr>
      </p:sp>
      <p:sp>
        <p:nvSpPr>
          <p:cNvPr id="17" name="Text 15"/>
          <p:cNvSpPr/>
          <p:nvPr/>
        </p:nvSpPr>
        <p:spPr>
          <a:xfrm>
            <a:off x="786384" y="3374136"/>
            <a:ext cx="3017520"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Sistemático</a:t>
            </a:r>
            <a:endParaRPr lang="en-US" sz="1400" dirty="0"/>
          </a:p>
        </p:txBody>
      </p:sp>
      <p:sp>
        <p:nvSpPr>
          <p:cNvPr id="18" name="Shape 16"/>
          <p:cNvSpPr/>
          <p:nvPr/>
        </p:nvSpPr>
        <p:spPr>
          <a:xfrm>
            <a:off x="3931920" y="3383280"/>
            <a:ext cx="1783080" cy="274320"/>
          </a:xfrm>
          <a:prstGeom prst="roundRect">
            <a:avLst>
              <a:gd name="adj" fmla="val 50000"/>
            </a:avLst>
          </a:prstGeom>
          <a:solidFill>
            <a:srgbClr val="E6115E"/>
          </a:solidFill>
          <a:ln w="12700">
            <a:solidFill>
              <a:srgbClr val="E6115E"/>
            </a:solidFill>
            <a:prstDash val="solid"/>
          </a:ln>
        </p:spPr>
      </p:sp>
      <p:sp>
        <p:nvSpPr>
          <p:cNvPr id="19" name="Text 17"/>
          <p:cNvSpPr/>
          <p:nvPr/>
        </p:nvSpPr>
        <p:spPr>
          <a:xfrm>
            <a:off x="3931920" y="3383280"/>
            <a:ext cx="178308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cada k-ésimo</a:t>
            </a:r>
            <a:endParaRPr lang="en-US" sz="950" dirty="0"/>
          </a:p>
        </p:txBody>
      </p:sp>
      <p:sp>
        <p:nvSpPr>
          <p:cNvPr id="20" name="Text 18"/>
          <p:cNvSpPr/>
          <p:nvPr/>
        </p:nvSpPr>
        <p:spPr>
          <a:xfrm>
            <a:off x="786384" y="3730752"/>
            <a:ext cx="4937760" cy="566928"/>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Tomas 1 de cada k. Cómodo, pero peligroso si los datos tienen ciclos (ej. transacciones por día de la semana).</a:t>
            </a:r>
            <a:endParaRPr lang="en-US" sz="1150" dirty="0"/>
          </a:p>
        </p:txBody>
      </p:sp>
      <p:sp>
        <p:nvSpPr>
          <p:cNvPr id="21" name="Shape 19"/>
          <p:cNvSpPr/>
          <p:nvPr/>
        </p:nvSpPr>
        <p:spPr>
          <a:xfrm>
            <a:off x="6217920" y="3246120"/>
            <a:ext cx="5422392" cy="1143000"/>
          </a:xfrm>
          <a:prstGeom prst="roundRect">
            <a:avLst>
              <a:gd name="adj" fmla="val 4800"/>
            </a:avLst>
          </a:prstGeom>
          <a:solidFill>
            <a:srgbClr val="FFFFFF"/>
          </a:solidFill>
          <a:ln w="12700">
            <a:solidFill>
              <a:srgbClr val="D2DBEC"/>
            </a:solidFill>
            <a:prstDash val="solid"/>
          </a:ln>
        </p:spPr>
      </p:sp>
      <p:sp>
        <p:nvSpPr>
          <p:cNvPr id="22" name="Text 20"/>
          <p:cNvSpPr/>
          <p:nvPr/>
        </p:nvSpPr>
        <p:spPr>
          <a:xfrm>
            <a:off x="6455664" y="3374136"/>
            <a:ext cx="3017520"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Por conglomerados</a:t>
            </a:r>
            <a:endParaRPr lang="en-US" sz="1400" dirty="0"/>
          </a:p>
        </p:txBody>
      </p:sp>
      <p:sp>
        <p:nvSpPr>
          <p:cNvPr id="23" name="Shape 21"/>
          <p:cNvSpPr/>
          <p:nvPr/>
        </p:nvSpPr>
        <p:spPr>
          <a:xfrm>
            <a:off x="9601200" y="3383280"/>
            <a:ext cx="1783080" cy="274320"/>
          </a:xfrm>
          <a:prstGeom prst="roundRect">
            <a:avLst>
              <a:gd name="adj" fmla="val 50000"/>
            </a:avLst>
          </a:prstGeom>
          <a:solidFill>
            <a:srgbClr val="E6115E"/>
          </a:solidFill>
          <a:ln w="12700">
            <a:solidFill>
              <a:srgbClr val="E6115E"/>
            </a:solidFill>
            <a:prstDash val="solid"/>
          </a:ln>
        </p:spPr>
      </p:sp>
      <p:sp>
        <p:nvSpPr>
          <p:cNvPr id="24" name="Text 22"/>
          <p:cNvSpPr/>
          <p:nvPr/>
        </p:nvSpPr>
        <p:spPr>
          <a:xfrm>
            <a:off x="9601200" y="3383280"/>
            <a:ext cx="178308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clusters</a:t>
            </a:r>
            <a:endParaRPr lang="en-US" sz="950" dirty="0"/>
          </a:p>
        </p:txBody>
      </p:sp>
      <p:sp>
        <p:nvSpPr>
          <p:cNvPr id="25" name="Text 23"/>
          <p:cNvSpPr/>
          <p:nvPr/>
        </p:nvSpPr>
        <p:spPr>
          <a:xfrm>
            <a:off x="6455664" y="3730752"/>
            <a:ext cx="4937760" cy="566928"/>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Muestreas grupos completos (agencias, sucursales). Más barato, pero el error estándar real es mayor que σ/√n.</a:t>
            </a:r>
            <a:endParaRPr lang="en-US" sz="1150" dirty="0"/>
          </a:p>
        </p:txBody>
      </p:sp>
      <p:sp>
        <p:nvSpPr>
          <p:cNvPr id="26" name="Shape 24"/>
          <p:cNvSpPr/>
          <p:nvPr/>
        </p:nvSpPr>
        <p:spPr>
          <a:xfrm>
            <a:off x="548640" y="4553712"/>
            <a:ext cx="11091672" cy="1645920"/>
          </a:xfrm>
          <a:prstGeom prst="roundRect">
            <a:avLst>
              <a:gd name="adj" fmla="val 3333"/>
            </a:avLst>
          </a:prstGeom>
          <a:solidFill>
            <a:srgbClr val="0A2559"/>
          </a:solidFill>
          <a:ln w="12700">
            <a:solidFill>
              <a:srgbClr val="0A2559"/>
            </a:solidFill>
            <a:prstDash val="solid"/>
          </a:ln>
        </p:spPr>
      </p:sp>
      <p:sp>
        <p:nvSpPr>
          <p:cNvPr id="27" name="Shape 25"/>
          <p:cNvSpPr/>
          <p:nvPr/>
        </p:nvSpPr>
        <p:spPr>
          <a:xfrm>
            <a:off x="804672" y="4818888"/>
            <a:ext cx="118872" cy="118872"/>
          </a:xfrm>
          <a:prstGeom prst="roundRect">
            <a:avLst>
              <a:gd name="adj" fmla="val 30769"/>
            </a:avLst>
          </a:prstGeom>
          <a:solidFill>
            <a:srgbClr val="E6115E"/>
          </a:solidFill>
          <a:ln w="12700">
            <a:solidFill>
              <a:srgbClr val="E6115E"/>
            </a:solidFill>
            <a:prstDash val="solid"/>
          </a:ln>
        </p:spPr>
      </p:sp>
      <p:sp>
        <p:nvSpPr>
          <p:cNvPr id="28" name="Text 26"/>
          <p:cNvSpPr/>
          <p:nvPr/>
        </p:nvSpPr>
        <p:spPr>
          <a:xfrm>
            <a:off x="1042416" y="4718304"/>
            <a:ext cx="102778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Y ahora lo que de verdad hunde los estudios: el sesgo de selección</a:t>
            </a:r>
            <a:endParaRPr lang="en-US" sz="1500" dirty="0"/>
          </a:p>
        </p:txBody>
      </p:sp>
      <p:sp>
        <p:nvSpPr>
          <p:cNvPr id="29" name="Text 27"/>
          <p:cNvSpPr/>
          <p:nvPr/>
        </p:nvSpPr>
        <p:spPr>
          <a:xfrm>
            <a:off x="804672" y="5084064"/>
            <a:ext cx="10515600" cy="566928"/>
          </a:xfrm>
          <a:prstGeom prst="rect">
            <a:avLst/>
          </a:prstGeom>
          <a:noFill/>
          <a:ln/>
        </p:spPr>
        <p:txBody>
          <a:bodyPr wrap="square" lIns="0" tIns="0" rIns="0" bIns="0" rtlCol="0" anchor="t"/>
          <a:lstStyle/>
          <a:p>
            <a:pPr algn="l" indent="0" marL="0">
              <a:lnSpc>
                <a:spcPct val="108000"/>
              </a:lnSpc>
              <a:buNone/>
            </a:pPr>
            <a:r>
              <a:rPr lang="en-US" sz="1250" dirty="0">
                <a:solidFill>
                  <a:srgbClr val="C9D6F2"/>
                </a:solidFill>
                <a:latin typeface="Calibri" pitchFamily="34" charset="0"/>
                <a:ea typeface="Calibri" pitchFamily="34" charset="-122"/>
                <a:cs typeface="Calibri" pitchFamily="34" charset="-120"/>
              </a:rPr>
              <a:t>El error estándar mide la variabilidad del azar. NO mide el sesgo. Si tu marco muestral excluye sistemáticamente a un grupo, aumentar n no arregla nada: te da un número equivocado con un intervalo más angosto, que es peor que no tener número.</a:t>
            </a:r>
            <a:endParaRPr lang="en-US" sz="1250" dirty="0"/>
          </a:p>
        </p:txBody>
      </p:sp>
      <p:sp>
        <p:nvSpPr>
          <p:cNvPr id="30" name="Text 28"/>
          <p:cNvSpPr/>
          <p:nvPr/>
        </p:nvSpPr>
        <p:spPr>
          <a:xfrm>
            <a:off x="804672" y="5669280"/>
            <a:ext cx="10515600" cy="457200"/>
          </a:xfrm>
          <a:prstGeom prst="rect">
            <a:avLst/>
          </a:prstGeom>
          <a:noFill/>
          <a:ln/>
        </p:spPr>
        <p:txBody>
          <a:bodyPr wrap="square" lIns="0" tIns="0" rIns="0" bIns="0" rtlCol="0" anchor="t"/>
          <a:lstStyle/>
          <a:p>
            <a:pPr algn="l" indent="0" marL="0">
              <a:lnSpc>
                <a:spcPct val="106000"/>
              </a:lnSpc>
              <a:buNone/>
            </a:pPr>
            <a:r>
              <a:rPr lang="en-US" sz="1200" dirty="0">
                <a:solidFill>
                  <a:srgbClr val="8FA6D4"/>
                </a:solidFill>
                <a:latin typeface="Calibri" pitchFamily="34" charset="0"/>
                <a:ea typeface="Calibri" pitchFamily="34" charset="-122"/>
                <a:cs typeface="Calibri" pitchFamily="34" charset="-120"/>
              </a:rPr>
              <a:t>Tres formas de que te pase en el trabajo:  revisas solo las transacciones que ya alertó el sistema (y concluyes sobre todas)  ·  muestreas solo clientes activos (y concluyes sobre la cartera)  ·  usas solo los casos con datos completos (y los incompletos no son aleatorios).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8346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83464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CASO REAL · 1936</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2.3 millones de encuestas que se equivocaron por 19 puntos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El estudio más grande de su época perdió contra uno 45 veces más pequeño. La diferencia no fue el tamaño.</a:t>
            </a:r>
            <a:endParaRPr lang="en-US" sz="1400" dirty="0"/>
          </a:p>
        </p:txBody>
      </p:sp>
      <p:sp>
        <p:nvSpPr>
          <p:cNvPr id="6" name="Text 4"/>
          <p:cNvSpPr/>
          <p:nvPr/>
        </p:nvSpPr>
        <p:spPr>
          <a:xfrm>
            <a:off x="777240" y="2011680"/>
            <a:ext cx="2377440" cy="603504"/>
          </a:xfrm>
          <a:prstGeom prst="rect">
            <a:avLst/>
          </a:prstGeom>
          <a:noFill/>
          <a:ln/>
        </p:spPr>
        <p:txBody>
          <a:bodyPr wrap="square" lIns="0" tIns="0" rIns="0" bIns="0" rtlCol="0" anchor="ctr"/>
          <a:lstStyle/>
          <a:p>
            <a:pPr algn="l" indent="0" marL="0">
              <a:buNone/>
            </a:pPr>
            <a:r>
              <a:rPr lang="en-US" sz="3200" b="1" dirty="0">
                <a:solidFill>
                  <a:srgbClr val="E6115E"/>
                </a:solidFill>
                <a:latin typeface="Calibri" pitchFamily="34" charset="0"/>
                <a:ea typeface="Calibri" pitchFamily="34" charset="-122"/>
                <a:cs typeface="Calibri" pitchFamily="34" charset="-120"/>
              </a:rPr>
              <a:t>10 M</a:t>
            </a:r>
            <a:endParaRPr lang="en-US" sz="3200" dirty="0"/>
          </a:p>
        </p:txBody>
      </p:sp>
      <p:sp>
        <p:nvSpPr>
          <p:cNvPr id="7" name="Text 5"/>
          <p:cNvSpPr/>
          <p:nvPr/>
        </p:nvSpPr>
        <p:spPr>
          <a:xfrm>
            <a:off x="777240" y="2578608"/>
            <a:ext cx="237744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Papeletas que envió</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el Literary Digest</a:t>
            </a:r>
            <a:endParaRPr lang="en-US" sz="1150" dirty="0"/>
          </a:p>
        </p:txBody>
      </p:sp>
      <p:sp>
        <p:nvSpPr>
          <p:cNvPr id="8" name="Text 6"/>
          <p:cNvSpPr/>
          <p:nvPr/>
        </p:nvSpPr>
        <p:spPr>
          <a:xfrm>
            <a:off x="3383280" y="2011680"/>
            <a:ext cx="2377440" cy="603504"/>
          </a:xfrm>
          <a:prstGeom prst="rect">
            <a:avLst/>
          </a:prstGeom>
          <a:noFill/>
          <a:ln/>
        </p:spPr>
        <p:txBody>
          <a:bodyPr wrap="square" lIns="0" tIns="0" rIns="0" bIns="0" rtlCol="0" anchor="ctr"/>
          <a:lstStyle/>
          <a:p>
            <a:pPr algn="l" indent="0" marL="0">
              <a:buNone/>
            </a:pPr>
            <a:r>
              <a:rPr lang="en-US" sz="3200" b="1" dirty="0">
                <a:solidFill>
                  <a:srgbClr val="1A56E8"/>
                </a:solidFill>
                <a:latin typeface="Calibri" pitchFamily="34" charset="0"/>
                <a:ea typeface="Calibri" pitchFamily="34" charset="-122"/>
                <a:cs typeface="Calibri" pitchFamily="34" charset="-120"/>
              </a:rPr>
              <a:t>2.3 M</a:t>
            </a:r>
            <a:endParaRPr lang="en-US" sz="3200" dirty="0"/>
          </a:p>
        </p:txBody>
      </p:sp>
      <p:sp>
        <p:nvSpPr>
          <p:cNvPr id="9" name="Text 7"/>
          <p:cNvSpPr/>
          <p:nvPr/>
        </p:nvSpPr>
        <p:spPr>
          <a:xfrm>
            <a:off x="3383280" y="2578608"/>
            <a:ext cx="237744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Respuestas que recibió.</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Una muestra enorme.</a:t>
            </a:r>
            <a:endParaRPr lang="en-US" sz="1150" dirty="0"/>
          </a:p>
        </p:txBody>
      </p:sp>
      <p:sp>
        <p:nvSpPr>
          <p:cNvPr id="10" name="Text 8"/>
          <p:cNvSpPr/>
          <p:nvPr/>
        </p:nvSpPr>
        <p:spPr>
          <a:xfrm>
            <a:off x="5989320" y="2011680"/>
            <a:ext cx="2377440" cy="603504"/>
          </a:xfrm>
          <a:prstGeom prst="rect">
            <a:avLst/>
          </a:prstGeom>
          <a:noFill/>
          <a:ln/>
        </p:spPr>
        <p:txBody>
          <a:bodyPr wrap="square" lIns="0" tIns="0" rIns="0" bIns="0" rtlCol="0" anchor="ctr"/>
          <a:lstStyle/>
          <a:p>
            <a:pPr algn="l" indent="0" marL="0">
              <a:buNone/>
            </a:pPr>
            <a:r>
              <a:rPr lang="en-US" sz="3200" b="1" dirty="0">
                <a:solidFill>
                  <a:srgbClr val="E6115E"/>
                </a:solidFill>
                <a:latin typeface="Calibri" pitchFamily="34" charset="0"/>
                <a:ea typeface="Calibri" pitchFamily="34" charset="-122"/>
                <a:cs typeface="Calibri" pitchFamily="34" charset="-120"/>
              </a:rPr>
              <a:t>57 % ✗</a:t>
            </a:r>
            <a:endParaRPr lang="en-US" sz="3200" dirty="0"/>
          </a:p>
        </p:txBody>
      </p:sp>
      <p:sp>
        <p:nvSpPr>
          <p:cNvPr id="11" name="Text 9"/>
          <p:cNvSpPr/>
          <p:nvPr/>
        </p:nvSpPr>
        <p:spPr>
          <a:xfrm>
            <a:off x="5989320" y="2578608"/>
            <a:ext cx="237744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Su predicción: Landon</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gana con holgura</a:t>
            </a:r>
            <a:endParaRPr lang="en-US" sz="1150" dirty="0"/>
          </a:p>
        </p:txBody>
      </p:sp>
      <p:sp>
        <p:nvSpPr>
          <p:cNvPr id="12" name="Text 10"/>
          <p:cNvSpPr/>
          <p:nvPr/>
        </p:nvSpPr>
        <p:spPr>
          <a:xfrm>
            <a:off x="8595360" y="2011680"/>
            <a:ext cx="2926080" cy="603504"/>
          </a:xfrm>
          <a:prstGeom prst="rect">
            <a:avLst/>
          </a:prstGeom>
          <a:noFill/>
          <a:ln/>
        </p:spPr>
        <p:txBody>
          <a:bodyPr wrap="square" lIns="0" tIns="0" rIns="0" bIns="0" rtlCol="0" anchor="ctr"/>
          <a:lstStyle/>
          <a:p>
            <a:pPr algn="l" indent="0" marL="0">
              <a:buNone/>
            </a:pPr>
            <a:r>
              <a:rPr lang="en-US" sz="3200" b="1" dirty="0">
                <a:solidFill>
                  <a:srgbClr val="12B886"/>
                </a:solidFill>
                <a:latin typeface="Calibri" pitchFamily="34" charset="0"/>
                <a:ea typeface="Calibri" pitchFamily="34" charset="-122"/>
                <a:cs typeface="Calibri" pitchFamily="34" charset="-120"/>
              </a:rPr>
              <a:t>50 000</a:t>
            </a:r>
            <a:endParaRPr lang="en-US" sz="3200" dirty="0"/>
          </a:p>
        </p:txBody>
      </p:sp>
      <p:sp>
        <p:nvSpPr>
          <p:cNvPr id="13" name="Text 11"/>
          <p:cNvSpPr/>
          <p:nvPr/>
        </p:nvSpPr>
        <p:spPr>
          <a:xfrm>
            <a:off x="8595360" y="2578608"/>
            <a:ext cx="292608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La muestra de Gallup,</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que sí acertó</a:t>
            </a:r>
            <a:endParaRPr lang="en-US" sz="1150" dirty="0"/>
          </a:p>
        </p:txBody>
      </p:sp>
      <p:sp>
        <p:nvSpPr>
          <p:cNvPr id="14" name="Shape 12"/>
          <p:cNvSpPr/>
          <p:nvPr/>
        </p:nvSpPr>
        <p:spPr>
          <a:xfrm>
            <a:off x="777240" y="3310128"/>
            <a:ext cx="10607040" cy="0"/>
          </a:xfrm>
          <a:prstGeom prst="line">
            <a:avLst/>
          </a:prstGeom>
          <a:noFill/>
          <a:ln w="12700">
            <a:solidFill>
              <a:srgbClr val="D2DBEC"/>
            </a:solidFill>
            <a:prstDash val="solid"/>
          </a:ln>
        </p:spPr>
      </p:sp>
      <p:sp>
        <p:nvSpPr>
          <p:cNvPr id="15" name="Shape 13"/>
          <p:cNvSpPr/>
          <p:nvPr/>
        </p:nvSpPr>
        <p:spPr>
          <a:xfrm>
            <a:off x="548640" y="3520440"/>
            <a:ext cx="5468112" cy="1572768"/>
          </a:xfrm>
          <a:prstGeom prst="roundRect">
            <a:avLst>
              <a:gd name="adj" fmla="val 3488"/>
            </a:avLst>
          </a:prstGeom>
          <a:solidFill>
            <a:srgbClr val="FFFFFF"/>
          </a:solidFill>
          <a:ln w="12700">
            <a:solidFill>
              <a:srgbClr val="D2DBEC"/>
            </a:solidFill>
            <a:prstDash val="solid"/>
          </a:ln>
        </p:spPr>
      </p:sp>
      <p:sp>
        <p:nvSpPr>
          <p:cNvPr id="16" name="Shape 14"/>
          <p:cNvSpPr/>
          <p:nvPr/>
        </p:nvSpPr>
        <p:spPr>
          <a:xfrm>
            <a:off x="804672" y="3785616"/>
            <a:ext cx="118872" cy="118872"/>
          </a:xfrm>
          <a:prstGeom prst="roundRect">
            <a:avLst>
              <a:gd name="adj" fmla="val 30769"/>
            </a:avLst>
          </a:prstGeom>
          <a:solidFill>
            <a:srgbClr val="E6115E"/>
          </a:solidFill>
          <a:ln w="12700">
            <a:solidFill>
              <a:srgbClr val="E6115E"/>
            </a:solidFill>
            <a:prstDash val="solid"/>
          </a:ln>
        </p:spPr>
      </p:sp>
      <p:sp>
        <p:nvSpPr>
          <p:cNvPr id="17" name="Text 15"/>
          <p:cNvSpPr/>
          <p:nvPr/>
        </p:nvSpPr>
        <p:spPr>
          <a:xfrm>
            <a:off x="1042416" y="3685032"/>
            <a:ext cx="4791456" cy="292608"/>
          </a:xfrm>
          <a:prstGeom prst="rect">
            <a:avLst/>
          </a:prstGeom>
          <a:noFill/>
          <a:ln/>
        </p:spPr>
        <p:txBody>
          <a:bodyPr wrap="square" lIns="0" tIns="0" rIns="0" bIns="0" rtlCol="0" anchor="ctr"/>
          <a:lstStyle/>
          <a:p>
            <a:pPr indent="0" marL="0">
              <a:buNone/>
            </a:pPr>
            <a:r>
              <a:rPr lang="en-US" sz="1500" b="1" dirty="0">
                <a:solidFill>
                  <a:srgbClr val="0A2559"/>
                </a:solidFill>
                <a:latin typeface="Calibri" pitchFamily="34" charset="0"/>
                <a:ea typeface="Calibri" pitchFamily="34" charset="-122"/>
                <a:cs typeface="Calibri" pitchFamily="34" charset="-120"/>
              </a:rPr>
              <a:t>Qué falló</a:t>
            </a:r>
            <a:endParaRPr lang="en-US" sz="1500" dirty="0"/>
          </a:p>
        </p:txBody>
      </p:sp>
      <p:sp>
        <p:nvSpPr>
          <p:cNvPr id="18" name="Text 16"/>
          <p:cNvSpPr/>
          <p:nvPr/>
        </p:nvSpPr>
        <p:spPr>
          <a:xfrm>
            <a:off x="804672" y="4050792"/>
            <a:ext cx="4983480" cy="960120"/>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El marco muestral: listas de suscriptores de la revista, propietarios de automóvil y abonados de teléfono. En 1936, en plena Depresión, esos tres grupos eran la población acomodada — y votaba distinto. Encima, solo respondió el 23 % de los que recibieron papeleta, y quien se molesta en responder tampoco es un votante promedio.</a:t>
            </a:r>
            <a:endParaRPr lang="en-US" sz="1150" dirty="0"/>
          </a:p>
        </p:txBody>
      </p:sp>
      <p:sp>
        <p:nvSpPr>
          <p:cNvPr id="19" name="Shape 17"/>
          <p:cNvSpPr/>
          <p:nvPr/>
        </p:nvSpPr>
        <p:spPr>
          <a:xfrm>
            <a:off x="6172200" y="3520440"/>
            <a:ext cx="5468112" cy="1572768"/>
          </a:xfrm>
          <a:prstGeom prst="roundRect">
            <a:avLst>
              <a:gd name="adj" fmla="val 3488"/>
            </a:avLst>
          </a:prstGeom>
          <a:solidFill>
            <a:srgbClr val="E9EEF8"/>
          </a:solidFill>
          <a:ln w="12700">
            <a:solidFill>
              <a:srgbClr val="D2DBEC"/>
            </a:solidFill>
            <a:prstDash val="solid"/>
          </a:ln>
        </p:spPr>
      </p:sp>
      <p:sp>
        <p:nvSpPr>
          <p:cNvPr id="20" name="Shape 18"/>
          <p:cNvSpPr/>
          <p:nvPr/>
        </p:nvSpPr>
        <p:spPr>
          <a:xfrm>
            <a:off x="6419088" y="3785616"/>
            <a:ext cx="118872" cy="118872"/>
          </a:xfrm>
          <a:prstGeom prst="roundRect">
            <a:avLst>
              <a:gd name="adj" fmla="val 30769"/>
            </a:avLst>
          </a:prstGeom>
          <a:solidFill>
            <a:srgbClr val="E6115E"/>
          </a:solidFill>
          <a:ln w="12700">
            <a:solidFill>
              <a:srgbClr val="E6115E"/>
            </a:solidFill>
            <a:prstDash val="solid"/>
          </a:ln>
        </p:spPr>
      </p:sp>
      <p:sp>
        <p:nvSpPr>
          <p:cNvPr id="21" name="Text 19"/>
          <p:cNvSpPr/>
          <p:nvPr/>
        </p:nvSpPr>
        <p:spPr>
          <a:xfrm>
            <a:off x="6656832" y="3685032"/>
            <a:ext cx="4791456" cy="292608"/>
          </a:xfrm>
          <a:prstGeom prst="rect">
            <a:avLst/>
          </a:prstGeom>
          <a:noFill/>
          <a:ln/>
        </p:spPr>
        <p:txBody>
          <a:bodyPr wrap="square" lIns="0" tIns="0" rIns="0" bIns="0" rtlCol="0" anchor="ctr"/>
          <a:lstStyle/>
          <a:p>
            <a:pPr indent="0" marL="0">
              <a:buNone/>
            </a:pPr>
            <a:r>
              <a:rPr lang="en-US" sz="1500" b="1" dirty="0">
                <a:solidFill>
                  <a:srgbClr val="0A2559"/>
                </a:solidFill>
                <a:latin typeface="Calibri" pitchFamily="34" charset="0"/>
                <a:ea typeface="Calibri" pitchFamily="34" charset="-122"/>
                <a:cs typeface="Calibri" pitchFamily="34" charset="-120"/>
              </a:rPr>
              <a:t>El resultado real</a:t>
            </a:r>
            <a:endParaRPr lang="en-US" sz="1500" dirty="0"/>
          </a:p>
        </p:txBody>
      </p:sp>
      <p:sp>
        <p:nvSpPr>
          <p:cNvPr id="22" name="Text 20"/>
          <p:cNvSpPr/>
          <p:nvPr/>
        </p:nvSpPr>
        <p:spPr>
          <a:xfrm>
            <a:off x="6419088" y="4050792"/>
            <a:ext cx="4983480" cy="960120"/>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Roosevelt ganó con cerca del 61 % del voto popular y 46 de los 48 estados. El error del Digest fue de unos 19 puntos porcentuales — un orden de magnitud mayor que cualquier margen de error atribuible al azar con 2.3 millones de respuestas. La revista cerró dos años después.</a:t>
            </a:r>
            <a:endParaRPr lang="en-US" sz="1150" dirty="0"/>
          </a:p>
        </p:txBody>
      </p:sp>
      <p:sp>
        <p:nvSpPr>
          <p:cNvPr id="23" name="Shape 21"/>
          <p:cNvSpPr/>
          <p:nvPr/>
        </p:nvSpPr>
        <p:spPr>
          <a:xfrm>
            <a:off x="548640" y="5230368"/>
            <a:ext cx="11091672" cy="969264"/>
          </a:xfrm>
          <a:prstGeom prst="roundRect">
            <a:avLst>
              <a:gd name="adj" fmla="val 5660"/>
            </a:avLst>
          </a:prstGeom>
          <a:solidFill>
            <a:srgbClr val="0A2559"/>
          </a:solidFill>
          <a:ln w="12700">
            <a:solidFill>
              <a:srgbClr val="0A2559"/>
            </a:solidFill>
            <a:prstDash val="solid"/>
          </a:ln>
        </p:spPr>
      </p:sp>
      <p:sp>
        <p:nvSpPr>
          <p:cNvPr id="24" name="Shape 22"/>
          <p:cNvSpPr/>
          <p:nvPr/>
        </p:nvSpPr>
        <p:spPr>
          <a:xfrm>
            <a:off x="804672" y="5477256"/>
            <a:ext cx="118872" cy="118872"/>
          </a:xfrm>
          <a:prstGeom prst="roundRect">
            <a:avLst>
              <a:gd name="adj" fmla="val 30769"/>
            </a:avLst>
          </a:prstGeom>
          <a:solidFill>
            <a:srgbClr val="E6115E"/>
          </a:solidFill>
          <a:ln w="12700">
            <a:solidFill>
              <a:srgbClr val="E6115E"/>
            </a:solidFill>
            <a:prstDash val="solid"/>
          </a:ln>
        </p:spPr>
      </p:sp>
      <p:sp>
        <p:nvSpPr>
          <p:cNvPr id="25" name="Text 23"/>
          <p:cNvSpPr/>
          <p:nvPr/>
        </p:nvSpPr>
        <p:spPr>
          <a:xfrm>
            <a:off x="1042416" y="5376672"/>
            <a:ext cx="61630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La lección, que es la de toda la clase</a:t>
            </a:r>
            <a:endParaRPr lang="en-US" sz="1400" dirty="0"/>
          </a:p>
        </p:txBody>
      </p:sp>
      <p:sp>
        <p:nvSpPr>
          <p:cNvPr id="26" name="Text 24"/>
          <p:cNvSpPr/>
          <p:nvPr/>
        </p:nvSpPr>
        <p:spPr>
          <a:xfrm>
            <a:off x="804672" y="5724144"/>
            <a:ext cx="10515600" cy="420624"/>
          </a:xfrm>
          <a:prstGeom prst="rect">
            <a:avLst/>
          </a:prstGeom>
          <a:noFill/>
          <a:ln/>
        </p:spPr>
        <p:txBody>
          <a:bodyPr wrap="square" lIns="0" tIns="0" rIns="0" bIns="0" rtlCol="0" anchor="t"/>
          <a:lstStyle/>
          <a:p>
            <a:pPr algn="l" indent="0" marL="0">
              <a:lnSpc>
                <a:spcPct val="105000"/>
              </a:lnSpc>
              <a:buNone/>
            </a:pPr>
            <a:r>
              <a:rPr lang="en-US" sz="1250" dirty="0">
                <a:solidFill>
                  <a:srgbClr val="C9D6F2"/>
                </a:solidFill>
                <a:latin typeface="Calibri" pitchFamily="34" charset="0"/>
                <a:ea typeface="Calibri" pitchFamily="34" charset="-122"/>
                <a:cs typeface="Calibri" pitchFamily="34" charset="-120"/>
              </a:rPr>
              <a:t>Con n = 2 300 000 el error estándar es prácticamente cero. El intervalo de confianza del Digest habría sido de ±0.1 puntos: angostísimo, precisísimo y centrado en el lugar equivocado. La precisión no es exactitud.</a:t>
            </a:r>
            <a:endParaRPr lang="en-US" sz="1250" dirty="0"/>
          </a:p>
        </p:txBody>
      </p:sp>
      <p:sp>
        <p:nvSpPr>
          <p:cNvPr id="27" name="Text 25"/>
          <p:cNvSpPr/>
          <p:nvPr/>
        </p:nvSpPr>
        <p:spPr>
          <a:xfrm>
            <a:off x="548640" y="6345936"/>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Fuentes: Squire, P. (1988), «Why the 1936 Literary Digest Poll Failed», Public Opinion Quarterly 52(1); resultados oficiales de la elección presidencial de EE. UU. de 1936.</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DISTRIBUCIÓN MUESTRAL</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El concepto nuevo: la distribución del estimador</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No es la distribución de tus datos. Es la distribución de los promedios que obtendrías si repitieras el muestreo.</a:t>
            </a:r>
            <a:endParaRPr lang="en-US" sz="1400" dirty="0"/>
          </a:p>
        </p:txBody>
      </p:sp>
      <p:graphicFrame>
        <p:nvGraphicFramePr>
          <p:cNvPr id="6" name="Chart 0" descr=""/>
          <p:cNvGraphicFramePr/>
          <p:nvPr/>
        </p:nvGraphicFramePr>
        <p:xfrm>
          <a:off x="548640" y="1965960"/>
          <a:ext cx="7086600" cy="32918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863840" y="1965960"/>
            <a:ext cx="3776472" cy="1481328"/>
          </a:xfrm>
          <a:prstGeom prst="roundRect">
            <a:avLst>
              <a:gd name="adj" fmla="val 3704"/>
            </a:avLst>
          </a:prstGeom>
          <a:solidFill>
            <a:srgbClr val="0A2559"/>
          </a:solidFill>
          <a:ln w="12700">
            <a:solidFill>
              <a:srgbClr val="0A2559"/>
            </a:solidFill>
            <a:prstDash val="solid"/>
          </a:ln>
        </p:spPr>
      </p:sp>
      <p:sp>
        <p:nvSpPr>
          <p:cNvPr id="8" name="Shape 5"/>
          <p:cNvSpPr/>
          <p:nvPr/>
        </p:nvSpPr>
        <p:spPr>
          <a:xfrm>
            <a:off x="8110728" y="2231136"/>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8348472" y="2130552"/>
            <a:ext cx="305409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Dos distribuciones, no una</a:t>
            </a:r>
            <a:endParaRPr lang="en-US" sz="1400" dirty="0"/>
          </a:p>
        </p:txBody>
      </p:sp>
      <p:sp>
        <p:nvSpPr>
          <p:cNvPr id="10" name="Text 7"/>
          <p:cNvSpPr/>
          <p:nvPr/>
        </p:nvSpPr>
        <p:spPr>
          <a:xfrm>
            <a:off x="8110728" y="2505456"/>
            <a:ext cx="3291840" cy="868680"/>
          </a:xfrm>
          <a:prstGeom prst="rect">
            <a:avLst/>
          </a:prstGeom>
          <a:noFill/>
          <a:ln/>
        </p:spPr>
        <p:txBody>
          <a:bodyPr wrap="square" lIns="0" tIns="0" rIns="0" bIns="0" rtlCol="0" anchor="t"/>
          <a:lstStyle/>
          <a:p>
            <a:pPr algn="l" indent="0" marL="0">
              <a:lnSpc>
                <a:spcPct val="106000"/>
              </a:lnSpc>
              <a:buNone/>
            </a:pPr>
            <a:r>
              <a:rPr lang="en-US" sz="1200" dirty="0">
                <a:solidFill>
                  <a:srgbClr val="C9D6F2"/>
                </a:solidFill>
                <a:latin typeface="Calibri" pitchFamily="34" charset="0"/>
                <a:ea typeface="Calibri" pitchFamily="34" charset="-122"/>
                <a:cs typeface="Calibri" pitchFamily="34" charset="-120"/>
              </a:rPr>
              <a:t>La clara es asimétrica y va de 0 a 9 000: son los montos. La magenta es una campana angosta centrada en μ: son los promedios de muestras de 40. No se parecen en nada.</a:t>
            </a:r>
            <a:endParaRPr lang="en-US" sz="1200" dirty="0"/>
          </a:p>
        </p:txBody>
      </p:sp>
      <p:sp>
        <p:nvSpPr>
          <p:cNvPr id="11" name="Shape 8"/>
          <p:cNvSpPr/>
          <p:nvPr/>
        </p:nvSpPr>
        <p:spPr>
          <a:xfrm>
            <a:off x="7863840" y="3584448"/>
            <a:ext cx="3776472" cy="1298448"/>
          </a:xfrm>
          <a:prstGeom prst="roundRect">
            <a:avLst>
              <a:gd name="adj" fmla="val 4225"/>
            </a:avLst>
          </a:prstGeom>
          <a:solidFill>
            <a:srgbClr val="FFFFFF"/>
          </a:solidFill>
          <a:ln w="12700">
            <a:solidFill>
              <a:srgbClr val="D2DBEC"/>
            </a:solidFill>
            <a:prstDash val="solid"/>
          </a:ln>
        </p:spPr>
      </p:sp>
      <p:sp>
        <p:nvSpPr>
          <p:cNvPr id="12" name="Shape 9"/>
          <p:cNvSpPr/>
          <p:nvPr/>
        </p:nvSpPr>
        <p:spPr>
          <a:xfrm>
            <a:off x="8110728" y="3831336"/>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8348472" y="3730752"/>
            <a:ext cx="305409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Los números</a:t>
            </a:r>
            <a:endParaRPr lang="en-US" sz="1400" dirty="0"/>
          </a:p>
        </p:txBody>
      </p:sp>
      <p:sp>
        <p:nvSpPr>
          <p:cNvPr id="14" name="Text 11"/>
          <p:cNvSpPr/>
          <p:nvPr/>
        </p:nvSpPr>
        <p:spPr>
          <a:xfrm>
            <a:off x="8110728" y="4096512"/>
            <a:ext cx="3291840" cy="731520"/>
          </a:xfrm>
          <a:prstGeom prst="rect">
            <a:avLst/>
          </a:prstGeom>
          <a:noFill/>
          <a:ln/>
        </p:spPr>
        <p:txBody>
          <a:bodyPr wrap="square" lIns="0" tIns="0" rIns="0" bIns="0" rtlCol="0" anchor="t"/>
          <a:lstStyle/>
          <a:p>
            <a:pPr algn="l" indent="0" marL="0">
              <a:lnSpc>
                <a:spcPct val="115000"/>
              </a:lnSpc>
              <a:buNone/>
            </a:pPr>
            <a:r>
              <a:rPr lang="en-US" sz="1150" dirty="0">
                <a:solidFill>
                  <a:srgbClr val="2C3A55"/>
                </a:solidFill>
                <a:latin typeface="Calibri" pitchFamily="34" charset="0"/>
                <a:ea typeface="Calibri" pitchFamily="34" charset="-122"/>
                <a:cs typeface="Calibri" pitchFamily="34" charset="-120"/>
              </a:rPr>
              <a:t>Población:  μ = 3 000,  σ = 2 386</a:t>
            </a:r>
            <a:endParaRPr lang="en-US" sz="1150" dirty="0"/>
          </a:p>
          <a:p>
            <a:pPr algn="l" indent="0" marL="0">
              <a:lnSpc>
                <a:spcPct val="115000"/>
              </a:lnSpc>
              <a:buNone/>
            </a:pPr>
            <a:r>
              <a:rPr lang="en-US" sz="1150" dirty="0">
                <a:solidFill>
                  <a:srgbClr val="2C3A55"/>
                </a:solidFill>
                <a:latin typeface="Calibri" pitchFamily="34" charset="0"/>
                <a:ea typeface="Calibri" pitchFamily="34" charset="-122"/>
                <a:cs typeface="Calibri" pitchFamily="34" charset="-120"/>
              </a:rPr>
              <a:t>Muestral (n = 40):  centro = 3 000,  EE = 377</a:t>
            </a:r>
            <a:endParaRPr lang="en-US" sz="1150" dirty="0"/>
          </a:p>
        </p:txBody>
      </p:sp>
      <p:sp>
        <p:nvSpPr>
          <p:cNvPr id="15" name="Shape 12"/>
          <p:cNvSpPr/>
          <p:nvPr/>
        </p:nvSpPr>
        <p:spPr>
          <a:xfrm>
            <a:off x="7863840" y="5010912"/>
            <a:ext cx="3776472" cy="1188720"/>
          </a:xfrm>
          <a:prstGeom prst="roundRect">
            <a:avLst>
              <a:gd name="adj" fmla="val 4615"/>
            </a:avLst>
          </a:prstGeom>
          <a:solidFill>
            <a:srgbClr val="E9EEF8"/>
          </a:solidFill>
          <a:ln w="12700">
            <a:solidFill>
              <a:srgbClr val="D2DBEC"/>
            </a:solidFill>
            <a:prstDash val="solid"/>
          </a:ln>
        </p:spPr>
      </p:sp>
      <p:sp>
        <p:nvSpPr>
          <p:cNvPr id="16" name="Shape 13"/>
          <p:cNvSpPr/>
          <p:nvPr/>
        </p:nvSpPr>
        <p:spPr>
          <a:xfrm>
            <a:off x="8110728" y="5257800"/>
            <a:ext cx="118872" cy="118872"/>
          </a:xfrm>
          <a:prstGeom prst="roundRect">
            <a:avLst>
              <a:gd name="adj" fmla="val 30769"/>
            </a:avLst>
          </a:prstGeom>
          <a:solidFill>
            <a:srgbClr val="1A56E8"/>
          </a:solidFill>
          <a:ln w="12700">
            <a:solidFill>
              <a:srgbClr val="1A56E8"/>
            </a:solidFill>
            <a:prstDash val="solid"/>
          </a:ln>
        </p:spPr>
      </p:sp>
      <p:sp>
        <p:nvSpPr>
          <p:cNvPr id="17" name="Text 14"/>
          <p:cNvSpPr/>
          <p:nvPr/>
        </p:nvSpPr>
        <p:spPr>
          <a:xfrm>
            <a:off x="8348472" y="5157216"/>
            <a:ext cx="305409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Por qué es normal</a:t>
            </a:r>
            <a:endParaRPr lang="en-US" sz="1400" dirty="0"/>
          </a:p>
        </p:txBody>
      </p:sp>
      <p:sp>
        <p:nvSpPr>
          <p:cNvPr id="18" name="Text 15"/>
          <p:cNvSpPr/>
          <p:nvPr/>
        </p:nvSpPr>
        <p:spPr>
          <a:xfrm>
            <a:off x="8110728" y="5522976"/>
            <a:ext cx="3291840" cy="621792"/>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Por el TLC de la Clase 3. Los datos son lognormales; su promedio, con n = 40, ya es prácticamente normal.</a:t>
            </a:r>
            <a:endParaRPr lang="en-US" sz="1150" dirty="0"/>
          </a:p>
        </p:txBody>
      </p:sp>
      <p:sp>
        <p:nvSpPr>
          <p:cNvPr id="19" name="Text 16"/>
          <p:cNvSpPr/>
          <p:nvPr/>
        </p:nvSpPr>
        <p:spPr>
          <a:xfrm>
            <a:off x="548640" y="5349240"/>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Curvas calculadas con las densidades exactas en el generador del deck. Reprodúcelas por simulación en el bloque 2 del Colab.</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ERROR ESTÁNDAR</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Cuadruplicar la muestra para reducir el error a la mitad</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La raíz cuadrada del denominador es la mala noticia económica de toda la estadística.</a:t>
            </a:r>
            <a:endParaRPr lang="en-US" sz="1400" dirty="0"/>
          </a:p>
        </p:txBody>
      </p:sp>
      <p:graphicFrame>
        <p:nvGraphicFramePr>
          <p:cNvPr id="6" name="Chart 0" descr=""/>
          <p:cNvGraphicFramePr/>
          <p:nvPr/>
        </p:nvGraphicFramePr>
        <p:xfrm>
          <a:off x="548640" y="1965960"/>
          <a:ext cx="5943600" cy="29718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720840" y="1965960"/>
            <a:ext cx="4919472" cy="1170432"/>
          </a:xfrm>
          <a:prstGeom prst="roundRect">
            <a:avLst>
              <a:gd name="adj" fmla="val 4688"/>
            </a:avLst>
          </a:prstGeom>
          <a:solidFill>
            <a:srgbClr val="0A2559"/>
          </a:solidFill>
          <a:ln w="12700">
            <a:solidFill>
              <a:srgbClr val="0A2559"/>
            </a:solidFill>
            <a:prstDash val="solid"/>
          </a:ln>
        </p:spPr>
      </p:sp>
      <p:sp>
        <p:nvSpPr>
          <p:cNvPr id="8" name="Text 5"/>
          <p:cNvSpPr/>
          <p:nvPr/>
        </p:nvSpPr>
        <p:spPr>
          <a:xfrm>
            <a:off x="6720840" y="1965960"/>
            <a:ext cx="4919472" cy="117043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EE(x̄) = σ / √n        y si no conoces σ:        EE(x̄) ≈ s / √n</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720840" y="3310128"/>
          <a:ext cx="4919472" cy="914400"/>
        </p:xfrm>
        <a:graphic>
          <a:graphicData uri="http://schemas.openxmlformats.org/drawingml/2006/table">
            <a:tbl>
              <a:tblPr/>
              <a:tblGrid>
                <a:gridCol w="1188720"/>
                <a:gridCol w="1005840"/>
                <a:gridCol w="1417320"/>
                <a:gridCol w="1307592"/>
              </a:tblGrid>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Pasas de n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 n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Gastas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Y el EE baja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365760">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400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4× el esfuerzo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a la mitad</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r h="365760">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900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9× el esfuerzo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a un tercio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r h="365760">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 el esfuerzo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solo un 29 %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bl>
          </a:graphicData>
        </a:graphic>
      </p:graphicFrame>
      <p:sp>
        <p:nvSpPr>
          <p:cNvPr id="10" name="Shape 6"/>
          <p:cNvSpPr/>
          <p:nvPr/>
        </p:nvSpPr>
        <p:spPr>
          <a:xfrm>
            <a:off x="6720840" y="4864608"/>
            <a:ext cx="4919472" cy="1335024"/>
          </a:xfrm>
          <a:prstGeom prst="roundRect">
            <a:avLst>
              <a:gd name="adj" fmla="val 4110"/>
            </a:avLst>
          </a:prstGeom>
          <a:solidFill>
            <a:srgbClr val="FFFFFF"/>
          </a:solidFill>
          <a:ln w="12700">
            <a:solidFill>
              <a:srgbClr val="D2DBEC"/>
            </a:solidFill>
            <a:prstDash val="solid"/>
          </a:ln>
        </p:spPr>
      </p:sp>
      <p:sp>
        <p:nvSpPr>
          <p:cNvPr id="11" name="Shape 7"/>
          <p:cNvSpPr/>
          <p:nvPr/>
        </p:nvSpPr>
        <p:spPr>
          <a:xfrm>
            <a:off x="6967728" y="5129784"/>
            <a:ext cx="118872" cy="118872"/>
          </a:xfrm>
          <a:prstGeom prst="roundRect">
            <a:avLst>
              <a:gd name="adj" fmla="val 30769"/>
            </a:avLst>
          </a:prstGeom>
          <a:solidFill>
            <a:srgbClr val="E6115E"/>
          </a:solidFill>
          <a:ln w="12700">
            <a:solidFill>
              <a:srgbClr val="E6115E"/>
            </a:solidFill>
            <a:prstDash val="solid"/>
          </a:ln>
        </p:spPr>
      </p:sp>
      <p:sp>
        <p:nvSpPr>
          <p:cNvPr id="12" name="Text 8"/>
          <p:cNvSpPr/>
          <p:nvPr/>
        </p:nvSpPr>
        <p:spPr>
          <a:xfrm>
            <a:off x="7205472" y="5029200"/>
            <a:ext cx="424281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La conversación de negocio</a:t>
            </a:r>
            <a:endParaRPr lang="en-US" sz="1400" dirty="0"/>
          </a:p>
        </p:txBody>
      </p:sp>
      <p:sp>
        <p:nvSpPr>
          <p:cNvPr id="13" name="Text 9"/>
          <p:cNvSpPr/>
          <p:nvPr/>
        </p:nvSpPr>
        <p:spPr>
          <a:xfrm>
            <a:off x="6967728" y="5394960"/>
            <a:ext cx="4434840" cy="731520"/>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Cuando alguien pida «más muestra para estar más seguros», esta tabla es tu respuesta: duplicar el trabajo compra un 29 % de mejora. A veces conviene; a veces es mejor invertir en un mejor diseño de muestreo.</a:t>
            </a:r>
            <a:endParaRPr lang="en-US" sz="1150" dirty="0"/>
          </a:p>
        </p:txBody>
      </p:sp>
      <p:sp>
        <p:nvSpPr>
          <p:cNvPr id="14" name="Text 10"/>
          <p:cNvSpPr/>
          <p:nvPr/>
        </p:nvSpPr>
        <p:spPr>
          <a:xfrm>
            <a:off x="548640" y="5074920"/>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Calculado con σ = 2 386, la desviación de la población de montos del curso.</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QUÉ HACE BUENO A UN ESTIMADOR</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Sin sesgo, con poca varianza, y que mejore al crecer n</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Tres propiedades. Y una consecuencia práctica que explica el ddof=1 que copias sin pensar.</a:t>
            </a:r>
            <a:endParaRPr lang="en-US" sz="1400" dirty="0"/>
          </a:p>
        </p:txBody>
      </p:sp>
      <p:sp>
        <p:nvSpPr>
          <p:cNvPr id="6" name="Shape 4"/>
          <p:cNvSpPr/>
          <p:nvPr/>
        </p:nvSpPr>
        <p:spPr>
          <a:xfrm>
            <a:off x="548640" y="1965960"/>
            <a:ext cx="3520440" cy="1572768"/>
          </a:xfrm>
          <a:prstGeom prst="roundRect">
            <a:avLst>
              <a:gd name="adj" fmla="val 3488"/>
            </a:avLst>
          </a:prstGeom>
          <a:solidFill>
            <a:srgbClr val="FFFFFF"/>
          </a:solidFill>
          <a:ln w="12700">
            <a:solidFill>
              <a:srgbClr val="D2DBEC"/>
            </a:solidFill>
            <a:prstDash val="solid"/>
          </a:ln>
        </p:spPr>
      </p:sp>
      <p:sp>
        <p:nvSpPr>
          <p:cNvPr id="7" name="Text 5"/>
          <p:cNvSpPr/>
          <p:nvPr/>
        </p:nvSpPr>
        <p:spPr>
          <a:xfrm>
            <a:off x="777240" y="2121408"/>
            <a:ext cx="2103120" cy="310896"/>
          </a:xfrm>
          <a:prstGeom prst="rect">
            <a:avLst/>
          </a:prstGeom>
          <a:noFill/>
          <a:ln/>
        </p:spPr>
        <p:txBody>
          <a:bodyPr wrap="square" lIns="0" tIns="0" rIns="0" bIns="0" rtlCol="0" anchor="ctr"/>
          <a:lstStyle/>
          <a:p>
            <a:pPr indent="0" marL="0">
              <a:buNone/>
            </a:pPr>
            <a:r>
              <a:rPr lang="en-US" sz="1500" b="1" dirty="0">
                <a:solidFill>
                  <a:srgbClr val="0A2559"/>
                </a:solidFill>
                <a:latin typeface="Calibri" pitchFamily="34" charset="0"/>
                <a:ea typeface="Calibri" pitchFamily="34" charset="-122"/>
                <a:cs typeface="Calibri" pitchFamily="34" charset="-120"/>
              </a:rPr>
              <a:t>Insesgado</a:t>
            </a:r>
            <a:endParaRPr lang="en-US" sz="1500" dirty="0"/>
          </a:p>
        </p:txBody>
      </p:sp>
      <p:sp>
        <p:nvSpPr>
          <p:cNvPr id="8" name="Shape 6"/>
          <p:cNvSpPr/>
          <p:nvPr/>
        </p:nvSpPr>
        <p:spPr>
          <a:xfrm>
            <a:off x="2697480" y="2139696"/>
            <a:ext cx="1207008" cy="274320"/>
          </a:xfrm>
          <a:prstGeom prst="roundRect">
            <a:avLst>
              <a:gd name="adj" fmla="val 50000"/>
            </a:avLst>
          </a:prstGeom>
          <a:solidFill>
            <a:srgbClr val="1A56E8"/>
          </a:solidFill>
          <a:ln w="12700">
            <a:solidFill>
              <a:srgbClr val="1A56E8"/>
            </a:solidFill>
            <a:prstDash val="solid"/>
          </a:ln>
        </p:spPr>
      </p:sp>
      <p:sp>
        <p:nvSpPr>
          <p:cNvPr id="9" name="Text 7"/>
          <p:cNvSpPr/>
          <p:nvPr/>
        </p:nvSpPr>
        <p:spPr>
          <a:xfrm>
            <a:off x="2697480" y="2139696"/>
            <a:ext cx="1207008"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sin sesgo</a:t>
            </a:r>
            <a:endParaRPr lang="en-US" sz="900" dirty="0"/>
          </a:p>
        </p:txBody>
      </p:sp>
      <p:sp>
        <p:nvSpPr>
          <p:cNvPr id="10" name="Text 8"/>
          <p:cNvSpPr/>
          <p:nvPr/>
        </p:nvSpPr>
        <p:spPr>
          <a:xfrm>
            <a:off x="777240" y="2542032"/>
            <a:ext cx="3108960" cy="896112"/>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En promedio, sobre muchas muestras, acierta el parámetro. x̄ es insesgado para μ: E[x̄] = μ.</a:t>
            </a:r>
            <a:endParaRPr lang="en-US" sz="1150" dirty="0"/>
          </a:p>
        </p:txBody>
      </p:sp>
      <p:sp>
        <p:nvSpPr>
          <p:cNvPr id="11" name="Shape 9"/>
          <p:cNvSpPr/>
          <p:nvPr/>
        </p:nvSpPr>
        <p:spPr>
          <a:xfrm>
            <a:off x="4297680" y="1965960"/>
            <a:ext cx="3520440" cy="1572768"/>
          </a:xfrm>
          <a:prstGeom prst="roundRect">
            <a:avLst>
              <a:gd name="adj" fmla="val 3488"/>
            </a:avLst>
          </a:prstGeom>
          <a:solidFill>
            <a:srgbClr val="FFFFFF"/>
          </a:solidFill>
          <a:ln w="12700">
            <a:solidFill>
              <a:srgbClr val="D2DBEC"/>
            </a:solidFill>
            <a:prstDash val="solid"/>
          </a:ln>
        </p:spPr>
      </p:sp>
      <p:sp>
        <p:nvSpPr>
          <p:cNvPr id="12" name="Text 10"/>
          <p:cNvSpPr/>
          <p:nvPr/>
        </p:nvSpPr>
        <p:spPr>
          <a:xfrm>
            <a:off x="4526280" y="2121408"/>
            <a:ext cx="2103120" cy="310896"/>
          </a:xfrm>
          <a:prstGeom prst="rect">
            <a:avLst/>
          </a:prstGeom>
          <a:noFill/>
          <a:ln/>
        </p:spPr>
        <p:txBody>
          <a:bodyPr wrap="square" lIns="0" tIns="0" rIns="0" bIns="0" rtlCol="0" anchor="ctr"/>
          <a:lstStyle/>
          <a:p>
            <a:pPr indent="0" marL="0">
              <a:buNone/>
            </a:pPr>
            <a:r>
              <a:rPr lang="en-US" sz="1500" b="1" dirty="0">
                <a:solidFill>
                  <a:srgbClr val="0A2559"/>
                </a:solidFill>
                <a:latin typeface="Calibri" pitchFamily="34" charset="0"/>
                <a:ea typeface="Calibri" pitchFamily="34" charset="-122"/>
                <a:cs typeface="Calibri" pitchFamily="34" charset="-120"/>
              </a:rPr>
              <a:t>Eficiente</a:t>
            </a:r>
            <a:endParaRPr lang="en-US" sz="1500" dirty="0"/>
          </a:p>
        </p:txBody>
      </p:sp>
      <p:sp>
        <p:nvSpPr>
          <p:cNvPr id="13" name="Shape 11"/>
          <p:cNvSpPr/>
          <p:nvPr/>
        </p:nvSpPr>
        <p:spPr>
          <a:xfrm>
            <a:off x="6446520" y="2139696"/>
            <a:ext cx="1207008" cy="274320"/>
          </a:xfrm>
          <a:prstGeom prst="roundRect">
            <a:avLst>
              <a:gd name="adj" fmla="val 50000"/>
            </a:avLst>
          </a:prstGeom>
          <a:solidFill>
            <a:srgbClr val="1A56E8"/>
          </a:solidFill>
          <a:ln w="12700">
            <a:solidFill>
              <a:srgbClr val="1A56E8"/>
            </a:solidFill>
            <a:prstDash val="solid"/>
          </a:ln>
        </p:spPr>
      </p:sp>
      <p:sp>
        <p:nvSpPr>
          <p:cNvPr id="14" name="Text 12"/>
          <p:cNvSpPr/>
          <p:nvPr/>
        </p:nvSpPr>
        <p:spPr>
          <a:xfrm>
            <a:off x="6446520" y="2139696"/>
            <a:ext cx="1207008"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poca varianza</a:t>
            </a:r>
            <a:endParaRPr lang="en-US" sz="900" dirty="0"/>
          </a:p>
        </p:txBody>
      </p:sp>
      <p:sp>
        <p:nvSpPr>
          <p:cNvPr id="15" name="Text 13"/>
          <p:cNvSpPr/>
          <p:nvPr/>
        </p:nvSpPr>
        <p:spPr>
          <a:xfrm>
            <a:off x="4526280" y="2542032"/>
            <a:ext cx="3108960" cy="896112"/>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Entre dos estimadores insesgados, prefieres el que se mueve menos. Menos varianza = intervalos más angostos.</a:t>
            </a:r>
            <a:endParaRPr lang="en-US" sz="1150" dirty="0"/>
          </a:p>
        </p:txBody>
      </p:sp>
      <p:sp>
        <p:nvSpPr>
          <p:cNvPr id="16" name="Shape 14"/>
          <p:cNvSpPr/>
          <p:nvPr/>
        </p:nvSpPr>
        <p:spPr>
          <a:xfrm>
            <a:off x="8046720" y="1965960"/>
            <a:ext cx="3520440" cy="1572768"/>
          </a:xfrm>
          <a:prstGeom prst="roundRect">
            <a:avLst>
              <a:gd name="adj" fmla="val 3488"/>
            </a:avLst>
          </a:prstGeom>
          <a:solidFill>
            <a:srgbClr val="FFFFFF"/>
          </a:solidFill>
          <a:ln w="12700">
            <a:solidFill>
              <a:srgbClr val="D2DBEC"/>
            </a:solidFill>
            <a:prstDash val="solid"/>
          </a:ln>
        </p:spPr>
      </p:sp>
      <p:sp>
        <p:nvSpPr>
          <p:cNvPr id="17" name="Text 15"/>
          <p:cNvSpPr/>
          <p:nvPr/>
        </p:nvSpPr>
        <p:spPr>
          <a:xfrm>
            <a:off x="8275320" y="2121408"/>
            <a:ext cx="2103120" cy="310896"/>
          </a:xfrm>
          <a:prstGeom prst="rect">
            <a:avLst/>
          </a:prstGeom>
          <a:noFill/>
          <a:ln/>
        </p:spPr>
        <p:txBody>
          <a:bodyPr wrap="square" lIns="0" tIns="0" rIns="0" bIns="0" rtlCol="0" anchor="ctr"/>
          <a:lstStyle/>
          <a:p>
            <a:pPr indent="0" marL="0">
              <a:buNone/>
            </a:pPr>
            <a:r>
              <a:rPr lang="en-US" sz="1500" b="1" dirty="0">
                <a:solidFill>
                  <a:srgbClr val="0A2559"/>
                </a:solidFill>
                <a:latin typeface="Calibri" pitchFamily="34" charset="0"/>
                <a:ea typeface="Calibri" pitchFamily="34" charset="-122"/>
                <a:cs typeface="Calibri" pitchFamily="34" charset="-120"/>
              </a:rPr>
              <a:t>Consistente</a:t>
            </a:r>
            <a:endParaRPr lang="en-US" sz="1500" dirty="0"/>
          </a:p>
        </p:txBody>
      </p:sp>
      <p:sp>
        <p:nvSpPr>
          <p:cNvPr id="18" name="Shape 16"/>
          <p:cNvSpPr/>
          <p:nvPr/>
        </p:nvSpPr>
        <p:spPr>
          <a:xfrm>
            <a:off x="10195560" y="2139696"/>
            <a:ext cx="1207008" cy="274320"/>
          </a:xfrm>
          <a:prstGeom prst="roundRect">
            <a:avLst>
              <a:gd name="adj" fmla="val 50000"/>
            </a:avLst>
          </a:prstGeom>
          <a:solidFill>
            <a:srgbClr val="12B886"/>
          </a:solidFill>
          <a:ln w="12700">
            <a:solidFill>
              <a:srgbClr val="12B886"/>
            </a:solidFill>
            <a:prstDash val="solid"/>
          </a:ln>
        </p:spPr>
      </p:sp>
      <p:sp>
        <p:nvSpPr>
          <p:cNvPr id="19" name="Text 17"/>
          <p:cNvSpPr/>
          <p:nvPr/>
        </p:nvSpPr>
        <p:spPr>
          <a:xfrm>
            <a:off x="10195560" y="2139696"/>
            <a:ext cx="1207008"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mejora con n</a:t>
            </a:r>
            <a:endParaRPr lang="en-US" sz="900" dirty="0"/>
          </a:p>
        </p:txBody>
      </p:sp>
      <p:sp>
        <p:nvSpPr>
          <p:cNvPr id="20" name="Text 18"/>
          <p:cNvSpPr/>
          <p:nvPr/>
        </p:nvSpPr>
        <p:spPr>
          <a:xfrm>
            <a:off x="8275320" y="2542032"/>
            <a:ext cx="3108960" cy="896112"/>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Al crecer n, se acerca al parámetro. El σ/√n de la slide anterior es exactamente esto.</a:t>
            </a:r>
            <a:endParaRPr lang="en-US" sz="1150" dirty="0"/>
          </a:p>
        </p:txBody>
      </p:sp>
      <p:sp>
        <p:nvSpPr>
          <p:cNvPr id="21" name="Shape 19"/>
          <p:cNvSpPr/>
          <p:nvPr/>
        </p:nvSpPr>
        <p:spPr>
          <a:xfrm>
            <a:off x="548640" y="3675888"/>
            <a:ext cx="11091672" cy="1719072"/>
          </a:xfrm>
          <a:prstGeom prst="roundRect">
            <a:avLst>
              <a:gd name="adj" fmla="val 3191"/>
            </a:avLst>
          </a:prstGeom>
          <a:solidFill>
            <a:srgbClr val="0A2559"/>
          </a:solidFill>
          <a:ln w="12700">
            <a:solidFill>
              <a:srgbClr val="0A2559"/>
            </a:solidFill>
            <a:prstDash val="solid"/>
          </a:ln>
        </p:spPr>
      </p:sp>
      <p:sp>
        <p:nvSpPr>
          <p:cNvPr id="22" name="Shape 20"/>
          <p:cNvSpPr/>
          <p:nvPr/>
        </p:nvSpPr>
        <p:spPr>
          <a:xfrm>
            <a:off x="804672" y="3941064"/>
            <a:ext cx="118872" cy="118872"/>
          </a:xfrm>
          <a:prstGeom prst="roundRect">
            <a:avLst>
              <a:gd name="adj" fmla="val 30769"/>
            </a:avLst>
          </a:prstGeom>
          <a:solidFill>
            <a:srgbClr val="E6115E"/>
          </a:solidFill>
          <a:ln w="12700">
            <a:solidFill>
              <a:srgbClr val="E6115E"/>
            </a:solidFill>
            <a:prstDash val="solid"/>
          </a:ln>
        </p:spPr>
      </p:sp>
      <p:sp>
        <p:nvSpPr>
          <p:cNvPr id="23" name="Text 21"/>
          <p:cNvSpPr/>
          <p:nvPr/>
        </p:nvSpPr>
        <p:spPr>
          <a:xfrm>
            <a:off x="1042416" y="3840480"/>
            <a:ext cx="102778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Por qué la varianza se divide entre n − 1 y no entre n</a:t>
            </a:r>
            <a:endParaRPr lang="en-US" sz="1500" dirty="0"/>
          </a:p>
        </p:txBody>
      </p:sp>
      <p:sp>
        <p:nvSpPr>
          <p:cNvPr id="24" name="Text 22"/>
          <p:cNvSpPr/>
          <p:nvPr/>
        </p:nvSpPr>
        <p:spPr>
          <a:xfrm>
            <a:off x="804672" y="4187952"/>
            <a:ext cx="10515600" cy="274320"/>
          </a:xfrm>
          <a:prstGeom prst="rect">
            <a:avLst/>
          </a:prstGeom>
          <a:noFill/>
          <a:ln/>
        </p:spPr>
        <p:txBody>
          <a:bodyPr wrap="square" lIns="0" tIns="0" rIns="0" bIns="0" rtlCol="0" anchor="t"/>
          <a:lstStyle/>
          <a:p>
            <a:pPr algn="l" indent="0" marL="0">
              <a:lnSpc>
                <a:spcPct val="108000"/>
              </a:lnSpc>
              <a:buNone/>
            </a:pPr>
            <a:r>
              <a:rPr lang="en-US" sz="1200" dirty="0">
                <a:solidFill>
                  <a:srgbClr val="C9D6F2"/>
                </a:solidFill>
                <a:latin typeface="Calibri" pitchFamily="34" charset="0"/>
                <a:ea typeface="Calibri" pitchFamily="34" charset="-122"/>
                <a:cs typeface="Calibri" pitchFamily="34" charset="-120"/>
              </a:rPr>
              <a:t>Simulamos 40 000 muestras de n = 5 de una población con varianza real σ² = 5 690 846 y promediamos las dos versiones:</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04672" y="4517136"/>
          <a:ext cx="10515600" cy="914400"/>
        </p:xfrm>
        <a:graphic>
          <a:graphicData uri="http://schemas.openxmlformats.org/drawingml/2006/table">
            <a:tbl>
              <a:tblPr/>
              <a:tblGrid>
                <a:gridCol w="2560320"/>
                <a:gridCol w="2651760"/>
                <a:gridCol w="1828800"/>
                <a:gridCol w="3474720"/>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Cómo divides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Promedio de lo que estimas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σ² real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Veredicto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274320">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entre n  (ddof=0)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4 538 892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5 690 846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Subestima en ~20 %: sesgado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274320">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entre n − 1  (ddof=1)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B886"/>
                          </a:solidFill>
                          <a:latin typeface="Calibri" pitchFamily="34" charset="0"/>
                          <a:ea typeface="Calibri" pitchFamily="34" charset="-122"/>
                          <a:cs typeface="Calibri" pitchFamily="34" charset="-120"/>
                        </a:rPr>
                        <a:t>5 673 614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5 690 846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Acierta en promedio: insesgado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bl>
          </a:graphicData>
        </a:graphic>
      </p:graphicFrame>
      <p:sp>
        <p:nvSpPr>
          <p:cNvPr id="26" name="Shape 23"/>
          <p:cNvSpPr/>
          <p:nvPr/>
        </p:nvSpPr>
        <p:spPr>
          <a:xfrm>
            <a:off x="548640" y="5504688"/>
            <a:ext cx="11091672" cy="786384"/>
          </a:xfrm>
          <a:prstGeom prst="roundRect">
            <a:avLst>
              <a:gd name="adj" fmla="val 6977"/>
            </a:avLst>
          </a:prstGeom>
          <a:solidFill>
            <a:srgbClr val="E9EEF8"/>
          </a:solidFill>
          <a:ln w="12700">
            <a:solidFill>
              <a:srgbClr val="D2DBEC"/>
            </a:solidFill>
            <a:prstDash val="solid"/>
          </a:ln>
        </p:spPr>
      </p:sp>
      <p:sp>
        <p:nvSpPr>
          <p:cNvPr id="27" name="Text 24"/>
          <p:cNvSpPr/>
          <p:nvPr/>
        </p:nvSpPr>
        <p:spPr>
          <a:xfrm>
            <a:off x="804672" y="5614416"/>
            <a:ext cx="10607040" cy="603504"/>
          </a:xfrm>
          <a:prstGeom prst="rect">
            <a:avLst/>
          </a:prstGeom>
          <a:noFill/>
          <a:ln/>
        </p:spPr>
        <p:txBody>
          <a:bodyPr wrap="square" lIns="0" tIns="0" rIns="0" bIns="0" rtlCol="0" anchor="t"/>
          <a:lstStyle/>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La intuición: x̄ se calcula con esos mismos datos, así que los datos quedan «demasiado cerca» de x̄. Dividir entre n − 1 corrige exactamente ese optimismo. Con n = 5 el error es de 20 %; con n = 1 000 es de 0.1 %. Por eso importa con muestras chicas y da igual con muestras grandes — pero la costumbre correcta es ddof=1 siempre.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EL INTERVALO</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Cómo se construye, en tres piezas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Un centro, una unidad de distancia y un nivel de confianza. Nada más.</a:t>
            </a:r>
            <a:endParaRPr lang="en-US" sz="1400" dirty="0"/>
          </a:p>
        </p:txBody>
      </p:sp>
      <p:sp>
        <p:nvSpPr>
          <p:cNvPr id="6" name="Shape 4"/>
          <p:cNvSpPr/>
          <p:nvPr/>
        </p:nvSpPr>
        <p:spPr>
          <a:xfrm>
            <a:off x="548640" y="1938528"/>
            <a:ext cx="11091672" cy="841248"/>
          </a:xfrm>
          <a:prstGeom prst="roundRect">
            <a:avLst>
              <a:gd name="adj" fmla="val 6522"/>
            </a:avLst>
          </a:prstGeom>
          <a:solidFill>
            <a:srgbClr val="0A2559"/>
          </a:solidFill>
          <a:ln w="12700">
            <a:solidFill>
              <a:srgbClr val="0A2559"/>
            </a:solidFill>
            <a:prstDash val="solid"/>
          </a:ln>
        </p:spPr>
      </p:sp>
      <p:sp>
        <p:nvSpPr>
          <p:cNvPr id="7" name="Text 5"/>
          <p:cNvSpPr/>
          <p:nvPr/>
        </p:nvSpPr>
        <p:spPr>
          <a:xfrm>
            <a:off x="548640" y="1938528"/>
            <a:ext cx="11091672" cy="84124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IC  =   x̄   ±   t(1−α/2, n−1)   ×   s / √n</a:t>
            </a:r>
            <a:endParaRPr lang="en-US" sz="2400" dirty="0"/>
          </a:p>
        </p:txBody>
      </p:sp>
      <p:sp>
        <p:nvSpPr>
          <p:cNvPr id="8" name="Shape 6"/>
          <p:cNvSpPr/>
          <p:nvPr/>
        </p:nvSpPr>
        <p:spPr>
          <a:xfrm>
            <a:off x="548640" y="2999232"/>
            <a:ext cx="3520440" cy="1481328"/>
          </a:xfrm>
          <a:prstGeom prst="roundRect">
            <a:avLst>
              <a:gd name="adj" fmla="val 3704"/>
            </a:avLst>
          </a:prstGeom>
          <a:solidFill>
            <a:srgbClr val="FFFFFF"/>
          </a:solidFill>
          <a:ln w="12700">
            <a:solidFill>
              <a:srgbClr val="D2DBEC"/>
            </a:solidFill>
            <a:prstDash val="solid"/>
          </a:ln>
        </p:spPr>
      </p:sp>
      <p:sp>
        <p:nvSpPr>
          <p:cNvPr id="9" name="Shape 7"/>
          <p:cNvSpPr/>
          <p:nvPr/>
        </p:nvSpPr>
        <p:spPr>
          <a:xfrm>
            <a:off x="749808" y="3163824"/>
            <a:ext cx="365760" cy="365760"/>
          </a:xfrm>
          <a:prstGeom prst="roundRect">
            <a:avLst>
              <a:gd name="adj" fmla="val 50000"/>
            </a:avLst>
          </a:prstGeom>
          <a:solidFill>
            <a:srgbClr val="1A56E8"/>
          </a:solidFill>
          <a:ln w="12700">
            <a:solidFill>
              <a:srgbClr val="1A56E8"/>
            </a:solidFill>
            <a:prstDash val="solid"/>
          </a:ln>
        </p:spPr>
      </p:sp>
      <p:sp>
        <p:nvSpPr>
          <p:cNvPr id="10" name="Text 8"/>
          <p:cNvSpPr/>
          <p:nvPr/>
        </p:nvSpPr>
        <p:spPr>
          <a:xfrm>
            <a:off x="749808" y="3163824"/>
            <a:ext cx="36576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1207008" y="3163824"/>
            <a:ext cx="2651760" cy="365760"/>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El centro</a:t>
            </a:r>
            <a:endParaRPr lang="en-US" sz="1400" dirty="0"/>
          </a:p>
        </p:txBody>
      </p:sp>
      <p:sp>
        <p:nvSpPr>
          <p:cNvPr id="12" name="Text 10"/>
          <p:cNvSpPr/>
          <p:nvPr/>
        </p:nvSpPr>
        <p:spPr>
          <a:xfrm>
            <a:off x="749808" y="3584448"/>
            <a:ext cx="3108960" cy="274320"/>
          </a:xfrm>
          <a:prstGeom prst="rect">
            <a:avLst/>
          </a:prstGeom>
          <a:noFill/>
          <a:ln/>
        </p:spPr>
        <p:txBody>
          <a:bodyPr wrap="square" lIns="0" tIns="0" rIns="0" bIns="0" rtlCol="0" anchor="ctr"/>
          <a:lstStyle/>
          <a:p>
            <a:pPr indent="0" marL="0">
              <a:buNone/>
            </a:pPr>
            <a:r>
              <a:rPr lang="en-US" sz="1250" b="1" dirty="0">
                <a:solidFill>
                  <a:srgbClr val="1A56E8"/>
                </a:solidFill>
                <a:latin typeface="Courier New" pitchFamily="34" charset="0"/>
                <a:ea typeface="Courier New" pitchFamily="34" charset="-122"/>
                <a:cs typeface="Courier New" pitchFamily="34" charset="-120"/>
              </a:rPr>
              <a:t>x̄</a:t>
            </a:r>
            <a:endParaRPr lang="en-US" sz="1250" dirty="0"/>
          </a:p>
        </p:txBody>
      </p:sp>
      <p:sp>
        <p:nvSpPr>
          <p:cNvPr id="13" name="Text 11"/>
          <p:cNvSpPr/>
          <p:nvPr/>
        </p:nvSpPr>
        <p:spPr>
          <a:xfrm>
            <a:off x="749808" y="3895344"/>
            <a:ext cx="3108960" cy="512064"/>
          </a:xfrm>
          <a:prstGeom prst="rect">
            <a:avLst/>
          </a:prstGeom>
          <a:noFill/>
          <a:ln/>
        </p:spPr>
        <p:txBody>
          <a:bodyPr wrap="square" lIns="0" tIns="0" rIns="0" bIns="0" rtlCol="0" anchor="t"/>
          <a:lstStyle/>
          <a:p>
            <a:pPr algn="l" indent="0" marL="0">
              <a:lnSpc>
                <a:spcPct val="105000"/>
              </a:lnSpc>
              <a:buNone/>
            </a:pPr>
            <a:r>
              <a:rPr lang="en-US" sz="1150" dirty="0">
                <a:solidFill>
                  <a:srgbClr val="2C3A55"/>
                </a:solidFill>
                <a:latin typeface="Calibri" pitchFamily="34" charset="0"/>
                <a:ea typeface="Calibri" pitchFamily="34" charset="-122"/>
                <a:cs typeface="Calibri" pitchFamily="34" charset="-120"/>
              </a:rPr>
              <a:t>Tu mejor estimación puntual. Es el número que ya sabías calcular.</a:t>
            </a:r>
            <a:endParaRPr lang="en-US" sz="1150" dirty="0"/>
          </a:p>
        </p:txBody>
      </p:sp>
      <p:sp>
        <p:nvSpPr>
          <p:cNvPr id="14" name="Shape 12"/>
          <p:cNvSpPr/>
          <p:nvPr/>
        </p:nvSpPr>
        <p:spPr>
          <a:xfrm>
            <a:off x="4297680" y="2999232"/>
            <a:ext cx="3520440" cy="1481328"/>
          </a:xfrm>
          <a:prstGeom prst="roundRect">
            <a:avLst>
              <a:gd name="adj" fmla="val 3704"/>
            </a:avLst>
          </a:prstGeom>
          <a:solidFill>
            <a:srgbClr val="FFFFFF"/>
          </a:solidFill>
          <a:ln w="12700">
            <a:solidFill>
              <a:srgbClr val="D2DBEC"/>
            </a:solidFill>
            <a:prstDash val="solid"/>
          </a:ln>
        </p:spPr>
      </p:sp>
      <p:sp>
        <p:nvSpPr>
          <p:cNvPr id="15" name="Shape 13"/>
          <p:cNvSpPr/>
          <p:nvPr/>
        </p:nvSpPr>
        <p:spPr>
          <a:xfrm>
            <a:off x="4498848" y="3163824"/>
            <a:ext cx="365760" cy="365760"/>
          </a:xfrm>
          <a:prstGeom prst="roundRect">
            <a:avLst>
              <a:gd name="adj" fmla="val 50000"/>
            </a:avLst>
          </a:prstGeom>
          <a:solidFill>
            <a:srgbClr val="1A56E8"/>
          </a:solidFill>
          <a:ln w="12700">
            <a:solidFill>
              <a:srgbClr val="1A56E8"/>
            </a:solidFill>
            <a:prstDash val="solid"/>
          </a:ln>
        </p:spPr>
      </p:sp>
      <p:sp>
        <p:nvSpPr>
          <p:cNvPr id="16" name="Text 14"/>
          <p:cNvSpPr/>
          <p:nvPr/>
        </p:nvSpPr>
        <p:spPr>
          <a:xfrm>
            <a:off x="4498848" y="3163824"/>
            <a:ext cx="36576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p:nvPr/>
        </p:nvSpPr>
        <p:spPr>
          <a:xfrm>
            <a:off x="4956048" y="3163824"/>
            <a:ext cx="2651760" cy="365760"/>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El error estándar</a:t>
            </a:r>
            <a:endParaRPr lang="en-US" sz="1400" dirty="0"/>
          </a:p>
        </p:txBody>
      </p:sp>
      <p:sp>
        <p:nvSpPr>
          <p:cNvPr id="18" name="Text 16"/>
          <p:cNvSpPr/>
          <p:nvPr/>
        </p:nvSpPr>
        <p:spPr>
          <a:xfrm>
            <a:off x="4498848" y="3584448"/>
            <a:ext cx="3108960" cy="274320"/>
          </a:xfrm>
          <a:prstGeom prst="rect">
            <a:avLst/>
          </a:prstGeom>
          <a:noFill/>
          <a:ln/>
        </p:spPr>
        <p:txBody>
          <a:bodyPr wrap="square" lIns="0" tIns="0" rIns="0" bIns="0" rtlCol="0" anchor="ctr"/>
          <a:lstStyle/>
          <a:p>
            <a:pPr indent="0" marL="0">
              <a:buNone/>
            </a:pPr>
            <a:r>
              <a:rPr lang="en-US" sz="1250" b="1" dirty="0">
                <a:solidFill>
                  <a:srgbClr val="1A56E8"/>
                </a:solidFill>
                <a:latin typeface="Courier New" pitchFamily="34" charset="0"/>
                <a:ea typeface="Courier New" pitchFamily="34" charset="-122"/>
                <a:cs typeface="Courier New" pitchFamily="34" charset="-120"/>
              </a:rPr>
              <a:t>s / √n</a:t>
            </a:r>
            <a:endParaRPr lang="en-US" sz="1250" dirty="0"/>
          </a:p>
        </p:txBody>
      </p:sp>
      <p:sp>
        <p:nvSpPr>
          <p:cNvPr id="19" name="Text 17"/>
          <p:cNvSpPr/>
          <p:nvPr/>
        </p:nvSpPr>
        <p:spPr>
          <a:xfrm>
            <a:off x="4498848" y="3895344"/>
            <a:ext cx="3108960" cy="512064"/>
          </a:xfrm>
          <a:prstGeom prst="rect">
            <a:avLst/>
          </a:prstGeom>
          <a:noFill/>
          <a:ln/>
        </p:spPr>
        <p:txBody>
          <a:bodyPr wrap="square" lIns="0" tIns="0" rIns="0" bIns="0" rtlCol="0" anchor="t"/>
          <a:lstStyle/>
          <a:p>
            <a:pPr algn="l" indent="0" marL="0">
              <a:lnSpc>
                <a:spcPct val="105000"/>
              </a:lnSpc>
              <a:buNone/>
            </a:pPr>
            <a:r>
              <a:rPr lang="en-US" sz="1150" dirty="0">
                <a:solidFill>
                  <a:srgbClr val="2C3A55"/>
                </a:solidFill>
                <a:latin typeface="Calibri" pitchFamily="34" charset="0"/>
                <a:ea typeface="Calibri" pitchFamily="34" charset="-122"/>
                <a:cs typeface="Calibri" pitchFamily="34" charset="-120"/>
              </a:rPr>
              <a:t>Cuánto se mueve x̄ de muestra en muestra. Es la slide anterior.</a:t>
            </a:r>
            <a:endParaRPr lang="en-US" sz="1150" dirty="0"/>
          </a:p>
        </p:txBody>
      </p:sp>
      <p:sp>
        <p:nvSpPr>
          <p:cNvPr id="20" name="Shape 18"/>
          <p:cNvSpPr/>
          <p:nvPr/>
        </p:nvSpPr>
        <p:spPr>
          <a:xfrm>
            <a:off x="8046720" y="2999232"/>
            <a:ext cx="3520440" cy="1481328"/>
          </a:xfrm>
          <a:prstGeom prst="roundRect">
            <a:avLst>
              <a:gd name="adj" fmla="val 3704"/>
            </a:avLst>
          </a:prstGeom>
          <a:solidFill>
            <a:srgbClr val="FFFFFF"/>
          </a:solidFill>
          <a:ln w="12700">
            <a:solidFill>
              <a:srgbClr val="D2DBEC"/>
            </a:solidFill>
            <a:prstDash val="solid"/>
          </a:ln>
        </p:spPr>
      </p:sp>
      <p:sp>
        <p:nvSpPr>
          <p:cNvPr id="21" name="Shape 19"/>
          <p:cNvSpPr/>
          <p:nvPr/>
        </p:nvSpPr>
        <p:spPr>
          <a:xfrm>
            <a:off x="8247888" y="3163824"/>
            <a:ext cx="365760" cy="365760"/>
          </a:xfrm>
          <a:prstGeom prst="roundRect">
            <a:avLst>
              <a:gd name="adj" fmla="val 50000"/>
            </a:avLst>
          </a:prstGeom>
          <a:solidFill>
            <a:srgbClr val="E6115E"/>
          </a:solidFill>
          <a:ln w="12700">
            <a:solidFill>
              <a:srgbClr val="E6115E"/>
            </a:solidFill>
            <a:prstDash val="solid"/>
          </a:ln>
        </p:spPr>
      </p:sp>
      <p:sp>
        <p:nvSpPr>
          <p:cNvPr id="22" name="Text 20"/>
          <p:cNvSpPr/>
          <p:nvPr/>
        </p:nvSpPr>
        <p:spPr>
          <a:xfrm>
            <a:off x="8247888" y="3163824"/>
            <a:ext cx="36576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8705088" y="3163824"/>
            <a:ext cx="2651760" cy="365760"/>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El multiplicador</a:t>
            </a:r>
            <a:endParaRPr lang="en-US" sz="1400" dirty="0"/>
          </a:p>
        </p:txBody>
      </p:sp>
      <p:sp>
        <p:nvSpPr>
          <p:cNvPr id="24" name="Text 22"/>
          <p:cNvSpPr/>
          <p:nvPr/>
        </p:nvSpPr>
        <p:spPr>
          <a:xfrm>
            <a:off x="8247888" y="3584448"/>
            <a:ext cx="3108960" cy="274320"/>
          </a:xfrm>
          <a:prstGeom prst="rect">
            <a:avLst/>
          </a:prstGeom>
          <a:noFill/>
          <a:ln/>
        </p:spPr>
        <p:txBody>
          <a:bodyPr wrap="square" lIns="0" tIns="0" rIns="0" bIns="0" rtlCol="0" anchor="ctr"/>
          <a:lstStyle/>
          <a:p>
            <a:pPr indent="0" marL="0">
              <a:buNone/>
            </a:pPr>
            <a:r>
              <a:rPr lang="en-US" sz="1250" b="1" dirty="0">
                <a:solidFill>
                  <a:srgbClr val="1A56E8"/>
                </a:solidFill>
                <a:latin typeface="Courier New" pitchFamily="34" charset="0"/>
                <a:ea typeface="Courier New" pitchFamily="34" charset="-122"/>
                <a:cs typeface="Courier New" pitchFamily="34" charset="-120"/>
              </a:rPr>
              <a:t>t(1−α/2, n−1)</a:t>
            </a:r>
            <a:endParaRPr lang="en-US" sz="1250" dirty="0"/>
          </a:p>
        </p:txBody>
      </p:sp>
      <p:sp>
        <p:nvSpPr>
          <p:cNvPr id="25" name="Text 23"/>
          <p:cNvSpPr/>
          <p:nvPr/>
        </p:nvSpPr>
        <p:spPr>
          <a:xfrm>
            <a:off x="8247888" y="3895344"/>
            <a:ext cx="3108960" cy="512064"/>
          </a:xfrm>
          <a:prstGeom prst="rect">
            <a:avLst/>
          </a:prstGeom>
          <a:noFill/>
          <a:ln/>
        </p:spPr>
        <p:txBody>
          <a:bodyPr wrap="square" lIns="0" tIns="0" rIns="0" bIns="0" rtlCol="0" anchor="t"/>
          <a:lstStyle/>
          <a:p>
            <a:pPr algn="l" indent="0" marL="0">
              <a:lnSpc>
                <a:spcPct val="105000"/>
              </a:lnSpc>
              <a:buNone/>
            </a:pPr>
            <a:r>
              <a:rPr lang="en-US" sz="1150" dirty="0">
                <a:solidFill>
                  <a:srgbClr val="2C3A55"/>
                </a:solidFill>
                <a:latin typeface="Calibri" pitchFamily="34" charset="0"/>
                <a:ea typeface="Calibri" pitchFamily="34" charset="-122"/>
                <a:cs typeface="Calibri" pitchFamily="34" charset="-120"/>
              </a:rPr>
              <a:t>Cuántos errores estándar cubres. Lo fija el nivel de confianza que elegiste.</a:t>
            </a:r>
            <a:endParaRPr lang="en-US" sz="1150" dirty="0"/>
          </a:p>
        </p:txBody>
      </p:sp>
      <p:sp>
        <p:nvSpPr>
          <p:cNvPr id="26" name="Shape 24"/>
          <p:cNvSpPr/>
          <p:nvPr/>
        </p:nvSpPr>
        <p:spPr>
          <a:xfrm>
            <a:off x="548640" y="4645152"/>
            <a:ext cx="6949440" cy="1554480"/>
          </a:xfrm>
          <a:prstGeom prst="roundRect">
            <a:avLst>
              <a:gd name="adj" fmla="val 3529"/>
            </a:avLst>
          </a:prstGeom>
          <a:solidFill>
            <a:srgbClr val="E9EEF8"/>
          </a:solidFill>
          <a:ln w="12700">
            <a:solidFill>
              <a:srgbClr val="D2DBEC"/>
            </a:solidFill>
            <a:prstDash val="solid"/>
          </a:ln>
        </p:spPr>
      </p:sp>
      <p:sp>
        <p:nvSpPr>
          <p:cNvPr id="27" name="Shape 25"/>
          <p:cNvSpPr/>
          <p:nvPr/>
        </p:nvSpPr>
        <p:spPr>
          <a:xfrm>
            <a:off x="804672" y="4901184"/>
            <a:ext cx="118872" cy="118872"/>
          </a:xfrm>
          <a:prstGeom prst="roundRect">
            <a:avLst>
              <a:gd name="adj" fmla="val 30769"/>
            </a:avLst>
          </a:prstGeom>
          <a:solidFill>
            <a:srgbClr val="E6115E"/>
          </a:solidFill>
          <a:ln w="12700">
            <a:solidFill>
              <a:srgbClr val="E6115E"/>
            </a:solidFill>
            <a:prstDash val="solid"/>
          </a:ln>
        </p:spPr>
      </p:sp>
      <p:sp>
        <p:nvSpPr>
          <p:cNvPr id="28" name="Text 26"/>
          <p:cNvSpPr/>
          <p:nvPr/>
        </p:nvSpPr>
        <p:spPr>
          <a:xfrm>
            <a:off x="1042416" y="4800600"/>
            <a:ext cx="61630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Con los números de la slide 2, paso a paso</a:t>
            </a:r>
            <a:endParaRPr lang="en-US" sz="1400" dirty="0"/>
          </a:p>
        </p:txBody>
      </p:sp>
      <p:sp>
        <p:nvSpPr>
          <p:cNvPr id="29" name="Text 27"/>
          <p:cNvSpPr/>
          <p:nvPr/>
        </p:nvSpPr>
        <p:spPr>
          <a:xfrm>
            <a:off x="804672" y="5175504"/>
            <a:ext cx="6492240" cy="914400"/>
          </a:xfrm>
          <a:prstGeom prst="rect">
            <a:avLst/>
          </a:prstGeom>
          <a:noFill/>
          <a:ln/>
        </p:spPr>
        <p:txBody>
          <a:bodyPr wrap="square" lIns="0" tIns="0" rIns="0" bIns="0" rtlCol="0" anchor="t"/>
          <a:lstStyle/>
          <a:p>
            <a:pPr algn="l" indent="0" marL="0">
              <a:lnSpc>
                <a:spcPct val="120000"/>
              </a:lnSpc>
              <a:buNone/>
            </a:pPr>
            <a:r>
              <a:rPr lang="en-US" sz="1200" dirty="0">
                <a:solidFill>
                  <a:srgbClr val="2C3A55"/>
                </a:solidFill>
                <a:latin typeface="Calibri" pitchFamily="34" charset="0"/>
                <a:ea typeface="Calibri" pitchFamily="34" charset="-122"/>
                <a:cs typeface="Calibri" pitchFamily="34" charset="-120"/>
              </a:rPr>
              <a:t>Muestra: n = 40,  x̄ = S/ 3 125,  s = S/ 2 210</a:t>
            </a:r>
            <a:endParaRPr lang="en-US" sz="1200" dirty="0"/>
          </a:p>
          <a:p>
            <a:pPr algn="l" indent="0" marL="0">
              <a:lnSpc>
                <a:spcPct val="120000"/>
              </a:lnSpc>
              <a:buNone/>
            </a:pPr>
            <a:r>
              <a:rPr lang="en-US" sz="1200" dirty="0">
                <a:solidFill>
                  <a:srgbClr val="2C3A55"/>
                </a:solidFill>
                <a:latin typeface="Calibri" pitchFamily="34" charset="0"/>
                <a:ea typeface="Calibri" pitchFamily="34" charset="-122"/>
                <a:cs typeface="Calibri" pitchFamily="34" charset="-120"/>
              </a:rPr>
              <a:t>EE = 2 210 / √40 = 349.4      t(0.975, 39) = 2.0227</a:t>
            </a:r>
            <a:endParaRPr lang="en-US" sz="1200" dirty="0"/>
          </a:p>
          <a:p>
            <a:pPr algn="l" indent="0" marL="0">
              <a:lnSpc>
                <a:spcPct val="120000"/>
              </a:lnSpc>
              <a:buNone/>
            </a:pPr>
            <a:r>
              <a:rPr lang="en-US" sz="1200" dirty="0">
                <a:solidFill>
                  <a:srgbClr val="2C3A55"/>
                </a:solidFill>
                <a:latin typeface="Calibri" pitchFamily="34" charset="0"/>
                <a:ea typeface="Calibri" pitchFamily="34" charset="-122"/>
                <a:cs typeface="Calibri" pitchFamily="34" charset="-120"/>
              </a:rPr>
              <a:t>margen = 2.0227 × 349.4 = 706.8</a:t>
            </a:r>
            <a:endParaRPr lang="en-US" sz="1200" dirty="0"/>
          </a:p>
        </p:txBody>
      </p:sp>
      <p:sp>
        <p:nvSpPr>
          <p:cNvPr id="30" name="Shape 28"/>
          <p:cNvSpPr/>
          <p:nvPr/>
        </p:nvSpPr>
        <p:spPr>
          <a:xfrm>
            <a:off x="7635240" y="4645152"/>
            <a:ext cx="4005072" cy="1554480"/>
          </a:xfrm>
          <a:prstGeom prst="roundRect">
            <a:avLst>
              <a:gd name="adj" fmla="val 3529"/>
            </a:avLst>
          </a:prstGeom>
          <a:solidFill>
            <a:srgbClr val="0A2559"/>
          </a:solidFill>
          <a:ln w="12700">
            <a:solidFill>
              <a:srgbClr val="0A2559"/>
            </a:solidFill>
            <a:prstDash val="solid"/>
          </a:ln>
        </p:spPr>
      </p:sp>
      <p:sp>
        <p:nvSpPr>
          <p:cNvPr id="31" name="Shape 29"/>
          <p:cNvSpPr/>
          <p:nvPr/>
        </p:nvSpPr>
        <p:spPr>
          <a:xfrm>
            <a:off x="7882128" y="4901184"/>
            <a:ext cx="118872" cy="118872"/>
          </a:xfrm>
          <a:prstGeom prst="roundRect">
            <a:avLst>
              <a:gd name="adj" fmla="val 30769"/>
            </a:avLst>
          </a:prstGeom>
          <a:solidFill>
            <a:srgbClr val="E6115E"/>
          </a:solidFill>
          <a:ln w="12700">
            <a:solidFill>
              <a:srgbClr val="E6115E"/>
            </a:solidFill>
            <a:prstDash val="solid"/>
          </a:ln>
        </p:spPr>
      </p:sp>
      <p:sp>
        <p:nvSpPr>
          <p:cNvPr id="32" name="Text 30"/>
          <p:cNvSpPr/>
          <p:nvPr/>
        </p:nvSpPr>
        <p:spPr>
          <a:xfrm>
            <a:off x="8119872" y="4800600"/>
            <a:ext cx="332841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La respuesta al comité</a:t>
            </a:r>
            <a:endParaRPr lang="en-US" sz="1400" dirty="0"/>
          </a:p>
        </p:txBody>
      </p:sp>
      <p:sp>
        <p:nvSpPr>
          <p:cNvPr id="33" name="Text 31"/>
          <p:cNvSpPr/>
          <p:nvPr/>
        </p:nvSpPr>
        <p:spPr>
          <a:xfrm>
            <a:off x="7882128" y="5175504"/>
            <a:ext cx="3566160" cy="411480"/>
          </a:xfrm>
          <a:prstGeom prst="rect">
            <a:avLst/>
          </a:prstGeom>
          <a:noFill/>
          <a:ln/>
        </p:spPr>
        <p:txBody>
          <a:bodyPr wrap="square" lIns="0" tIns="0" rIns="0" bIns="0" rtlCol="0" anchor="ctr"/>
          <a:lstStyle/>
          <a:p>
            <a:pPr indent="0" marL="0">
              <a:buNone/>
            </a:pPr>
            <a:r>
              <a:rPr lang="en-US" sz="1900" b="1" dirty="0">
                <a:solidFill>
                  <a:srgbClr val="E6115E"/>
                </a:solidFill>
                <a:latin typeface="Calibri" pitchFamily="34" charset="0"/>
                <a:ea typeface="Calibri" pitchFamily="34" charset="-122"/>
                <a:cs typeface="Calibri" pitchFamily="34" charset="-120"/>
              </a:rPr>
              <a:t>S/ 2 418  —  S/ 3 832</a:t>
            </a:r>
            <a:endParaRPr lang="en-US" sz="1900" dirty="0"/>
          </a:p>
        </p:txBody>
      </p:sp>
      <p:sp>
        <p:nvSpPr>
          <p:cNvPr id="34" name="Text 32"/>
          <p:cNvSpPr/>
          <p:nvPr/>
        </p:nvSpPr>
        <p:spPr>
          <a:xfrm>
            <a:off x="7882128" y="5614416"/>
            <a:ext cx="3520440" cy="530352"/>
          </a:xfrm>
          <a:prstGeom prst="rect">
            <a:avLst/>
          </a:prstGeom>
          <a:noFill/>
          <a:ln/>
        </p:spPr>
        <p:txBody>
          <a:bodyPr wrap="square" lIns="0" tIns="0" rIns="0" bIns="0" rtlCol="0" anchor="t"/>
          <a:lstStyle/>
          <a:p>
            <a:pPr algn="l" indent="0" marL="0">
              <a:lnSpc>
                <a:spcPct val="104000"/>
              </a:lnSpc>
              <a:buNone/>
            </a:pPr>
            <a:r>
              <a:rPr lang="en-US" sz="1150" dirty="0">
                <a:solidFill>
                  <a:srgbClr val="C9D6F2"/>
                </a:solidFill>
                <a:latin typeface="Calibri" pitchFamily="34" charset="0"/>
                <a:ea typeface="Calibri" pitchFamily="34" charset="-122"/>
                <a:cs typeface="Calibri" pitchFamily="34" charset="-120"/>
              </a:rPr>
              <a:t>«El promedio del mes está entre esos dos valores, con 95 % de confianza.» El intervalo mide S/ 1 414 de ancho: eso es tu incertidumbre real.</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19456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1945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LETRA CHICA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Qué significa «95 %» — y las cuatro cosas que no significa</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Esta es la frase que más se dice mal en informes profesionales. Vale memorizar la versión correcta.</a:t>
            </a:r>
            <a:endParaRPr lang="en-US" sz="1400" dirty="0"/>
          </a:p>
        </p:txBody>
      </p:sp>
      <p:sp>
        <p:nvSpPr>
          <p:cNvPr id="6" name="Shape 4"/>
          <p:cNvSpPr/>
          <p:nvPr/>
        </p:nvSpPr>
        <p:spPr>
          <a:xfrm>
            <a:off x="548640" y="1965960"/>
            <a:ext cx="11091672" cy="969264"/>
          </a:xfrm>
          <a:prstGeom prst="roundRect">
            <a:avLst>
              <a:gd name="adj" fmla="val 5660"/>
            </a:avLst>
          </a:prstGeom>
          <a:solidFill>
            <a:srgbClr val="0A2559"/>
          </a:solidFill>
          <a:ln w="12700">
            <a:solidFill>
              <a:srgbClr val="0A2559"/>
            </a:solidFill>
            <a:prstDash val="solid"/>
          </a:ln>
        </p:spPr>
      </p:sp>
      <p:sp>
        <p:nvSpPr>
          <p:cNvPr id="7" name="Shape 5"/>
          <p:cNvSpPr/>
          <p:nvPr/>
        </p:nvSpPr>
        <p:spPr>
          <a:xfrm>
            <a:off x="804672" y="2212848"/>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112264"/>
            <a:ext cx="61630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La lectura correcta</a:t>
            </a:r>
            <a:endParaRPr lang="en-US" sz="1400" dirty="0"/>
          </a:p>
        </p:txBody>
      </p:sp>
      <p:sp>
        <p:nvSpPr>
          <p:cNvPr id="9" name="Text 7"/>
          <p:cNvSpPr/>
          <p:nvPr/>
        </p:nvSpPr>
        <p:spPr>
          <a:xfrm>
            <a:off x="804672" y="2450592"/>
            <a:ext cx="10515600" cy="411480"/>
          </a:xfrm>
          <a:prstGeom prst="rect">
            <a:avLst/>
          </a:prstGeom>
          <a:noFill/>
          <a:ln/>
        </p:spPr>
        <p:txBody>
          <a:bodyPr wrap="square" lIns="0" tIns="0" rIns="0" bIns="0" rtlCol="0" anchor="t"/>
          <a:lstStyle/>
          <a:p>
            <a:pPr algn="l" indent="0" marL="0">
              <a:lnSpc>
                <a:spcPct val="105000"/>
              </a:lnSpc>
              <a:buNone/>
            </a:pPr>
            <a:r>
              <a:rPr lang="en-US" sz="1250" dirty="0">
                <a:solidFill>
                  <a:srgbClr val="C9D6F2"/>
                </a:solidFill>
                <a:latin typeface="Calibri" pitchFamily="34" charset="0"/>
                <a:ea typeface="Calibri" pitchFamily="34" charset="-122"/>
                <a:cs typeface="Calibri" pitchFamily="34" charset="-120"/>
              </a:rPr>
              <a:t>«Si repitiera este procedimiento de muestreo muchas veces, el 95 % de los intervalos que construyera contendrían el μ real.» La confianza está en el PROCEDIMIENTO, no en el intervalo particular que tienes en la mano.</a:t>
            </a:r>
            <a:endParaRPr lang="en-US" sz="1250" dirty="0"/>
          </a:p>
        </p:txBody>
      </p:sp>
      <p:sp>
        <p:nvSpPr>
          <p:cNvPr id="10" name="Shape 8"/>
          <p:cNvSpPr/>
          <p:nvPr/>
        </p:nvSpPr>
        <p:spPr>
          <a:xfrm>
            <a:off x="548640" y="3108960"/>
            <a:ext cx="5422392" cy="1417320"/>
          </a:xfrm>
          <a:prstGeom prst="roundRect">
            <a:avLst>
              <a:gd name="adj" fmla="val 3871"/>
            </a:avLst>
          </a:prstGeom>
          <a:solidFill>
            <a:srgbClr val="FFFFFF"/>
          </a:solidFill>
          <a:ln w="12700">
            <a:solidFill>
              <a:srgbClr val="D2DBEC"/>
            </a:solidFill>
            <a:prstDash val="solid"/>
          </a:ln>
        </p:spPr>
      </p:sp>
      <p:sp>
        <p:nvSpPr>
          <p:cNvPr id="11" name="Shape 9"/>
          <p:cNvSpPr/>
          <p:nvPr/>
        </p:nvSpPr>
        <p:spPr>
          <a:xfrm>
            <a:off x="749808" y="3273552"/>
            <a:ext cx="603504" cy="365760"/>
          </a:xfrm>
          <a:prstGeom prst="roundRect">
            <a:avLst>
              <a:gd name="adj" fmla="val 15000"/>
            </a:avLst>
          </a:prstGeom>
          <a:solidFill>
            <a:srgbClr val="E6115E"/>
          </a:solidFill>
          <a:ln w="12700">
            <a:solidFill>
              <a:srgbClr val="E6115E"/>
            </a:solidFill>
            <a:prstDash val="solid"/>
          </a:ln>
        </p:spPr>
      </p:sp>
      <p:sp>
        <p:nvSpPr>
          <p:cNvPr id="12" name="Text 10"/>
          <p:cNvSpPr/>
          <p:nvPr/>
        </p:nvSpPr>
        <p:spPr>
          <a:xfrm>
            <a:off x="749808" y="3273552"/>
            <a:ext cx="603504"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a:t>
            </a:r>
            <a:endParaRPr lang="en-US" sz="1400" dirty="0"/>
          </a:p>
        </p:txBody>
      </p:sp>
      <p:sp>
        <p:nvSpPr>
          <p:cNvPr id="13" name="Text 11"/>
          <p:cNvSpPr/>
          <p:nvPr/>
        </p:nvSpPr>
        <p:spPr>
          <a:xfrm>
            <a:off x="1463040" y="3236976"/>
            <a:ext cx="4343400" cy="438912"/>
          </a:xfrm>
          <a:prstGeom prst="rect">
            <a:avLst/>
          </a:prstGeom>
          <a:noFill/>
          <a:ln/>
        </p:spPr>
        <p:txBody>
          <a:bodyPr wrap="square" lIns="0" tIns="0" rIns="0" bIns="0" rtlCol="0" anchor="ctr"/>
          <a:lstStyle/>
          <a:p>
            <a:pPr indent="0" marL="0">
              <a:buNone/>
            </a:pPr>
            <a:r>
              <a:rPr lang="en-US" sz="1250" b="1" dirty="0">
                <a:solidFill>
                  <a:srgbClr val="0A2559"/>
                </a:solidFill>
                <a:latin typeface="Calibri" pitchFamily="34" charset="0"/>
                <a:ea typeface="Calibri" pitchFamily="34" charset="-122"/>
                <a:cs typeface="Calibri" pitchFamily="34" charset="-120"/>
              </a:rPr>
              <a:t>«hay 95 % de probabilidad de que μ esté en mi intervalo»</a:t>
            </a:r>
            <a:endParaRPr lang="en-US" sz="1250" dirty="0"/>
          </a:p>
        </p:txBody>
      </p:sp>
      <p:sp>
        <p:nvSpPr>
          <p:cNvPr id="14" name="Text 12"/>
          <p:cNvSpPr/>
          <p:nvPr/>
        </p:nvSpPr>
        <p:spPr>
          <a:xfrm>
            <a:off x="749808" y="3730752"/>
            <a:ext cx="5029200" cy="713232"/>
          </a:xfrm>
          <a:prstGeom prst="rect">
            <a:avLst/>
          </a:prstGeom>
          <a:noFill/>
          <a:ln/>
        </p:spPr>
        <p:txBody>
          <a:bodyPr wrap="square" lIns="0" tIns="0" rIns="0" bIns="0" rtlCol="0" anchor="t"/>
          <a:lstStyle/>
          <a:p>
            <a:pPr algn="l" indent="0" marL="0">
              <a:lnSpc>
                <a:spcPct val="105000"/>
              </a:lnSpc>
              <a:buNone/>
            </a:pPr>
            <a:r>
              <a:rPr lang="en-US" sz="1100" dirty="0">
                <a:solidFill>
                  <a:srgbClr val="2C3A55"/>
                </a:solidFill>
                <a:latin typeface="Calibri" pitchFamily="34" charset="0"/>
                <a:ea typeface="Calibri" pitchFamily="34" charset="-122"/>
                <a:cs typeface="Calibri" pitchFamily="34" charset="-120"/>
              </a:rPr>
              <a:t>μ es una constante fija: o está o no está en tu intervalo, con probabilidad 0 o 1. Lo aleatorio es el intervalo, no μ. (La lectura probabilística de μ existe, pero es bayesiana y usa otra maquinaria.)</a:t>
            </a:r>
            <a:endParaRPr lang="en-US" sz="1100" dirty="0"/>
          </a:p>
        </p:txBody>
      </p:sp>
      <p:sp>
        <p:nvSpPr>
          <p:cNvPr id="15" name="Shape 13"/>
          <p:cNvSpPr/>
          <p:nvPr/>
        </p:nvSpPr>
        <p:spPr>
          <a:xfrm>
            <a:off x="6217920" y="3108960"/>
            <a:ext cx="5422392" cy="1417320"/>
          </a:xfrm>
          <a:prstGeom prst="roundRect">
            <a:avLst>
              <a:gd name="adj" fmla="val 3871"/>
            </a:avLst>
          </a:prstGeom>
          <a:solidFill>
            <a:srgbClr val="FFFFFF"/>
          </a:solidFill>
          <a:ln w="12700">
            <a:solidFill>
              <a:srgbClr val="D2DBEC"/>
            </a:solidFill>
            <a:prstDash val="solid"/>
          </a:ln>
        </p:spPr>
      </p:sp>
      <p:sp>
        <p:nvSpPr>
          <p:cNvPr id="16" name="Shape 14"/>
          <p:cNvSpPr/>
          <p:nvPr/>
        </p:nvSpPr>
        <p:spPr>
          <a:xfrm>
            <a:off x="6419088" y="3273552"/>
            <a:ext cx="603504" cy="365760"/>
          </a:xfrm>
          <a:prstGeom prst="roundRect">
            <a:avLst>
              <a:gd name="adj" fmla="val 15000"/>
            </a:avLst>
          </a:prstGeom>
          <a:solidFill>
            <a:srgbClr val="E6115E"/>
          </a:solidFill>
          <a:ln w="12700">
            <a:solidFill>
              <a:srgbClr val="E6115E"/>
            </a:solidFill>
            <a:prstDash val="solid"/>
          </a:ln>
        </p:spPr>
      </p:sp>
      <p:sp>
        <p:nvSpPr>
          <p:cNvPr id="17" name="Text 15"/>
          <p:cNvSpPr/>
          <p:nvPr/>
        </p:nvSpPr>
        <p:spPr>
          <a:xfrm>
            <a:off x="6419088" y="3273552"/>
            <a:ext cx="603504"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a:t>
            </a:r>
            <a:endParaRPr lang="en-US" sz="1400" dirty="0"/>
          </a:p>
        </p:txBody>
      </p:sp>
      <p:sp>
        <p:nvSpPr>
          <p:cNvPr id="18" name="Text 16"/>
          <p:cNvSpPr/>
          <p:nvPr/>
        </p:nvSpPr>
        <p:spPr>
          <a:xfrm>
            <a:off x="7132320" y="3236976"/>
            <a:ext cx="4343400" cy="438912"/>
          </a:xfrm>
          <a:prstGeom prst="rect">
            <a:avLst/>
          </a:prstGeom>
          <a:noFill/>
          <a:ln/>
        </p:spPr>
        <p:txBody>
          <a:bodyPr wrap="square" lIns="0" tIns="0" rIns="0" bIns="0" rtlCol="0" anchor="ctr"/>
          <a:lstStyle/>
          <a:p>
            <a:pPr indent="0" marL="0">
              <a:buNone/>
            </a:pPr>
            <a:r>
              <a:rPr lang="en-US" sz="1250" b="1" dirty="0">
                <a:solidFill>
                  <a:srgbClr val="0A2559"/>
                </a:solidFill>
                <a:latin typeface="Calibri" pitchFamily="34" charset="0"/>
                <a:ea typeface="Calibri" pitchFamily="34" charset="-122"/>
                <a:cs typeface="Calibri" pitchFamily="34" charset="-120"/>
              </a:rPr>
              <a:t>«el 95 % de los datos cae en el intervalo»</a:t>
            </a:r>
            <a:endParaRPr lang="en-US" sz="1250" dirty="0"/>
          </a:p>
        </p:txBody>
      </p:sp>
      <p:sp>
        <p:nvSpPr>
          <p:cNvPr id="19" name="Text 17"/>
          <p:cNvSpPr/>
          <p:nvPr/>
        </p:nvSpPr>
        <p:spPr>
          <a:xfrm>
            <a:off x="6419088" y="3730752"/>
            <a:ext cx="5029200" cy="713232"/>
          </a:xfrm>
          <a:prstGeom prst="rect">
            <a:avLst/>
          </a:prstGeom>
          <a:noFill/>
          <a:ln/>
        </p:spPr>
        <p:txBody>
          <a:bodyPr wrap="square" lIns="0" tIns="0" rIns="0" bIns="0" rtlCol="0" anchor="t"/>
          <a:lstStyle/>
          <a:p>
            <a:pPr algn="l" indent="0" marL="0">
              <a:lnSpc>
                <a:spcPct val="105000"/>
              </a:lnSpc>
              <a:buNone/>
            </a:pPr>
            <a:r>
              <a:rPr lang="en-US" sz="1100" dirty="0">
                <a:solidFill>
                  <a:srgbClr val="2C3A55"/>
                </a:solidFill>
                <a:latin typeface="Calibri" pitchFamily="34" charset="0"/>
                <a:ea typeface="Calibri" pitchFamily="34" charset="-122"/>
                <a:cs typeface="Calibri" pitchFamily="34" charset="-120"/>
              </a:rPr>
              <a:t>Eso sería un intervalo de predicción, y es muchísimo más ancho. El IC acota la MEDIA, no las observaciones individuales.</a:t>
            </a:r>
            <a:endParaRPr lang="en-US" sz="1100" dirty="0"/>
          </a:p>
        </p:txBody>
      </p:sp>
      <p:sp>
        <p:nvSpPr>
          <p:cNvPr id="20" name="Shape 18"/>
          <p:cNvSpPr/>
          <p:nvPr/>
        </p:nvSpPr>
        <p:spPr>
          <a:xfrm>
            <a:off x="548640" y="4690872"/>
            <a:ext cx="5422392" cy="1417320"/>
          </a:xfrm>
          <a:prstGeom prst="roundRect">
            <a:avLst>
              <a:gd name="adj" fmla="val 3871"/>
            </a:avLst>
          </a:prstGeom>
          <a:solidFill>
            <a:srgbClr val="FFFFFF"/>
          </a:solidFill>
          <a:ln w="12700">
            <a:solidFill>
              <a:srgbClr val="D2DBEC"/>
            </a:solidFill>
            <a:prstDash val="solid"/>
          </a:ln>
        </p:spPr>
      </p:sp>
      <p:sp>
        <p:nvSpPr>
          <p:cNvPr id="21" name="Shape 19"/>
          <p:cNvSpPr/>
          <p:nvPr/>
        </p:nvSpPr>
        <p:spPr>
          <a:xfrm>
            <a:off x="749808" y="4855464"/>
            <a:ext cx="603504" cy="365760"/>
          </a:xfrm>
          <a:prstGeom prst="roundRect">
            <a:avLst>
              <a:gd name="adj" fmla="val 15000"/>
            </a:avLst>
          </a:prstGeom>
          <a:solidFill>
            <a:srgbClr val="E6115E"/>
          </a:solidFill>
          <a:ln w="12700">
            <a:solidFill>
              <a:srgbClr val="E6115E"/>
            </a:solidFill>
            <a:prstDash val="solid"/>
          </a:ln>
        </p:spPr>
      </p:sp>
      <p:sp>
        <p:nvSpPr>
          <p:cNvPr id="22" name="Text 20"/>
          <p:cNvSpPr/>
          <p:nvPr/>
        </p:nvSpPr>
        <p:spPr>
          <a:xfrm>
            <a:off x="749808" y="4855464"/>
            <a:ext cx="603504"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a:t>
            </a:r>
            <a:endParaRPr lang="en-US" sz="1400" dirty="0"/>
          </a:p>
        </p:txBody>
      </p:sp>
      <p:sp>
        <p:nvSpPr>
          <p:cNvPr id="23" name="Text 21"/>
          <p:cNvSpPr/>
          <p:nvPr/>
        </p:nvSpPr>
        <p:spPr>
          <a:xfrm>
            <a:off x="1463040" y="4818888"/>
            <a:ext cx="4343400" cy="438912"/>
          </a:xfrm>
          <a:prstGeom prst="rect">
            <a:avLst/>
          </a:prstGeom>
          <a:noFill/>
          <a:ln/>
        </p:spPr>
        <p:txBody>
          <a:bodyPr wrap="square" lIns="0" tIns="0" rIns="0" bIns="0" rtlCol="0" anchor="ctr"/>
          <a:lstStyle/>
          <a:p>
            <a:pPr indent="0" marL="0">
              <a:buNone/>
            </a:pPr>
            <a:r>
              <a:rPr lang="en-US" sz="1250" b="1" dirty="0">
                <a:solidFill>
                  <a:srgbClr val="0A2559"/>
                </a:solidFill>
                <a:latin typeface="Calibri" pitchFamily="34" charset="0"/>
                <a:ea typeface="Calibri" pitchFamily="34" charset="-122"/>
                <a:cs typeface="Calibri" pitchFamily="34" charset="-120"/>
              </a:rPr>
              <a:t>«un intervalo más ancho es un peor análisis»</a:t>
            </a:r>
            <a:endParaRPr lang="en-US" sz="1250" dirty="0"/>
          </a:p>
        </p:txBody>
      </p:sp>
      <p:sp>
        <p:nvSpPr>
          <p:cNvPr id="24" name="Text 22"/>
          <p:cNvSpPr/>
          <p:nvPr/>
        </p:nvSpPr>
        <p:spPr>
          <a:xfrm>
            <a:off x="749808" y="5312664"/>
            <a:ext cx="5029200" cy="713232"/>
          </a:xfrm>
          <a:prstGeom prst="rect">
            <a:avLst/>
          </a:prstGeom>
          <a:noFill/>
          <a:ln/>
        </p:spPr>
        <p:txBody>
          <a:bodyPr wrap="square" lIns="0" tIns="0" rIns="0" bIns="0" rtlCol="0" anchor="t"/>
          <a:lstStyle/>
          <a:p>
            <a:pPr algn="l" indent="0" marL="0">
              <a:lnSpc>
                <a:spcPct val="105000"/>
              </a:lnSpc>
              <a:buNone/>
            </a:pPr>
            <a:r>
              <a:rPr lang="en-US" sz="1100" dirty="0">
                <a:solidFill>
                  <a:srgbClr val="2C3A55"/>
                </a:solidFill>
                <a:latin typeface="Calibri" pitchFamily="34" charset="0"/>
                <a:ea typeface="Calibri" pitchFamily="34" charset="-122"/>
                <a:cs typeface="Calibri" pitchFamily="34" charset="-120"/>
              </a:rPr>
              <a:t>Es un análisis más honesto. El ancho refleja la incertidumbre que ya tenías; estrecharlo sin más datos es maquillaje.</a:t>
            </a:r>
            <a:endParaRPr lang="en-US" sz="1100" dirty="0"/>
          </a:p>
        </p:txBody>
      </p:sp>
      <p:sp>
        <p:nvSpPr>
          <p:cNvPr id="25" name="Shape 23"/>
          <p:cNvSpPr/>
          <p:nvPr/>
        </p:nvSpPr>
        <p:spPr>
          <a:xfrm>
            <a:off x="6217920" y="4690872"/>
            <a:ext cx="5422392" cy="1417320"/>
          </a:xfrm>
          <a:prstGeom prst="roundRect">
            <a:avLst>
              <a:gd name="adj" fmla="val 3871"/>
            </a:avLst>
          </a:prstGeom>
          <a:solidFill>
            <a:srgbClr val="FFFFFF"/>
          </a:solidFill>
          <a:ln w="12700">
            <a:solidFill>
              <a:srgbClr val="D2DBEC"/>
            </a:solidFill>
            <a:prstDash val="solid"/>
          </a:ln>
        </p:spPr>
      </p:sp>
      <p:sp>
        <p:nvSpPr>
          <p:cNvPr id="26" name="Shape 24"/>
          <p:cNvSpPr/>
          <p:nvPr/>
        </p:nvSpPr>
        <p:spPr>
          <a:xfrm>
            <a:off x="6419088" y="4855464"/>
            <a:ext cx="603504" cy="365760"/>
          </a:xfrm>
          <a:prstGeom prst="roundRect">
            <a:avLst>
              <a:gd name="adj" fmla="val 15000"/>
            </a:avLst>
          </a:prstGeom>
          <a:solidFill>
            <a:srgbClr val="E6115E"/>
          </a:solidFill>
          <a:ln w="12700">
            <a:solidFill>
              <a:srgbClr val="E6115E"/>
            </a:solidFill>
            <a:prstDash val="solid"/>
          </a:ln>
        </p:spPr>
      </p:sp>
      <p:sp>
        <p:nvSpPr>
          <p:cNvPr id="27" name="Text 25"/>
          <p:cNvSpPr/>
          <p:nvPr/>
        </p:nvSpPr>
        <p:spPr>
          <a:xfrm>
            <a:off x="6419088" y="4855464"/>
            <a:ext cx="603504"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a:t>
            </a:r>
            <a:endParaRPr lang="en-US" sz="1400" dirty="0"/>
          </a:p>
        </p:txBody>
      </p:sp>
      <p:sp>
        <p:nvSpPr>
          <p:cNvPr id="28" name="Text 26"/>
          <p:cNvSpPr/>
          <p:nvPr/>
        </p:nvSpPr>
        <p:spPr>
          <a:xfrm>
            <a:off x="7132320" y="4818888"/>
            <a:ext cx="4343400" cy="438912"/>
          </a:xfrm>
          <a:prstGeom prst="rect">
            <a:avLst/>
          </a:prstGeom>
          <a:noFill/>
          <a:ln/>
        </p:spPr>
        <p:txBody>
          <a:bodyPr wrap="square" lIns="0" tIns="0" rIns="0" bIns="0" rtlCol="0" anchor="ctr"/>
          <a:lstStyle/>
          <a:p>
            <a:pPr indent="0" marL="0">
              <a:buNone/>
            </a:pPr>
            <a:r>
              <a:rPr lang="en-US" sz="1250" b="1" dirty="0">
                <a:solidFill>
                  <a:srgbClr val="0A2559"/>
                </a:solidFill>
                <a:latin typeface="Calibri" pitchFamily="34" charset="0"/>
                <a:ea typeface="Calibri" pitchFamily="34" charset="-122"/>
                <a:cs typeface="Calibri" pitchFamily="34" charset="-120"/>
              </a:rPr>
              <a:t>«si dos intervalos se solapan, no hay diferencia»</a:t>
            </a:r>
            <a:endParaRPr lang="en-US" sz="1250" dirty="0"/>
          </a:p>
        </p:txBody>
      </p:sp>
      <p:sp>
        <p:nvSpPr>
          <p:cNvPr id="29" name="Text 27"/>
          <p:cNvSpPr/>
          <p:nvPr/>
        </p:nvSpPr>
        <p:spPr>
          <a:xfrm>
            <a:off x="6419088" y="5312664"/>
            <a:ext cx="5029200" cy="713232"/>
          </a:xfrm>
          <a:prstGeom prst="rect">
            <a:avLst/>
          </a:prstGeom>
          <a:noFill/>
          <a:ln/>
        </p:spPr>
        <p:txBody>
          <a:bodyPr wrap="square" lIns="0" tIns="0" rIns="0" bIns="0" rtlCol="0" anchor="t"/>
          <a:lstStyle/>
          <a:p>
            <a:pPr algn="l" indent="0" marL="0">
              <a:lnSpc>
                <a:spcPct val="105000"/>
              </a:lnSpc>
              <a:buNone/>
            </a:pPr>
            <a:r>
              <a:rPr lang="en-US" sz="1100" dirty="0">
                <a:solidFill>
                  <a:srgbClr val="2C3A55"/>
                </a:solidFill>
                <a:latin typeface="Calibri" pitchFamily="34" charset="0"/>
                <a:ea typeface="Calibri" pitchFamily="34" charset="-122"/>
                <a:cs typeface="Calibri" pitchFamily="34" charset="-120"/>
              </a:rPr>
              <a:t>El solape no es una prueba. Dos intervalos pueden solaparse y la diferencia ser significativa, y viceversa. Para comparar, se construye el IC de la diferencia.</a:t>
            </a:r>
            <a:endParaRPr lang="en-US" sz="1100" dirty="0"/>
          </a:p>
        </p:txBody>
      </p:sp>
      <p:sp>
        <p:nvSpPr>
          <p:cNvPr id="30" name="Text 28"/>
          <p:cNvSpPr/>
          <p:nvPr/>
        </p:nvSpPr>
        <p:spPr>
          <a:xfrm>
            <a:off x="548640" y="6309360"/>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El primer error lo comete casi todo el mundo, incluidos libros de texto. No pasa nada por decirlo mal en una conversación; sí pasa por escribirlo en un informe que alguien audite.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VERLO PARA CREERLO</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Cien muestras, cien intervalos, y unos pocos que fallan</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El «95 %» no es una promesa sobre tu intervalo: es una tasa de acierto a la larga. Aquí está la tasa.</a:t>
            </a:r>
            <a:endParaRPr lang="en-US" sz="1400" dirty="0"/>
          </a:p>
        </p:txBody>
      </p:sp>
      <p:sp>
        <p:nvSpPr>
          <p:cNvPr id="6" name="Shape 4"/>
          <p:cNvSpPr/>
          <p:nvPr/>
        </p:nvSpPr>
        <p:spPr>
          <a:xfrm>
            <a:off x="960120" y="5138928"/>
            <a:ext cx="6858000" cy="0"/>
          </a:xfrm>
          <a:prstGeom prst="line">
            <a:avLst/>
          </a:prstGeom>
          <a:noFill/>
          <a:ln w="12700">
            <a:solidFill>
              <a:srgbClr val="E1E8F5"/>
            </a:solidFill>
            <a:prstDash val="solid"/>
          </a:ln>
        </p:spPr>
      </p:sp>
      <p:sp>
        <p:nvSpPr>
          <p:cNvPr id="7" name="Text 5"/>
          <p:cNvSpPr/>
          <p:nvPr/>
        </p:nvSpPr>
        <p:spPr>
          <a:xfrm>
            <a:off x="246888" y="5020056"/>
            <a:ext cx="640080" cy="237744"/>
          </a:xfrm>
          <a:prstGeom prst="rect">
            <a:avLst/>
          </a:prstGeom>
          <a:noFill/>
          <a:ln/>
        </p:spPr>
        <p:txBody>
          <a:bodyPr wrap="square" lIns="0" tIns="0" rIns="0" bIns="0" rtlCol="0" anchor="ctr"/>
          <a:lstStyle/>
          <a:p>
            <a:pPr algn="r" indent="0" marL="0">
              <a:buNone/>
            </a:pPr>
            <a:r>
              <a:rPr lang="en-US" sz="950" dirty="0">
                <a:solidFill>
                  <a:srgbClr val="5B6B87"/>
                </a:solidFill>
                <a:latin typeface="Calibri" pitchFamily="34" charset="0"/>
                <a:ea typeface="Calibri" pitchFamily="34" charset="-122"/>
                <a:cs typeface="Calibri" pitchFamily="34" charset="-120"/>
              </a:rPr>
              <a:t>1 000</a:t>
            </a:r>
            <a:endParaRPr lang="en-US" sz="950" dirty="0"/>
          </a:p>
        </p:txBody>
      </p:sp>
      <p:sp>
        <p:nvSpPr>
          <p:cNvPr id="8" name="Shape 6"/>
          <p:cNvSpPr/>
          <p:nvPr/>
        </p:nvSpPr>
        <p:spPr>
          <a:xfrm>
            <a:off x="960120" y="4407408"/>
            <a:ext cx="6858000" cy="0"/>
          </a:xfrm>
          <a:prstGeom prst="line">
            <a:avLst/>
          </a:prstGeom>
          <a:noFill/>
          <a:ln w="12700">
            <a:solidFill>
              <a:srgbClr val="E1E8F5"/>
            </a:solidFill>
            <a:prstDash val="solid"/>
          </a:ln>
        </p:spPr>
      </p:sp>
      <p:sp>
        <p:nvSpPr>
          <p:cNvPr id="9" name="Text 7"/>
          <p:cNvSpPr/>
          <p:nvPr/>
        </p:nvSpPr>
        <p:spPr>
          <a:xfrm>
            <a:off x="246888" y="4288536"/>
            <a:ext cx="640080" cy="237744"/>
          </a:xfrm>
          <a:prstGeom prst="rect">
            <a:avLst/>
          </a:prstGeom>
          <a:noFill/>
          <a:ln/>
        </p:spPr>
        <p:txBody>
          <a:bodyPr wrap="square" lIns="0" tIns="0" rIns="0" bIns="0" rtlCol="0" anchor="ctr"/>
          <a:lstStyle/>
          <a:p>
            <a:pPr algn="r" indent="0" marL="0">
              <a:buNone/>
            </a:pPr>
            <a:r>
              <a:rPr lang="en-US" sz="950" dirty="0">
                <a:solidFill>
                  <a:srgbClr val="5B6B87"/>
                </a:solidFill>
                <a:latin typeface="Calibri" pitchFamily="34" charset="0"/>
                <a:ea typeface="Calibri" pitchFamily="34" charset="-122"/>
                <a:cs typeface="Calibri" pitchFamily="34" charset="-120"/>
              </a:rPr>
              <a:t>2 000</a:t>
            </a:r>
            <a:endParaRPr lang="en-US" sz="950" dirty="0"/>
          </a:p>
        </p:txBody>
      </p:sp>
      <p:sp>
        <p:nvSpPr>
          <p:cNvPr id="10" name="Shape 8"/>
          <p:cNvSpPr/>
          <p:nvPr/>
        </p:nvSpPr>
        <p:spPr>
          <a:xfrm>
            <a:off x="960120" y="3675888"/>
            <a:ext cx="6858000" cy="0"/>
          </a:xfrm>
          <a:prstGeom prst="line">
            <a:avLst/>
          </a:prstGeom>
          <a:noFill/>
          <a:ln w="12700">
            <a:solidFill>
              <a:srgbClr val="E1E8F5"/>
            </a:solidFill>
            <a:prstDash val="solid"/>
          </a:ln>
        </p:spPr>
      </p:sp>
      <p:sp>
        <p:nvSpPr>
          <p:cNvPr id="11" name="Text 9"/>
          <p:cNvSpPr/>
          <p:nvPr/>
        </p:nvSpPr>
        <p:spPr>
          <a:xfrm>
            <a:off x="246888" y="3557016"/>
            <a:ext cx="640080" cy="237744"/>
          </a:xfrm>
          <a:prstGeom prst="rect">
            <a:avLst/>
          </a:prstGeom>
          <a:noFill/>
          <a:ln/>
        </p:spPr>
        <p:txBody>
          <a:bodyPr wrap="square" lIns="0" tIns="0" rIns="0" bIns="0" rtlCol="0" anchor="ctr"/>
          <a:lstStyle/>
          <a:p>
            <a:pPr algn="r" indent="0" marL="0">
              <a:buNone/>
            </a:pPr>
            <a:r>
              <a:rPr lang="en-US" sz="950" dirty="0">
                <a:solidFill>
                  <a:srgbClr val="5B6B87"/>
                </a:solidFill>
                <a:latin typeface="Calibri" pitchFamily="34" charset="0"/>
                <a:ea typeface="Calibri" pitchFamily="34" charset="-122"/>
                <a:cs typeface="Calibri" pitchFamily="34" charset="-120"/>
              </a:rPr>
              <a:t>3 000</a:t>
            </a:r>
            <a:endParaRPr lang="en-US" sz="950" dirty="0"/>
          </a:p>
        </p:txBody>
      </p:sp>
      <p:sp>
        <p:nvSpPr>
          <p:cNvPr id="12" name="Shape 10"/>
          <p:cNvSpPr/>
          <p:nvPr/>
        </p:nvSpPr>
        <p:spPr>
          <a:xfrm>
            <a:off x="960120" y="2944368"/>
            <a:ext cx="6858000" cy="0"/>
          </a:xfrm>
          <a:prstGeom prst="line">
            <a:avLst/>
          </a:prstGeom>
          <a:noFill/>
          <a:ln w="12700">
            <a:solidFill>
              <a:srgbClr val="E1E8F5"/>
            </a:solidFill>
            <a:prstDash val="solid"/>
          </a:ln>
        </p:spPr>
      </p:sp>
      <p:sp>
        <p:nvSpPr>
          <p:cNvPr id="13" name="Text 11"/>
          <p:cNvSpPr/>
          <p:nvPr/>
        </p:nvSpPr>
        <p:spPr>
          <a:xfrm>
            <a:off x="246888" y="2825496"/>
            <a:ext cx="640080" cy="237744"/>
          </a:xfrm>
          <a:prstGeom prst="rect">
            <a:avLst/>
          </a:prstGeom>
          <a:noFill/>
          <a:ln/>
        </p:spPr>
        <p:txBody>
          <a:bodyPr wrap="square" lIns="0" tIns="0" rIns="0" bIns="0" rtlCol="0" anchor="ctr"/>
          <a:lstStyle/>
          <a:p>
            <a:pPr algn="r" indent="0" marL="0">
              <a:buNone/>
            </a:pPr>
            <a:r>
              <a:rPr lang="en-US" sz="950" dirty="0">
                <a:solidFill>
                  <a:srgbClr val="5B6B87"/>
                </a:solidFill>
                <a:latin typeface="Calibri" pitchFamily="34" charset="0"/>
                <a:ea typeface="Calibri" pitchFamily="34" charset="-122"/>
                <a:cs typeface="Calibri" pitchFamily="34" charset="-120"/>
              </a:rPr>
              <a:t>4 000</a:t>
            </a:r>
            <a:endParaRPr lang="en-US" sz="950" dirty="0"/>
          </a:p>
        </p:txBody>
      </p:sp>
      <p:sp>
        <p:nvSpPr>
          <p:cNvPr id="14" name="Shape 12"/>
          <p:cNvSpPr/>
          <p:nvPr/>
        </p:nvSpPr>
        <p:spPr>
          <a:xfrm>
            <a:off x="960120" y="2212848"/>
            <a:ext cx="6858000" cy="0"/>
          </a:xfrm>
          <a:prstGeom prst="line">
            <a:avLst/>
          </a:prstGeom>
          <a:noFill/>
          <a:ln w="12700">
            <a:solidFill>
              <a:srgbClr val="E1E8F5"/>
            </a:solidFill>
            <a:prstDash val="solid"/>
          </a:ln>
        </p:spPr>
      </p:sp>
      <p:sp>
        <p:nvSpPr>
          <p:cNvPr id="15" name="Text 13"/>
          <p:cNvSpPr/>
          <p:nvPr/>
        </p:nvSpPr>
        <p:spPr>
          <a:xfrm>
            <a:off x="246888" y="2093976"/>
            <a:ext cx="640080" cy="237744"/>
          </a:xfrm>
          <a:prstGeom prst="rect">
            <a:avLst/>
          </a:prstGeom>
          <a:noFill/>
          <a:ln/>
        </p:spPr>
        <p:txBody>
          <a:bodyPr wrap="square" lIns="0" tIns="0" rIns="0" bIns="0" rtlCol="0" anchor="ctr"/>
          <a:lstStyle/>
          <a:p>
            <a:pPr algn="r" indent="0" marL="0">
              <a:buNone/>
            </a:pPr>
            <a:r>
              <a:rPr lang="en-US" sz="950" dirty="0">
                <a:solidFill>
                  <a:srgbClr val="5B6B87"/>
                </a:solidFill>
                <a:latin typeface="Calibri" pitchFamily="34" charset="0"/>
                <a:ea typeface="Calibri" pitchFamily="34" charset="-122"/>
                <a:cs typeface="Calibri" pitchFamily="34" charset="-120"/>
              </a:rPr>
              <a:t>5 000</a:t>
            </a:r>
            <a:endParaRPr lang="en-US" sz="950" dirty="0"/>
          </a:p>
        </p:txBody>
      </p:sp>
      <p:sp>
        <p:nvSpPr>
          <p:cNvPr id="16" name="Shape 14"/>
          <p:cNvSpPr/>
          <p:nvPr/>
        </p:nvSpPr>
        <p:spPr>
          <a:xfrm>
            <a:off x="960120" y="2212848"/>
            <a:ext cx="0" cy="2926080"/>
          </a:xfrm>
          <a:prstGeom prst="line">
            <a:avLst/>
          </a:prstGeom>
          <a:noFill/>
          <a:ln w="12700">
            <a:solidFill>
              <a:srgbClr val="D2DBEC"/>
            </a:solidFill>
            <a:prstDash val="solid"/>
          </a:ln>
        </p:spPr>
      </p:sp>
      <p:sp>
        <p:nvSpPr>
          <p:cNvPr id="17" name="Shape 15"/>
          <p:cNvSpPr/>
          <p:nvPr/>
        </p:nvSpPr>
        <p:spPr>
          <a:xfrm>
            <a:off x="994410" y="3082113"/>
            <a:ext cx="0" cy="1144902"/>
          </a:xfrm>
          <a:prstGeom prst="line">
            <a:avLst/>
          </a:prstGeom>
          <a:noFill/>
          <a:ln w="15875">
            <a:solidFill>
              <a:srgbClr val="9BB4E8"/>
            </a:solidFill>
            <a:prstDash val="solid"/>
          </a:ln>
        </p:spPr>
      </p:sp>
      <p:sp>
        <p:nvSpPr>
          <p:cNvPr id="18" name="Shape 16"/>
          <p:cNvSpPr/>
          <p:nvPr/>
        </p:nvSpPr>
        <p:spPr>
          <a:xfrm>
            <a:off x="968807" y="3628998"/>
            <a:ext cx="51206" cy="51206"/>
          </a:xfrm>
          <a:prstGeom prst="roundRect">
            <a:avLst>
              <a:gd name="adj" fmla="val 50000"/>
            </a:avLst>
          </a:prstGeom>
          <a:solidFill>
            <a:srgbClr val="1A56E8"/>
          </a:solidFill>
          <a:ln w="12700">
            <a:solidFill>
              <a:srgbClr val="1A56E8"/>
            </a:solidFill>
            <a:prstDash val="solid"/>
          </a:ln>
        </p:spPr>
      </p:sp>
      <p:sp>
        <p:nvSpPr>
          <p:cNvPr id="19" name="Shape 17"/>
          <p:cNvSpPr/>
          <p:nvPr/>
        </p:nvSpPr>
        <p:spPr>
          <a:xfrm>
            <a:off x="1062990" y="3048536"/>
            <a:ext cx="0" cy="1125809"/>
          </a:xfrm>
          <a:prstGeom prst="line">
            <a:avLst/>
          </a:prstGeom>
          <a:noFill/>
          <a:ln w="15875">
            <a:solidFill>
              <a:srgbClr val="9BB4E8"/>
            </a:solidFill>
            <a:prstDash val="solid"/>
          </a:ln>
        </p:spPr>
      </p:sp>
      <p:sp>
        <p:nvSpPr>
          <p:cNvPr id="20" name="Shape 18"/>
          <p:cNvSpPr/>
          <p:nvPr/>
        </p:nvSpPr>
        <p:spPr>
          <a:xfrm>
            <a:off x="1037387" y="3585838"/>
            <a:ext cx="51206" cy="51206"/>
          </a:xfrm>
          <a:prstGeom prst="roundRect">
            <a:avLst>
              <a:gd name="adj" fmla="val 50000"/>
            </a:avLst>
          </a:prstGeom>
          <a:solidFill>
            <a:srgbClr val="1A56E8"/>
          </a:solidFill>
          <a:ln w="12700">
            <a:solidFill>
              <a:srgbClr val="1A56E8"/>
            </a:solidFill>
            <a:prstDash val="solid"/>
          </a:ln>
        </p:spPr>
      </p:sp>
      <p:sp>
        <p:nvSpPr>
          <p:cNvPr id="21" name="Shape 19"/>
          <p:cNvSpPr/>
          <p:nvPr/>
        </p:nvSpPr>
        <p:spPr>
          <a:xfrm>
            <a:off x="1131570" y="3065581"/>
            <a:ext cx="0" cy="866705"/>
          </a:xfrm>
          <a:prstGeom prst="line">
            <a:avLst/>
          </a:prstGeom>
          <a:noFill/>
          <a:ln w="15875">
            <a:solidFill>
              <a:srgbClr val="9BB4E8"/>
            </a:solidFill>
            <a:prstDash val="solid"/>
          </a:ln>
        </p:spPr>
      </p:sp>
      <p:sp>
        <p:nvSpPr>
          <p:cNvPr id="22" name="Shape 20"/>
          <p:cNvSpPr/>
          <p:nvPr/>
        </p:nvSpPr>
        <p:spPr>
          <a:xfrm>
            <a:off x="1105967" y="3473330"/>
            <a:ext cx="51206" cy="51206"/>
          </a:xfrm>
          <a:prstGeom prst="roundRect">
            <a:avLst>
              <a:gd name="adj" fmla="val 50000"/>
            </a:avLst>
          </a:prstGeom>
          <a:solidFill>
            <a:srgbClr val="1A56E8"/>
          </a:solidFill>
          <a:ln w="12700">
            <a:solidFill>
              <a:srgbClr val="1A56E8"/>
            </a:solidFill>
            <a:prstDash val="solid"/>
          </a:ln>
        </p:spPr>
      </p:sp>
      <p:sp>
        <p:nvSpPr>
          <p:cNvPr id="23" name="Shape 21"/>
          <p:cNvSpPr/>
          <p:nvPr/>
        </p:nvSpPr>
        <p:spPr>
          <a:xfrm>
            <a:off x="1200150" y="3459431"/>
            <a:ext cx="0" cy="1189305"/>
          </a:xfrm>
          <a:prstGeom prst="line">
            <a:avLst/>
          </a:prstGeom>
          <a:noFill/>
          <a:ln w="15875">
            <a:solidFill>
              <a:srgbClr val="9BB4E8"/>
            </a:solidFill>
            <a:prstDash val="solid"/>
          </a:ln>
        </p:spPr>
      </p:sp>
      <p:sp>
        <p:nvSpPr>
          <p:cNvPr id="24" name="Shape 22"/>
          <p:cNvSpPr/>
          <p:nvPr/>
        </p:nvSpPr>
        <p:spPr>
          <a:xfrm>
            <a:off x="1174547" y="4028481"/>
            <a:ext cx="51206" cy="51206"/>
          </a:xfrm>
          <a:prstGeom prst="roundRect">
            <a:avLst>
              <a:gd name="adj" fmla="val 50000"/>
            </a:avLst>
          </a:prstGeom>
          <a:solidFill>
            <a:srgbClr val="1A56E8"/>
          </a:solidFill>
          <a:ln w="12700">
            <a:solidFill>
              <a:srgbClr val="1A56E8"/>
            </a:solidFill>
            <a:prstDash val="solid"/>
          </a:ln>
        </p:spPr>
      </p:sp>
      <p:sp>
        <p:nvSpPr>
          <p:cNvPr id="25" name="Shape 23"/>
          <p:cNvSpPr/>
          <p:nvPr/>
        </p:nvSpPr>
        <p:spPr>
          <a:xfrm>
            <a:off x="1268730" y="3211519"/>
            <a:ext cx="0" cy="1157045"/>
          </a:xfrm>
          <a:prstGeom prst="line">
            <a:avLst/>
          </a:prstGeom>
          <a:noFill/>
          <a:ln w="15875">
            <a:solidFill>
              <a:srgbClr val="9BB4E8"/>
            </a:solidFill>
            <a:prstDash val="solid"/>
          </a:ln>
        </p:spPr>
      </p:sp>
      <p:sp>
        <p:nvSpPr>
          <p:cNvPr id="26" name="Shape 24"/>
          <p:cNvSpPr/>
          <p:nvPr/>
        </p:nvSpPr>
        <p:spPr>
          <a:xfrm>
            <a:off x="1243127" y="3764475"/>
            <a:ext cx="51206" cy="51206"/>
          </a:xfrm>
          <a:prstGeom prst="roundRect">
            <a:avLst>
              <a:gd name="adj" fmla="val 50000"/>
            </a:avLst>
          </a:prstGeom>
          <a:solidFill>
            <a:srgbClr val="1A56E8"/>
          </a:solidFill>
          <a:ln w="12700">
            <a:solidFill>
              <a:srgbClr val="1A56E8"/>
            </a:solidFill>
            <a:prstDash val="solid"/>
          </a:ln>
        </p:spPr>
      </p:sp>
      <p:sp>
        <p:nvSpPr>
          <p:cNvPr id="27" name="Shape 25"/>
          <p:cNvSpPr/>
          <p:nvPr/>
        </p:nvSpPr>
        <p:spPr>
          <a:xfrm>
            <a:off x="1337310" y="3309616"/>
            <a:ext cx="0" cy="849002"/>
          </a:xfrm>
          <a:prstGeom prst="line">
            <a:avLst/>
          </a:prstGeom>
          <a:noFill/>
          <a:ln w="15875">
            <a:solidFill>
              <a:srgbClr val="9BB4E8"/>
            </a:solidFill>
            <a:prstDash val="solid"/>
          </a:ln>
        </p:spPr>
      </p:sp>
      <p:sp>
        <p:nvSpPr>
          <p:cNvPr id="28" name="Shape 26"/>
          <p:cNvSpPr/>
          <p:nvPr/>
        </p:nvSpPr>
        <p:spPr>
          <a:xfrm>
            <a:off x="1311707" y="3708514"/>
            <a:ext cx="51206" cy="51206"/>
          </a:xfrm>
          <a:prstGeom prst="roundRect">
            <a:avLst>
              <a:gd name="adj" fmla="val 50000"/>
            </a:avLst>
          </a:prstGeom>
          <a:solidFill>
            <a:srgbClr val="1A56E8"/>
          </a:solidFill>
          <a:ln w="12700">
            <a:solidFill>
              <a:srgbClr val="1A56E8"/>
            </a:solidFill>
            <a:prstDash val="solid"/>
          </a:ln>
        </p:spPr>
      </p:sp>
      <p:sp>
        <p:nvSpPr>
          <p:cNvPr id="29" name="Shape 27"/>
          <p:cNvSpPr/>
          <p:nvPr/>
        </p:nvSpPr>
        <p:spPr>
          <a:xfrm>
            <a:off x="1405890" y="3063898"/>
            <a:ext cx="0" cy="1241536"/>
          </a:xfrm>
          <a:prstGeom prst="line">
            <a:avLst/>
          </a:prstGeom>
          <a:noFill/>
          <a:ln w="15875">
            <a:solidFill>
              <a:srgbClr val="9BB4E8"/>
            </a:solidFill>
            <a:prstDash val="solid"/>
          </a:ln>
        </p:spPr>
      </p:sp>
      <p:sp>
        <p:nvSpPr>
          <p:cNvPr id="30" name="Shape 28"/>
          <p:cNvSpPr/>
          <p:nvPr/>
        </p:nvSpPr>
        <p:spPr>
          <a:xfrm>
            <a:off x="1380287" y="3659063"/>
            <a:ext cx="51206" cy="51206"/>
          </a:xfrm>
          <a:prstGeom prst="roundRect">
            <a:avLst>
              <a:gd name="adj" fmla="val 50000"/>
            </a:avLst>
          </a:prstGeom>
          <a:solidFill>
            <a:srgbClr val="1A56E8"/>
          </a:solidFill>
          <a:ln w="12700">
            <a:solidFill>
              <a:srgbClr val="1A56E8"/>
            </a:solidFill>
            <a:prstDash val="solid"/>
          </a:ln>
        </p:spPr>
      </p:sp>
      <p:sp>
        <p:nvSpPr>
          <p:cNvPr id="31" name="Shape 29"/>
          <p:cNvSpPr/>
          <p:nvPr/>
        </p:nvSpPr>
        <p:spPr>
          <a:xfrm>
            <a:off x="1474470" y="2839468"/>
            <a:ext cx="0" cy="1137806"/>
          </a:xfrm>
          <a:prstGeom prst="line">
            <a:avLst/>
          </a:prstGeom>
          <a:noFill/>
          <a:ln w="15875">
            <a:solidFill>
              <a:srgbClr val="9BB4E8"/>
            </a:solidFill>
            <a:prstDash val="solid"/>
          </a:ln>
        </p:spPr>
      </p:sp>
      <p:sp>
        <p:nvSpPr>
          <p:cNvPr id="32" name="Shape 30"/>
          <p:cNvSpPr/>
          <p:nvPr/>
        </p:nvSpPr>
        <p:spPr>
          <a:xfrm>
            <a:off x="1448867" y="3382768"/>
            <a:ext cx="51206" cy="51206"/>
          </a:xfrm>
          <a:prstGeom prst="roundRect">
            <a:avLst>
              <a:gd name="adj" fmla="val 50000"/>
            </a:avLst>
          </a:prstGeom>
          <a:solidFill>
            <a:srgbClr val="1A56E8"/>
          </a:solidFill>
          <a:ln w="12700">
            <a:solidFill>
              <a:srgbClr val="1A56E8"/>
            </a:solidFill>
            <a:prstDash val="solid"/>
          </a:ln>
        </p:spPr>
      </p:sp>
      <p:sp>
        <p:nvSpPr>
          <p:cNvPr id="33" name="Shape 31"/>
          <p:cNvSpPr/>
          <p:nvPr/>
        </p:nvSpPr>
        <p:spPr>
          <a:xfrm>
            <a:off x="1543050" y="3365943"/>
            <a:ext cx="0" cy="1086892"/>
          </a:xfrm>
          <a:prstGeom prst="line">
            <a:avLst/>
          </a:prstGeom>
          <a:noFill/>
          <a:ln w="15875">
            <a:solidFill>
              <a:srgbClr val="9BB4E8"/>
            </a:solidFill>
            <a:prstDash val="solid"/>
          </a:ln>
        </p:spPr>
      </p:sp>
      <p:sp>
        <p:nvSpPr>
          <p:cNvPr id="34" name="Shape 32"/>
          <p:cNvSpPr/>
          <p:nvPr/>
        </p:nvSpPr>
        <p:spPr>
          <a:xfrm>
            <a:off x="1517447" y="3883786"/>
            <a:ext cx="51206" cy="51206"/>
          </a:xfrm>
          <a:prstGeom prst="roundRect">
            <a:avLst>
              <a:gd name="adj" fmla="val 50000"/>
            </a:avLst>
          </a:prstGeom>
          <a:solidFill>
            <a:srgbClr val="1A56E8"/>
          </a:solidFill>
          <a:ln w="12700">
            <a:solidFill>
              <a:srgbClr val="1A56E8"/>
            </a:solidFill>
            <a:prstDash val="solid"/>
          </a:ln>
        </p:spPr>
      </p:sp>
      <p:sp>
        <p:nvSpPr>
          <p:cNvPr id="35" name="Shape 33"/>
          <p:cNvSpPr/>
          <p:nvPr/>
        </p:nvSpPr>
        <p:spPr>
          <a:xfrm>
            <a:off x="1611630" y="2714524"/>
            <a:ext cx="0" cy="1193255"/>
          </a:xfrm>
          <a:prstGeom prst="line">
            <a:avLst/>
          </a:prstGeom>
          <a:noFill/>
          <a:ln w="15875">
            <a:solidFill>
              <a:srgbClr val="9BB4E8"/>
            </a:solidFill>
            <a:prstDash val="solid"/>
          </a:ln>
        </p:spPr>
      </p:sp>
      <p:sp>
        <p:nvSpPr>
          <p:cNvPr id="36" name="Shape 34"/>
          <p:cNvSpPr/>
          <p:nvPr/>
        </p:nvSpPr>
        <p:spPr>
          <a:xfrm>
            <a:off x="1586027" y="3285549"/>
            <a:ext cx="51206" cy="51206"/>
          </a:xfrm>
          <a:prstGeom prst="roundRect">
            <a:avLst>
              <a:gd name="adj" fmla="val 50000"/>
            </a:avLst>
          </a:prstGeom>
          <a:solidFill>
            <a:srgbClr val="1A56E8"/>
          </a:solidFill>
          <a:ln w="12700">
            <a:solidFill>
              <a:srgbClr val="1A56E8"/>
            </a:solidFill>
            <a:prstDash val="solid"/>
          </a:ln>
        </p:spPr>
      </p:sp>
      <p:sp>
        <p:nvSpPr>
          <p:cNvPr id="37" name="Shape 35"/>
          <p:cNvSpPr/>
          <p:nvPr/>
        </p:nvSpPr>
        <p:spPr>
          <a:xfrm>
            <a:off x="1680210" y="3465722"/>
            <a:ext cx="0" cy="1008547"/>
          </a:xfrm>
          <a:prstGeom prst="line">
            <a:avLst/>
          </a:prstGeom>
          <a:noFill/>
          <a:ln w="15875">
            <a:solidFill>
              <a:srgbClr val="9BB4E8"/>
            </a:solidFill>
            <a:prstDash val="solid"/>
          </a:ln>
        </p:spPr>
      </p:sp>
      <p:sp>
        <p:nvSpPr>
          <p:cNvPr id="38" name="Shape 36"/>
          <p:cNvSpPr/>
          <p:nvPr/>
        </p:nvSpPr>
        <p:spPr>
          <a:xfrm>
            <a:off x="1654607" y="3944356"/>
            <a:ext cx="51206" cy="51206"/>
          </a:xfrm>
          <a:prstGeom prst="roundRect">
            <a:avLst>
              <a:gd name="adj" fmla="val 50000"/>
            </a:avLst>
          </a:prstGeom>
          <a:solidFill>
            <a:srgbClr val="1A56E8"/>
          </a:solidFill>
          <a:ln w="12700">
            <a:solidFill>
              <a:srgbClr val="1A56E8"/>
            </a:solidFill>
            <a:prstDash val="solid"/>
          </a:ln>
        </p:spPr>
      </p:sp>
      <p:sp>
        <p:nvSpPr>
          <p:cNvPr id="39" name="Shape 37"/>
          <p:cNvSpPr/>
          <p:nvPr/>
        </p:nvSpPr>
        <p:spPr>
          <a:xfrm>
            <a:off x="1748790" y="3257824"/>
            <a:ext cx="0" cy="1220541"/>
          </a:xfrm>
          <a:prstGeom prst="line">
            <a:avLst/>
          </a:prstGeom>
          <a:noFill/>
          <a:ln w="15875">
            <a:solidFill>
              <a:srgbClr val="9BB4E8"/>
            </a:solidFill>
            <a:prstDash val="solid"/>
          </a:ln>
        </p:spPr>
      </p:sp>
      <p:sp>
        <p:nvSpPr>
          <p:cNvPr id="40" name="Shape 38"/>
          <p:cNvSpPr/>
          <p:nvPr/>
        </p:nvSpPr>
        <p:spPr>
          <a:xfrm>
            <a:off x="1723187" y="3842455"/>
            <a:ext cx="51206" cy="51206"/>
          </a:xfrm>
          <a:prstGeom prst="roundRect">
            <a:avLst>
              <a:gd name="adj" fmla="val 50000"/>
            </a:avLst>
          </a:prstGeom>
          <a:solidFill>
            <a:srgbClr val="1A56E8"/>
          </a:solidFill>
          <a:ln w="12700">
            <a:solidFill>
              <a:srgbClr val="1A56E8"/>
            </a:solidFill>
            <a:prstDash val="solid"/>
          </a:ln>
        </p:spPr>
      </p:sp>
      <p:sp>
        <p:nvSpPr>
          <p:cNvPr id="41" name="Shape 39"/>
          <p:cNvSpPr/>
          <p:nvPr/>
        </p:nvSpPr>
        <p:spPr>
          <a:xfrm>
            <a:off x="1817370" y="3028054"/>
            <a:ext cx="0" cy="1076505"/>
          </a:xfrm>
          <a:prstGeom prst="line">
            <a:avLst/>
          </a:prstGeom>
          <a:noFill/>
          <a:ln w="15875">
            <a:solidFill>
              <a:srgbClr val="9BB4E8"/>
            </a:solidFill>
            <a:prstDash val="solid"/>
          </a:ln>
        </p:spPr>
      </p:sp>
      <p:sp>
        <p:nvSpPr>
          <p:cNvPr id="42" name="Shape 40"/>
          <p:cNvSpPr/>
          <p:nvPr/>
        </p:nvSpPr>
        <p:spPr>
          <a:xfrm>
            <a:off x="1791767" y="3540703"/>
            <a:ext cx="51206" cy="51206"/>
          </a:xfrm>
          <a:prstGeom prst="roundRect">
            <a:avLst>
              <a:gd name="adj" fmla="val 50000"/>
            </a:avLst>
          </a:prstGeom>
          <a:solidFill>
            <a:srgbClr val="1A56E8"/>
          </a:solidFill>
          <a:ln w="12700">
            <a:solidFill>
              <a:srgbClr val="1A56E8"/>
            </a:solidFill>
            <a:prstDash val="solid"/>
          </a:ln>
        </p:spPr>
      </p:sp>
      <p:sp>
        <p:nvSpPr>
          <p:cNvPr id="43" name="Shape 41"/>
          <p:cNvSpPr/>
          <p:nvPr/>
        </p:nvSpPr>
        <p:spPr>
          <a:xfrm>
            <a:off x="1885950" y="3658551"/>
            <a:ext cx="0" cy="1054925"/>
          </a:xfrm>
          <a:prstGeom prst="line">
            <a:avLst/>
          </a:prstGeom>
          <a:noFill/>
          <a:ln w="15875">
            <a:solidFill>
              <a:srgbClr val="9BB4E8"/>
            </a:solidFill>
            <a:prstDash val="solid"/>
          </a:ln>
        </p:spPr>
      </p:sp>
      <p:sp>
        <p:nvSpPr>
          <p:cNvPr id="44" name="Shape 42"/>
          <p:cNvSpPr/>
          <p:nvPr/>
        </p:nvSpPr>
        <p:spPr>
          <a:xfrm>
            <a:off x="1860347" y="4160374"/>
            <a:ext cx="51206" cy="51206"/>
          </a:xfrm>
          <a:prstGeom prst="roundRect">
            <a:avLst>
              <a:gd name="adj" fmla="val 50000"/>
            </a:avLst>
          </a:prstGeom>
          <a:solidFill>
            <a:srgbClr val="1A56E8"/>
          </a:solidFill>
          <a:ln w="12700">
            <a:solidFill>
              <a:srgbClr val="1A56E8"/>
            </a:solidFill>
            <a:prstDash val="solid"/>
          </a:ln>
        </p:spPr>
      </p:sp>
      <p:sp>
        <p:nvSpPr>
          <p:cNvPr id="45" name="Shape 43"/>
          <p:cNvSpPr/>
          <p:nvPr/>
        </p:nvSpPr>
        <p:spPr>
          <a:xfrm>
            <a:off x="1954530" y="3305885"/>
            <a:ext cx="0" cy="1009205"/>
          </a:xfrm>
          <a:prstGeom prst="line">
            <a:avLst/>
          </a:prstGeom>
          <a:noFill/>
          <a:ln w="15875">
            <a:solidFill>
              <a:srgbClr val="9BB4E8"/>
            </a:solidFill>
            <a:prstDash val="solid"/>
          </a:ln>
        </p:spPr>
      </p:sp>
      <p:sp>
        <p:nvSpPr>
          <p:cNvPr id="46" name="Shape 44"/>
          <p:cNvSpPr/>
          <p:nvPr/>
        </p:nvSpPr>
        <p:spPr>
          <a:xfrm>
            <a:off x="1928927" y="3784884"/>
            <a:ext cx="51206" cy="51206"/>
          </a:xfrm>
          <a:prstGeom prst="roundRect">
            <a:avLst>
              <a:gd name="adj" fmla="val 50000"/>
            </a:avLst>
          </a:prstGeom>
          <a:solidFill>
            <a:srgbClr val="1A56E8"/>
          </a:solidFill>
          <a:ln w="12700">
            <a:solidFill>
              <a:srgbClr val="1A56E8"/>
            </a:solidFill>
            <a:prstDash val="solid"/>
          </a:ln>
        </p:spPr>
      </p:sp>
      <p:sp>
        <p:nvSpPr>
          <p:cNvPr id="47" name="Shape 45"/>
          <p:cNvSpPr/>
          <p:nvPr/>
        </p:nvSpPr>
        <p:spPr>
          <a:xfrm>
            <a:off x="2023110" y="3420880"/>
            <a:ext cx="0" cy="958291"/>
          </a:xfrm>
          <a:prstGeom prst="line">
            <a:avLst/>
          </a:prstGeom>
          <a:noFill/>
          <a:ln w="15875">
            <a:solidFill>
              <a:srgbClr val="9BB4E8"/>
            </a:solidFill>
            <a:prstDash val="solid"/>
          </a:ln>
        </p:spPr>
      </p:sp>
      <p:sp>
        <p:nvSpPr>
          <p:cNvPr id="48" name="Shape 46"/>
          <p:cNvSpPr/>
          <p:nvPr/>
        </p:nvSpPr>
        <p:spPr>
          <a:xfrm>
            <a:off x="1997507" y="3874423"/>
            <a:ext cx="51206" cy="51206"/>
          </a:xfrm>
          <a:prstGeom prst="roundRect">
            <a:avLst>
              <a:gd name="adj" fmla="val 50000"/>
            </a:avLst>
          </a:prstGeom>
          <a:solidFill>
            <a:srgbClr val="1A56E8"/>
          </a:solidFill>
          <a:ln w="12700">
            <a:solidFill>
              <a:srgbClr val="1A56E8"/>
            </a:solidFill>
            <a:prstDash val="solid"/>
          </a:ln>
        </p:spPr>
      </p:sp>
      <p:sp>
        <p:nvSpPr>
          <p:cNvPr id="49" name="Shape 47"/>
          <p:cNvSpPr/>
          <p:nvPr/>
        </p:nvSpPr>
        <p:spPr>
          <a:xfrm>
            <a:off x="2091690" y="2458639"/>
            <a:ext cx="0" cy="1062094"/>
          </a:xfrm>
          <a:prstGeom prst="line">
            <a:avLst/>
          </a:prstGeom>
          <a:noFill/>
          <a:ln w="28575">
            <a:solidFill>
              <a:srgbClr val="E6115E"/>
            </a:solidFill>
            <a:prstDash val="solid"/>
          </a:ln>
        </p:spPr>
      </p:sp>
      <p:sp>
        <p:nvSpPr>
          <p:cNvPr id="50" name="Shape 48"/>
          <p:cNvSpPr/>
          <p:nvPr/>
        </p:nvSpPr>
        <p:spPr>
          <a:xfrm>
            <a:off x="2066087" y="2964119"/>
            <a:ext cx="51206" cy="51206"/>
          </a:xfrm>
          <a:prstGeom prst="roundRect">
            <a:avLst>
              <a:gd name="adj" fmla="val 50000"/>
            </a:avLst>
          </a:prstGeom>
          <a:solidFill>
            <a:srgbClr val="E6115E"/>
          </a:solidFill>
          <a:ln w="12700">
            <a:solidFill>
              <a:srgbClr val="E6115E"/>
            </a:solidFill>
            <a:prstDash val="solid"/>
          </a:ln>
        </p:spPr>
      </p:sp>
      <p:sp>
        <p:nvSpPr>
          <p:cNvPr id="51" name="Shape 49"/>
          <p:cNvSpPr/>
          <p:nvPr/>
        </p:nvSpPr>
        <p:spPr>
          <a:xfrm>
            <a:off x="2160270" y="3303910"/>
            <a:ext cx="0" cy="1205033"/>
          </a:xfrm>
          <a:prstGeom prst="line">
            <a:avLst/>
          </a:prstGeom>
          <a:noFill/>
          <a:ln w="15875">
            <a:solidFill>
              <a:srgbClr val="9BB4E8"/>
            </a:solidFill>
            <a:prstDash val="solid"/>
          </a:ln>
        </p:spPr>
      </p:sp>
      <p:sp>
        <p:nvSpPr>
          <p:cNvPr id="52" name="Shape 50"/>
          <p:cNvSpPr/>
          <p:nvPr/>
        </p:nvSpPr>
        <p:spPr>
          <a:xfrm>
            <a:off x="2134667" y="3880787"/>
            <a:ext cx="51206" cy="51206"/>
          </a:xfrm>
          <a:prstGeom prst="roundRect">
            <a:avLst>
              <a:gd name="adj" fmla="val 50000"/>
            </a:avLst>
          </a:prstGeom>
          <a:solidFill>
            <a:srgbClr val="1A56E8"/>
          </a:solidFill>
          <a:ln w="12700">
            <a:solidFill>
              <a:srgbClr val="1A56E8"/>
            </a:solidFill>
            <a:prstDash val="solid"/>
          </a:ln>
        </p:spPr>
      </p:sp>
      <p:sp>
        <p:nvSpPr>
          <p:cNvPr id="53" name="Shape 51"/>
          <p:cNvSpPr/>
          <p:nvPr/>
        </p:nvSpPr>
        <p:spPr>
          <a:xfrm>
            <a:off x="2228850" y="3215835"/>
            <a:ext cx="0" cy="1123322"/>
          </a:xfrm>
          <a:prstGeom prst="line">
            <a:avLst/>
          </a:prstGeom>
          <a:noFill/>
          <a:ln w="15875">
            <a:solidFill>
              <a:srgbClr val="9BB4E8"/>
            </a:solidFill>
            <a:prstDash val="solid"/>
          </a:ln>
        </p:spPr>
      </p:sp>
      <p:sp>
        <p:nvSpPr>
          <p:cNvPr id="54" name="Shape 52"/>
          <p:cNvSpPr/>
          <p:nvPr/>
        </p:nvSpPr>
        <p:spPr>
          <a:xfrm>
            <a:off x="2203247" y="3751893"/>
            <a:ext cx="51206" cy="51206"/>
          </a:xfrm>
          <a:prstGeom prst="roundRect">
            <a:avLst>
              <a:gd name="adj" fmla="val 50000"/>
            </a:avLst>
          </a:prstGeom>
          <a:solidFill>
            <a:srgbClr val="1A56E8"/>
          </a:solidFill>
          <a:ln w="12700">
            <a:solidFill>
              <a:srgbClr val="1A56E8"/>
            </a:solidFill>
            <a:prstDash val="solid"/>
          </a:ln>
        </p:spPr>
      </p:sp>
      <p:sp>
        <p:nvSpPr>
          <p:cNvPr id="55" name="Shape 53"/>
          <p:cNvSpPr/>
          <p:nvPr/>
        </p:nvSpPr>
        <p:spPr>
          <a:xfrm>
            <a:off x="2297430" y="2761195"/>
            <a:ext cx="0" cy="1035905"/>
          </a:xfrm>
          <a:prstGeom prst="line">
            <a:avLst/>
          </a:prstGeom>
          <a:noFill/>
          <a:ln w="15875">
            <a:solidFill>
              <a:srgbClr val="9BB4E8"/>
            </a:solidFill>
            <a:prstDash val="solid"/>
          </a:ln>
        </p:spPr>
      </p:sp>
      <p:sp>
        <p:nvSpPr>
          <p:cNvPr id="56" name="Shape 54"/>
          <p:cNvSpPr/>
          <p:nvPr/>
        </p:nvSpPr>
        <p:spPr>
          <a:xfrm>
            <a:off x="2271827" y="3253582"/>
            <a:ext cx="51206" cy="51206"/>
          </a:xfrm>
          <a:prstGeom prst="roundRect">
            <a:avLst>
              <a:gd name="adj" fmla="val 50000"/>
            </a:avLst>
          </a:prstGeom>
          <a:solidFill>
            <a:srgbClr val="1A56E8"/>
          </a:solidFill>
          <a:ln w="12700">
            <a:solidFill>
              <a:srgbClr val="1A56E8"/>
            </a:solidFill>
            <a:prstDash val="solid"/>
          </a:ln>
        </p:spPr>
      </p:sp>
      <p:sp>
        <p:nvSpPr>
          <p:cNvPr id="57" name="Shape 55"/>
          <p:cNvSpPr/>
          <p:nvPr/>
        </p:nvSpPr>
        <p:spPr>
          <a:xfrm>
            <a:off x="2366010" y="3340632"/>
            <a:ext cx="0" cy="978774"/>
          </a:xfrm>
          <a:prstGeom prst="line">
            <a:avLst/>
          </a:prstGeom>
          <a:noFill/>
          <a:ln w="15875">
            <a:solidFill>
              <a:srgbClr val="9BB4E8"/>
            </a:solidFill>
            <a:prstDash val="solid"/>
          </a:ln>
        </p:spPr>
      </p:sp>
      <p:sp>
        <p:nvSpPr>
          <p:cNvPr id="58" name="Shape 56"/>
          <p:cNvSpPr/>
          <p:nvPr/>
        </p:nvSpPr>
        <p:spPr>
          <a:xfrm>
            <a:off x="2340407" y="3804416"/>
            <a:ext cx="51206" cy="51206"/>
          </a:xfrm>
          <a:prstGeom prst="roundRect">
            <a:avLst>
              <a:gd name="adj" fmla="val 50000"/>
            </a:avLst>
          </a:prstGeom>
          <a:solidFill>
            <a:srgbClr val="1A56E8"/>
          </a:solidFill>
          <a:ln w="12700">
            <a:solidFill>
              <a:srgbClr val="1A56E8"/>
            </a:solidFill>
            <a:prstDash val="solid"/>
          </a:ln>
        </p:spPr>
      </p:sp>
      <p:sp>
        <p:nvSpPr>
          <p:cNvPr id="59" name="Shape 57"/>
          <p:cNvSpPr/>
          <p:nvPr/>
        </p:nvSpPr>
        <p:spPr>
          <a:xfrm>
            <a:off x="2434590" y="3208447"/>
            <a:ext cx="0" cy="901964"/>
          </a:xfrm>
          <a:prstGeom prst="line">
            <a:avLst/>
          </a:prstGeom>
          <a:noFill/>
          <a:ln w="15875">
            <a:solidFill>
              <a:srgbClr val="9BB4E8"/>
            </a:solidFill>
            <a:prstDash val="solid"/>
          </a:ln>
        </p:spPr>
      </p:sp>
      <p:sp>
        <p:nvSpPr>
          <p:cNvPr id="60" name="Shape 58"/>
          <p:cNvSpPr/>
          <p:nvPr/>
        </p:nvSpPr>
        <p:spPr>
          <a:xfrm>
            <a:off x="2408987" y="3633826"/>
            <a:ext cx="51206" cy="51206"/>
          </a:xfrm>
          <a:prstGeom prst="roundRect">
            <a:avLst>
              <a:gd name="adj" fmla="val 50000"/>
            </a:avLst>
          </a:prstGeom>
          <a:solidFill>
            <a:srgbClr val="1A56E8"/>
          </a:solidFill>
          <a:ln w="12700">
            <a:solidFill>
              <a:srgbClr val="1A56E8"/>
            </a:solidFill>
            <a:prstDash val="solid"/>
          </a:ln>
        </p:spPr>
      </p:sp>
      <p:sp>
        <p:nvSpPr>
          <p:cNvPr id="61" name="Shape 59"/>
          <p:cNvSpPr/>
          <p:nvPr/>
        </p:nvSpPr>
        <p:spPr>
          <a:xfrm>
            <a:off x="2503170" y="3284891"/>
            <a:ext cx="0" cy="1209422"/>
          </a:xfrm>
          <a:prstGeom prst="line">
            <a:avLst/>
          </a:prstGeom>
          <a:noFill/>
          <a:ln w="15875">
            <a:solidFill>
              <a:srgbClr val="9BB4E8"/>
            </a:solidFill>
            <a:prstDash val="solid"/>
          </a:ln>
        </p:spPr>
      </p:sp>
      <p:sp>
        <p:nvSpPr>
          <p:cNvPr id="62" name="Shape 60"/>
          <p:cNvSpPr/>
          <p:nvPr/>
        </p:nvSpPr>
        <p:spPr>
          <a:xfrm>
            <a:off x="2477567" y="3864035"/>
            <a:ext cx="51206" cy="51206"/>
          </a:xfrm>
          <a:prstGeom prst="roundRect">
            <a:avLst>
              <a:gd name="adj" fmla="val 50000"/>
            </a:avLst>
          </a:prstGeom>
          <a:solidFill>
            <a:srgbClr val="1A56E8"/>
          </a:solidFill>
          <a:ln w="12700">
            <a:solidFill>
              <a:srgbClr val="1A56E8"/>
            </a:solidFill>
            <a:prstDash val="solid"/>
          </a:ln>
        </p:spPr>
      </p:sp>
      <p:sp>
        <p:nvSpPr>
          <p:cNvPr id="63" name="Shape 61"/>
          <p:cNvSpPr/>
          <p:nvPr/>
        </p:nvSpPr>
        <p:spPr>
          <a:xfrm>
            <a:off x="2571750" y="3660014"/>
            <a:ext cx="0" cy="1165677"/>
          </a:xfrm>
          <a:prstGeom prst="line">
            <a:avLst/>
          </a:prstGeom>
          <a:noFill/>
          <a:ln w="15875">
            <a:solidFill>
              <a:srgbClr val="9BB4E8"/>
            </a:solidFill>
            <a:prstDash val="solid"/>
          </a:ln>
        </p:spPr>
      </p:sp>
      <p:sp>
        <p:nvSpPr>
          <p:cNvPr id="64" name="Shape 62"/>
          <p:cNvSpPr/>
          <p:nvPr/>
        </p:nvSpPr>
        <p:spPr>
          <a:xfrm>
            <a:off x="2546147" y="4217213"/>
            <a:ext cx="51206" cy="51206"/>
          </a:xfrm>
          <a:prstGeom prst="roundRect">
            <a:avLst>
              <a:gd name="adj" fmla="val 50000"/>
            </a:avLst>
          </a:prstGeom>
          <a:solidFill>
            <a:srgbClr val="1A56E8"/>
          </a:solidFill>
          <a:ln w="12700">
            <a:solidFill>
              <a:srgbClr val="1A56E8"/>
            </a:solidFill>
            <a:prstDash val="solid"/>
          </a:ln>
        </p:spPr>
      </p:sp>
      <p:sp>
        <p:nvSpPr>
          <p:cNvPr id="65" name="Shape 63"/>
          <p:cNvSpPr/>
          <p:nvPr/>
        </p:nvSpPr>
        <p:spPr>
          <a:xfrm>
            <a:off x="2640330" y="3162727"/>
            <a:ext cx="0" cy="1169920"/>
          </a:xfrm>
          <a:prstGeom prst="line">
            <a:avLst/>
          </a:prstGeom>
          <a:noFill/>
          <a:ln w="15875">
            <a:solidFill>
              <a:srgbClr val="9BB4E8"/>
            </a:solidFill>
            <a:prstDash val="solid"/>
          </a:ln>
        </p:spPr>
      </p:sp>
      <p:sp>
        <p:nvSpPr>
          <p:cNvPr id="66" name="Shape 64"/>
          <p:cNvSpPr/>
          <p:nvPr/>
        </p:nvSpPr>
        <p:spPr>
          <a:xfrm>
            <a:off x="2614727" y="3722120"/>
            <a:ext cx="51206" cy="51206"/>
          </a:xfrm>
          <a:prstGeom prst="roundRect">
            <a:avLst>
              <a:gd name="adj" fmla="val 50000"/>
            </a:avLst>
          </a:prstGeom>
          <a:solidFill>
            <a:srgbClr val="1A56E8"/>
          </a:solidFill>
          <a:ln w="12700">
            <a:solidFill>
              <a:srgbClr val="1A56E8"/>
            </a:solidFill>
            <a:prstDash val="solid"/>
          </a:ln>
        </p:spPr>
      </p:sp>
      <p:sp>
        <p:nvSpPr>
          <p:cNvPr id="67" name="Shape 65"/>
          <p:cNvSpPr/>
          <p:nvPr/>
        </p:nvSpPr>
        <p:spPr>
          <a:xfrm>
            <a:off x="2708910" y="3331196"/>
            <a:ext cx="0" cy="1189305"/>
          </a:xfrm>
          <a:prstGeom prst="line">
            <a:avLst/>
          </a:prstGeom>
          <a:noFill/>
          <a:ln w="15875">
            <a:solidFill>
              <a:srgbClr val="9BB4E8"/>
            </a:solidFill>
            <a:prstDash val="solid"/>
          </a:ln>
        </p:spPr>
      </p:sp>
      <p:sp>
        <p:nvSpPr>
          <p:cNvPr id="68" name="Shape 66"/>
          <p:cNvSpPr/>
          <p:nvPr/>
        </p:nvSpPr>
        <p:spPr>
          <a:xfrm>
            <a:off x="2683307" y="3900245"/>
            <a:ext cx="51206" cy="51206"/>
          </a:xfrm>
          <a:prstGeom prst="roundRect">
            <a:avLst>
              <a:gd name="adj" fmla="val 50000"/>
            </a:avLst>
          </a:prstGeom>
          <a:solidFill>
            <a:srgbClr val="1A56E8"/>
          </a:solidFill>
          <a:ln w="12700">
            <a:solidFill>
              <a:srgbClr val="1A56E8"/>
            </a:solidFill>
            <a:prstDash val="solid"/>
          </a:ln>
        </p:spPr>
      </p:sp>
      <p:sp>
        <p:nvSpPr>
          <p:cNvPr id="69" name="Shape 67"/>
          <p:cNvSpPr/>
          <p:nvPr/>
        </p:nvSpPr>
        <p:spPr>
          <a:xfrm>
            <a:off x="2777490" y="2864267"/>
            <a:ext cx="0" cy="1049439"/>
          </a:xfrm>
          <a:prstGeom prst="line">
            <a:avLst/>
          </a:prstGeom>
          <a:noFill/>
          <a:ln w="15875">
            <a:solidFill>
              <a:srgbClr val="9BB4E8"/>
            </a:solidFill>
            <a:prstDash val="solid"/>
          </a:ln>
        </p:spPr>
      </p:sp>
      <p:sp>
        <p:nvSpPr>
          <p:cNvPr id="70" name="Shape 68"/>
          <p:cNvSpPr/>
          <p:nvPr/>
        </p:nvSpPr>
        <p:spPr>
          <a:xfrm>
            <a:off x="2751887" y="3363383"/>
            <a:ext cx="51206" cy="51206"/>
          </a:xfrm>
          <a:prstGeom prst="roundRect">
            <a:avLst>
              <a:gd name="adj" fmla="val 50000"/>
            </a:avLst>
          </a:prstGeom>
          <a:solidFill>
            <a:srgbClr val="1A56E8"/>
          </a:solidFill>
          <a:ln w="12700">
            <a:solidFill>
              <a:srgbClr val="1A56E8"/>
            </a:solidFill>
            <a:prstDash val="solid"/>
          </a:ln>
        </p:spPr>
      </p:sp>
      <p:sp>
        <p:nvSpPr>
          <p:cNvPr id="71" name="Shape 69"/>
          <p:cNvSpPr/>
          <p:nvPr/>
        </p:nvSpPr>
        <p:spPr>
          <a:xfrm>
            <a:off x="2846070" y="3051755"/>
            <a:ext cx="0" cy="1019666"/>
          </a:xfrm>
          <a:prstGeom prst="line">
            <a:avLst/>
          </a:prstGeom>
          <a:noFill/>
          <a:ln w="15875">
            <a:solidFill>
              <a:srgbClr val="9BB4E8"/>
            </a:solidFill>
            <a:prstDash val="solid"/>
          </a:ln>
        </p:spPr>
      </p:sp>
      <p:sp>
        <p:nvSpPr>
          <p:cNvPr id="72" name="Shape 70"/>
          <p:cNvSpPr/>
          <p:nvPr/>
        </p:nvSpPr>
        <p:spPr>
          <a:xfrm>
            <a:off x="2820467" y="3535948"/>
            <a:ext cx="51206" cy="51206"/>
          </a:xfrm>
          <a:prstGeom prst="roundRect">
            <a:avLst>
              <a:gd name="adj" fmla="val 50000"/>
            </a:avLst>
          </a:prstGeom>
          <a:solidFill>
            <a:srgbClr val="1A56E8"/>
          </a:solidFill>
          <a:ln w="12700">
            <a:solidFill>
              <a:srgbClr val="1A56E8"/>
            </a:solidFill>
            <a:prstDash val="solid"/>
          </a:ln>
        </p:spPr>
      </p:sp>
      <p:sp>
        <p:nvSpPr>
          <p:cNvPr id="73" name="Shape 71"/>
          <p:cNvSpPr/>
          <p:nvPr/>
        </p:nvSpPr>
        <p:spPr>
          <a:xfrm>
            <a:off x="2914650" y="3003255"/>
            <a:ext cx="0" cy="1117763"/>
          </a:xfrm>
          <a:prstGeom prst="line">
            <a:avLst/>
          </a:prstGeom>
          <a:noFill/>
          <a:ln w="15875">
            <a:solidFill>
              <a:srgbClr val="9BB4E8"/>
            </a:solidFill>
            <a:prstDash val="solid"/>
          </a:ln>
        </p:spPr>
      </p:sp>
      <p:sp>
        <p:nvSpPr>
          <p:cNvPr id="74" name="Shape 72"/>
          <p:cNvSpPr/>
          <p:nvPr/>
        </p:nvSpPr>
        <p:spPr>
          <a:xfrm>
            <a:off x="2889047" y="3536533"/>
            <a:ext cx="51206" cy="51206"/>
          </a:xfrm>
          <a:prstGeom prst="roundRect">
            <a:avLst>
              <a:gd name="adj" fmla="val 50000"/>
            </a:avLst>
          </a:prstGeom>
          <a:solidFill>
            <a:srgbClr val="1A56E8"/>
          </a:solidFill>
          <a:ln w="12700">
            <a:solidFill>
              <a:srgbClr val="1A56E8"/>
            </a:solidFill>
            <a:prstDash val="solid"/>
          </a:ln>
        </p:spPr>
      </p:sp>
      <p:sp>
        <p:nvSpPr>
          <p:cNvPr id="75" name="Shape 73"/>
          <p:cNvSpPr/>
          <p:nvPr/>
        </p:nvSpPr>
        <p:spPr>
          <a:xfrm>
            <a:off x="2983230" y="2746053"/>
            <a:ext cx="0" cy="1091574"/>
          </a:xfrm>
          <a:prstGeom prst="line">
            <a:avLst/>
          </a:prstGeom>
          <a:noFill/>
          <a:ln w="15875">
            <a:solidFill>
              <a:srgbClr val="9BB4E8"/>
            </a:solidFill>
            <a:prstDash val="solid"/>
          </a:ln>
        </p:spPr>
      </p:sp>
      <p:sp>
        <p:nvSpPr>
          <p:cNvPr id="76" name="Shape 74"/>
          <p:cNvSpPr/>
          <p:nvPr/>
        </p:nvSpPr>
        <p:spPr>
          <a:xfrm>
            <a:off x="2957627" y="3266237"/>
            <a:ext cx="51206" cy="51206"/>
          </a:xfrm>
          <a:prstGeom prst="roundRect">
            <a:avLst>
              <a:gd name="adj" fmla="val 50000"/>
            </a:avLst>
          </a:prstGeom>
          <a:solidFill>
            <a:srgbClr val="1A56E8"/>
          </a:solidFill>
          <a:ln w="12700">
            <a:solidFill>
              <a:srgbClr val="1A56E8"/>
            </a:solidFill>
            <a:prstDash val="solid"/>
          </a:ln>
        </p:spPr>
      </p:sp>
      <p:sp>
        <p:nvSpPr>
          <p:cNvPr id="77" name="Shape 75"/>
          <p:cNvSpPr/>
          <p:nvPr/>
        </p:nvSpPr>
        <p:spPr>
          <a:xfrm>
            <a:off x="3051810" y="3170408"/>
            <a:ext cx="0" cy="1200059"/>
          </a:xfrm>
          <a:prstGeom prst="line">
            <a:avLst/>
          </a:prstGeom>
          <a:noFill/>
          <a:ln w="15875">
            <a:solidFill>
              <a:srgbClr val="9BB4E8"/>
            </a:solidFill>
            <a:prstDash val="solid"/>
          </a:ln>
        </p:spPr>
      </p:sp>
      <p:sp>
        <p:nvSpPr>
          <p:cNvPr id="78" name="Shape 76"/>
          <p:cNvSpPr/>
          <p:nvPr/>
        </p:nvSpPr>
        <p:spPr>
          <a:xfrm>
            <a:off x="3026207" y="3744797"/>
            <a:ext cx="51206" cy="51206"/>
          </a:xfrm>
          <a:prstGeom prst="roundRect">
            <a:avLst>
              <a:gd name="adj" fmla="val 50000"/>
            </a:avLst>
          </a:prstGeom>
          <a:solidFill>
            <a:srgbClr val="1A56E8"/>
          </a:solidFill>
          <a:ln w="12700">
            <a:solidFill>
              <a:srgbClr val="1A56E8"/>
            </a:solidFill>
            <a:prstDash val="solid"/>
          </a:ln>
        </p:spPr>
      </p:sp>
      <p:sp>
        <p:nvSpPr>
          <p:cNvPr id="79" name="Shape 77"/>
          <p:cNvSpPr/>
          <p:nvPr/>
        </p:nvSpPr>
        <p:spPr>
          <a:xfrm>
            <a:off x="3120390" y="3309250"/>
            <a:ext cx="0" cy="1238317"/>
          </a:xfrm>
          <a:prstGeom prst="line">
            <a:avLst/>
          </a:prstGeom>
          <a:noFill/>
          <a:ln w="15875">
            <a:solidFill>
              <a:srgbClr val="9BB4E8"/>
            </a:solidFill>
            <a:prstDash val="solid"/>
          </a:ln>
        </p:spPr>
      </p:sp>
      <p:sp>
        <p:nvSpPr>
          <p:cNvPr id="80" name="Shape 78"/>
          <p:cNvSpPr/>
          <p:nvPr/>
        </p:nvSpPr>
        <p:spPr>
          <a:xfrm>
            <a:off x="3094787" y="3902806"/>
            <a:ext cx="51206" cy="51206"/>
          </a:xfrm>
          <a:prstGeom prst="roundRect">
            <a:avLst>
              <a:gd name="adj" fmla="val 50000"/>
            </a:avLst>
          </a:prstGeom>
          <a:solidFill>
            <a:srgbClr val="1A56E8"/>
          </a:solidFill>
          <a:ln w="12700">
            <a:solidFill>
              <a:srgbClr val="1A56E8"/>
            </a:solidFill>
            <a:prstDash val="solid"/>
          </a:ln>
        </p:spPr>
      </p:sp>
      <p:sp>
        <p:nvSpPr>
          <p:cNvPr id="81" name="Shape 79"/>
          <p:cNvSpPr/>
          <p:nvPr/>
        </p:nvSpPr>
        <p:spPr>
          <a:xfrm>
            <a:off x="3188970" y="2770266"/>
            <a:ext cx="0" cy="889894"/>
          </a:xfrm>
          <a:prstGeom prst="line">
            <a:avLst/>
          </a:prstGeom>
          <a:noFill/>
          <a:ln w="28575">
            <a:solidFill>
              <a:srgbClr val="E6115E"/>
            </a:solidFill>
            <a:prstDash val="solid"/>
          </a:ln>
        </p:spPr>
      </p:sp>
      <p:sp>
        <p:nvSpPr>
          <p:cNvPr id="82" name="Shape 80"/>
          <p:cNvSpPr/>
          <p:nvPr/>
        </p:nvSpPr>
        <p:spPr>
          <a:xfrm>
            <a:off x="3163367" y="3189647"/>
            <a:ext cx="51206" cy="51206"/>
          </a:xfrm>
          <a:prstGeom prst="roundRect">
            <a:avLst>
              <a:gd name="adj" fmla="val 50000"/>
            </a:avLst>
          </a:prstGeom>
          <a:solidFill>
            <a:srgbClr val="E6115E"/>
          </a:solidFill>
          <a:ln w="12700">
            <a:solidFill>
              <a:srgbClr val="E6115E"/>
            </a:solidFill>
            <a:prstDash val="solid"/>
          </a:ln>
        </p:spPr>
      </p:sp>
      <p:sp>
        <p:nvSpPr>
          <p:cNvPr id="83" name="Shape 81"/>
          <p:cNvSpPr/>
          <p:nvPr/>
        </p:nvSpPr>
        <p:spPr>
          <a:xfrm>
            <a:off x="3257550" y="3287012"/>
            <a:ext cx="0" cy="908914"/>
          </a:xfrm>
          <a:prstGeom prst="line">
            <a:avLst/>
          </a:prstGeom>
          <a:noFill/>
          <a:ln w="15875">
            <a:solidFill>
              <a:srgbClr val="9BB4E8"/>
            </a:solidFill>
            <a:prstDash val="solid"/>
          </a:ln>
        </p:spPr>
      </p:sp>
      <p:sp>
        <p:nvSpPr>
          <p:cNvPr id="84" name="Shape 82"/>
          <p:cNvSpPr/>
          <p:nvPr/>
        </p:nvSpPr>
        <p:spPr>
          <a:xfrm>
            <a:off x="3231947" y="3715829"/>
            <a:ext cx="51206" cy="51206"/>
          </a:xfrm>
          <a:prstGeom prst="roundRect">
            <a:avLst>
              <a:gd name="adj" fmla="val 50000"/>
            </a:avLst>
          </a:prstGeom>
          <a:solidFill>
            <a:srgbClr val="1A56E8"/>
          </a:solidFill>
          <a:ln w="12700">
            <a:solidFill>
              <a:srgbClr val="1A56E8"/>
            </a:solidFill>
            <a:prstDash val="solid"/>
          </a:ln>
        </p:spPr>
      </p:sp>
      <p:sp>
        <p:nvSpPr>
          <p:cNvPr id="85" name="Shape 83"/>
          <p:cNvSpPr/>
          <p:nvPr/>
        </p:nvSpPr>
        <p:spPr>
          <a:xfrm>
            <a:off x="3326130" y="3287378"/>
            <a:ext cx="0" cy="1150681"/>
          </a:xfrm>
          <a:prstGeom prst="line">
            <a:avLst/>
          </a:prstGeom>
          <a:noFill/>
          <a:ln w="15875">
            <a:solidFill>
              <a:srgbClr val="9BB4E8"/>
            </a:solidFill>
            <a:prstDash val="solid"/>
          </a:ln>
        </p:spPr>
      </p:sp>
      <p:sp>
        <p:nvSpPr>
          <p:cNvPr id="86" name="Shape 84"/>
          <p:cNvSpPr/>
          <p:nvPr/>
        </p:nvSpPr>
        <p:spPr>
          <a:xfrm>
            <a:off x="3300527" y="3837115"/>
            <a:ext cx="51206" cy="51206"/>
          </a:xfrm>
          <a:prstGeom prst="roundRect">
            <a:avLst>
              <a:gd name="adj" fmla="val 50000"/>
            </a:avLst>
          </a:prstGeom>
          <a:solidFill>
            <a:srgbClr val="1A56E8"/>
          </a:solidFill>
          <a:ln w="12700">
            <a:solidFill>
              <a:srgbClr val="1A56E8"/>
            </a:solidFill>
            <a:prstDash val="solid"/>
          </a:ln>
        </p:spPr>
      </p:sp>
      <p:sp>
        <p:nvSpPr>
          <p:cNvPr id="87" name="Shape 85"/>
          <p:cNvSpPr/>
          <p:nvPr/>
        </p:nvSpPr>
        <p:spPr>
          <a:xfrm>
            <a:off x="3394710" y="2440278"/>
            <a:ext cx="0" cy="1009717"/>
          </a:xfrm>
          <a:prstGeom prst="line">
            <a:avLst/>
          </a:prstGeom>
          <a:noFill/>
          <a:ln w="28575">
            <a:solidFill>
              <a:srgbClr val="E6115E"/>
            </a:solidFill>
            <a:prstDash val="solid"/>
          </a:ln>
        </p:spPr>
      </p:sp>
      <p:sp>
        <p:nvSpPr>
          <p:cNvPr id="88" name="Shape 86"/>
          <p:cNvSpPr/>
          <p:nvPr/>
        </p:nvSpPr>
        <p:spPr>
          <a:xfrm>
            <a:off x="3369107" y="2919569"/>
            <a:ext cx="51206" cy="51206"/>
          </a:xfrm>
          <a:prstGeom prst="roundRect">
            <a:avLst>
              <a:gd name="adj" fmla="val 50000"/>
            </a:avLst>
          </a:prstGeom>
          <a:solidFill>
            <a:srgbClr val="E6115E"/>
          </a:solidFill>
          <a:ln w="12700">
            <a:solidFill>
              <a:srgbClr val="E6115E"/>
            </a:solidFill>
            <a:prstDash val="solid"/>
          </a:ln>
        </p:spPr>
      </p:sp>
      <p:sp>
        <p:nvSpPr>
          <p:cNvPr id="89" name="Shape 87"/>
          <p:cNvSpPr/>
          <p:nvPr/>
        </p:nvSpPr>
        <p:spPr>
          <a:xfrm>
            <a:off x="3463290" y="3357457"/>
            <a:ext cx="0" cy="944100"/>
          </a:xfrm>
          <a:prstGeom prst="line">
            <a:avLst/>
          </a:prstGeom>
          <a:noFill/>
          <a:ln w="15875">
            <a:solidFill>
              <a:srgbClr val="9BB4E8"/>
            </a:solidFill>
            <a:prstDash val="solid"/>
          </a:ln>
        </p:spPr>
      </p:sp>
      <p:sp>
        <p:nvSpPr>
          <p:cNvPr id="90" name="Shape 88"/>
          <p:cNvSpPr/>
          <p:nvPr/>
        </p:nvSpPr>
        <p:spPr>
          <a:xfrm>
            <a:off x="3437687" y="3803904"/>
            <a:ext cx="51206" cy="51206"/>
          </a:xfrm>
          <a:prstGeom prst="roundRect">
            <a:avLst>
              <a:gd name="adj" fmla="val 50000"/>
            </a:avLst>
          </a:prstGeom>
          <a:solidFill>
            <a:srgbClr val="1A56E8"/>
          </a:solidFill>
          <a:ln w="12700">
            <a:solidFill>
              <a:srgbClr val="1A56E8"/>
            </a:solidFill>
            <a:prstDash val="solid"/>
          </a:ln>
        </p:spPr>
      </p:sp>
      <p:sp>
        <p:nvSpPr>
          <p:cNvPr id="91" name="Shape 89"/>
          <p:cNvSpPr/>
          <p:nvPr/>
        </p:nvSpPr>
        <p:spPr>
          <a:xfrm>
            <a:off x="3531870" y="3512832"/>
            <a:ext cx="0" cy="1072994"/>
          </a:xfrm>
          <a:prstGeom prst="line">
            <a:avLst/>
          </a:prstGeom>
          <a:noFill/>
          <a:ln w="15875">
            <a:solidFill>
              <a:srgbClr val="9BB4E8"/>
            </a:solidFill>
            <a:prstDash val="solid"/>
          </a:ln>
        </p:spPr>
      </p:sp>
      <p:sp>
        <p:nvSpPr>
          <p:cNvPr id="92" name="Shape 90"/>
          <p:cNvSpPr/>
          <p:nvPr/>
        </p:nvSpPr>
        <p:spPr>
          <a:xfrm>
            <a:off x="3506267" y="4023726"/>
            <a:ext cx="51206" cy="51206"/>
          </a:xfrm>
          <a:prstGeom prst="roundRect">
            <a:avLst>
              <a:gd name="adj" fmla="val 50000"/>
            </a:avLst>
          </a:prstGeom>
          <a:solidFill>
            <a:srgbClr val="1A56E8"/>
          </a:solidFill>
          <a:ln w="12700">
            <a:solidFill>
              <a:srgbClr val="1A56E8"/>
            </a:solidFill>
            <a:prstDash val="solid"/>
          </a:ln>
        </p:spPr>
      </p:sp>
      <p:sp>
        <p:nvSpPr>
          <p:cNvPr id="93" name="Shape 91"/>
          <p:cNvSpPr/>
          <p:nvPr/>
        </p:nvSpPr>
        <p:spPr>
          <a:xfrm>
            <a:off x="3600450" y="2843272"/>
            <a:ext cx="0" cy="1212202"/>
          </a:xfrm>
          <a:prstGeom prst="line">
            <a:avLst/>
          </a:prstGeom>
          <a:noFill/>
          <a:ln w="15875">
            <a:solidFill>
              <a:srgbClr val="9BB4E8"/>
            </a:solidFill>
            <a:prstDash val="solid"/>
          </a:ln>
        </p:spPr>
      </p:sp>
      <p:sp>
        <p:nvSpPr>
          <p:cNvPr id="94" name="Shape 92"/>
          <p:cNvSpPr/>
          <p:nvPr/>
        </p:nvSpPr>
        <p:spPr>
          <a:xfrm>
            <a:off x="3574847" y="3423806"/>
            <a:ext cx="51206" cy="51206"/>
          </a:xfrm>
          <a:prstGeom prst="roundRect">
            <a:avLst>
              <a:gd name="adj" fmla="val 50000"/>
            </a:avLst>
          </a:prstGeom>
          <a:solidFill>
            <a:srgbClr val="1A56E8"/>
          </a:solidFill>
          <a:ln w="12700">
            <a:solidFill>
              <a:srgbClr val="1A56E8"/>
            </a:solidFill>
            <a:prstDash val="solid"/>
          </a:ln>
        </p:spPr>
      </p:sp>
      <p:sp>
        <p:nvSpPr>
          <p:cNvPr id="95" name="Shape 93"/>
          <p:cNvSpPr/>
          <p:nvPr/>
        </p:nvSpPr>
        <p:spPr>
          <a:xfrm>
            <a:off x="3669030" y="3454823"/>
            <a:ext cx="0" cy="1011765"/>
          </a:xfrm>
          <a:prstGeom prst="line">
            <a:avLst/>
          </a:prstGeom>
          <a:noFill/>
          <a:ln w="15875">
            <a:solidFill>
              <a:srgbClr val="9BB4E8"/>
            </a:solidFill>
            <a:prstDash val="solid"/>
          </a:ln>
        </p:spPr>
      </p:sp>
      <p:sp>
        <p:nvSpPr>
          <p:cNvPr id="96" name="Shape 94"/>
          <p:cNvSpPr/>
          <p:nvPr/>
        </p:nvSpPr>
        <p:spPr>
          <a:xfrm>
            <a:off x="3643427" y="3935139"/>
            <a:ext cx="51206" cy="51206"/>
          </a:xfrm>
          <a:prstGeom prst="roundRect">
            <a:avLst>
              <a:gd name="adj" fmla="val 50000"/>
            </a:avLst>
          </a:prstGeom>
          <a:solidFill>
            <a:srgbClr val="1A56E8"/>
          </a:solidFill>
          <a:ln w="12700">
            <a:solidFill>
              <a:srgbClr val="1A56E8"/>
            </a:solidFill>
            <a:prstDash val="solid"/>
          </a:ln>
        </p:spPr>
      </p:sp>
      <p:sp>
        <p:nvSpPr>
          <p:cNvPr id="97" name="Shape 95"/>
          <p:cNvSpPr/>
          <p:nvPr/>
        </p:nvSpPr>
        <p:spPr>
          <a:xfrm>
            <a:off x="3737610" y="2945319"/>
            <a:ext cx="0" cy="1072920"/>
          </a:xfrm>
          <a:prstGeom prst="line">
            <a:avLst/>
          </a:prstGeom>
          <a:noFill/>
          <a:ln w="15875">
            <a:solidFill>
              <a:srgbClr val="9BB4E8"/>
            </a:solidFill>
            <a:prstDash val="solid"/>
          </a:ln>
        </p:spPr>
      </p:sp>
      <p:sp>
        <p:nvSpPr>
          <p:cNvPr id="98" name="Shape 96"/>
          <p:cNvSpPr/>
          <p:nvPr/>
        </p:nvSpPr>
        <p:spPr>
          <a:xfrm>
            <a:off x="3712007" y="3456139"/>
            <a:ext cx="51206" cy="51206"/>
          </a:xfrm>
          <a:prstGeom prst="roundRect">
            <a:avLst>
              <a:gd name="adj" fmla="val 50000"/>
            </a:avLst>
          </a:prstGeom>
          <a:solidFill>
            <a:srgbClr val="1A56E8"/>
          </a:solidFill>
          <a:ln w="12700">
            <a:solidFill>
              <a:srgbClr val="1A56E8"/>
            </a:solidFill>
            <a:prstDash val="solid"/>
          </a:ln>
        </p:spPr>
      </p:sp>
      <p:sp>
        <p:nvSpPr>
          <p:cNvPr id="99" name="Shape 97"/>
          <p:cNvSpPr/>
          <p:nvPr/>
        </p:nvSpPr>
        <p:spPr>
          <a:xfrm>
            <a:off x="3806190" y="3420002"/>
            <a:ext cx="0" cy="1096548"/>
          </a:xfrm>
          <a:prstGeom prst="line">
            <a:avLst/>
          </a:prstGeom>
          <a:noFill/>
          <a:ln w="15875">
            <a:solidFill>
              <a:srgbClr val="9BB4E8"/>
            </a:solidFill>
            <a:prstDash val="solid"/>
          </a:ln>
        </p:spPr>
      </p:sp>
      <p:sp>
        <p:nvSpPr>
          <p:cNvPr id="100" name="Shape 98"/>
          <p:cNvSpPr/>
          <p:nvPr/>
        </p:nvSpPr>
        <p:spPr>
          <a:xfrm>
            <a:off x="3780587" y="3942673"/>
            <a:ext cx="51206" cy="51206"/>
          </a:xfrm>
          <a:prstGeom prst="roundRect">
            <a:avLst>
              <a:gd name="adj" fmla="val 50000"/>
            </a:avLst>
          </a:prstGeom>
          <a:solidFill>
            <a:srgbClr val="1A56E8"/>
          </a:solidFill>
          <a:ln w="12700">
            <a:solidFill>
              <a:srgbClr val="1A56E8"/>
            </a:solidFill>
            <a:prstDash val="solid"/>
          </a:ln>
        </p:spPr>
      </p:sp>
      <p:sp>
        <p:nvSpPr>
          <p:cNvPr id="101" name="Shape 99"/>
          <p:cNvSpPr/>
          <p:nvPr/>
        </p:nvSpPr>
        <p:spPr>
          <a:xfrm>
            <a:off x="3874770" y="2971434"/>
            <a:ext cx="0" cy="1250387"/>
          </a:xfrm>
          <a:prstGeom prst="line">
            <a:avLst/>
          </a:prstGeom>
          <a:noFill/>
          <a:ln w="15875">
            <a:solidFill>
              <a:srgbClr val="9BB4E8"/>
            </a:solidFill>
            <a:prstDash val="solid"/>
          </a:ln>
        </p:spPr>
      </p:sp>
      <p:sp>
        <p:nvSpPr>
          <p:cNvPr id="102" name="Shape 100"/>
          <p:cNvSpPr/>
          <p:nvPr/>
        </p:nvSpPr>
        <p:spPr>
          <a:xfrm>
            <a:off x="3849167" y="3571061"/>
            <a:ext cx="51206" cy="51206"/>
          </a:xfrm>
          <a:prstGeom prst="roundRect">
            <a:avLst>
              <a:gd name="adj" fmla="val 50000"/>
            </a:avLst>
          </a:prstGeom>
          <a:solidFill>
            <a:srgbClr val="1A56E8"/>
          </a:solidFill>
          <a:ln w="12700">
            <a:solidFill>
              <a:srgbClr val="1A56E8"/>
            </a:solidFill>
            <a:prstDash val="solid"/>
          </a:ln>
        </p:spPr>
      </p:sp>
      <p:sp>
        <p:nvSpPr>
          <p:cNvPr id="103" name="Shape 101"/>
          <p:cNvSpPr/>
          <p:nvPr/>
        </p:nvSpPr>
        <p:spPr>
          <a:xfrm>
            <a:off x="3943350" y="3655918"/>
            <a:ext cx="0" cy="922666"/>
          </a:xfrm>
          <a:prstGeom prst="line">
            <a:avLst/>
          </a:prstGeom>
          <a:noFill/>
          <a:ln w="15875">
            <a:solidFill>
              <a:srgbClr val="9BB4E8"/>
            </a:solidFill>
            <a:prstDash val="solid"/>
          </a:ln>
        </p:spPr>
      </p:sp>
      <p:sp>
        <p:nvSpPr>
          <p:cNvPr id="104" name="Shape 102"/>
          <p:cNvSpPr/>
          <p:nvPr/>
        </p:nvSpPr>
        <p:spPr>
          <a:xfrm>
            <a:off x="3917747" y="4091611"/>
            <a:ext cx="51206" cy="51206"/>
          </a:xfrm>
          <a:prstGeom prst="roundRect">
            <a:avLst>
              <a:gd name="adj" fmla="val 50000"/>
            </a:avLst>
          </a:prstGeom>
          <a:solidFill>
            <a:srgbClr val="1A56E8"/>
          </a:solidFill>
          <a:ln w="12700">
            <a:solidFill>
              <a:srgbClr val="1A56E8"/>
            </a:solidFill>
            <a:prstDash val="solid"/>
          </a:ln>
        </p:spPr>
      </p:sp>
      <p:sp>
        <p:nvSpPr>
          <p:cNvPr id="105" name="Shape 103"/>
          <p:cNvSpPr/>
          <p:nvPr/>
        </p:nvSpPr>
        <p:spPr>
          <a:xfrm>
            <a:off x="4011930" y="3161776"/>
            <a:ext cx="0" cy="1131588"/>
          </a:xfrm>
          <a:prstGeom prst="line">
            <a:avLst/>
          </a:prstGeom>
          <a:noFill/>
          <a:ln w="15875">
            <a:solidFill>
              <a:srgbClr val="9BB4E8"/>
            </a:solidFill>
            <a:prstDash val="solid"/>
          </a:ln>
        </p:spPr>
      </p:sp>
      <p:sp>
        <p:nvSpPr>
          <p:cNvPr id="106" name="Shape 104"/>
          <p:cNvSpPr/>
          <p:nvPr/>
        </p:nvSpPr>
        <p:spPr>
          <a:xfrm>
            <a:off x="3986327" y="3702003"/>
            <a:ext cx="51206" cy="51206"/>
          </a:xfrm>
          <a:prstGeom prst="roundRect">
            <a:avLst>
              <a:gd name="adj" fmla="val 50000"/>
            </a:avLst>
          </a:prstGeom>
          <a:solidFill>
            <a:srgbClr val="1A56E8"/>
          </a:solidFill>
          <a:ln w="12700">
            <a:solidFill>
              <a:srgbClr val="1A56E8"/>
            </a:solidFill>
            <a:prstDash val="solid"/>
          </a:ln>
        </p:spPr>
      </p:sp>
      <p:sp>
        <p:nvSpPr>
          <p:cNvPr id="107" name="Shape 105"/>
          <p:cNvSpPr/>
          <p:nvPr/>
        </p:nvSpPr>
        <p:spPr>
          <a:xfrm>
            <a:off x="4080510" y="3014667"/>
            <a:ext cx="0" cy="1065020"/>
          </a:xfrm>
          <a:prstGeom prst="line">
            <a:avLst/>
          </a:prstGeom>
          <a:noFill/>
          <a:ln w="15875">
            <a:solidFill>
              <a:srgbClr val="9BB4E8"/>
            </a:solidFill>
            <a:prstDash val="solid"/>
          </a:ln>
        </p:spPr>
      </p:sp>
      <p:sp>
        <p:nvSpPr>
          <p:cNvPr id="108" name="Shape 106"/>
          <p:cNvSpPr/>
          <p:nvPr/>
        </p:nvSpPr>
        <p:spPr>
          <a:xfrm>
            <a:off x="4054907" y="3521610"/>
            <a:ext cx="51206" cy="51206"/>
          </a:xfrm>
          <a:prstGeom prst="roundRect">
            <a:avLst>
              <a:gd name="adj" fmla="val 50000"/>
            </a:avLst>
          </a:prstGeom>
          <a:solidFill>
            <a:srgbClr val="1A56E8"/>
          </a:solidFill>
          <a:ln w="12700">
            <a:solidFill>
              <a:srgbClr val="1A56E8"/>
            </a:solidFill>
            <a:prstDash val="solid"/>
          </a:ln>
        </p:spPr>
      </p:sp>
      <p:sp>
        <p:nvSpPr>
          <p:cNvPr id="109" name="Shape 107"/>
          <p:cNvSpPr/>
          <p:nvPr/>
        </p:nvSpPr>
        <p:spPr>
          <a:xfrm>
            <a:off x="4149090" y="2766023"/>
            <a:ext cx="0" cy="988722"/>
          </a:xfrm>
          <a:prstGeom prst="line">
            <a:avLst/>
          </a:prstGeom>
          <a:noFill/>
          <a:ln w="15875">
            <a:solidFill>
              <a:srgbClr val="9BB4E8"/>
            </a:solidFill>
            <a:prstDash val="solid"/>
          </a:ln>
        </p:spPr>
      </p:sp>
      <p:sp>
        <p:nvSpPr>
          <p:cNvPr id="110" name="Shape 108"/>
          <p:cNvSpPr/>
          <p:nvPr/>
        </p:nvSpPr>
        <p:spPr>
          <a:xfrm>
            <a:off x="4123487" y="3234781"/>
            <a:ext cx="51206" cy="51206"/>
          </a:xfrm>
          <a:prstGeom prst="roundRect">
            <a:avLst>
              <a:gd name="adj" fmla="val 50000"/>
            </a:avLst>
          </a:prstGeom>
          <a:solidFill>
            <a:srgbClr val="1A56E8"/>
          </a:solidFill>
          <a:ln w="12700">
            <a:solidFill>
              <a:srgbClr val="1A56E8"/>
            </a:solidFill>
            <a:prstDash val="solid"/>
          </a:ln>
        </p:spPr>
      </p:sp>
      <p:sp>
        <p:nvSpPr>
          <p:cNvPr id="111" name="Shape 109"/>
          <p:cNvSpPr/>
          <p:nvPr/>
        </p:nvSpPr>
        <p:spPr>
          <a:xfrm>
            <a:off x="4217670" y="3118689"/>
            <a:ext cx="0" cy="932322"/>
          </a:xfrm>
          <a:prstGeom prst="line">
            <a:avLst/>
          </a:prstGeom>
          <a:noFill/>
          <a:ln w="15875">
            <a:solidFill>
              <a:srgbClr val="9BB4E8"/>
            </a:solidFill>
            <a:prstDash val="solid"/>
          </a:ln>
        </p:spPr>
      </p:sp>
      <p:sp>
        <p:nvSpPr>
          <p:cNvPr id="112" name="Shape 110"/>
          <p:cNvSpPr/>
          <p:nvPr/>
        </p:nvSpPr>
        <p:spPr>
          <a:xfrm>
            <a:off x="4192067" y="3559284"/>
            <a:ext cx="51206" cy="51206"/>
          </a:xfrm>
          <a:prstGeom prst="roundRect">
            <a:avLst>
              <a:gd name="adj" fmla="val 50000"/>
            </a:avLst>
          </a:prstGeom>
          <a:solidFill>
            <a:srgbClr val="1A56E8"/>
          </a:solidFill>
          <a:ln w="12700">
            <a:solidFill>
              <a:srgbClr val="1A56E8"/>
            </a:solidFill>
            <a:prstDash val="solid"/>
          </a:ln>
        </p:spPr>
      </p:sp>
      <p:sp>
        <p:nvSpPr>
          <p:cNvPr id="113" name="Shape 111"/>
          <p:cNvSpPr/>
          <p:nvPr/>
        </p:nvSpPr>
        <p:spPr>
          <a:xfrm>
            <a:off x="4286250" y="3132369"/>
            <a:ext cx="0" cy="1190110"/>
          </a:xfrm>
          <a:prstGeom prst="line">
            <a:avLst/>
          </a:prstGeom>
          <a:noFill/>
          <a:ln w="15875">
            <a:solidFill>
              <a:srgbClr val="9BB4E8"/>
            </a:solidFill>
            <a:prstDash val="solid"/>
          </a:ln>
        </p:spPr>
      </p:sp>
      <p:sp>
        <p:nvSpPr>
          <p:cNvPr id="114" name="Shape 112"/>
          <p:cNvSpPr/>
          <p:nvPr/>
        </p:nvSpPr>
        <p:spPr>
          <a:xfrm>
            <a:off x="4260647" y="3701784"/>
            <a:ext cx="51206" cy="51206"/>
          </a:xfrm>
          <a:prstGeom prst="roundRect">
            <a:avLst>
              <a:gd name="adj" fmla="val 50000"/>
            </a:avLst>
          </a:prstGeom>
          <a:solidFill>
            <a:srgbClr val="1A56E8"/>
          </a:solidFill>
          <a:ln w="12700">
            <a:solidFill>
              <a:srgbClr val="1A56E8"/>
            </a:solidFill>
            <a:prstDash val="solid"/>
          </a:ln>
        </p:spPr>
      </p:sp>
      <p:sp>
        <p:nvSpPr>
          <p:cNvPr id="115" name="Shape 113"/>
          <p:cNvSpPr/>
          <p:nvPr/>
        </p:nvSpPr>
        <p:spPr>
          <a:xfrm>
            <a:off x="4354830" y="3710050"/>
            <a:ext cx="0" cy="1011985"/>
          </a:xfrm>
          <a:prstGeom prst="line">
            <a:avLst/>
          </a:prstGeom>
          <a:noFill/>
          <a:ln w="28575">
            <a:solidFill>
              <a:srgbClr val="E6115E"/>
            </a:solidFill>
            <a:prstDash val="solid"/>
          </a:ln>
        </p:spPr>
      </p:sp>
      <p:sp>
        <p:nvSpPr>
          <p:cNvPr id="116" name="Shape 114"/>
          <p:cNvSpPr/>
          <p:nvPr/>
        </p:nvSpPr>
        <p:spPr>
          <a:xfrm>
            <a:off x="4329227" y="4190439"/>
            <a:ext cx="51206" cy="51206"/>
          </a:xfrm>
          <a:prstGeom prst="roundRect">
            <a:avLst>
              <a:gd name="adj" fmla="val 50000"/>
            </a:avLst>
          </a:prstGeom>
          <a:solidFill>
            <a:srgbClr val="E6115E"/>
          </a:solidFill>
          <a:ln w="12700">
            <a:solidFill>
              <a:srgbClr val="E6115E"/>
            </a:solidFill>
            <a:prstDash val="solid"/>
          </a:ln>
        </p:spPr>
      </p:sp>
      <p:sp>
        <p:nvSpPr>
          <p:cNvPr id="117" name="Shape 115"/>
          <p:cNvSpPr/>
          <p:nvPr/>
        </p:nvSpPr>
        <p:spPr>
          <a:xfrm>
            <a:off x="4423410" y="3692347"/>
            <a:ext cx="0" cy="902769"/>
          </a:xfrm>
          <a:prstGeom prst="line">
            <a:avLst/>
          </a:prstGeom>
          <a:noFill/>
          <a:ln w="28575">
            <a:solidFill>
              <a:srgbClr val="E6115E"/>
            </a:solidFill>
            <a:prstDash val="solid"/>
          </a:ln>
        </p:spPr>
      </p:sp>
      <p:sp>
        <p:nvSpPr>
          <p:cNvPr id="118" name="Shape 116"/>
          <p:cNvSpPr/>
          <p:nvPr/>
        </p:nvSpPr>
        <p:spPr>
          <a:xfrm>
            <a:off x="4397807" y="4118165"/>
            <a:ext cx="51206" cy="51206"/>
          </a:xfrm>
          <a:prstGeom prst="roundRect">
            <a:avLst>
              <a:gd name="adj" fmla="val 50000"/>
            </a:avLst>
          </a:prstGeom>
          <a:solidFill>
            <a:srgbClr val="E6115E"/>
          </a:solidFill>
          <a:ln w="12700">
            <a:solidFill>
              <a:srgbClr val="E6115E"/>
            </a:solidFill>
            <a:prstDash val="solid"/>
          </a:ln>
        </p:spPr>
      </p:sp>
      <p:sp>
        <p:nvSpPr>
          <p:cNvPr id="119" name="Shape 117"/>
          <p:cNvSpPr/>
          <p:nvPr/>
        </p:nvSpPr>
        <p:spPr>
          <a:xfrm>
            <a:off x="4491990" y="3118616"/>
            <a:ext cx="0" cy="801307"/>
          </a:xfrm>
          <a:prstGeom prst="line">
            <a:avLst/>
          </a:prstGeom>
          <a:noFill/>
          <a:ln w="15875">
            <a:solidFill>
              <a:srgbClr val="9BB4E8"/>
            </a:solidFill>
            <a:prstDash val="solid"/>
          </a:ln>
        </p:spPr>
      </p:sp>
      <p:sp>
        <p:nvSpPr>
          <p:cNvPr id="120" name="Shape 118"/>
          <p:cNvSpPr/>
          <p:nvPr/>
        </p:nvSpPr>
        <p:spPr>
          <a:xfrm>
            <a:off x="4466387" y="3493666"/>
            <a:ext cx="51206" cy="51206"/>
          </a:xfrm>
          <a:prstGeom prst="roundRect">
            <a:avLst>
              <a:gd name="adj" fmla="val 50000"/>
            </a:avLst>
          </a:prstGeom>
          <a:solidFill>
            <a:srgbClr val="1A56E8"/>
          </a:solidFill>
          <a:ln w="12700">
            <a:solidFill>
              <a:srgbClr val="1A56E8"/>
            </a:solidFill>
            <a:prstDash val="solid"/>
          </a:ln>
        </p:spPr>
      </p:sp>
      <p:sp>
        <p:nvSpPr>
          <p:cNvPr id="121" name="Shape 119"/>
          <p:cNvSpPr/>
          <p:nvPr/>
        </p:nvSpPr>
        <p:spPr>
          <a:xfrm>
            <a:off x="4560570" y="3556577"/>
            <a:ext cx="0" cy="928153"/>
          </a:xfrm>
          <a:prstGeom prst="line">
            <a:avLst/>
          </a:prstGeom>
          <a:noFill/>
          <a:ln w="15875">
            <a:solidFill>
              <a:srgbClr val="9BB4E8"/>
            </a:solidFill>
            <a:prstDash val="solid"/>
          </a:ln>
        </p:spPr>
      </p:sp>
      <p:sp>
        <p:nvSpPr>
          <p:cNvPr id="122" name="Shape 120"/>
          <p:cNvSpPr/>
          <p:nvPr/>
        </p:nvSpPr>
        <p:spPr>
          <a:xfrm>
            <a:off x="4534967" y="3995050"/>
            <a:ext cx="51206" cy="51206"/>
          </a:xfrm>
          <a:prstGeom prst="roundRect">
            <a:avLst>
              <a:gd name="adj" fmla="val 50000"/>
            </a:avLst>
          </a:prstGeom>
          <a:solidFill>
            <a:srgbClr val="1A56E8"/>
          </a:solidFill>
          <a:ln w="12700">
            <a:solidFill>
              <a:srgbClr val="1A56E8"/>
            </a:solidFill>
            <a:prstDash val="solid"/>
          </a:ln>
        </p:spPr>
      </p:sp>
      <p:sp>
        <p:nvSpPr>
          <p:cNvPr id="123" name="Shape 121"/>
          <p:cNvSpPr/>
          <p:nvPr/>
        </p:nvSpPr>
        <p:spPr>
          <a:xfrm>
            <a:off x="4629150" y="2970849"/>
            <a:ext cx="0" cy="1113520"/>
          </a:xfrm>
          <a:prstGeom prst="line">
            <a:avLst/>
          </a:prstGeom>
          <a:noFill/>
          <a:ln w="15875">
            <a:solidFill>
              <a:srgbClr val="9BB4E8"/>
            </a:solidFill>
            <a:prstDash val="solid"/>
          </a:ln>
        </p:spPr>
      </p:sp>
      <p:sp>
        <p:nvSpPr>
          <p:cNvPr id="124" name="Shape 122"/>
          <p:cNvSpPr/>
          <p:nvPr/>
        </p:nvSpPr>
        <p:spPr>
          <a:xfrm>
            <a:off x="4603547" y="3502006"/>
            <a:ext cx="51206" cy="51206"/>
          </a:xfrm>
          <a:prstGeom prst="roundRect">
            <a:avLst>
              <a:gd name="adj" fmla="val 50000"/>
            </a:avLst>
          </a:prstGeom>
          <a:solidFill>
            <a:srgbClr val="1A56E8"/>
          </a:solidFill>
          <a:ln w="12700">
            <a:solidFill>
              <a:srgbClr val="1A56E8"/>
            </a:solidFill>
            <a:prstDash val="solid"/>
          </a:ln>
        </p:spPr>
      </p:sp>
      <p:sp>
        <p:nvSpPr>
          <p:cNvPr id="125" name="Shape 123"/>
          <p:cNvSpPr/>
          <p:nvPr/>
        </p:nvSpPr>
        <p:spPr>
          <a:xfrm>
            <a:off x="4697730" y="3162873"/>
            <a:ext cx="0" cy="947611"/>
          </a:xfrm>
          <a:prstGeom prst="line">
            <a:avLst/>
          </a:prstGeom>
          <a:noFill/>
          <a:ln w="15875">
            <a:solidFill>
              <a:srgbClr val="9BB4E8"/>
            </a:solidFill>
            <a:prstDash val="solid"/>
          </a:ln>
        </p:spPr>
      </p:sp>
      <p:sp>
        <p:nvSpPr>
          <p:cNvPr id="126" name="Shape 124"/>
          <p:cNvSpPr/>
          <p:nvPr/>
        </p:nvSpPr>
        <p:spPr>
          <a:xfrm>
            <a:off x="4672127" y="3611075"/>
            <a:ext cx="51206" cy="51206"/>
          </a:xfrm>
          <a:prstGeom prst="roundRect">
            <a:avLst>
              <a:gd name="adj" fmla="val 50000"/>
            </a:avLst>
          </a:prstGeom>
          <a:solidFill>
            <a:srgbClr val="1A56E8"/>
          </a:solidFill>
          <a:ln w="12700">
            <a:solidFill>
              <a:srgbClr val="1A56E8"/>
            </a:solidFill>
            <a:prstDash val="solid"/>
          </a:ln>
        </p:spPr>
      </p:sp>
      <p:sp>
        <p:nvSpPr>
          <p:cNvPr id="127" name="Shape 125"/>
          <p:cNvSpPr/>
          <p:nvPr/>
        </p:nvSpPr>
        <p:spPr>
          <a:xfrm>
            <a:off x="4766310" y="3271943"/>
            <a:ext cx="0" cy="1131442"/>
          </a:xfrm>
          <a:prstGeom prst="line">
            <a:avLst/>
          </a:prstGeom>
          <a:noFill/>
          <a:ln w="15875">
            <a:solidFill>
              <a:srgbClr val="9BB4E8"/>
            </a:solidFill>
            <a:prstDash val="solid"/>
          </a:ln>
        </p:spPr>
      </p:sp>
      <p:sp>
        <p:nvSpPr>
          <p:cNvPr id="128" name="Shape 126"/>
          <p:cNvSpPr/>
          <p:nvPr/>
        </p:nvSpPr>
        <p:spPr>
          <a:xfrm>
            <a:off x="4740707" y="3812024"/>
            <a:ext cx="51206" cy="51206"/>
          </a:xfrm>
          <a:prstGeom prst="roundRect">
            <a:avLst>
              <a:gd name="adj" fmla="val 50000"/>
            </a:avLst>
          </a:prstGeom>
          <a:solidFill>
            <a:srgbClr val="1A56E8"/>
          </a:solidFill>
          <a:ln w="12700">
            <a:solidFill>
              <a:srgbClr val="1A56E8"/>
            </a:solidFill>
            <a:prstDash val="solid"/>
          </a:ln>
        </p:spPr>
      </p:sp>
      <p:sp>
        <p:nvSpPr>
          <p:cNvPr id="129" name="Shape 127"/>
          <p:cNvSpPr/>
          <p:nvPr/>
        </p:nvSpPr>
        <p:spPr>
          <a:xfrm>
            <a:off x="4834890" y="3217079"/>
            <a:ext cx="0" cy="1171602"/>
          </a:xfrm>
          <a:prstGeom prst="line">
            <a:avLst/>
          </a:prstGeom>
          <a:noFill/>
          <a:ln w="15875">
            <a:solidFill>
              <a:srgbClr val="9BB4E8"/>
            </a:solidFill>
            <a:prstDash val="solid"/>
          </a:ln>
        </p:spPr>
      </p:sp>
      <p:sp>
        <p:nvSpPr>
          <p:cNvPr id="130" name="Shape 128"/>
          <p:cNvSpPr/>
          <p:nvPr/>
        </p:nvSpPr>
        <p:spPr>
          <a:xfrm>
            <a:off x="4809287" y="3777277"/>
            <a:ext cx="51206" cy="51206"/>
          </a:xfrm>
          <a:prstGeom prst="roundRect">
            <a:avLst>
              <a:gd name="adj" fmla="val 50000"/>
            </a:avLst>
          </a:prstGeom>
          <a:solidFill>
            <a:srgbClr val="1A56E8"/>
          </a:solidFill>
          <a:ln w="12700">
            <a:solidFill>
              <a:srgbClr val="1A56E8"/>
            </a:solidFill>
            <a:prstDash val="solid"/>
          </a:ln>
        </p:spPr>
      </p:sp>
      <p:sp>
        <p:nvSpPr>
          <p:cNvPr id="131" name="Shape 129"/>
          <p:cNvSpPr/>
          <p:nvPr/>
        </p:nvSpPr>
        <p:spPr>
          <a:xfrm>
            <a:off x="4903470" y="3214079"/>
            <a:ext cx="0" cy="1084625"/>
          </a:xfrm>
          <a:prstGeom prst="line">
            <a:avLst/>
          </a:prstGeom>
          <a:noFill/>
          <a:ln w="15875">
            <a:solidFill>
              <a:srgbClr val="9BB4E8"/>
            </a:solidFill>
            <a:prstDash val="solid"/>
          </a:ln>
        </p:spPr>
      </p:sp>
      <p:sp>
        <p:nvSpPr>
          <p:cNvPr id="132" name="Shape 130"/>
          <p:cNvSpPr/>
          <p:nvPr/>
        </p:nvSpPr>
        <p:spPr>
          <a:xfrm>
            <a:off x="4877867" y="3730825"/>
            <a:ext cx="51206" cy="51206"/>
          </a:xfrm>
          <a:prstGeom prst="roundRect">
            <a:avLst>
              <a:gd name="adj" fmla="val 50000"/>
            </a:avLst>
          </a:prstGeom>
          <a:solidFill>
            <a:srgbClr val="1A56E8"/>
          </a:solidFill>
          <a:ln w="12700">
            <a:solidFill>
              <a:srgbClr val="1A56E8"/>
            </a:solidFill>
            <a:prstDash val="solid"/>
          </a:ln>
        </p:spPr>
      </p:sp>
      <p:sp>
        <p:nvSpPr>
          <p:cNvPr id="133" name="Shape 131"/>
          <p:cNvSpPr/>
          <p:nvPr/>
        </p:nvSpPr>
        <p:spPr>
          <a:xfrm>
            <a:off x="4972050" y="2895576"/>
            <a:ext cx="0" cy="1250972"/>
          </a:xfrm>
          <a:prstGeom prst="line">
            <a:avLst/>
          </a:prstGeom>
          <a:noFill/>
          <a:ln w="15875">
            <a:solidFill>
              <a:srgbClr val="9BB4E8"/>
            </a:solidFill>
            <a:prstDash val="solid"/>
          </a:ln>
        </p:spPr>
      </p:sp>
      <p:sp>
        <p:nvSpPr>
          <p:cNvPr id="134" name="Shape 132"/>
          <p:cNvSpPr/>
          <p:nvPr/>
        </p:nvSpPr>
        <p:spPr>
          <a:xfrm>
            <a:off x="4946447" y="3495422"/>
            <a:ext cx="51206" cy="51206"/>
          </a:xfrm>
          <a:prstGeom prst="roundRect">
            <a:avLst>
              <a:gd name="adj" fmla="val 50000"/>
            </a:avLst>
          </a:prstGeom>
          <a:solidFill>
            <a:srgbClr val="1A56E8"/>
          </a:solidFill>
          <a:ln w="12700">
            <a:solidFill>
              <a:srgbClr val="1A56E8"/>
            </a:solidFill>
            <a:prstDash val="solid"/>
          </a:ln>
        </p:spPr>
      </p:sp>
      <p:sp>
        <p:nvSpPr>
          <p:cNvPr id="135" name="Shape 133"/>
          <p:cNvSpPr/>
          <p:nvPr/>
        </p:nvSpPr>
        <p:spPr>
          <a:xfrm>
            <a:off x="5040630" y="2876190"/>
            <a:ext cx="0" cy="1411175"/>
          </a:xfrm>
          <a:prstGeom prst="line">
            <a:avLst/>
          </a:prstGeom>
          <a:noFill/>
          <a:ln w="15875">
            <a:solidFill>
              <a:srgbClr val="9BB4E8"/>
            </a:solidFill>
            <a:prstDash val="solid"/>
          </a:ln>
        </p:spPr>
      </p:sp>
      <p:sp>
        <p:nvSpPr>
          <p:cNvPr id="136" name="Shape 134"/>
          <p:cNvSpPr/>
          <p:nvPr/>
        </p:nvSpPr>
        <p:spPr>
          <a:xfrm>
            <a:off x="5015027" y="3556211"/>
            <a:ext cx="51206" cy="51206"/>
          </a:xfrm>
          <a:prstGeom prst="roundRect">
            <a:avLst>
              <a:gd name="adj" fmla="val 50000"/>
            </a:avLst>
          </a:prstGeom>
          <a:solidFill>
            <a:srgbClr val="1A56E8"/>
          </a:solidFill>
          <a:ln w="12700">
            <a:solidFill>
              <a:srgbClr val="1A56E8"/>
            </a:solidFill>
            <a:prstDash val="solid"/>
          </a:ln>
        </p:spPr>
      </p:sp>
      <p:sp>
        <p:nvSpPr>
          <p:cNvPr id="137" name="Shape 135"/>
          <p:cNvSpPr/>
          <p:nvPr/>
        </p:nvSpPr>
        <p:spPr>
          <a:xfrm>
            <a:off x="5109210" y="3110423"/>
            <a:ext cx="0" cy="1203936"/>
          </a:xfrm>
          <a:prstGeom prst="line">
            <a:avLst/>
          </a:prstGeom>
          <a:noFill/>
          <a:ln w="15875">
            <a:solidFill>
              <a:srgbClr val="9BB4E8"/>
            </a:solidFill>
            <a:prstDash val="solid"/>
          </a:ln>
        </p:spPr>
      </p:sp>
      <p:sp>
        <p:nvSpPr>
          <p:cNvPr id="138" name="Shape 136"/>
          <p:cNvSpPr/>
          <p:nvPr/>
        </p:nvSpPr>
        <p:spPr>
          <a:xfrm>
            <a:off x="5083607" y="3686788"/>
            <a:ext cx="51206" cy="51206"/>
          </a:xfrm>
          <a:prstGeom prst="roundRect">
            <a:avLst>
              <a:gd name="adj" fmla="val 50000"/>
            </a:avLst>
          </a:prstGeom>
          <a:solidFill>
            <a:srgbClr val="1A56E8"/>
          </a:solidFill>
          <a:ln w="12700">
            <a:solidFill>
              <a:srgbClr val="1A56E8"/>
            </a:solidFill>
            <a:prstDash val="solid"/>
          </a:ln>
        </p:spPr>
      </p:sp>
      <p:sp>
        <p:nvSpPr>
          <p:cNvPr id="139" name="Shape 137"/>
          <p:cNvSpPr/>
          <p:nvPr/>
        </p:nvSpPr>
        <p:spPr>
          <a:xfrm>
            <a:off x="5177790" y="2759001"/>
            <a:ext cx="0" cy="1305690"/>
          </a:xfrm>
          <a:prstGeom prst="line">
            <a:avLst/>
          </a:prstGeom>
          <a:noFill/>
          <a:ln w="15875">
            <a:solidFill>
              <a:srgbClr val="9BB4E8"/>
            </a:solidFill>
            <a:prstDash val="solid"/>
          </a:ln>
        </p:spPr>
      </p:sp>
      <p:sp>
        <p:nvSpPr>
          <p:cNvPr id="140" name="Shape 138"/>
          <p:cNvSpPr/>
          <p:nvPr/>
        </p:nvSpPr>
        <p:spPr>
          <a:xfrm>
            <a:off x="5152187" y="3386279"/>
            <a:ext cx="51206" cy="51206"/>
          </a:xfrm>
          <a:prstGeom prst="roundRect">
            <a:avLst>
              <a:gd name="adj" fmla="val 50000"/>
            </a:avLst>
          </a:prstGeom>
          <a:solidFill>
            <a:srgbClr val="1A56E8"/>
          </a:solidFill>
          <a:ln w="12700">
            <a:solidFill>
              <a:srgbClr val="1A56E8"/>
            </a:solidFill>
            <a:prstDash val="solid"/>
          </a:ln>
        </p:spPr>
      </p:sp>
      <p:sp>
        <p:nvSpPr>
          <p:cNvPr id="141" name="Shape 139"/>
          <p:cNvSpPr/>
          <p:nvPr/>
        </p:nvSpPr>
        <p:spPr>
          <a:xfrm>
            <a:off x="5246370" y="3013350"/>
            <a:ext cx="0" cy="1123542"/>
          </a:xfrm>
          <a:prstGeom prst="line">
            <a:avLst/>
          </a:prstGeom>
          <a:noFill/>
          <a:ln w="15875">
            <a:solidFill>
              <a:srgbClr val="9BB4E8"/>
            </a:solidFill>
            <a:prstDash val="solid"/>
          </a:ln>
        </p:spPr>
      </p:sp>
      <p:sp>
        <p:nvSpPr>
          <p:cNvPr id="142" name="Shape 140"/>
          <p:cNvSpPr/>
          <p:nvPr/>
        </p:nvSpPr>
        <p:spPr>
          <a:xfrm>
            <a:off x="5220767" y="3549554"/>
            <a:ext cx="51206" cy="51206"/>
          </a:xfrm>
          <a:prstGeom prst="roundRect">
            <a:avLst>
              <a:gd name="adj" fmla="val 50000"/>
            </a:avLst>
          </a:prstGeom>
          <a:solidFill>
            <a:srgbClr val="1A56E8"/>
          </a:solidFill>
          <a:ln w="12700">
            <a:solidFill>
              <a:srgbClr val="1A56E8"/>
            </a:solidFill>
            <a:prstDash val="solid"/>
          </a:ln>
        </p:spPr>
      </p:sp>
      <p:sp>
        <p:nvSpPr>
          <p:cNvPr id="143" name="Shape 141"/>
          <p:cNvSpPr/>
          <p:nvPr/>
        </p:nvSpPr>
        <p:spPr>
          <a:xfrm>
            <a:off x="5314950" y="2911157"/>
            <a:ext cx="0" cy="1103644"/>
          </a:xfrm>
          <a:prstGeom prst="line">
            <a:avLst/>
          </a:prstGeom>
          <a:noFill/>
          <a:ln w="15875">
            <a:solidFill>
              <a:srgbClr val="9BB4E8"/>
            </a:solidFill>
            <a:prstDash val="solid"/>
          </a:ln>
        </p:spPr>
      </p:sp>
      <p:sp>
        <p:nvSpPr>
          <p:cNvPr id="144" name="Shape 142"/>
          <p:cNvSpPr/>
          <p:nvPr/>
        </p:nvSpPr>
        <p:spPr>
          <a:xfrm>
            <a:off x="5289347" y="3437412"/>
            <a:ext cx="51206" cy="51206"/>
          </a:xfrm>
          <a:prstGeom prst="roundRect">
            <a:avLst>
              <a:gd name="adj" fmla="val 50000"/>
            </a:avLst>
          </a:prstGeom>
          <a:solidFill>
            <a:srgbClr val="1A56E8"/>
          </a:solidFill>
          <a:ln w="12700">
            <a:solidFill>
              <a:srgbClr val="1A56E8"/>
            </a:solidFill>
            <a:prstDash val="solid"/>
          </a:ln>
        </p:spPr>
      </p:sp>
      <p:sp>
        <p:nvSpPr>
          <p:cNvPr id="145" name="Shape 143"/>
          <p:cNvSpPr/>
          <p:nvPr/>
        </p:nvSpPr>
        <p:spPr>
          <a:xfrm>
            <a:off x="5383530" y="2852709"/>
            <a:ext cx="0" cy="1095159"/>
          </a:xfrm>
          <a:prstGeom prst="line">
            <a:avLst/>
          </a:prstGeom>
          <a:noFill/>
          <a:ln w="15875">
            <a:solidFill>
              <a:srgbClr val="9BB4E8"/>
            </a:solidFill>
            <a:prstDash val="solid"/>
          </a:ln>
        </p:spPr>
      </p:sp>
      <p:sp>
        <p:nvSpPr>
          <p:cNvPr id="146" name="Shape 144"/>
          <p:cNvSpPr/>
          <p:nvPr/>
        </p:nvSpPr>
        <p:spPr>
          <a:xfrm>
            <a:off x="5357927" y="3374721"/>
            <a:ext cx="51206" cy="51206"/>
          </a:xfrm>
          <a:prstGeom prst="roundRect">
            <a:avLst>
              <a:gd name="adj" fmla="val 50000"/>
            </a:avLst>
          </a:prstGeom>
          <a:solidFill>
            <a:srgbClr val="1A56E8"/>
          </a:solidFill>
          <a:ln w="12700">
            <a:solidFill>
              <a:srgbClr val="1A56E8"/>
            </a:solidFill>
            <a:prstDash val="solid"/>
          </a:ln>
        </p:spPr>
      </p:sp>
      <p:sp>
        <p:nvSpPr>
          <p:cNvPr id="147" name="Shape 145"/>
          <p:cNvSpPr/>
          <p:nvPr/>
        </p:nvSpPr>
        <p:spPr>
          <a:xfrm>
            <a:off x="5452110" y="3154168"/>
            <a:ext cx="0" cy="1105473"/>
          </a:xfrm>
          <a:prstGeom prst="line">
            <a:avLst/>
          </a:prstGeom>
          <a:noFill/>
          <a:ln w="15875">
            <a:solidFill>
              <a:srgbClr val="9BB4E8"/>
            </a:solidFill>
            <a:prstDash val="solid"/>
          </a:ln>
        </p:spPr>
      </p:sp>
      <p:sp>
        <p:nvSpPr>
          <p:cNvPr id="148" name="Shape 146"/>
          <p:cNvSpPr/>
          <p:nvPr/>
        </p:nvSpPr>
        <p:spPr>
          <a:xfrm>
            <a:off x="5426507" y="3681301"/>
            <a:ext cx="51206" cy="51206"/>
          </a:xfrm>
          <a:prstGeom prst="roundRect">
            <a:avLst>
              <a:gd name="adj" fmla="val 50000"/>
            </a:avLst>
          </a:prstGeom>
          <a:solidFill>
            <a:srgbClr val="1A56E8"/>
          </a:solidFill>
          <a:ln w="12700">
            <a:solidFill>
              <a:srgbClr val="1A56E8"/>
            </a:solidFill>
            <a:prstDash val="solid"/>
          </a:ln>
        </p:spPr>
      </p:sp>
      <p:sp>
        <p:nvSpPr>
          <p:cNvPr id="149" name="Shape 147"/>
          <p:cNvSpPr/>
          <p:nvPr/>
        </p:nvSpPr>
        <p:spPr>
          <a:xfrm>
            <a:off x="5520690" y="3390815"/>
            <a:ext cx="0" cy="1036783"/>
          </a:xfrm>
          <a:prstGeom prst="line">
            <a:avLst/>
          </a:prstGeom>
          <a:noFill/>
          <a:ln w="15875">
            <a:solidFill>
              <a:srgbClr val="9BB4E8"/>
            </a:solidFill>
            <a:prstDash val="solid"/>
          </a:ln>
        </p:spPr>
      </p:sp>
      <p:sp>
        <p:nvSpPr>
          <p:cNvPr id="150" name="Shape 148"/>
          <p:cNvSpPr/>
          <p:nvPr/>
        </p:nvSpPr>
        <p:spPr>
          <a:xfrm>
            <a:off x="5495087" y="3883640"/>
            <a:ext cx="51206" cy="51206"/>
          </a:xfrm>
          <a:prstGeom prst="roundRect">
            <a:avLst>
              <a:gd name="adj" fmla="val 50000"/>
            </a:avLst>
          </a:prstGeom>
          <a:solidFill>
            <a:srgbClr val="1A56E8"/>
          </a:solidFill>
          <a:ln w="12700">
            <a:solidFill>
              <a:srgbClr val="1A56E8"/>
            </a:solidFill>
            <a:prstDash val="solid"/>
          </a:ln>
        </p:spPr>
      </p:sp>
      <p:sp>
        <p:nvSpPr>
          <p:cNvPr id="151" name="Shape 149"/>
          <p:cNvSpPr/>
          <p:nvPr/>
        </p:nvSpPr>
        <p:spPr>
          <a:xfrm>
            <a:off x="5589270" y="3517733"/>
            <a:ext cx="0" cy="1192524"/>
          </a:xfrm>
          <a:prstGeom prst="line">
            <a:avLst/>
          </a:prstGeom>
          <a:noFill/>
          <a:ln w="15875">
            <a:solidFill>
              <a:srgbClr val="9BB4E8"/>
            </a:solidFill>
            <a:prstDash val="solid"/>
          </a:ln>
        </p:spPr>
      </p:sp>
      <p:sp>
        <p:nvSpPr>
          <p:cNvPr id="152" name="Shape 150"/>
          <p:cNvSpPr/>
          <p:nvPr/>
        </p:nvSpPr>
        <p:spPr>
          <a:xfrm>
            <a:off x="5563667" y="4088392"/>
            <a:ext cx="51206" cy="51206"/>
          </a:xfrm>
          <a:prstGeom prst="roundRect">
            <a:avLst>
              <a:gd name="adj" fmla="val 50000"/>
            </a:avLst>
          </a:prstGeom>
          <a:solidFill>
            <a:srgbClr val="1A56E8"/>
          </a:solidFill>
          <a:ln w="12700">
            <a:solidFill>
              <a:srgbClr val="1A56E8"/>
            </a:solidFill>
            <a:prstDash val="solid"/>
          </a:ln>
        </p:spPr>
      </p:sp>
      <p:sp>
        <p:nvSpPr>
          <p:cNvPr id="153" name="Shape 151"/>
          <p:cNvSpPr/>
          <p:nvPr/>
        </p:nvSpPr>
        <p:spPr>
          <a:xfrm>
            <a:off x="5657850" y="3172236"/>
            <a:ext cx="0" cy="1151778"/>
          </a:xfrm>
          <a:prstGeom prst="line">
            <a:avLst/>
          </a:prstGeom>
          <a:noFill/>
          <a:ln w="15875">
            <a:solidFill>
              <a:srgbClr val="9BB4E8"/>
            </a:solidFill>
            <a:prstDash val="solid"/>
          </a:ln>
        </p:spPr>
      </p:sp>
      <p:sp>
        <p:nvSpPr>
          <p:cNvPr id="154" name="Shape 152"/>
          <p:cNvSpPr/>
          <p:nvPr/>
        </p:nvSpPr>
        <p:spPr>
          <a:xfrm>
            <a:off x="5632247" y="3722486"/>
            <a:ext cx="51206" cy="51206"/>
          </a:xfrm>
          <a:prstGeom prst="roundRect">
            <a:avLst>
              <a:gd name="adj" fmla="val 50000"/>
            </a:avLst>
          </a:prstGeom>
          <a:solidFill>
            <a:srgbClr val="1A56E8"/>
          </a:solidFill>
          <a:ln w="12700">
            <a:solidFill>
              <a:srgbClr val="1A56E8"/>
            </a:solidFill>
            <a:prstDash val="solid"/>
          </a:ln>
        </p:spPr>
      </p:sp>
      <p:sp>
        <p:nvSpPr>
          <p:cNvPr id="155" name="Shape 153"/>
          <p:cNvSpPr/>
          <p:nvPr/>
        </p:nvSpPr>
        <p:spPr>
          <a:xfrm>
            <a:off x="5726430" y="3372966"/>
            <a:ext cx="0" cy="1298521"/>
          </a:xfrm>
          <a:prstGeom prst="line">
            <a:avLst/>
          </a:prstGeom>
          <a:noFill/>
          <a:ln w="15875">
            <a:solidFill>
              <a:srgbClr val="9BB4E8"/>
            </a:solidFill>
            <a:prstDash val="solid"/>
          </a:ln>
        </p:spPr>
      </p:sp>
      <p:sp>
        <p:nvSpPr>
          <p:cNvPr id="156" name="Shape 154"/>
          <p:cNvSpPr/>
          <p:nvPr/>
        </p:nvSpPr>
        <p:spPr>
          <a:xfrm>
            <a:off x="5700827" y="3996586"/>
            <a:ext cx="51206" cy="51206"/>
          </a:xfrm>
          <a:prstGeom prst="roundRect">
            <a:avLst>
              <a:gd name="adj" fmla="val 50000"/>
            </a:avLst>
          </a:prstGeom>
          <a:solidFill>
            <a:srgbClr val="1A56E8"/>
          </a:solidFill>
          <a:ln w="12700">
            <a:solidFill>
              <a:srgbClr val="1A56E8"/>
            </a:solidFill>
            <a:prstDash val="solid"/>
          </a:ln>
        </p:spPr>
      </p:sp>
      <p:sp>
        <p:nvSpPr>
          <p:cNvPr id="157" name="Shape 155"/>
          <p:cNvSpPr/>
          <p:nvPr/>
        </p:nvSpPr>
        <p:spPr>
          <a:xfrm>
            <a:off x="5795010" y="3012546"/>
            <a:ext cx="0" cy="1130784"/>
          </a:xfrm>
          <a:prstGeom prst="line">
            <a:avLst/>
          </a:prstGeom>
          <a:noFill/>
          <a:ln w="15875">
            <a:solidFill>
              <a:srgbClr val="9BB4E8"/>
            </a:solidFill>
            <a:prstDash val="solid"/>
          </a:ln>
        </p:spPr>
      </p:sp>
      <p:sp>
        <p:nvSpPr>
          <p:cNvPr id="158" name="Shape 156"/>
          <p:cNvSpPr/>
          <p:nvPr/>
        </p:nvSpPr>
        <p:spPr>
          <a:xfrm>
            <a:off x="5769407" y="3552334"/>
            <a:ext cx="51206" cy="51206"/>
          </a:xfrm>
          <a:prstGeom prst="roundRect">
            <a:avLst>
              <a:gd name="adj" fmla="val 50000"/>
            </a:avLst>
          </a:prstGeom>
          <a:solidFill>
            <a:srgbClr val="1A56E8"/>
          </a:solidFill>
          <a:ln w="12700">
            <a:solidFill>
              <a:srgbClr val="1A56E8"/>
            </a:solidFill>
            <a:prstDash val="solid"/>
          </a:ln>
        </p:spPr>
      </p:sp>
      <p:sp>
        <p:nvSpPr>
          <p:cNvPr id="159" name="Shape 157"/>
          <p:cNvSpPr/>
          <p:nvPr/>
        </p:nvSpPr>
        <p:spPr>
          <a:xfrm>
            <a:off x="5863590" y="2944734"/>
            <a:ext cx="0" cy="1166628"/>
          </a:xfrm>
          <a:prstGeom prst="line">
            <a:avLst/>
          </a:prstGeom>
          <a:noFill/>
          <a:ln w="15875">
            <a:solidFill>
              <a:srgbClr val="9BB4E8"/>
            </a:solidFill>
            <a:prstDash val="solid"/>
          </a:ln>
        </p:spPr>
      </p:sp>
      <p:sp>
        <p:nvSpPr>
          <p:cNvPr id="160" name="Shape 158"/>
          <p:cNvSpPr/>
          <p:nvPr/>
        </p:nvSpPr>
        <p:spPr>
          <a:xfrm>
            <a:off x="5837987" y="3502445"/>
            <a:ext cx="51206" cy="51206"/>
          </a:xfrm>
          <a:prstGeom prst="roundRect">
            <a:avLst>
              <a:gd name="adj" fmla="val 50000"/>
            </a:avLst>
          </a:prstGeom>
          <a:solidFill>
            <a:srgbClr val="1A56E8"/>
          </a:solidFill>
          <a:ln w="12700">
            <a:solidFill>
              <a:srgbClr val="1A56E8"/>
            </a:solidFill>
            <a:prstDash val="solid"/>
          </a:ln>
        </p:spPr>
      </p:sp>
      <p:sp>
        <p:nvSpPr>
          <p:cNvPr id="161" name="Shape 159"/>
          <p:cNvSpPr/>
          <p:nvPr/>
        </p:nvSpPr>
        <p:spPr>
          <a:xfrm>
            <a:off x="5932170" y="2841224"/>
            <a:ext cx="0" cy="991136"/>
          </a:xfrm>
          <a:prstGeom prst="line">
            <a:avLst/>
          </a:prstGeom>
          <a:noFill/>
          <a:ln w="15875">
            <a:solidFill>
              <a:srgbClr val="9BB4E8"/>
            </a:solidFill>
            <a:prstDash val="solid"/>
          </a:ln>
        </p:spPr>
      </p:sp>
      <p:sp>
        <p:nvSpPr>
          <p:cNvPr id="162" name="Shape 160"/>
          <p:cNvSpPr/>
          <p:nvPr/>
        </p:nvSpPr>
        <p:spPr>
          <a:xfrm>
            <a:off x="5906567" y="3311225"/>
            <a:ext cx="51206" cy="51206"/>
          </a:xfrm>
          <a:prstGeom prst="roundRect">
            <a:avLst>
              <a:gd name="adj" fmla="val 50000"/>
            </a:avLst>
          </a:prstGeom>
          <a:solidFill>
            <a:srgbClr val="1A56E8"/>
          </a:solidFill>
          <a:ln w="12700">
            <a:solidFill>
              <a:srgbClr val="1A56E8"/>
            </a:solidFill>
            <a:prstDash val="solid"/>
          </a:ln>
        </p:spPr>
      </p:sp>
      <p:sp>
        <p:nvSpPr>
          <p:cNvPr id="163" name="Shape 161"/>
          <p:cNvSpPr/>
          <p:nvPr/>
        </p:nvSpPr>
        <p:spPr>
          <a:xfrm>
            <a:off x="6000750" y="3044294"/>
            <a:ext cx="0" cy="1077383"/>
          </a:xfrm>
          <a:prstGeom prst="line">
            <a:avLst/>
          </a:prstGeom>
          <a:noFill/>
          <a:ln w="15875">
            <a:solidFill>
              <a:srgbClr val="9BB4E8"/>
            </a:solidFill>
            <a:prstDash val="solid"/>
          </a:ln>
        </p:spPr>
      </p:sp>
      <p:sp>
        <p:nvSpPr>
          <p:cNvPr id="164" name="Shape 162"/>
          <p:cNvSpPr/>
          <p:nvPr/>
        </p:nvSpPr>
        <p:spPr>
          <a:xfrm>
            <a:off x="5975147" y="3557382"/>
            <a:ext cx="51206" cy="51206"/>
          </a:xfrm>
          <a:prstGeom prst="roundRect">
            <a:avLst>
              <a:gd name="adj" fmla="val 50000"/>
            </a:avLst>
          </a:prstGeom>
          <a:solidFill>
            <a:srgbClr val="1A56E8"/>
          </a:solidFill>
          <a:ln w="12700">
            <a:solidFill>
              <a:srgbClr val="1A56E8"/>
            </a:solidFill>
            <a:prstDash val="solid"/>
          </a:ln>
        </p:spPr>
      </p:sp>
      <p:sp>
        <p:nvSpPr>
          <p:cNvPr id="165" name="Shape 163"/>
          <p:cNvSpPr/>
          <p:nvPr/>
        </p:nvSpPr>
        <p:spPr>
          <a:xfrm>
            <a:off x="6069330" y="3086283"/>
            <a:ext cx="0" cy="1034296"/>
          </a:xfrm>
          <a:prstGeom prst="line">
            <a:avLst/>
          </a:prstGeom>
          <a:noFill/>
          <a:ln w="15875">
            <a:solidFill>
              <a:srgbClr val="9BB4E8"/>
            </a:solidFill>
            <a:prstDash val="solid"/>
          </a:ln>
        </p:spPr>
      </p:sp>
      <p:sp>
        <p:nvSpPr>
          <p:cNvPr id="166" name="Shape 164"/>
          <p:cNvSpPr/>
          <p:nvPr/>
        </p:nvSpPr>
        <p:spPr>
          <a:xfrm>
            <a:off x="6043727" y="3577864"/>
            <a:ext cx="51206" cy="51206"/>
          </a:xfrm>
          <a:prstGeom prst="roundRect">
            <a:avLst>
              <a:gd name="adj" fmla="val 50000"/>
            </a:avLst>
          </a:prstGeom>
          <a:solidFill>
            <a:srgbClr val="1A56E8"/>
          </a:solidFill>
          <a:ln w="12700">
            <a:solidFill>
              <a:srgbClr val="1A56E8"/>
            </a:solidFill>
            <a:prstDash val="solid"/>
          </a:ln>
        </p:spPr>
      </p:sp>
      <p:sp>
        <p:nvSpPr>
          <p:cNvPr id="167" name="Shape 165"/>
          <p:cNvSpPr/>
          <p:nvPr/>
        </p:nvSpPr>
        <p:spPr>
          <a:xfrm>
            <a:off x="6137910" y="3447507"/>
            <a:ext cx="0" cy="1034881"/>
          </a:xfrm>
          <a:prstGeom prst="line">
            <a:avLst/>
          </a:prstGeom>
          <a:noFill/>
          <a:ln w="15875">
            <a:solidFill>
              <a:srgbClr val="9BB4E8"/>
            </a:solidFill>
            <a:prstDash val="solid"/>
          </a:ln>
        </p:spPr>
      </p:sp>
      <p:sp>
        <p:nvSpPr>
          <p:cNvPr id="168" name="Shape 166"/>
          <p:cNvSpPr/>
          <p:nvPr/>
        </p:nvSpPr>
        <p:spPr>
          <a:xfrm>
            <a:off x="6112307" y="3939382"/>
            <a:ext cx="51206" cy="51206"/>
          </a:xfrm>
          <a:prstGeom prst="roundRect">
            <a:avLst>
              <a:gd name="adj" fmla="val 50000"/>
            </a:avLst>
          </a:prstGeom>
          <a:solidFill>
            <a:srgbClr val="1A56E8"/>
          </a:solidFill>
          <a:ln w="12700">
            <a:solidFill>
              <a:srgbClr val="1A56E8"/>
            </a:solidFill>
            <a:prstDash val="solid"/>
          </a:ln>
        </p:spPr>
      </p:sp>
      <p:sp>
        <p:nvSpPr>
          <p:cNvPr id="169" name="Shape 167"/>
          <p:cNvSpPr/>
          <p:nvPr/>
        </p:nvSpPr>
        <p:spPr>
          <a:xfrm>
            <a:off x="6206490" y="3423002"/>
            <a:ext cx="0" cy="1173285"/>
          </a:xfrm>
          <a:prstGeom prst="line">
            <a:avLst/>
          </a:prstGeom>
          <a:noFill/>
          <a:ln w="15875">
            <a:solidFill>
              <a:srgbClr val="9BB4E8"/>
            </a:solidFill>
            <a:prstDash val="solid"/>
          </a:ln>
        </p:spPr>
      </p:sp>
      <p:sp>
        <p:nvSpPr>
          <p:cNvPr id="170" name="Shape 168"/>
          <p:cNvSpPr/>
          <p:nvPr/>
        </p:nvSpPr>
        <p:spPr>
          <a:xfrm>
            <a:off x="6180887" y="3984077"/>
            <a:ext cx="51206" cy="51206"/>
          </a:xfrm>
          <a:prstGeom prst="roundRect">
            <a:avLst>
              <a:gd name="adj" fmla="val 50000"/>
            </a:avLst>
          </a:prstGeom>
          <a:solidFill>
            <a:srgbClr val="1A56E8"/>
          </a:solidFill>
          <a:ln w="12700">
            <a:solidFill>
              <a:srgbClr val="1A56E8"/>
            </a:solidFill>
            <a:prstDash val="solid"/>
          </a:ln>
        </p:spPr>
      </p:sp>
      <p:sp>
        <p:nvSpPr>
          <p:cNvPr id="171" name="Shape 169"/>
          <p:cNvSpPr/>
          <p:nvPr/>
        </p:nvSpPr>
        <p:spPr>
          <a:xfrm>
            <a:off x="6275070" y="3297838"/>
            <a:ext cx="0" cy="1207301"/>
          </a:xfrm>
          <a:prstGeom prst="line">
            <a:avLst/>
          </a:prstGeom>
          <a:noFill/>
          <a:ln w="15875">
            <a:solidFill>
              <a:srgbClr val="9BB4E8"/>
            </a:solidFill>
            <a:prstDash val="solid"/>
          </a:ln>
        </p:spPr>
      </p:sp>
      <p:sp>
        <p:nvSpPr>
          <p:cNvPr id="172" name="Shape 170"/>
          <p:cNvSpPr/>
          <p:nvPr/>
        </p:nvSpPr>
        <p:spPr>
          <a:xfrm>
            <a:off x="6249467" y="3875886"/>
            <a:ext cx="51206" cy="51206"/>
          </a:xfrm>
          <a:prstGeom prst="roundRect">
            <a:avLst>
              <a:gd name="adj" fmla="val 50000"/>
            </a:avLst>
          </a:prstGeom>
          <a:solidFill>
            <a:srgbClr val="1A56E8"/>
          </a:solidFill>
          <a:ln w="12700">
            <a:solidFill>
              <a:srgbClr val="1A56E8"/>
            </a:solidFill>
            <a:prstDash val="solid"/>
          </a:ln>
        </p:spPr>
      </p:sp>
      <p:sp>
        <p:nvSpPr>
          <p:cNvPr id="173" name="Shape 171"/>
          <p:cNvSpPr/>
          <p:nvPr/>
        </p:nvSpPr>
        <p:spPr>
          <a:xfrm>
            <a:off x="6343650" y="3168871"/>
            <a:ext cx="0" cy="972702"/>
          </a:xfrm>
          <a:prstGeom prst="line">
            <a:avLst/>
          </a:prstGeom>
          <a:noFill/>
          <a:ln w="15875">
            <a:solidFill>
              <a:srgbClr val="9BB4E8"/>
            </a:solidFill>
            <a:prstDash val="solid"/>
          </a:ln>
        </p:spPr>
      </p:sp>
      <p:sp>
        <p:nvSpPr>
          <p:cNvPr id="174" name="Shape 172"/>
          <p:cNvSpPr/>
          <p:nvPr/>
        </p:nvSpPr>
        <p:spPr>
          <a:xfrm>
            <a:off x="6318047" y="3629583"/>
            <a:ext cx="51206" cy="51206"/>
          </a:xfrm>
          <a:prstGeom prst="roundRect">
            <a:avLst>
              <a:gd name="adj" fmla="val 50000"/>
            </a:avLst>
          </a:prstGeom>
          <a:solidFill>
            <a:srgbClr val="1A56E8"/>
          </a:solidFill>
          <a:ln w="12700">
            <a:solidFill>
              <a:srgbClr val="1A56E8"/>
            </a:solidFill>
            <a:prstDash val="solid"/>
          </a:ln>
        </p:spPr>
      </p:sp>
      <p:sp>
        <p:nvSpPr>
          <p:cNvPr id="175" name="Shape 173"/>
          <p:cNvSpPr/>
          <p:nvPr/>
        </p:nvSpPr>
        <p:spPr>
          <a:xfrm>
            <a:off x="6412230" y="2544812"/>
            <a:ext cx="0" cy="1270943"/>
          </a:xfrm>
          <a:prstGeom prst="line">
            <a:avLst/>
          </a:prstGeom>
          <a:noFill/>
          <a:ln w="15875">
            <a:solidFill>
              <a:srgbClr val="9BB4E8"/>
            </a:solidFill>
            <a:prstDash val="solid"/>
          </a:ln>
        </p:spPr>
      </p:sp>
      <p:sp>
        <p:nvSpPr>
          <p:cNvPr id="176" name="Shape 174"/>
          <p:cNvSpPr/>
          <p:nvPr/>
        </p:nvSpPr>
        <p:spPr>
          <a:xfrm>
            <a:off x="6386627" y="3154680"/>
            <a:ext cx="51206" cy="51206"/>
          </a:xfrm>
          <a:prstGeom prst="roundRect">
            <a:avLst>
              <a:gd name="adj" fmla="val 50000"/>
            </a:avLst>
          </a:prstGeom>
          <a:solidFill>
            <a:srgbClr val="1A56E8"/>
          </a:solidFill>
          <a:ln w="12700">
            <a:solidFill>
              <a:srgbClr val="1A56E8"/>
            </a:solidFill>
            <a:prstDash val="solid"/>
          </a:ln>
        </p:spPr>
      </p:sp>
      <p:sp>
        <p:nvSpPr>
          <p:cNvPr id="177" name="Shape 175"/>
          <p:cNvSpPr/>
          <p:nvPr/>
        </p:nvSpPr>
        <p:spPr>
          <a:xfrm>
            <a:off x="6480810" y="3148023"/>
            <a:ext cx="0" cy="1128296"/>
          </a:xfrm>
          <a:prstGeom prst="line">
            <a:avLst/>
          </a:prstGeom>
          <a:noFill/>
          <a:ln w="15875">
            <a:solidFill>
              <a:srgbClr val="9BB4E8"/>
            </a:solidFill>
            <a:prstDash val="solid"/>
          </a:ln>
        </p:spPr>
      </p:sp>
      <p:sp>
        <p:nvSpPr>
          <p:cNvPr id="178" name="Shape 176"/>
          <p:cNvSpPr/>
          <p:nvPr/>
        </p:nvSpPr>
        <p:spPr>
          <a:xfrm>
            <a:off x="6455207" y="3686568"/>
            <a:ext cx="51206" cy="51206"/>
          </a:xfrm>
          <a:prstGeom prst="roundRect">
            <a:avLst>
              <a:gd name="adj" fmla="val 50000"/>
            </a:avLst>
          </a:prstGeom>
          <a:solidFill>
            <a:srgbClr val="1A56E8"/>
          </a:solidFill>
          <a:ln w="12700">
            <a:solidFill>
              <a:srgbClr val="1A56E8"/>
            </a:solidFill>
            <a:prstDash val="solid"/>
          </a:ln>
        </p:spPr>
      </p:sp>
      <p:sp>
        <p:nvSpPr>
          <p:cNvPr id="179" name="Shape 177"/>
          <p:cNvSpPr/>
          <p:nvPr/>
        </p:nvSpPr>
        <p:spPr>
          <a:xfrm>
            <a:off x="6549390" y="2760318"/>
            <a:ext cx="0" cy="1238829"/>
          </a:xfrm>
          <a:prstGeom prst="line">
            <a:avLst/>
          </a:prstGeom>
          <a:noFill/>
          <a:ln w="15875">
            <a:solidFill>
              <a:srgbClr val="9BB4E8"/>
            </a:solidFill>
            <a:prstDash val="solid"/>
          </a:ln>
        </p:spPr>
      </p:sp>
      <p:sp>
        <p:nvSpPr>
          <p:cNvPr id="180" name="Shape 178"/>
          <p:cNvSpPr/>
          <p:nvPr/>
        </p:nvSpPr>
        <p:spPr>
          <a:xfrm>
            <a:off x="6523787" y="3354092"/>
            <a:ext cx="51206" cy="51206"/>
          </a:xfrm>
          <a:prstGeom prst="roundRect">
            <a:avLst>
              <a:gd name="adj" fmla="val 50000"/>
            </a:avLst>
          </a:prstGeom>
          <a:solidFill>
            <a:srgbClr val="1A56E8"/>
          </a:solidFill>
          <a:ln w="12700">
            <a:solidFill>
              <a:srgbClr val="1A56E8"/>
            </a:solidFill>
            <a:prstDash val="solid"/>
          </a:ln>
        </p:spPr>
      </p:sp>
      <p:sp>
        <p:nvSpPr>
          <p:cNvPr id="181" name="Shape 179"/>
          <p:cNvSpPr/>
          <p:nvPr/>
        </p:nvSpPr>
        <p:spPr>
          <a:xfrm>
            <a:off x="6617970" y="3472233"/>
            <a:ext cx="0" cy="1110228"/>
          </a:xfrm>
          <a:prstGeom prst="line">
            <a:avLst/>
          </a:prstGeom>
          <a:noFill/>
          <a:ln w="15875">
            <a:solidFill>
              <a:srgbClr val="9BB4E8"/>
            </a:solidFill>
            <a:prstDash val="solid"/>
          </a:ln>
        </p:spPr>
      </p:sp>
      <p:sp>
        <p:nvSpPr>
          <p:cNvPr id="182" name="Shape 180"/>
          <p:cNvSpPr/>
          <p:nvPr/>
        </p:nvSpPr>
        <p:spPr>
          <a:xfrm>
            <a:off x="6592367" y="4001780"/>
            <a:ext cx="51206" cy="51206"/>
          </a:xfrm>
          <a:prstGeom prst="roundRect">
            <a:avLst>
              <a:gd name="adj" fmla="val 50000"/>
            </a:avLst>
          </a:prstGeom>
          <a:solidFill>
            <a:srgbClr val="1A56E8"/>
          </a:solidFill>
          <a:ln w="12700">
            <a:solidFill>
              <a:srgbClr val="1A56E8"/>
            </a:solidFill>
            <a:prstDash val="solid"/>
          </a:ln>
        </p:spPr>
      </p:sp>
      <p:sp>
        <p:nvSpPr>
          <p:cNvPr id="183" name="Shape 181"/>
          <p:cNvSpPr/>
          <p:nvPr/>
        </p:nvSpPr>
        <p:spPr>
          <a:xfrm>
            <a:off x="6686550" y="3215835"/>
            <a:ext cx="0" cy="925373"/>
          </a:xfrm>
          <a:prstGeom prst="line">
            <a:avLst/>
          </a:prstGeom>
          <a:noFill/>
          <a:ln w="15875">
            <a:solidFill>
              <a:srgbClr val="9BB4E8"/>
            </a:solidFill>
            <a:prstDash val="solid"/>
          </a:ln>
        </p:spPr>
      </p:sp>
      <p:sp>
        <p:nvSpPr>
          <p:cNvPr id="184" name="Shape 182"/>
          <p:cNvSpPr/>
          <p:nvPr/>
        </p:nvSpPr>
        <p:spPr>
          <a:xfrm>
            <a:off x="6660947" y="3652918"/>
            <a:ext cx="51206" cy="51206"/>
          </a:xfrm>
          <a:prstGeom prst="roundRect">
            <a:avLst>
              <a:gd name="adj" fmla="val 50000"/>
            </a:avLst>
          </a:prstGeom>
          <a:solidFill>
            <a:srgbClr val="1A56E8"/>
          </a:solidFill>
          <a:ln w="12700">
            <a:solidFill>
              <a:srgbClr val="1A56E8"/>
            </a:solidFill>
            <a:prstDash val="solid"/>
          </a:ln>
        </p:spPr>
      </p:sp>
      <p:sp>
        <p:nvSpPr>
          <p:cNvPr id="185" name="Shape 183"/>
          <p:cNvSpPr/>
          <p:nvPr/>
        </p:nvSpPr>
        <p:spPr>
          <a:xfrm>
            <a:off x="6755130" y="3260019"/>
            <a:ext cx="0" cy="1181551"/>
          </a:xfrm>
          <a:prstGeom prst="line">
            <a:avLst/>
          </a:prstGeom>
          <a:noFill/>
          <a:ln w="15875">
            <a:solidFill>
              <a:srgbClr val="9BB4E8"/>
            </a:solidFill>
            <a:prstDash val="solid"/>
          </a:ln>
        </p:spPr>
      </p:sp>
      <p:sp>
        <p:nvSpPr>
          <p:cNvPr id="186" name="Shape 184"/>
          <p:cNvSpPr/>
          <p:nvPr/>
        </p:nvSpPr>
        <p:spPr>
          <a:xfrm>
            <a:off x="6729527" y="3825191"/>
            <a:ext cx="51206" cy="51206"/>
          </a:xfrm>
          <a:prstGeom prst="roundRect">
            <a:avLst>
              <a:gd name="adj" fmla="val 50000"/>
            </a:avLst>
          </a:prstGeom>
          <a:solidFill>
            <a:srgbClr val="1A56E8"/>
          </a:solidFill>
          <a:ln w="12700">
            <a:solidFill>
              <a:srgbClr val="1A56E8"/>
            </a:solidFill>
            <a:prstDash val="solid"/>
          </a:ln>
        </p:spPr>
      </p:sp>
      <p:sp>
        <p:nvSpPr>
          <p:cNvPr id="187" name="Shape 185"/>
          <p:cNvSpPr/>
          <p:nvPr/>
        </p:nvSpPr>
        <p:spPr>
          <a:xfrm>
            <a:off x="6823710" y="3418320"/>
            <a:ext cx="0" cy="1116958"/>
          </a:xfrm>
          <a:prstGeom prst="line">
            <a:avLst/>
          </a:prstGeom>
          <a:noFill/>
          <a:ln w="15875">
            <a:solidFill>
              <a:srgbClr val="9BB4E8"/>
            </a:solidFill>
            <a:prstDash val="solid"/>
          </a:ln>
        </p:spPr>
      </p:sp>
      <p:sp>
        <p:nvSpPr>
          <p:cNvPr id="188" name="Shape 186"/>
          <p:cNvSpPr/>
          <p:nvPr/>
        </p:nvSpPr>
        <p:spPr>
          <a:xfrm>
            <a:off x="6798107" y="3951159"/>
            <a:ext cx="51206" cy="51206"/>
          </a:xfrm>
          <a:prstGeom prst="roundRect">
            <a:avLst>
              <a:gd name="adj" fmla="val 50000"/>
            </a:avLst>
          </a:prstGeom>
          <a:solidFill>
            <a:srgbClr val="1A56E8"/>
          </a:solidFill>
          <a:ln w="12700">
            <a:solidFill>
              <a:srgbClr val="1A56E8"/>
            </a:solidFill>
            <a:prstDash val="solid"/>
          </a:ln>
        </p:spPr>
      </p:sp>
      <p:sp>
        <p:nvSpPr>
          <p:cNvPr id="189" name="Shape 187"/>
          <p:cNvSpPr/>
          <p:nvPr/>
        </p:nvSpPr>
        <p:spPr>
          <a:xfrm>
            <a:off x="6892290" y="2496458"/>
            <a:ext cx="0" cy="1378184"/>
          </a:xfrm>
          <a:prstGeom prst="line">
            <a:avLst/>
          </a:prstGeom>
          <a:noFill/>
          <a:ln w="15875">
            <a:solidFill>
              <a:srgbClr val="9BB4E8"/>
            </a:solidFill>
            <a:prstDash val="solid"/>
          </a:ln>
        </p:spPr>
      </p:sp>
      <p:sp>
        <p:nvSpPr>
          <p:cNvPr id="190" name="Shape 188"/>
          <p:cNvSpPr/>
          <p:nvPr/>
        </p:nvSpPr>
        <p:spPr>
          <a:xfrm>
            <a:off x="6866687" y="3159947"/>
            <a:ext cx="51206" cy="51206"/>
          </a:xfrm>
          <a:prstGeom prst="roundRect">
            <a:avLst>
              <a:gd name="adj" fmla="val 50000"/>
            </a:avLst>
          </a:prstGeom>
          <a:solidFill>
            <a:srgbClr val="1A56E8"/>
          </a:solidFill>
          <a:ln w="12700">
            <a:solidFill>
              <a:srgbClr val="1A56E8"/>
            </a:solidFill>
            <a:prstDash val="solid"/>
          </a:ln>
        </p:spPr>
      </p:sp>
      <p:sp>
        <p:nvSpPr>
          <p:cNvPr id="191" name="Shape 189"/>
          <p:cNvSpPr/>
          <p:nvPr/>
        </p:nvSpPr>
        <p:spPr>
          <a:xfrm>
            <a:off x="6960870" y="3146194"/>
            <a:ext cx="0" cy="1019007"/>
          </a:xfrm>
          <a:prstGeom prst="line">
            <a:avLst/>
          </a:prstGeom>
          <a:noFill/>
          <a:ln w="15875">
            <a:solidFill>
              <a:srgbClr val="9BB4E8"/>
            </a:solidFill>
            <a:prstDash val="solid"/>
          </a:ln>
        </p:spPr>
      </p:sp>
      <p:sp>
        <p:nvSpPr>
          <p:cNvPr id="192" name="Shape 190"/>
          <p:cNvSpPr/>
          <p:nvPr/>
        </p:nvSpPr>
        <p:spPr>
          <a:xfrm>
            <a:off x="6935267" y="3630095"/>
            <a:ext cx="51206" cy="51206"/>
          </a:xfrm>
          <a:prstGeom prst="roundRect">
            <a:avLst>
              <a:gd name="adj" fmla="val 50000"/>
            </a:avLst>
          </a:prstGeom>
          <a:solidFill>
            <a:srgbClr val="1A56E8"/>
          </a:solidFill>
          <a:ln w="12700">
            <a:solidFill>
              <a:srgbClr val="1A56E8"/>
            </a:solidFill>
            <a:prstDash val="solid"/>
          </a:ln>
        </p:spPr>
      </p:sp>
      <p:sp>
        <p:nvSpPr>
          <p:cNvPr id="193" name="Shape 191"/>
          <p:cNvSpPr/>
          <p:nvPr/>
        </p:nvSpPr>
        <p:spPr>
          <a:xfrm>
            <a:off x="7029450" y="3334707"/>
            <a:ext cx="0" cy="934005"/>
          </a:xfrm>
          <a:prstGeom prst="line">
            <a:avLst/>
          </a:prstGeom>
          <a:noFill/>
          <a:ln w="15875">
            <a:solidFill>
              <a:srgbClr val="9BB4E8"/>
            </a:solidFill>
            <a:prstDash val="solid"/>
          </a:ln>
        </p:spPr>
      </p:sp>
      <p:sp>
        <p:nvSpPr>
          <p:cNvPr id="194" name="Shape 192"/>
          <p:cNvSpPr/>
          <p:nvPr/>
        </p:nvSpPr>
        <p:spPr>
          <a:xfrm>
            <a:off x="7003847" y="3776106"/>
            <a:ext cx="51206" cy="51206"/>
          </a:xfrm>
          <a:prstGeom prst="roundRect">
            <a:avLst>
              <a:gd name="adj" fmla="val 50000"/>
            </a:avLst>
          </a:prstGeom>
          <a:solidFill>
            <a:srgbClr val="1A56E8"/>
          </a:solidFill>
          <a:ln w="12700">
            <a:solidFill>
              <a:srgbClr val="1A56E8"/>
            </a:solidFill>
            <a:prstDash val="solid"/>
          </a:ln>
        </p:spPr>
      </p:sp>
      <p:sp>
        <p:nvSpPr>
          <p:cNvPr id="195" name="Shape 193"/>
          <p:cNvSpPr/>
          <p:nvPr/>
        </p:nvSpPr>
        <p:spPr>
          <a:xfrm>
            <a:off x="7098030" y="3245681"/>
            <a:ext cx="0" cy="1035979"/>
          </a:xfrm>
          <a:prstGeom prst="line">
            <a:avLst/>
          </a:prstGeom>
          <a:noFill/>
          <a:ln w="15875">
            <a:solidFill>
              <a:srgbClr val="9BB4E8"/>
            </a:solidFill>
            <a:prstDash val="solid"/>
          </a:ln>
        </p:spPr>
      </p:sp>
      <p:sp>
        <p:nvSpPr>
          <p:cNvPr id="196" name="Shape 194"/>
          <p:cNvSpPr/>
          <p:nvPr/>
        </p:nvSpPr>
        <p:spPr>
          <a:xfrm>
            <a:off x="7072427" y="3738067"/>
            <a:ext cx="51206" cy="51206"/>
          </a:xfrm>
          <a:prstGeom prst="roundRect">
            <a:avLst>
              <a:gd name="adj" fmla="val 50000"/>
            </a:avLst>
          </a:prstGeom>
          <a:solidFill>
            <a:srgbClr val="1A56E8"/>
          </a:solidFill>
          <a:ln w="12700">
            <a:solidFill>
              <a:srgbClr val="1A56E8"/>
            </a:solidFill>
            <a:prstDash val="solid"/>
          </a:ln>
        </p:spPr>
      </p:sp>
      <p:sp>
        <p:nvSpPr>
          <p:cNvPr id="197" name="Shape 195"/>
          <p:cNvSpPr/>
          <p:nvPr/>
        </p:nvSpPr>
        <p:spPr>
          <a:xfrm>
            <a:off x="7166610" y="3234708"/>
            <a:ext cx="0" cy="882213"/>
          </a:xfrm>
          <a:prstGeom prst="line">
            <a:avLst/>
          </a:prstGeom>
          <a:noFill/>
          <a:ln w="15875">
            <a:solidFill>
              <a:srgbClr val="9BB4E8"/>
            </a:solidFill>
            <a:prstDash val="solid"/>
          </a:ln>
        </p:spPr>
      </p:sp>
      <p:sp>
        <p:nvSpPr>
          <p:cNvPr id="198" name="Shape 196"/>
          <p:cNvSpPr/>
          <p:nvPr/>
        </p:nvSpPr>
        <p:spPr>
          <a:xfrm>
            <a:off x="7141007" y="3650212"/>
            <a:ext cx="51206" cy="51206"/>
          </a:xfrm>
          <a:prstGeom prst="roundRect">
            <a:avLst>
              <a:gd name="adj" fmla="val 50000"/>
            </a:avLst>
          </a:prstGeom>
          <a:solidFill>
            <a:srgbClr val="1A56E8"/>
          </a:solidFill>
          <a:ln w="12700">
            <a:solidFill>
              <a:srgbClr val="1A56E8"/>
            </a:solidFill>
            <a:prstDash val="solid"/>
          </a:ln>
        </p:spPr>
      </p:sp>
      <p:sp>
        <p:nvSpPr>
          <p:cNvPr id="199" name="Shape 197"/>
          <p:cNvSpPr/>
          <p:nvPr/>
        </p:nvSpPr>
        <p:spPr>
          <a:xfrm>
            <a:off x="7235190" y="3220078"/>
            <a:ext cx="0" cy="1223394"/>
          </a:xfrm>
          <a:prstGeom prst="line">
            <a:avLst/>
          </a:prstGeom>
          <a:noFill/>
          <a:ln w="15875">
            <a:solidFill>
              <a:srgbClr val="9BB4E8"/>
            </a:solidFill>
            <a:prstDash val="solid"/>
          </a:ln>
        </p:spPr>
      </p:sp>
      <p:sp>
        <p:nvSpPr>
          <p:cNvPr id="200" name="Shape 198"/>
          <p:cNvSpPr/>
          <p:nvPr/>
        </p:nvSpPr>
        <p:spPr>
          <a:xfrm>
            <a:off x="7209587" y="3806172"/>
            <a:ext cx="51206" cy="51206"/>
          </a:xfrm>
          <a:prstGeom prst="roundRect">
            <a:avLst>
              <a:gd name="adj" fmla="val 50000"/>
            </a:avLst>
          </a:prstGeom>
          <a:solidFill>
            <a:srgbClr val="1A56E8"/>
          </a:solidFill>
          <a:ln w="12700">
            <a:solidFill>
              <a:srgbClr val="1A56E8"/>
            </a:solidFill>
            <a:prstDash val="solid"/>
          </a:ln>
        </p:spPr>
      </p:sp>
      <p:sp>
        <p:nvSpPr>
          <p:cNvPr id="201" name="Shape 199"/>
          <p:cNvSpPr/>
          <p:nvPr/>
        </p:nvSpPr>
        <p:spPr>
          <a:xfrm>
            <a:off x="7303770" y="3143415"/>
            <a:ext cx="0" cy="1072774"/>
          </a:xfrm>
          <a:prstGeom prst="line">
            <a:avLst/>
          </a:prstGeom>
          <a:noFill/>
          <a:ln w="15875">
            <a:solidFill>
              <a:srgbClr val="9BB4E8"/>
            </a:solidFill>
            <a:prstDash val="solid"/>
          </a:ln>
        </p:spPr>
      </p:sp>
      <p:sp>
        <p:nvSpPr>
          <p:cNvPr id="202" name="Shape 200"/>
          <p:cNvSpPr/>
          <p:nvPr/>
        </p:nvSpPr>
        <p:spPr>
          <a:xfrm>
            <a:off x="7278167" y="3654162"/>
            <a:ext cx="51206" cy="51206"/>
          </a:xfrm>
          <a:prstGeom prst="roundRect">
            <a:avLst>
              <a:gd name="adj" fmla="val 50000"/>
            </a:avLst>
          </a:prstGeom>
          <a:solidFill>
            <a:srgbClr val="1A56E8"/>
          </a:solidFill>
          <a:ln w="12700">
            <a:solidFill>
              <a:srgbClr val="1A56E8"/>
            </a:solidFill>
            <a:prstDash val="solid"/>
          </a:ln>
        </p:spPr>
      </p:sp>
      <p:sp>
        <p:nvSpPr>
          <p:cNvPr id="203" name="Shape 201"/>
          <p:cNvSpPr/>
          <p:nvPr/>
        </p:nvSpPr>
        <p:spPr>
          <a:xfrm>
            <a:off x="7372350" y="3090306"/>
            <a:ext cx="0" cy="1078846"/>
          </a:xfrm>
          <a:prstGeom prst="line">
            <a:avLst/>
          </a:prstGeom>
          <a:noFill/>
          <a:ln w="15875">
            <a:solidFill>
              <a:srgbClr val="9BB4E8"/>
            </a:solidFill>
            <a:prstDash val="solid"/>
          </a:ln>
        </p:spPr>
      </p:sp>
      <p:sp>
        <p:nvSpPr>
          <p:cNvPr id="204" name="Shape 202"/>
          <p:cNvSpPr/>
          <p:nvPr/>
        </p:nvSpPr>
        <p:spPr>
          <a:xfrm>
            <a:off x="7346747" y="3604126"/>
            <a:ext cx="51206" cy="51206"/>
          </a:xfrm>
          <a:prstGeom prst="roundRect">
            <a:avLst>
              <a:gd name="adj" fmla="val 50000"/>
            </a:avLst>
          </a:prstGeom>
          <a:solidFill>
            <a:srgbClr val="1A56E8"/>
          </a:solidFill>
          <a:ln w="12700">
            <a:solidFill>
              <a:srgbClr val="1A56E8"/>
            </a:solidFill>
            <a:prstDash val="solid"/>
          </a:ln>
        </p:spPr>
      </p:sp>
      <p:sp>
        <p:nvSpPr>
          <p:cNvPr id="205" name="Shape 203"/>
          <p:cNvSpPr/>
          <p:nvPr/>
        </p:nvSpPr>
        <p:spPr>
          <a:xfrm>
            <a:off x="7440930" y="3319345"/>
            <a:ext cx="0" cy="1108326"/>
          </a:xfrm>
          <a:prstGeom prst="line">
            <a:avLst/>
          </a:prstGeom>
          <a:noFill/>
          <a:ln w="15875">
            <a:solidFill>
              <a:srgbClr val="9BB4E8"/>
            </a:solidFill>
            <a:prstDash val="solid"/>
          </a:ln>
        </p:spPr>
      </p:sp>
      <p:sp>
        <p:nvSpPr>
          <p:cNvPr id="206" name="Shape 204"/>
          <p:cNvSpPr/>
          <p:nvPr/>
        </p:nvSpPr>
        <p:spPr>
          <a:xfrm>
            <a:off x="7415327" y="3847942"/>
            <a:ext cx="51206" cy="51206"/>
          </a:xfrm>
          <a:prstGeom prst="roundRect">
            <a:avLst>
              <a:gd name="adj" fmla="val 50000"/>
            </a:avLst>
          </a:prstGeom>
          <a:solidFill>
            <a:srgbClr val="1A56E8"/>
          </a:solidFill>
          <a:ln w="12700">
            <a:solidFill>
              <a:srgbClr val="1A56E8"/>
            </a:solidFill>
            <a:prstDash val="solid"/>
          </a:ln>
        </p:spPr>
      </p:sp>
      <p:sp>
        <p:nvSpPr>
          <p:cNvPr id="207" name="Shape 205"/>
          <p:cNvSpPr/>
          <p:nvPr/>
        </p:nvSpPr>
        <p:spPr>
          <a:xfrm>
            <a:off x="7509510" y="3103035"/>
            <a:ext cx="0" cy="1059607"/>
          </a:xfrm>
          <a:prstGeom prst="line">
            <a:avLst/>
          </a:prstGeom>
          <a:noFill/>
          <a:ln w="15875">
            <a:solidFill>
              <a:srgbClr val="9BB4E8"/>
            </a:solidFill>
            <a:prstDash val="solid"/>
          </a:ln>
        </p:spPr>
      </p:sp>
      <p:sp>
        <p:nvSpPr>
          <p:cNvPr id="208" name="Shape 206"/>
          <p:cNvSpPr/>
          <p:nvPr/>
        </p:nvSpPr>
        <p:spPr>
          <a:xfrm>
            <a:off x="7483907" y="3607198"/>
            <a:ext cx="51206" cy="51206"/>
          </a:xfrm>
          <a:prstGeom prst="roundRect">
            <a:avLst>
              <a:gd name="adj" fmla="val 50000"/>
            </a:avLst>
          </a:prstGeom>
          <a:solidFill>
            <a:srgbClr val="1A56E8"/>
          </a:solidFill>
          <a:ln w="12700">
            <a:solidFill>
              <a:srgbClr val="1A56E8"/>
            </a:solidFill>
            <a:prstDash val="solid"/>
          </a:ln>
        </p:spPr>
      </p:sp>
      <p:sp>
        <p:nvSpPr>
          <p:cNvPr id="209" name="Shape 207"/>
          <p:cNvSpPr/>
          <p:nvPr/>
        </p:nvSpPr>
        <p:spPr>
          <a:xfrm>
            <a:off x="7578090" y="2941442"/>
            <a:ext cx="0" cy="1080674"/>
          </a:xfrm>
          <a:prstGeom prst="line">
            <a:avLst/>
          </a:prstGeom>
          <a:noFill/>
          <a:ln w="15875">
            <a:solidFill>
              <a:srgbClr val="9BB4E8"/>
            </a:solidFill>
            <a:prstDash val="solid"/>
          </a:ln>
        </p:spPr>
      </p:sp>
      <p:sp>
        <p:nvSpPr>
          <p:cNvPr id="210" name="Shape 208"/>
          <p:cNvSpPr/>
          <p:nvPr/>
        </p:nvSpPr>
        <p:spPr>
          <a:xfrm>
            <a:off x="7552487" y="3456139"/>
            <a:ext cx="51206" cy="51206"/>
          </a:xfrm>
          <a:prstGeom prst="roundRect">
            <a:avLst>
              <a:gd name="adj" fmla="val 50000"/>
            </a:avLst>
          </a:prstGeom>
          <a:solidFill>
            <a:srgbClr val="1A56E8"/>
          </a:solidFill>
          <a:ln w="12700">
            <a:solidFill>
              <a:srgbClr val="1A56E8"/>
            </a:solidFill>
            <a:prstDash val="solid"/>
          </a:ln>
        </p:spPr>
      </p:sp>
      <p:sp>
        <p:nvSpPr>
          <p:cNvPr id="211" name="Shape 209"/>
          <p:cNvSpPr/>
          <p:nvPr/>
        </p:nvSpPr>
        <p:spPr>
          <a:xfrm>
            <a:off x="7646670" y="3700394"/>
            <a:ext cx="0" cy="1096695"/>
          </a:xfrm>
          <a:prstGeom prst="line">
            <a:avLst/>
          </a:prstGeom>
          <a:noFill/>
          <a:ln w="28575">
            <a:solidFill>
              <a:srgbClr val="E6115E"/>
            </a:solidFill>
            <a:prstDash val="solid"/>
          </a:ln>
        </p:spPr>
      </p:sp>
      <p:sp>
        <p:nvSpPr>
          <p:cNvPr id="212" name="Shape 210"/>
          <p:cNvSpPr/>
          <p:nvPr/>
        </p:nvSpPr>
        <p:spPr>
          <a:xfrm>
            <a:off x="7621067" y="4223138"/>
            <a:ext cx="51206" cy="51206"/>
          </a:xfrm>
          <a:prstGeom prst="roundRect">
            <a:avLst>
              <a:gd name="adj" fmla="val 50000"/>
            </a:avLst>
          </a:prstGeom>
          <a:solidFill>
            <a:srgbClr val="E6115E"/>
          </a:solidFill>
          <a:ln w="12700">
            <a:solidFill>
              <a:srgbClr val="E6115E"/>
            </a:solidFill>
            <a:prstDash val="solid"/>
          </a:ln>
        </p:spPr>
      </p:sp>
      <p:sp>
        <p:nvSpPr>
          <p:cNvPr id="213" name="Shape 211"/>
          <p:cNvSpPr/>
          <p:nvPr/>
        </p:nvSpPr>
        <p:spPr>
          <a:xfrm>
            <a:off x="7715250" y="2948684"/>
            <a:ext cx="0" cy="1257410"/>
          </a:xfrm>
          <a:prstGeom prst="line">
            <a:avLst/>
          </a:prstGeom>
          <a:noFill/>
          <a:ln w="15875">
            <a:solidFill>
              <a:srgbClr val="9BB4E8"/>
            </a:solidFill>
            <a:prstDash val="solid"/>
          </a:ln>
        </p:spPr>
      </p:sp>
      <p:sp>
        <p:nvSpPr>
          <p:cNvPr id="214" name="Shape 212"/>
          <p:cNvSpPr/>
          <p:nvPr/>
        </p:nvSpPr>
        <p:spPr>
          <a:xfrm>
            <a:off x="7689647" y="3551822"/>
            <a:ext cx="51206" cy="51206"/>
          </a:xfrm>
          <a:prstGeom prst="roundRect">
            <a:avLst>
              <a:gd name="adj" fmla="val 50000"/>
            </a:avLst>
          </a:prstGeom>
          <a:solidFill>
            <a:srgbClr val="1A56E8"/>
          </a:solidFill>
          <a:ln w="12700">
            <a:solidFill>
              <a:srgbClr val="1A56E8"/>
            </a:solidFill>
            <a:prstDash val="solid"/>
          </a:ln>
        </p:spPr>
      </p:sp>
      <p:sp>
        <p:nvSpPr>
          <p:cNvPr id="215" name="Shape 213"/>
          <p:cNvSpPr/>
          <p:nvPr/>
        </p:nvSpPr>
        <p:spPr>
          <a:xfrm>
            <a:off x="7783830" y="3222638"/>
            <a:ext cx="0" cy="980822"/>
          </a:xfrm>
          <a:prstGeom prst="line">
            <a:avLst/>
          </a:prstGeom>
          <a:noFill/>
          <a:ln w="15875">
            <a:solidFill>
              <a:srgbClr val="9BB4E8"/>
            </a:solidFill>
            <a:prstDash val="solid"/>
          </a:ln>
        </p:spPr>
      </p:sp>
      <p:sp>
        <p:nvSpPr>
          <p:cNvPr id="216" name="Shape 214"/>
          <p:cNvSpPr/>
          <p:nvPr/>
        </p:nvSpPr>
        <p:spPr>
          <a:xfrm>
            <a:off x="7758227" y="3687446"/>
            <a:ext cx="51206" cy="51206"/>
          </a:xfrm>
          <a:prstGeom prst="roundRect">
            <a:avLst>
              <a:gd name="adj" fmla="val 50000"/>
            </a:avLst>
          </a:prstGeom>
          <a:solidFill>
            <a:srgbClr val="1A56E8"/>
          </a:solidFill>
          <a:ln w="12700">
            <a:solidFill>
              <a:srgbClr val="1A56E8"/>
            </a:solidFill>
            <a:prstDash val="solid"/>
          </a:ln>
        </p:spPr>
      </p:sp>
      <p:sp>
        <p:nvSpPr>
          <p:cNvPr id="217" name="Shape 215"/>
          <p:cNvSpPr/>
          <p:nvPr/>
        </p:nvSpPr>
        <p:spPr>
          <a:xfrm>
            <a:off x="960120" y="3675888"/>
            <a:ext cx="6858000" cy="0"/>
          </a:xfrm>
          <a:prstGeom prst="line">
            <a:avLst/>
          </a:prstGeom>
          <a:noFill/>
          <a:ln w="22225">
            <a:solidFill>
              <a:srgbClr val="0A2559"/>
            </a:solidFill>
            <a:prstDash val="solid"/>
          </a:ln>
        </p:spPr>
      </p:sp>
      <p:sp>
        <p:nvSpPr>
          <p:cNvPr id="218" name="Text 216"/>
          <p:cNvSpPr/>
          <p:nvPr/>
        </p:nvSpPr>
        <p:spPr>
          <a:xfrm>
            <a:off x="246888" y="1938528"/>
            <a:ext cx="2743200" cy="237744"/>
          </a:xfrm>
          <a:prstGeom prst="rect">
            <a:avLst/>
          </a:prstGeom>
          <a:noFill/>
          <a:ln/>
        </p:spPr>
        <p:txBody>
          <a:bodyPr wrap="square" lIns="0" tIns="0" rIns="0" bIns="0" rtlCol="0" anchor="ctr"/>
          <a:lstStyle/>
          <a:p>
            <a:pPr indent="0" marL="0">
              <a:buNone/>
            </a:pPr>
            <a:r>
              <a:rPr lang="en-US" sz="950" i="1" dirty="0">
                <a:solidFill>
                  <a:srgbClr val="5B6B87"/>
                </a:solidFill>
                <a:latin typeface="Calibri" pitchFamily="34" charset="0"/>
                <a:ea typeface="Calibri" pitchFamily="34" charset="-122"/>
                <a:cs typeface="Calibri" pitchFamily="34" charset="-120"/>
              </a:rPr>
              <a:t>monto promedio de la muestra (S/)</a:t>
            </a:r>
            <a:endParaRPr lang="en-US" sz="950" dirty="0"/>
          </a:p>
        </p:txBody>
      </p:sp>
      <p:sp>
        <p:nvSpPr>
          <p:cNvPr id="219" name="Text 217"/>
          <p:cNvSpPr/>
          <p:nvPr/>
        </p:nvSpPr>
        <p:spPr>
          <a:xfrm>
            <a:off x="960120" y="5193792"/>
            <a:ext cx="6858000" cy="256032"/>
          </a:xfrm>
          <a:prstGeom prst="rect">
            <a:avLst/>
          </a:prstGeom>
          <a:noFill/>
          <a:ln/>
        </p:spPr>
        <p:txBody>
          <a:bodyPr wrap="square" lIns="0" tIns="0" rIns="0" bIns="0" rtlCol="0" anchor="ctr"/>
          <a:lstStyle/>
          <a:p>
            <a:pPr algn="ctr" indent="0" marL="0">
              <a:buNone/>
            </a:pPr>
            <a:r>
              <a:rPr lang="en-US" sz="1000" i="1" dirty="0">
                <a:solidFill>
                  <a:srgbClr val="5B6B87"/>
                </a:solidFill>
                <a:latin typeface="Calibri" pitchFamily="34" charset="0"/>
                <a:ea typeface="Calibri" pitchFamily="34" charset="-122"/>
                <a:cs typeface="Calibri" pitchFamily="34" charset="-120"/>
              </a:rPr>
              <a:t>las 100 muestras, en orden</a:t>
            </a:r>
            <a:endParaRPr lang="en-US" sz="1000" dirty="0"/>
          </a:p>
        </p:txBody>
      </p:sp>
      <p:sp>
        <p:nvSpPr>
          <p:cNvPr id="220" name="Shape 218"/>
          <p:cNvSpPr/>
          <p:nvPr/>
        </p:nvSpPr>
        <p:spPr>
          <a:xfrm>
            <a:off x="1069848" y="5541264"/>
            <a:ext cx="0" cy="219456"/>
          </a:xfrm>
          <a:prstGeom prst="line">
            <a:avLst/>
          </a:prstGeom>
          <a:noFill/>
          <a:ln w="19050">
            <a:solidFill>
              <a:srgbClr val="9BB4E8"/>
            </a:solidFill>
            <a:prstDash val="solid"/>
          </a:ln>
        </p:spPr>
      </p:sp>
      <p:sp>
        <p:nvSpPr>
          <p:cNvPr id="221" name="Text 219"/>
          <p:cNvSpPr/>
          <p:nvPr/>
        </p:nvSpPr>
        <p:spPr>
          <a:xfrm>
            <a:off x="1225296" y="5522976"/>
            <a:ext cx="2240280" cy="256032"/>
          </a:xfrm>
          <a:prstGeom prst="rect">
            <a:avLst/>
          </a:prstGeom>
          <a:noFill/>
          <a:ln/>
        </p:spPr>
        <p:txBody>
          <a:bodyPr wrap="square" lIns="0" tIns="0" rIns="0" bIns="0" rtlCol="0" anchor="ctr"/>
          <a:lstStyle/>
          <a:p>
            <a:pPr indent="0" marL="0">
              <a:buNone/>
            </a:pPr>
            <a:r>
              <a:rPr lang="en-US" sz="1050" dirty="0">
                <a:solidFill>
                  <a:srgbClr val="2C3A55"/>
                </a:solidFill>
                <a:latin typeface="Calibri" pitchFamily="34" charset="0"/>
                <a:ea typeface="Calibri" pitchFamily="34" charset="-122"/>
                <a:cs typeface="Calibri" pitchFamily="34" charset="-120"/>
              </a:rPr>
              <a:t>intervalo que SÍ contiene μ</a:t>
            </a:r>
            <a:endParaRPr lang="en-US" sz="1050" dirty="0"/>
          </a:p>
        </p:txBody>
      </p:sp>
      <p:sp>
        <p:nvSpPr>
          <p:cNvPr id="222" name="Shape 220"/>
          <p:cNvSpPr/>
          <p:nvPr/>
        </p:nvSpPr>
        <p:spPr>
          <a:xfrm>
            <a:off x="3584448" y="5541264"/>
            <a:ext cx="0" cy="219456"/>
          </a:xfrm>
          <a:prstGeom prst="line">
            <a:avLst/>
          </a:prstGeom>
          <a:noFill/>
          <a:ln w="28575">
            <a:solidFill>
              <a:srgbClr val="E6115E"/>
            </a:solidFill>
            <a:prstDash val="solid"/>
          </a:ln>
        </p:spPr>
      </p:sp>
      <p:sp>
        <p:nvSpPr>
          <p:cNvPr id="223" name="Text 221"/>
          <p:cNvSpPr/>
          <p:nvPr/>
        </p:nvSpPr>
        <p:spPr>
          <a:xfrm>
            <a:off x="3739896" y="5522976"/>
            <a:ext cx="2240280" cy="256032"/>
          </a:xfrm>
          <a:prstGeom prst="rect">
            <a:avLst/>
          </a:prstGeom>
          <a:noFill/>
          <a:ln/>
        </p:spPr>
        <p:txBody>
          <a:bodyPr wrap="square" lIns="0" tIns="0" rIns="0" bIns="0" rtlCol="0" anchor="ctr"/>
          <a:lstStyle/>
          <a:p>
            <a:pPr indent="0" marL="0">
              <a:buNone/>
            </a:pPr>
            <a:r>
              <a:rPr lang="en-US" sz="1050" b="1" dirty="0">
                <a:solidFill>
                  <a:srgbClr val="E6115E"/>
                </a:solidFill>
                <a:latin typeface="Calibri" pitchFamily="34" charset="0"/>
                <a:ea typeface="Calibri" pitchFamily="34" charset="-122"/>
                <a:cs typeface="Calibri" pitchFamily="34" charset="-120"/>
              </a:rPr>
              <a:t>intervalo que FALLA</a:t>
            </a:r>
            <a:endParaRPr lang="en-US" sz="1050" dirty="0"/>
          </a:p>
        </p:txBody>
      </p:sp>
      <p:sp>
        <p:nvSpPr>
          <p:cNvPr id="224" name="Shape 222"/>
          <p:cNvSpPr/>
          <p:nvPr/>
        </p:nvSpPr>
        <p:spPr>
          <a:xfrm>
            <a:off x="5550408" y="5541264"/>
            <a:ext cx="0" cy="219456"/>
          </a:xfrm>
          <a:prstGeom prst="line">
            <a:avLst/>
          </a:prstGeom>
          <a:noFill/>
          <a:ln w="22225">
            <a:solidFill>
              <a:srgbClr val="0A2559"/>
            </a:solidFill>
            <a:prstDash val="solid"/>
          </a:ln>
        </p:spPr>
      </p:sp>
      <p:sp>
        <p:nvSpPr>
          <p:cNvPr id="225" name="Text 223"/>
          <p:cNvSpPr/>
          <p:nvPr/>
        </p:nvSpPr>
        <p:spPr>
          <a:xfrm>
            <a:off x="5705856" y="5522976"/>
            <a:ext cx="2240280" cy="256032"/>
          </a:xfrm>
          <a:prstGeom prst="rect">
            <a:avLst/>
          </a:prstGeom>
          <a:noFill/>
          <a:ln/>
        </p:spPr>
        <p:txBody>
          <a:bodyPr wrap="square" lIns="0" tIns="0" rIns="0" bIns="0" rtlCol="0" anchor="ctr"/>
          <a:lstStyle/>
          <a:p>
            <a:pPr indent="0" marL="0">
              <a:buNone/>
            </a:pPr>
            <a:r>
              <a:rPr lang="en-US" sz="1050" dirty="0">
                <a:solidFill>
                  <a:srgbClr val="0A2559"/>
                </a:solidFill>
                <a:latin typeface="Calibri" pitchFamily="34" charset="0"/>
                <a:ea typeface="Calibri" pitchFamily="34" charset="-122"/>
                <a:cs typeface="Calibri" pitchFamily="34" charset="-120"/>
              </a:rPr>
              <a:t>la línea de μ = 3 000</a:t>
            </a:r>
            <a:endParaRPr lang="en-US" sz="1050" dirty="0"/>
          </a:p>
        </p:txBody>
      </p:sp>
      <p:sp>
        <p:nvSpPr>
          <p:cNvPr id="226" name="Shape 224"/>
          <p:cNvSpPr/>
          <p:nvPr/>
        </p:nvSpPr>
        <p:spPr>
          <a:xfrm>
            <a:off x="8229600" y="1965960"/>
            <a:ext cx="3410712" cy="1371600"/>
          </a:xfrm>
          <a:prstGeom prst="roundRect">
            <a:avLst>
              <a:gd name="adj" fmla="val 4000"/>
            </a:avLst>
          </a:prstGeom>
          <a:solidFill>
            <a:srgbClr val="0A2559"/>
          </a:solidFill>
          <a:ln w="12700">
            <a:solidFill>
              <a:srgbClr val="0A2559"/>
            </a:solidFill>
            <a:prstDash val="solid"/>
          </a:ln>
        </p:spPr>
      </p:sp>
      <p:sp>
        <p:nvSpPr>
          <p:cNvPr id="227" name="Shape 225"/>
          <p:cNvSpPr/>
          <p:nvPr/>
        </p:nvSpPr>
        <p:spPr>
          <a:xfrm>
            <a:off x="8476488" y="2231136"/>
            <a:ext cx="118872" cy="118872"/>
          </a:xfrm>
          <a:prstGeom prst="roundRect">
            <a:avLst>
              <a:gd name="adj" fmla="val 30769"/>
            </a:avLst>
          </a:prstGeom>
          <a:solidFill>
            <a:srgbClr val="E6115E"/>
          </a:solidFill>
          <a:ln w="12700">
            <a:solidFill>
              <a:srgbClr val="E6115E"/>
            </a:solidFill>
            <a:prstDash val="solid"/>
          </a:ln>
        </p:spPr>
      </p:sp>
      <p:sp>
        <p:nvSpPr>
          <p:cNvPr id="228" name="Text 226"/>
          <p:cNvSpPr/>
          <p:nvPr/>
        </p:nvSpPr>
        <p:spPr>
          <a:xfrm>
            <a:off x="8714232" y="2130552"/>
            <a:ext cx="268833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Cómo se lee</a:t>
            </a:r>
            <a:endParaRPr lang="en-US" sz="1400" dirty="0"/>
          </a:p>
        </p:txBody>
      </p:sp>
      <p:sp>
        <p:nvSpPr>
          <p:cNvPr id="229" name="Text 227"/>
          <p:cNvSpPr/>
          <p:nvPr/>
        </p:nvSpPr>
        <p:spPr>
          <a:xfrm>
            <a:off x="8476488" y="2496312"/>
            <a:ext cx="2926080" cy="749808"/>
          </a:xfrm>
          <a:prstGeom prst="rect">
            <a:avLst/>
          </a:prstGeom>
          <a:noFill/>
          <a:ln/>
        </p:spPr>
        <p:txBody>
          <a:bodyPr wrap="square" lIns="0" tIns="0" rIns="0" bIns="0" rtlCol="0" anchor="t"/>
          <a:lstStyle/>
          <a:p>
            <a:pPr algn="l" indent="0" marL="0">
              <a:lnSpc>
                <a:spcPct val="106000"/>
              </a:lnSpc>
              <a:buNone/>
            </a:pPr>
            <a:r>
              <a:rPr lang="en-US" sz="1150" dirty="0">
                <a:solidFill>
                  <a:srgbClr val="C9D6F2"/>
                </a:solidFill>
                <a:latin typeface="Calibri" pitchFamily="34" charset="0"/>
                <a:ea typeface="Calibri" pitchFamily="34" charset="-122"/>
                <a:cs typeface="Calibri" pitchFamily="34" charset="-120"/>
              </a:rPr>
              <a:t>Cada línea vertical es un intervalo, y el punto es su x̄. La horizontal oscura es el μ real. Los seis intervalos en magenta no la alcanzan: esos fallaron.</a:t>
            </a:r>
            <a:endParaRPr lang="en-US" sz="1150" dirty="0"/>
          </a:p>
        </p:txBody>
      </p:sp>
      <p:sp>
        <p:nvSpPr>
          <p:cNvPr id="230" name="Text 228"/>
          <p:cNvSpPr/>
          <p:nvPr/>
        </p:nvSpPr>
        <p:spPr>
          <a:xfrm>
            <a:off x="8476488" y="3520440"/>
            <a:ext cx="2926080" cy="603504"/>
          </a:xfrm>
          <a:prstGeom prst="rect">
            <a:avLst/>
          </a:prstGeom>
          <a:noFill/>
          <a:ln/>
        </p:spPr>
        <p:txBody>
          <a:bodyPr wrap="square" lIns="0" tIns="0" rIns="0" bIns="0" rtlCol="0" anchor="ctr"/>
          <a:lstStyle/>
          <a:p>
            <a:pPr algn="l" indent="0" marL="0">
              <a:buNone/>
            </a:pPr>
            <a:r>
              <a:rPr lang="en-US" sz="3000" b="1" dirty="0">
                <a:solidFill>
                  <a:srgbClr val="E6115E"/>
                </a:solidFill>
                <a:latin typeface="Calibri" pitchFamily="34" charset="0"/>
                <a:ea typeface="Calibri" pitchFamily="34" charset="-122"/>
                <a:cs typeface="Calibri" pitchFamily="34" charset="-120"/>
              </a:rPr>
              <a:t>6 de 100</a:t>
            </a:r>
            <a:endParaRPr lang="en-US" sz="3000" dirty="0"/>
          </a:p>
        </p:txBody>
      </p:sp>
      <p:sp>
        <p:nvSpPr>
          <p:cNvPr id="231" name="Text 229"/>
          <p:cNvSpPr/>
          <p:nvPr/>
        </p:nvSpPr>
        <p:spPr>
          <a:xfrm>
            <a:off x="8476488" y="4087368"/>
            <a:ext cx="292608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intervalos NO contienen μ</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en esta simulación</a:t>
            </a:r>
            <a:endParaRPr lang="en-US" sz="1150" dirty="0"/>
          </a:p>
        </p:txBody>
      </p:sp>
      <p:sp>
        <p:nvSpPr>
          <p:cNvPr id="232" name="Text 230"/>
          <p:cNvSpPr/>
          <p:nvPr/>
        </p:nvSpPr>
        <p:spPr>
          <a:xfrm>
            <a:off x="8476488" y="4617720"/>
            <a:ext cx="2926080" cy="603504"/>
          </a:xfrm>
          <a:prstGeom prst="rect">
            <a:avLst/>
          </a:prstGeom>
          <a:noFill/>
          <a:ln/>
        </p:spPr>
        <p:txBody>
          <a:bodyPr wrap="square" lIns="0" tIns="0" rIns="0" bIns="0" rtlCol="0" anchor="ctr"/>
          <a:lstStyle/>
          <a:p>
            <a:pPr algn="l" indent="0" marL="0">
              <a:buNone/>
            </a:pPr>
            <a:r>
              <a:rPr lang="en-US" sz="3000" b="1" dirty="0">
                <a:solidFill>
                  <a:srgbClr val="1A56E8"/>
                </a:solidFill>
                <a:latin typeface="Calibri" pitchFamily="34" charset="0"/>
                <a:ea typeface="Calibri" pitchFamily="34" charset="-122"/>
                <a:cs typeface="Calibri" pitchFamily="34" charset="-120"/>
              </a:rPr>
              <a:t>5 de 100</a:t>
            </a:r>
            <a:endParaRPr lang="en-US" sz="3000" dirty="0"/>
          </a:p>
        </p:txBody>
      </p:sp>
      <p:sp>
        <p:nvSpPr>
          <p:cNvPr id="233" name="Text 231"/>
          <p:cNvSpPr/>
          <p:nvPr/>
        </p:nvSpPr>
        <p:spPr>
          <a:xfrm>
            <a:off x="8476488" y="5184648"/>
            <a:ext cx="292608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es lo que predice la teoría</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para un IC al 95 %</a:t>
            </a:r>
            <a:endParaRPr lang="en-US" sz="1150" dirty="0"/>
          </a:p>
        </p:txBody>
      </p:sp>
      <p:sp>
        <p:nvSpPr>
          <p:cNvPr id="234" name="Shape 232"/>
          <p:cNvSpPr/>
          <p:nvPr/>
        </p:nvSpPr>
        <p:spPr>
          <a:xfrm>
            <a:off x="548640" y="5797296"/>
            <a:ext cx="7452360" cy="868680"/>
          </a:xfrm>
          <a:prstGeom prst="roundRect">
            <a:avLst>
              <a:gd name="adj" fmla="val 6316"/>
            </a:avLst>
          </a:prstGeom>
          <a:solidFill>
            <a:srgbClr val="E9EEF8"/>
          </a:solidFill>
          <a:ln w="12700">
            <a:solidFill>
              <a:srgbClr val="D2DBEC"/>
            </a:solidFill>
            <a:prstDash val="solid"/>
          </a:ln>
        </p:spPr>
      </p:sp>
      <p:sp>
        <p:nvSpPr>
          <p:cNvPr id="235" name="Text 233"/>
          <p:cNvSpPr/>
          <p:nvPr/>
        </p:nvSpPr>
        <p:spPr>
          <a:xfrm>
            <a:off x="822960" y="5888736"/>
            <a:ext cx="7040880" cy="713232"/>
          </a:xfrm>
          <a:prstGeom prst="rect">
            <a:avLst/>
          </a:prstGeom>
          <a:noFill/>
          <a:ln/>
        </p:spPr>
        <p:txBody>
          <a:bodyPr wrap="square" lIns="0" tIns="0" rIns="0" bIns="0" rtlCol="0" anchor="t"/>
          <a:lstStyle/>
          <a:p>
            <a:pPr algn="l" indent="0" marL="0">
              <a:lnSpc>
                <a:spcPct val="114000"/>
              </a:lnSpc>
              <a:buNone/>
            </a:pPr>
            <a:r>
              <a:rPr lang="en-US" sz="1100" dirty="0">
                <a:solidFill>
                  <a:srgbClr val="2C3A55"/>
                </a:solidFill>
                <a:latin typeface="Calibri" pitchFamily="34" charset="0"/>
                <a:ea typeface="Calibri" pitchFamily="34" charset="-122"/>
                <a:cs typeface="Calibri" pitchFamily="34" charset="-120"/>
              </a:rPr>
              <a:t>Ninguno de esos intervalos está «mal calculado». Fallar el 5 % de las veces es parte del contrato que firmas al elegir 95 %.</a:t>
            </a:r>
            <a:endParaRPr lang="en-US" sz="1100" dirty="0"/>
          </a:p>
          <a:p>
            <a:pPr algn="l" indent="0" marL="0">
              <a:lnSpc>
                <a:spcPct val="114000"/>
              </a:lnSpc>
              <a:buNone/>
            </a:pPr>
            <a:r>
              <a:rPr lang="en-US" sz="1100" dirty="0">
                <a:solidFill>
                  <a:srgbClr val="2C3A55"/>
                </a:solidFill>
                <a:latin typeface="Calibri" pitchFamily="34" charset="0"/>
                <a:ea typeface="Calibri" pitchFamily="34" charset="-122"/>
                <a:cs typeface="Calibri" pitchFamily="34" charset="-120"/>
              </a:rPr>
              <a:t>Simulación determinista: 100 muestras de n = 40 de una población normal con μ = 3 000 y σ = 2 386, sembrada con SEED = 42.</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PROPORCIONES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Tasas de fraude, de default, de aprobación: el IC para p</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Misma lógica, distinto error estándar. Y una trampa que aparece justo cuando la tasa es baja — que en fraude es siempre.</a:t>
            </a:r>
            <a:endParaRPr lang="en-US" sz="1400" dirty="0"/>
          </a:p>
        </p:txBody>
      </p:sp>
      <p:sp>
        <p:nvSpPr>
          <p:cNvPr id="6" name="Shape 4"/>
          <p:cNvSpPr/>
          <p:nvPr/>
        </p:nvSpPr>
        <p:spPr>
          <a:xfrm>
            <a:off x="548640" y="1938528"/>
            <a:ext cx="5468112" cy="914400"/>
          </a:xfrm>
          <a:prstGeom prst="roundRect">
            <a:avLst>
              <a:gd name="adj" fmla="val 6000"/>
            </a:avLst>
          </a:prstGeom>
          <a:solidFill>
            <a:srgbClr val="0A2559"/>
          </a:solidFill>
          <a:ln w="12700">
            <a:solidFill>
              <a:srgbClr val="0A2559"/>
            </a:solidFill>
            <a:prstDash val="solid"/>
          </a:ln>
        </p:spPr>
      </p:sp>
      <p:sp>
        <p:nvSpPr>
          <p:cNvPr id="7" name="Text 5"/>
          <p:cNvSpPr/>
          <p:nvPr/>
        </p:nvSpPr>
        <p:spPr>
          <a:xfrm>
            <a:off x="548640" y="1938528"/>
            <a:ext cx="5468112" cy="9144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IC (Wald)  =  p̂  ±  z · √( p̂(1−p̂) / n )</a:t>
            </a:r>
            <a:endParaRPr lang="en-US" sz="1700" dirty="0"/>
          </a:p>
        </p:txBody>
      </p:sp>
      <p:sp>
        <p:nvSpPr>
          <p:cNvPr id="8" name="Shape 6"/>
          <p:cNvSpPr/>
          <p:nvPr/>
        </p:nvSpPr>
        <p:spPr>
          <a:xfrm>
            <a:off x="6172200" y="1938528"/>
            <a:ext cx="5468112" cy="914400"/>
          </a:xfrm>
          <a:prstGeom prst="roundRect">
            <a:avLst>
              <a:gd name="adj" fmla="val 6000"/>
            </a:avLst>
          </a:prstGeom>
          <a:solidFill>
            <a:srgbClr val="FFFFFF"/>
          </a:solidFill>
          <a:ln w="12700">
            <a:solidFill>
              <a:srgbClr val="D2DBEC"/>
            </a:solidFill>
            <a:prstDash val="solid"/>
          </a:ln>
        </p:spPr>
      </p:sp>
      <p:sp>
        <p:nvSpPr>
          <p:cNvPr id="9" name="Shape 7"/>
          <p:cNvSpPr/>
          <p:nvPr/>
        </p:nvSpPr>
        <p:spPr>
          <a:xfrm>
            <a:off x="6419088" y="2185416"/>
            <a:ext cx="118872" cy="118872"/>
          </a:xfrm>
          <a:prstGeom prst="roundRect">
            <a:avLst>
              <a:gd name="adj" fmla="val 30769"/>
            </a:avLst>
          </a:prstGeom>
          <a:solidFill>
            <a:srgbClr val="E6115E"/>
          </a:solidFill>
          <a:ln w="12700">
            <a:solidFill>
              <a:srgbClr val="E6115E"/>
            </a:solidFill>
            <a:prstDash val="solid"/>
          </a:ln>
        </p:spPr>
      </p:sp>
      <p:sp>
        <p:nvSpPr>
          <p:cNvPr id="10" name="Text 8"/>
          <p:cNvSpPr/>
          <p:nvPr/>
        </p:nvSpPr>
        <p:spPr>
          <a:xfrm>
            <a:off x="6656832" y="2084832"/>
            <a:ext cx="47914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Lo único que cambia</a:t>
            </a:r>
            <a:endParaRPr lang="en-US" sz="1400" dirty="0"/>
          </a:p>
        </p:txBody>
      </p:sp>
      <p:sp>
        <p:nvSpPr>
          <p:cNvPr id="11" name="Text 9"/>
          <p:cNvSpPr/>
          <p:nvPr/>
        </p:nvSpPr>
        <p:spPr>
          <a:xfrm>
            <a:off x="6419088" y="2423160"/>
            <a:ext cx="4983480" cy="365760"/>
          </a:xfrm>
          <a:prstGeom prst="rect">
            <a:avLst/>
          </a:prstGeom>
          <a:noFill/>
          <a:ln/>
        </p:spPr>
        <p:txBody>
          <a:bodyPr wrap="square" lIns="0" tIns="0" rIns="0" bIns="0" rtlCol="0" anchor="t"/>
          <a:lstStyle/>
          <a:p>
            <a:pPr algn="l" indent="0" marL="0">
              <a:lnSpc>
                <a:spcPct val="104000"/>
              </a:lnSpc>
              <a:buNone/>
            </a:pPr>
            <a:r>
              <a:rPr lang="en-US" sz="1150" dirty="0">
                <a:solidFill>
                  <a:srgbClr val="2C3A55"/>
                </a:solidFill>
                <a:latin typeface="Calibri" pitchFamily="34" charset="0"/>
                <a:ea typeface="Calibri" pitchFamily="34" charset="-122"/>
                <a:cs typeface="Calibri" pitchFamily="34" charset="-120"/>
              </a:rPr>
              <a:t>El error estándar. Para una proporción, σ no se estima aparte: sale de p̂ mismo, porque en una Bernoulli la varianza es p(1−p).</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3017520"/>
          <a:ext cx="11091672" cy="914400"/>
        </p:xfrm>
        <a:graphic>
          <a:graphicData uri="http://schemas.openxmlformats.org/drawingml/2006/table">
            <a:tbl>
              <a:tblPr/>
              <a:tblGrid>
                <a:gridCol w="4480560"/>
                <a:gridCol w="1051560"/>
                <a:gridCol w="2779776"/>
                <a:gridCol w="2779776"/>
              </a:tblGrid>
              <a:tr h="4572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Escenario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IC de Wald  (el de la fórmula)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IC de Wilson  (el correcto)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457200">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Revisaste 1 200 transacciones y hallaste 9 fraudes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0.750 %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0.262 %  a  1.238 %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0.395 %  a  1.419 %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57200">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Revisaste 1 200 transacciones y hallaste 2 fraudes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0.167 %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−0.064 %  a  0.397 %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0.046 %  a  0.606 %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bl>
          </a:graphicData>
        </a:graphic>
      </p:graphicFrame>
      <p:sp>
        <p:nvSpPr>
          <p:cNvPr id="13" name="Shape 10"/>
          <p:cNvSpPr/>
          <p:nvPr/>
        </p:nvSpPr>
        <p:spPr>
          <a:xfrm>
            <a:off x="548640" y="4526280"/>
            <a:ext cx="5468112" cy="1298448"/>
          </a:xfrm>
          <a:prstGeom prst="roundRect">
            <a:avLst>
              <a:gd name="adj" fmla="val 4225"/>
            </a:avLst>
          </a:prstGeom>
          <a:solidFill>
            <a:srgbClr val="0A2559"/>
          </a:solidFill>
          <a:ln w="12700">
            <a:solidFill>
              <a:srgbClr val="0A2559"/>
            </a:solidFill>
            <a:prstDash val="solid"/>
          </a:ln>
        </p:spPr>
      </p:sp>
      <p:sp>
        <p:nvSpPr>
          <p:cNvPr id="14" name="Shape 11"/>
          <p:cNvSpPr/>
          <p:nvPr/>
        </p:nvSpPr>
        <p:spPr>
          <a:xfrm>
            <a:off x="804672" y="4773168"/>
            <a:ext cx="118872" cy="118872"/>
          </a:xfrm>
          <a:prstGeom prst="roundRect">
            <a:avLst>
              <a:gd name="adj" fmla="val 30769"/>
            </a:avLst>
          </a:prstGeom>
          <a:solidFill>
            <a:srgbClr val="E6115E"/>
          </a:solidFill>
          <a:ln w="12700">
            <a:solidFill>
              <a:srgbClr val="E6115E"/>
            </a:solidFill>
            <a:prstDash val="solid"/>
          </a:ln>
        </p:spPr>
      </p:sp>
      <p:sp>
        <p:nvSpPr>
          <p:cNvPr id="15" name="Text 12"/>
          <p:cNvSpPr/>
          <p:nvPr/>
        </p:nvSpPr>
        <p:spPr>
          <a:xfrm>
            <a:off x="1042416" y="4672584"/>
            <a:ext cx="47914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Mira el límite inferior de la segunda fila</a:t>
            </a:r>
            <a:endParaRPr lang="en-US" sz="1400" dirty="0"/>
          </a:p>
        </p:txBody>
      </p:sp>
      <p:sp>
        <p:nvSpPr>
          <p:cNvPr id="16" name="Text 13"/>
          <p:cNvSpPr/>
          <p:nvPr/>
        </p:nvSpPr>
        <p:spPr>
          <a:xfrm>
            <a:off x="804672" y="5029200"/>
            <a:ext cx="4983480" cy="713232"/>
          </a:xfrm>
          <a:prstGeom prst="rect">
            <a:avLst/>
          </a:prstGeom>
          <a:noFill/>
          <a:ln/>
        </p:spPr>
        <p:txBody>
          <a:bodyPr wrap="square" lIns="0" tIns="0" rIns="0" bIns="0" rtlCol="0" anchor="t"/>
          <a:lstStyle/>
          <a:p>
            <a:pPr algn="l" indent="0" marL="0">
              <a:lnSpc>
                <a:spcPct val="106000"/>
              </a:lnSpc>
              <a:buNone/>
            </a:pPr>
            <a:r>
              <a:rPr lang="en-US" sz="1150" dirty="0">
                <a:solidFill>
                  <a:srgbClr val="C9D6F2"/>
                </a:solidFill>
                <a:latin typeface="Calibri" pitchFamily="34" charset="0"/>
                <a:ea typeface="Calibri" pitchFamily="34" charset="-122"/>
                <a:cs typeface="Calibri" pitchFamily="34" charset="-120"/>
              </a:rPr>
              <a:t>Wald da una tasa de fraude NEGATIVA, que es imposible. No es un error de tipeo: la fórmula se rompe cuando n·p̂ es pequeño, porque asume que p̂ es aproximadamente normal y con 2 casos no lo es.</a:t>
            </a:r>
            <a:endParaRPr lang="en-US" sz="1150" dirty="0"/>
          </a:p>
        </p:txBody>
      </p:sp>
      <p:sp>
        <p:nvSpPr>
          <p:cNvPr id="17" name="Shape 14"/>
          <p:cNvSpPr/>
          <p:nvPr/>
        </p:nvSpPr>
        <p:spPr>
          <a:xfrm>
            <a:off x="6172200" y="4526280"/>
            <a:ext cx="5468112" cy="1298448"/>
          </a:xfrm>
          <a:prstGeom prst="roundRect">
            <a:avLst>
              <a:gd name="adj" fmla="val 4225"/>
            </a:avLst>
          </a:prstGeom>
          <a:solidFill>
            <a:srgbClr val="E9EEF8"/>
          </a:solidFill>
          <a:ln w="12700">
            <a:solidFill>
              <a:srgbClr val="D2DBEC"/>
            </a:solidFill>
            <a:prstDash val="solid"/>
          </a:ln>
        </p:spPr>
      </p:sp>
      <p:sp>
        <p:nvSpPr>
          <p:cNvPr id="18" name="Shape 15"/>
          <p:cNvSpPr/>
          <p:nvPr/>
        </p:nvSpPr>
        <p:spPr>
          <a:xfrm>
            <a:off x="6419088" y="4773168"/>
            <a:ext cx="118872" cy="118872"/>
          </a:xfrm>
          <a:prstGeom prst="roundRect">
            <a:avLst>
              <a:gd name="adj" fmla="val 30769"/>
            </a:avLst>
          </a:prstGeom>
          <a:solidFill>
            <a:srgbClr val="E6115E"/>
          </a:solidFill>
          <a:ln w="12700">
            <a:solidFill>
              <a:srgbClr val="E6115E"/>
            </a:solidFill>
            <a:prstDash val="solid"/>
          </a:ln>
        </p:spPr>
      </p:sp>
      <p:sp>
        <p:nvSpPr>
          <p:cNvPr id="19" name="Text 16"/>
          <p:cNvSpPr/>
          <p:nvPr/>
        </p:nvSpPr>
        <p:spPr>
          <a:xfrm>
            <a:off x="6656832" y="4672584"/>
            <a:ext cx="47914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Regla práctica</a:t>
            </a:r>
            <a:endParaRPr lang="en-US" sz="1400" dirty="0"/>
          </a:p>
        </p:txBody>
      </p:sp>
      <p:sp>
        <p:nvSpPr>
          <p:cNvPr id="20" name="Text 17"/>
          <p:cNvSpPr/>
          <p:nvPr/>
        </p:nvSpPr>
        <p:spPr>
          <a:xfrm>
            <a:off x="6419088" y="5029200"/>
            <a:ext cx="4983480" cy="713232"/>
          </a:xfrm>
          <a:prstGeom prst="rect">
            <a:avLst/>
          </a:prstGeom>
          <a:noFill/>
          <a:ln/>
        </p:spPr>
        <p:txBody>
          <a:bodyPr wrap="square" lIns="0" tIns="0" rIns="0" bIns="0" rtlCol="0" anchor="t"/>
          <a:lstStyle/>
          <a:p>
            <a:pPr algn="l" indent="0" marL="0">
              <a:lnSpc>
                <a:spcPct val="106000"/>
              </a:lnSpc>
              <a:buNone/>
            </a:pPr>
            <a:r>
              <a:rPr lang="en-US" sz="1100" dirty="0">
                <a:solidFill>
                  <a:srgbClr val="2C3A55"/>
                </a:solidFill>
                <a:latin typeface="Calibri" pitchFamily="34" charset="0"/>
                <a:ea typeface="Calibri" pitchFamily="34" charset="-122"/>
                <a:cs typeface="Calibri" pitchFamily="34" charset="-120"/>
              </a:rPr>
              <a:t>Usa Wilson por defecto: funciona igual de bien con tasas altas y no se rompe con tasas bajas. En Python:  proportion_confint(k, n, method='wilson')  de statsmodels. Ojo: statsmodels recorta el límite negativo de Wald a 0, así que para ver el número crudo hay que calcularlo a mano — lo haces en el bloque 4.</a:t>
            </a:r>
            <a:endParaRPr lang="en-US" sz="1100" dirty="0"/>
          </a:p>
        </p:txBody>
      </p:sp>
      <p:sp>
        <p:nvSpPr>
          <p:cNvPr id="21" name="Shape 18"/>
          <p:cNvSpPr/>
          <p:nvPr/>
        </p:nvSpPr>
        <p:spPr>
          <a:xfrm>
            <a:off x="548640" y="5961888"/>
            <a:ext cx="11091672" cy="566928"/>
          </a:xfrm>
          <a:prstGeom prst="roundRect">
            <a:avLst>
              <a:gd name="adj" fmla="val 9677"/>
            </a:avLst>
          </a:prstGeom>
          <a:solidFill>
            <a:srgbClr val="FFFFFF"/>
          </a:solidFill>
          <a:ln w="12700">
            <a:solidFill>
              <a:srgbClr val="D2DBEC"/>
            </a:solidFill>
            <a:prstDash val="solid"/>
          </a:ln>
        </p:spPr>
      </p:sp>
      <p:sp>
        <p:nvSpPr>
          <p:cNvPr id="22" name="Text 19"/>
          <p:cNvSpPr/>
          <p:nvPr/>
        </p:nvSpPr>
        <p:spPr>
          <a:xfrm>
            <a:off x="822960" y="5961888"/>
            <a:ext cx="10607040" cy="566928"/>
          </a:xfrm>
          <a:prstGeom prst="rect">
            <a:avLst/>
          </a:prstGeom>
          <a:noFill/>
          <a:ln/>
        </p:spPr>
        <p:txBody>
          <a:bodyPr wrap="square" lIns="0" tIns="0" rIns="0" bIns="0" rtlCol="0" anchor="ctr"/>
          <a:lstStyle/>
          <a:p>
            <a:pPr algn="l" indent="0" marL="0">
              <a:lnSpc>
                <a:spcPct val="108000"/>
              </a:lnSpc>
              <a:buNone/>
            </a:pPr>
            <a:r>
              <a:rPr lang="en-US" sz="1200" dirty="0">
                <a:solidFill>
                  <a:srgbClr val="2C3A55"/>
                </a:solidFill>
                <a:latin typeface="Calibri" pitchFamily="34" charset="0"/>
                <a:ea typeface="Calibri" pitchFamily="34" charset="-122"/>
                <a:cs typeface="Calibri" pitchFamily="34" charset="-120"/>
              </a:rPr>
              <a:t>La condición clásica para que Wald sirva: n·p̂ ≥ 10 Y TAMBIÉN n·(1−p̂) ≥ 10. En la segunda fila n·p̂ = 2. Muy por debajo.</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PLANIFICACIÓN</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Cuánta muestra necesitas — la pregunta que se hace ANTES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De aquí sale el «margen de error de ±3 puntos» que citan todas las encuestas.</a:t>
            </a:r>
            <a:endParaRPr lang="en-US" sz="1400" dirty="0"/>
          </a:p>
        </p:txBody>
      </p:sp>
      <p:sp>
        <p:nvSpPr>
          <p:cNvPr id="6" name="Shape 4"/>
          <p:cNvSpPr/>
          <p:nvPr/>
        </p:nvSpPr>
        <p:spPr>
          <a:xfrm>
            <a:off x="548640" y="1938528"/>
            <a:ext cx="5468112" cy="896112"/>
          </a:xfrm>
          <a:prstGeom prst="roundRect">
            <a:avLst>
              <a:gd name="adj" fmla="val 6122"/>
            </a:avLst>
          </a:prstGeom>
          <a:solidFill>
            <a:srgbClr val="0A2559"/>
          </a:solidFill>
          <a:ln w="12700">
            <a:solidFill>
              <a:srgbClr val="0A2559"/>
            </a:solidFill>
            <a:prstDash val="solid"/>
          </a:ln>
        </p:spPr>
      </p:sp>
      <p:sp>
        <p:nvSpPr>
          <p:cNvPr id="7" name="Text 5"/>
          <p:cNvSpPr/>
          <p:nvPr/>
        </p:nvSpPr>
        <p:spPr>
          <a:xfrm>
            <a:off x="548640" y="1938528"/>
            <a:ext cx="5468112" cy="89611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n  =  ( z / margen )²  ×  p(1−p)</a:t>
            </a:r>
            <a:endParaRPr lang="en-US" sz="2000" dirty="0"/>
          </a:p>
        </p:txBody>
      </p:sp>
      <p:sp>
        <p:nvSpPr>
          <p:cNvPr id="8" name="Shape 6"/>
          <p:cNvSpPr/>
          <p:nvPr/>
        </p:nvSpPr>
        <p:spPr>
          <a:xfrm>
            <a:off x="6172200" y="1938528"/>
            <a:ext cx="5468112" cy="896112"/>
          </a:xfrm>
          <a:prstGeom prst="roundRect">
            <a:avLst>
              <a:gd name="adj" fmla="val 6122"/>
            </a:avLst>
          </a:prstGeom>
          <a:solidFill>
            <a:srgbClr val="FFFFFF"/>
          </a:solidFill>
          <a:ln w="12700">
            <a:solidFill>
              <a:srgbClr val="D2DBEC"/>
            </a:solidFill>
            <a:prstDash val="solid"/>
          </a:ln>
        </p:spPr>
      </p:sp>
      <p:sp>
        <p:nvSpPr>
          <p:cNvPr id="9" name="Shape 7"/>
          <p:cNvSpPr/>
          <p:nvPr/>
        </p:nvSpPr>
        <p:spPr>
          <a:xfrm>
            <a:off x="6419088" y="2167128"/>
            <a:ext cx="118872" cy="118872"/>
          </a:xfrm>
          <a:prstGeom prst="roundRect">
            <a:avLst>
              <a:gd name="adj" fmla="val 30769"/>
            </a:avLst>
          </a:prstGeom>
          <a:solidFill>
            <a:srgbClr val="E6115E"/>
          </a:solidFill>
          <a:ln w="12700">
            <a:solidFill>
              <a:srgbClr val="E6115E"/>
            </a:solidFill>
            <a:prstDash val="solid"/>
          </a:ln>
        </p:spPr>
      </p:sp>
      <p:sp>
        <p:nvSpPr>
          <p:cNvPr id="10" name="Text 8"/>
          <p:cNvSpPr/>
          <p:nvPr/>
        </p:nvSpPr>
        <p:spPr>
          <a:xfrm>
            <a:off x="6656832" y="2066544"/>
            <a:ext cx="47914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El truco del p = 0.5</a:t>
            </a:r>
            <a:endParaRPr lang="en-US" sz="1400" dirty="0"/>
          </a:p>
        </p:txBody>
      </p:sp>
      <p:sp>
        <p:nvSpPr>
          <p:cNvPr id="11" name="Text 9"/>
          <p:cNvSpPr/>
          <p:nvPr/>
        </p:nvSpPr>
        <p:spPr>
          <a:xfrm>
            <a:off x="6419088" y="2395728"/>
            <a:ext cx="4983480" cy="384048"/>
          </a:xfrm>
          <a:prstGeom prst="rect">
            <a:avLst/>
          </a:prstGeom>
          <a:noFill/>
          <a:ln/>
        </p:spPr>
        <p:txBody>
          <a:bodyPr wrap="square" lIns="0" tIns="0" rIns="0" bIns="0" rtlCol="0" anchor="t"/>
          <a:lstStyle/>
          <a:p>
            <a:pPr algn="l" indent="0" marL="0">
              <a:lnSpc>
                <a:spcPct val="104000"/>
              </a:lnSpc>
              <a:buNone/>
            </a:pPr>
            <a:r>
              <a:rPr lang="en-US" sz="1150" dirty="0">
                <a:solidFill>
                  <a:srgbClr val="2C3A55"/>
                </a:solidFill>
                <a:latin typeface="Calibri" pitchFamily="34" charset="0"/>
                <a:ea typeface="Calibri" pitchFamily="34" charset="-122"/>
                <a:cs typeface="Calibri" pitchFamily="34" charset="-120"/>
              </a:rPr>
              <a:t>p(1−p) es máximo en p = 0.5. Si no sabes p, usa 0.5: te da el n del peor caso y nunca te queda corto.</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971800"/>
          <a:ext cx="11091672" cy="914400"/>
        </p:xfrm>
        <a:graphic>
          <a:graphicData uri="http://schemas.openxmlformats.org/drawingml/2006/table">
            <a:tbl>
              <a:tblPr/>
              <a:tblGrid>
                <a:gridCol w="2194560"/>
                <a:gridCol w="2377440"/>
                <a:gridCol w="2377440"/>
                <a:gridCol w="4142232"/>
              </a:tblGrid>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Margen deseado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 con p = 0.5  (peor caso)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 si sabes que p ≈ 0.05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Lectura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365760">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 1 punto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9 604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1 825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Caro. Solo si la decisión lo justifica.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65760">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 2 puntos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2 401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457</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El estándar de una encuesta nacional grande.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65760">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 3 puntos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1 068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203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El famoso ±3 %. De aquí sale el «n ≈ 1 000».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65760">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 5 puntos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385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73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Suficiente para decisiones internas.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65760">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 10 puntos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97</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19</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Orientativo. No lo publiques como precisión.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bl>
          </a:graphicData>
        </a:graphic>
      </p:graphicFrame>
      <p:sp>
        <p:nvSpPr>
          <p:cNvPr id="13" name="Shape 10"/>
          <p:cNvSpPr/>
          <p:nvPr/>
        </p:nvSpPr>
        <p:spPr>
          <a:xfrm>
            <a:off x="548640" y="5376672"/>
            <a:ext cx="5468112" cy="1060704"/>
          </a:xfrm>
          <a:prstGeom prst="roundRect">
            <a:avLst>
              <a:gd name="adj" fmla="val 5172"/>
            </a:avLst>
          </a:prstGeom>
          <a:solidFill>
            <a:srgbClr val="E9EEF8"/>
          </a:solidFill>
          <a:ln w="12700">
            <a:solidFill>
              <a:srgbClr val="D2DBEC"/>
            </a:solidFill>
            <a:prstDash val="solid"/>
          </a:ln>
        </p:spPr>
      </p:sp>
      <p:sp>
        <p:nvSpPr>
          <p:cNvPr id="14" name="Shape 11"/>
          <p:cNvSpPr/>
          <p:nvPr/>
        </p:nvSpPr>
        <p:spPr>
          <a:xfrm>
            <a:off x="804672" y="5623560"/>
            <a:ext cx="118872" cy="118872"/>
          </a:xfrm>
          <a:prstGeom prst="roundRect">
            <a:avLst>
              <a:gd name="adj" fmla="val 30769"/>
            </a:avLst>
          </a:prstGeom>
          <a:solidFill>
            <a:srgbClr val="E6115E"/>
          </a:solidFill>
          <a:ln w="12700">
            <a:solidFill>
              <a:srgbClr val="E6115E"/>
            </a:solidFill>
            <a:prstDash val="solid"/>
          </a:ln>
        </p:spPr>
      </p:sp>
      <p:sp>
        <p:nvSpPr>
          <p:cNvPr id="15" name="Text 12"/>
          <p:cNvSpPr/>
          <p:nvPr/>
        </p:nvSpPr>
        <p:spPr>
          <a:xfrm>
            <a:off x="1042416" y="5522976"/>
            <a:ext cx="47914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Lo que revela la tercera columna</a:t>
            </a:r>
            <a:endParaRPr lang="en-US" sz="1400" dirty="0"/>
          </a:p>
        </p:txBody>
      </p:sp>
      <p:sp>
        <p:nvSpPr>
          <p:cNvPr id="16" name="Text 13"/>
          <p:cNvSpPr/>
          <p:nvPr/>
        </p:nvSpPr>
        <p:spPr>
          <a:xfrm>
            <a:off x="804672" y="5870448"/>
            <a:ext cx="4983480" cy="512064"/>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Si ya sabes que la tasa es baja, necesitas mucha menos muestra para el mismo margen absoluto. Pero cuidado: en términos RELATIVOS sigues siendo impreciso.</a:t>
            </a:r>
            <a:endParaRPr lang="en-US" sz="1150" dirty="0"/>
          </a:p>
        </p:txBody>
      </p:sp>
      <p:sp>
        <p:nvSpPr>
          <p:cNvPr id="17" name="Shape 14"/>
          <p:cNvSpPr/>
          <p:nvPr/>
        </p:nvSpPr>
        <p:spPr>
          <a:xfrm>
            <a:off x="6172200" y="5376672"/>
            <a:ext cx="5468112" cy="1060704"/>
          </a:xfrm>
          <a:prstGeom prst="roundRect">
            <a:avLst>
              <a:gd name="adj" fmla="val 5172"/>
            </a:avLst>
          </a:prstGeom>
          <a:solidFill>
            <a:srgbClr val="0A2559"/>
          </a:solidFill>
          <a:ln w="12700">
            <a:solidFill>
              <a:srgbClr val="0A2559"/>
            </a:solidFill>
            <a:prstDash val="solid"/>
          </a:ln>
        </p:spPr>
      </p:sp>
      <p:sp>
        <p:nvSpPr>
          <p:cNvPr id="18" name="Shape 15"/>
          <p:cNvSpPr/>
          <p:nvPr/>
        </p:nvSpPr>
        <p:spPr>
          <a:xfrm>
            <a:off x="6419088" y="5623560"/>
            <a:ext cx="118872" cy="118872"/>
          </a:xfrm>
          <a:prstGeom prst="roundRect">
            <a:avLst>
              <a:gd name="adj" fmla="val 30769"/>
            </a:avLst>
          </a:prstGeom>
          <a:solidFill>
            <a:srgbClr val="E6115E"/>
          </a:solidFill>
          <a:ln w="12700">
            <a:solidFill>
              <a:srgbClr val="E6115E"/>
            </a:solidFill>
            <a:prstDash val="solid"/>
          </a:ln>
        </p:spPr>
      </p:sp>
      <p:sp>
        <p:nvSpPr>
          <p:cNvPr id="19" name="Text 16"/>
          <p:cNvSpPr/>
          <p:nvPr/>
        </p:nvSpPr>
        <p:spPr>
          <a:xfrm>
            <a:off x="6656832" y="5522976"/>
            <a:ext cx="47914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Para medias, no proporciones</a:t>
            </a:r>
            <a:endParaRPr lang="en-US" sz="1400" dirty="0"/>
          </a:p>
        </p:txBody>
      </p:sp>
      <p:sp>
        <p:nvSpPr>
          <p:cNvPr id="20" name="Text 17"/>
          <p:cNvSpPr/>
          <p:nvPr/>
        </p:nvSpPr>
        <p:spPr>
          <a:xfrm>
            <a:off x="6419088" y="5870448"/>
            <a:ext cx="4983480" cy="256032"/>
          </a:xfrm>
          <a:prstGeom prst="rect">
            <a:avLst/>
          </a:prstGeom>
          <a:noFill/>
          <a:ln/>
        </p:spPr>
        <p:txBody>
          <a:bodyPr wrap="square" lIns="0" tIns="0" rIns="0" bIns="0" rtlCol="0" anchor="ctr"/>
          <a:lstStyle/>
          <a:p>
            <a:pPr indent="0" marL="0">
              <a:buNone/>
            </a:pPr>
            <a:r>
              <a:rPr lang="en-US" sz="1200" b="1" dirty="0">
                <a:solidFill>
                  <a:srgbClr val="4A82FF"/>
                </a:solidFill>
                <a:latin typeface="Courier New" pitchFamily="34" charset="0"/>
                <a:ea typeface="Courier New" pitchFamily="34" charset="-122"/>
                <a:cs typeface="Courier New" pitchFamily="34" charset="-120"/>
              </a:rPr>
              <a:t>n  =  ( z · σ / margen )²</a:t>
            </a:r>
            <a:endParaRPr lang="en-US" sz="1200" dirty="0"/>
          </a:p>
        </p:txBody>
      </p:sp>
      <p:sp>
        <p:nvSpPr>
          <p:cNvPr id="21" name="Text 18"/>
          <p:cNvSpPr/>
          <p:nvPr/>
        </p:nvSpPr>
        <p:spPr>
          <a:xfrm>
            <a:off x="6419088" y="6126480"/>
            <a:ext cx="4983480" cy="256032"/>
          </a:xfrm>
          <a:prstGeom prst="rect">
            <a:avLst/>
          </a:prstGeom>
          <a:noFill/>
          <a:ln/>
        </p:spPr>
        <p:txBody>
          <a:bodyPr wrap="square" lIns="0" tIns="0" rIns="0" bIns="0" rtlCol="0" anchor="t"/>
          <a:lstStyle/>
          <a:p>
            <a:pPr algn="l" indent="0" marL="0">
              <a:lnSpc>
                <a:spcPct val="108000"/>
              </a:lnSpc>
              <a:buNone/>
            </a:pPr>
            <a:r>
              <a:rPr lang="en-US" sz="1050" dirty="0">
                <a:solidFill>
                  <a:srgbClr val="C9D6F2"/>
                </a:solidFill>
                <a:latin typeface="Calibri" pitchFamily="34" charset="0"/>
                <a:ea typeface="Calibri" pitchFamily="34" charset="-122"/>
                <a:cs typeface="Calibri" pitchFamily="34" charset="-120"/>
              </a:rPr>
              <a:t>Necesitas una σ aproximada: de un estudio piloto o de datos históricos.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8346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83464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CASO REAL · 1948</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«Dewey Defeats Truman»: el titular que nunca ocurrió</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Doce años después del Literary Digest, la industria de encuestas volvió a fallar — por otras dos razones que también son tuyas.</a:t>
            </a:r>
            <a:endParaRPr lang="en-US" sz="1400" dirty="0"/>
          </a:p>
        </p:txBody>
      </p:sp>
      <p:sp>
        <p:nvSpPr>
          <p:cNvPr id="6" name="Shape 4"/>
          <p:cNvSpPr/>
          <p:nvPr/>
        </p:nvSpPr>
        <p:spPr>
          <a:xfrm>
            <a:off x="548640" y="1965960"/>
            <a:ext cx="6766560" cy="2331720"/>
          </a:xfrm>
          <a:prstGeom prst="roundRect">
            <a:avLst>
              <a:gd name="adj" fmla="val 2353"/>
            </a:avLst>
          </a:prstGeom>
          <a:solidFill>
            <a:srgbClr val="FFFFFF"/>
          </a:solidFill>
          <a:ln w="12700">
            <a:solidFill>
              <a:srgbClr val="D2DBEC"/>
            </a:solidFill>
            <a:prstDash val="solid"/>
          </a:ln>
        </p:spPr>
      </p:sp>
      <p:sp>
        <p:nvSpPr>
          <p:cNvPr id="7" name="Shape 5"/>
          <p:cNvSpPr/>
          <p:nvPr/>
        </p:nvSpPr>
        <p:spPr>
          <a:xfrm>
            <a:off x="804672" y="2231136"/>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130552"/>
            <a:ext cx="6071616" cy="292608"/>
          </a:xfrm>
          <a:prstGeom prst="rect">
            <a:avLst/>
          </a:prstGeom>
          <a:noFill/>
          <a:ln/>
        </p:spPr>
        <p:txBody>
          <a:bodyPr wrap="square" lIns="0" tIns="0" rIns="0" bIns="0" rtlCol="0" anchor="ctr"/>
          <a:lstStyle/>
          <a:p>
            <a:pPr indent="0" marL="0">
              <a:buNone/>
            </a:pPr>
            <a:r>
              <a:rPr lang="en-US" sz="1500" b="1" dirty="0">
                <a:solidFill>
                  <a:srgbClr val="0A2559"/>
                </a:solidFill>
                <a:latin typeface="Calibri" pitchFamily="34" charset="0"/>
                <a:ea typeface="Calibri" pitchFamily="34" charset="-122"/>
                <a:cs typeface="Calibri" pitchFamily="34" charset="-120"/>
              </a:rPr>
              <a:t>Qué pasó</a:t>
            </a:r>
            <a:endParaRPr lang="en-US" sz="1500" dirty="0"/>
          </a:p>
        </p:txBody>
      </p:sp>
      <p:sp>
        <p:nvSpPr>
          <p:cNvPr id="9" name="Text 7"/>
          <p:cNvSpPr/>
          <p:nvPr/>
        </p:nvSpPr>
        <p:spPr>
          <a:xfrm>
            <a:off x="804672" y="2514600"/>
            <a:ext cx="6263640" cy="1664208"/>
          </a:xfrm>
          <a:prstGeom prst="rect">
            <a:avLst/>
          </a:prstGeom>
          <a:noFill/>
          <a:ln/>
        </p:spPr>
        <p:txBody>
          <a:bodyPr wrap="square" lIns="0" tIns="0" rIns="0" bIns="0" rtlCol="0" anchor="t"/>
          <a:lstStyle/>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Las tres grandes encuestadoras — Gallup, Roper y Crossley — predijeron que Thomas Dewey le ganaría a Harry Truman. El Chicago Tribune imprimió su primera edición con el titular «Dewey Defeats Truman» antes de tener los resultados. Truman ganó con cerca del 49.6 % del voto popular contra el 45.1 % de Dewey.</a:t>
            </a:r>
            <a:endParaRPr lang="en-US" sz="1150" dirty="0"/>
          </a:p>
          <a:p>
            <a:pPr algn="l" indent="0" marL="0">
              <a:lnSpc>
                <a:spcPct val="108000"/>
              </a:lnSpc>
              <a:buNone/>
            </a:pPr>
            <a:endParaRPr lang="en-US" sz="1150" dirty="0"/>
          </a:p>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Dos causas, ambas de diseño y no de aritmética: (1) usaron muestreo por cuotas: los encuestadores elegían a quién entrevistar dentro de cada cuota, y elegían sistemáticamente distinto; y (2) dejaron de encuestar semanas antes de la elección, asumiendo que las preferencias ya estaban fijas. No lo estaban: hubo un desplazamiento tardío.</a:t>
            </a:r>
            <a:endParaRPr lang="en-US" sz="1150" dirty="0"/>
          </a:p>
        </p:txBody>
      </p:sp>
      <p:sp>
        <p:nvSpPr>
          <p:cNvPr id="10" name="Shape 8"/>
          <p:cNvSpPr/>
          <p:nvPr/>
        </p:nvSpPr>
        <p:spPr>
          <a:xfrm>
            <a:off x="7543800" y="1965960"/>
            <a:ext cx="4096512" cy="1115568"/>
          </a:xfrm>
          <a:prstGeom prst="roundRect">
            <a:avLst>
              <a:gd name="adj" fmla="val 4918"/>
            </a:avLst>
          </a:prstGeom>
          <a:solidFill>
            <a:srgbClr val="0A2559"/>
          </a:solidFill>
          <a:ln w="12700">
            <a:solidFill>
              <a:srgbClr val="0A2559"/>
            </a:solidFill>
            <a:prstDash val="solid"/>
          </a:ln>
        </p:spPr>
      </p:sp>
      <p:sp>
        <p:nvSpPr>
          <p:cNvPr id="11" name="Shape 9"/>
          <p:cNvSpPr/>
          <p:nvPr/>
        </p:nvSpPr>
        <p:spPr>
          <a:xfrm>
            <a:off x="7790688" y="2212848"/>
            <a:ext cx="118872" cy="118872"/>
          </a:xfrm>
          <a:prstGeom prst="roundRect">
            <a:avLst>
              <a:gd name="adj" fmla="val 30769"/>
            </a:avLst>
          </a:prstGeom>
          <a:solidFill>
            <a:srgbClr val="E6115E"/>
          </a:solidFill>
          <a:ln w="12700">
            <a:solidFill>
              <a:srgbClr val="E6115E"/>
            </a:solidFill>
            <a:prstDash val="solid"/>
          </a:ln>
        </p:spPr>
      </p:sp>
      <p:sp>
        <p:nvSpPr>
          <p:cNvPr id="12" name="Text 10"/>
          <p:cNvSpPr/>
          <p:nvPr/>
        </p:nvSpPr>
        <p:spPr>
          <a:xfrm>
            <a:off x="8028432" y="2112264"/>
            <a:ext cx="34198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Consecuencia</a:t>
            </a:r>
            <a:endParaRPr lang="en-US" sz="1400" dirty="0"/>
          </a:p>
        </p:txBody>
      </p:sp>
      <p:sp>
        <p:nvSpPr>
          <p:cNvPr id="13" name="Text 11"/>
          <p:cNvSpPr/>
          <p:nvPr/>
        </p:nvSpPr>
        <p:spPr>
          <a:xfrm>
            <a:off x="7790688" y="2459736"/>
            <a:ext cx="3611880" cy="548640"/>
          </a:xfrm>
          <a:prstGeom prst="rect">
            <a:avLst/>
          </a:prstGeom>
          <a:noFill/>
          <a:ln/>
        </p:spPr>
        <p:txBody>
          <a:bodyPr wrap="square" lIns="0" tIns="0" rIns="0" bIns="0" rtlCol="0" anchor="t"/>
          <a:lstStyle/>
          <a:p>
            <a:pPr algn="l" indent="0" marL="0">
              <a:lnSpc>
                <a:spcPct val="104000"/>
              </a:lnSpc>
              <a:buNone/>
            </a:pPr>
            <a:r>
              <a:rPr lang="en-US" sz="1150" dirty="0">
                <a:solidFill>
                  <a:srgbClr val="C9D6F2"/>
                </a:solidFill>
                <a:latin typeface="Calibri" pitchFamily="34" charset="0"/>
                <a:ea typeface="Calibri" pitchFamily="34" charset="-122"/>
                <a:cs typeface="Calibri" pitchFamily="34" charset="-120"/>
              </a:rPr>
              <a:t>Después de 1948 la industria abandonó las cuotas y adoptó muestreo probabilístico. El método cambió por un fracaso público.</a:t>
            </a:r>
            <a:endParaRPr lang="en-US" sz="1150" dirty="0"/>
          </a:p>
        </p:txBody>
      </p:sp>
      <p:sp>
        <p:nvSpPr>
          <p:cNvPr id="14" name="Shape 12"/>
          <p:cNvSpPr/>
          <p:nvPr/>
        </p:nvSpPr>
        <p:spPr>
          <a:xfrm>
            <a:off x="7543800" y="3182112"/>
            <a:ext cx="4096512" cy="1115568"/>
          </a:xfrm>
          <a:prstGeom prst="roundRect">
            <a:avLst>
              <a:gd name="adj" fmla="val 4918"/>
            </a:avLst>
          </a:prstGeom>
          <a:solidFill>
            <a:srgbClr val="E9EEF8"/>
          </a:solidFill>
          <a:ln w="12700">
            <a:solidFill>
              <a:srgbClr val="D2DBEC"/>
            </a:solidFill>
            <a:prstDash val="solid"/>
          </a:ln>
        </p:spPr>
      </p:sp>
      <p:sp>
        <p:nvSpPr>
          <p:cNvPr id="15" name="Shape 13"/>
          <p:cNvSpPr/>
          <p:nvPr/>
        </p:nvSpPr>
        <p:spPr>
          <a:xfrm>
            <a:off x="7790688" y="3429000"/>
            <a:ext cx="118872" cy="118872"/>
          </a:xfrm>
          <a:prstGeom prst="roundRect">
            <a:avLst>
              <a:gd name="adj" fmla="val 30769"/>
            </a:avLst>
          </a:prstGeom>
          <a:solidFill>
            <a:srgbClr val="1A56E8"/>
          </a:solidFill>
          <a:ln w="12700">
            <a:solidFill>
              <a:srgbClr val="1A56E8"/>
            </a:solidFill>
            <a:prstDash val="solid"/>
          </a:ln>
        </p:spPr>
      </p:sp>
      <p:sp>
        <p:nvSpPr>
          <p:cNvPr id="16" name="Text 14"/>
          <p:cNvSpPr/>
          <p:nvPr/>
        </p:nvSpPr>
        <p:spPr>
          <a:xfrm>
            <a:off x="8028432" y="3328416"/>
            <a:ext cx="34198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Tu versión del error 2</a:t>
            </a:r>
            <a:endParaRPr lang="en-US" sz="1400" dirty="0"/>
          </a:p>
        </p:txBody>
      </p:sp>
      <p:sp>
        <p:nvSpPr>
          <p:cNvPr id="17" name="Text 15"/>
          <p:cNvSpPr/>
          <p:nvPr/>
        </p:nvSpPr>
        <p:spPr>
          <a:xfrm>
            <a:off x="7790688" y="3675888"/>
            <a:ext cx="3611880" cy="548640"/>
          </a:xfrm>
          <a:prstGeom prst="rect">
            <a:avLst/>
          </a:prstGeom>
          <a:noFill/>
          <a:ln/>
        </p:spPr>
        <p:txBody>
          <a:bodyPr wrap="square" lIns="0" tIns="0" rIns="0" bIns="0" rtlCol="0" anchor="t"/>
          <a:lstStyle/>
          <a:p>
            <a:pPr algn="l" indent="0" marL="0">
              <a:lnSpc>
                <a:spcPct val="104000"/>
              </a:lnSpc>
              <a:buNone/>
            </a:pPr>
            <a:r>
              <a:rPr lang="en-US" sz="1150" dirty="0">
                <a:solidFill>
                  <a:srgbClr val="2C3A55"/>
                </a:solidFill>
                <a:latin typeface="Calibri" pitchFamily="34" charset="0"/>
                <a:ea typeface="Calibri" pitchFamily="34" charset="-122"/>
                <a:cs typeface="Calibri" pitchFamily="34" charset="-120"/>
              </a:rPr>
              <a:t>Un modelo validado con datos de hace seis meses. La muestra era correcta entonces; la población ya cambió.</a:t>
            </a:r>
            <a:endParaRPr lang="en-US" sz="1150" dirty="0"/>
          </a:p>
        </p:txBody>
      </p:sp>
      <p:sp>
        <p:nvSpPr>
          <p:cNvPr id="18" name="Shape 16"/>
          <p:cNvSpPr/>
          <p:nvPr/>
        </p:nvSpPr>
        <p:spPr>
          <a:xfrm>
            <a:off x="548640" y="4480560"/>
            <a:ext cx="11091672" cy="1554480"/>
          </a:xfrm>
          <a:prstGeom prst="roundRect">
            <a:avLst>
              <a:gd name="adj" fmla="val 3529"/>
            </a:avLst>
          </a:prstGeom>
          <a:solidFill>
            <a:srgbClr val="0A2559"/>
          </a:solidFill>
          <a:ln w="12700">
            <a:solidFill>
              <a:srgbClr val="0A2559"/>
            </a:solidFill>
            <a:prstDash val="solid"/>
          </a:ln>
        </p:spPr>
      </p:sp>
      <p:sp>
        <p:nvSpPr>
          <p:cNvPr id="19" name="Shape 17"/>
          <p:cNvSpPr/>
          <p:nvPr/>
        </p:nvSpPr>
        <p:spPr>
          <a:xfrm>
            <a:off x="804672" y="4745736"/>
            <a:ext cx="118872" cy="118872"/>
          </a:xfrm>
          <a:prstGeom prst="roundRect">
            <a:avLst>
              <a:gd name="adj" fmla="val 30769"/>
            </a:avLst>
          </a:prstGeom>
          <a:solidFill>
            <a:srgbClr val="E6115E"/>
          </a:solidFill>
          <a:ln w="12700">
            <a:solidFill>
              <a:srgbClr val="E6115E"/>
            </a:solidFill>
            <a:prstDash val="solid"/>
          </a:ln>
        </p:spPr>
      </p:sp>
      <p:sp>
        <p:nvSpPr>
          <p:cNvPr id="20" name="Text 18"/>
          <p:cNvSpPr/>
          <p:nvPr/>
        </p:nvSpPr>
        <p:spPr>
          <a:xfrm>
            <a:off x="1042416" y="4645152"/>
            <a:ext cx="102778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Los dos casos juntos dicen algo que ninguna fórmula dice</a:t>
            </a:r>
            <a:endParaRPr lang="en-US" sz="1500" dirty="0"/>
          </a:p>
        </p:txBody>
      </p:sp>
      <p:sp>
        <p:nvSpPr>
          <p:cNvPr id="21" name="Text 19"/>
          <p:cNvSpPr/>
          <p:nvPr/>
        </p:nvSpPr>
        <p:spPr>
          <a:xfrm>
            <a:off x="804672" y="5010912"/>
            <a:ext cx="10515600" cy="932688"/>
          </a:xfrm>
          <a:prstGeom prst="rect">
            <a:avLst/>
          </a:prstGeom>
          <a:noFill/>
          <a:ln/>
        </p:spPr>
        <p:txBody>
          <a:bodyPr wrap="square" lIns="0" tIns="0" rIns="0" bIns="0" rtlCol="0" anchor="t"/>
          <a:lstStyle/>
          <a:p>
            <a:pPr algn="l" indent="0" marL="0">
              <a:lnSpc>
                <a:spcPct val="108000"/>
              </a:lnSpc>
              <a:buNone/>
            </a:pPr>
            <a:r>
              <a:rPr lang="en-US" sz="1200" dirty="0">
                <a:solidFill>
                  <a:srgbClr val="C9D6F2"/>
                </a:solidFill>
                <a:latin typeface="Calibri" pitchFamily="34" charset="0"/>
                <a:ea typeface="Calibri" pitchFamily="34" charset="-122"/>
                <a:cs typeface="Calibri" pitchFamily="34" charset="-120"/>
              </a:rPr>
              <a:t>1936 falló por QUIÉN entró en la muestra. 1948 falló por CUÁNDO se tomó. Ninguno de los dos errores aparece en el error estándar, ninguno se arregla con más n y ninguno lo detecta un intervalo de confianza.</a:t>
            </a:r>
            <a:endParaRPr lang="en-US" sz="1200" dirty="0"/>
          </a:p>
          <a:p>
            <a:pPr algn="l" indent="0" marL="0">
              <a:lnSpc>
                <a:spcPct val="108000"/>
              </a:lnSpc>
              <a:buNone/>
            </a:pPr>
            <a:endParaRPr lang="en-US" sz="1200" dirty="0"/>
          </a:p>
          <a:p>
            <a:pPr algn="l" indent="0" marL="0">
              <a:lnSpc>
                <a:spcPct val="108000"/>
              </a:lnSpc>
              <a:buNone/>
            </a:pPr>
            <a:r>
              <a:rPr lang="en-US" sz="1200" dirty="0">
                <a:solidFill>
                  <a:srgbClr val="C9D6F2"/>
                </a:solidFill>
                <a:latin typeface="Calibri" pitchFamily="34" charset="0"/>
                <a:ea typeface="Calibri" pitchFamily="34" charset="-122"/>
                <a:cs typeface="Calibri" pitchFamily="34" charset="-120"/>
              </a:rPr>
              <a:t>El intervalo cuantifica el azar del muestreo. Todo lo demás — el marco, el momento, la no respuesta, el criterio del que recolecta — queda fuera y es responsabilidad tuya. En la práctica, ahí ocurre la mayoría de los desastres.</a:t>
            </a:r>
            <a:endParaRPr lang="en-US" sz="1200" dirty="0"/>
          </a:p>
        </p:txBody>
      </p:sp>
      <p:sp>
        <p:nvSpPr>
          <p:cNvPr id="22" name="Text 20"/>
          <p:cNvSpPr/>
          <p:nvPr/>
        </p:nvSpPr>
        <p:spPr>
          <a:xfrm>
            <a:off x="548640" y="6108192"/>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Fuentes: Mosteller et al., «The Pre-Election Polls of 1948» (Social Science Research Council, 1949); resultados oficiales de la elección presidencial de EE. UU. de 1948.</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01168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01168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LOS LÍMITES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Cuando el intervalo clásico promete 95 % y entrega menos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El IC de la slide 11 asume cosas. Cuando esas cosas no se cumplen, la cobertura real baja y nadie te avisa.</a:t>
            </a:r>
            <a:endParaRPr lang="en-US" sz="1400" dirty="0"/>
          </a:p>
        </p:txBody>
      </p:sp>
      <p:sp>
        <p:nvSpPr>
          <p:cNvPr id="6" name="Shape 4"/>
          <p:cNvSpPr/>
          <p:nvPr/>
        </p:nvSpPr>
        <p:spPr>
          <a:xfrm>
            <a:off x="548640" y="1965960"/>
            <a:ext cx="6949440" cy="822960"/>
          </a:xfrm>
          <a:prstGeom prst="roundRect">
            <a:avLst>
              <a:gd name="adj" fmla="val 6667"/>
            </a:avLst>
          </a:prstGeom>
          <a:solidFill>
            <a:srgbClr val="0A2559"/>
          </a:solidFill>
          <a:ln w="12700">
            <a:solidFill>
              <a:srgbClr val="0A2559"/>
            </a:solidFill>
            <a:prstDash val="solid"/>
          </a:ln>
        </p:spPr>
      </p:sp>
      <p:sp>
        <p:nvSpPr>
          <p:cNvPr id="7" name="Shape 5"/>
          <p:cNvSpPr/>
          <p:nvPr/>
        </p:nvSpPr>
        <p:spPr>
          <a:xfrm>
            <a:off x="777240" y="2139696"/>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24128" y="2048256"/>
            <a:ext cx="621792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Población muy asimétrica con n moderado</a:t>
            </a:r>
            <a:endParaRPr lang="en-US" sz="1250" dirty="0"/>
          </a:p>
        </p:txBody>
      </p:sp>
      <p:sp>
        <p:nvSpPr>
          <p:cNvPr id="9" name="Text 7"/>
          <p:cNvSpPr/>
          <p:nvPr/>
        </p:nvSpPr>
        <p:spPr>
          <a:xfrm>
            <a:off x="1024128" y="2331720"/>
            <a:ext cx="6217920" cy="420624"/>
          </a:xfrm>
          <a:prstGeom prst="rect">
            <a:avLst/>
          </a:prstGeom>
          <a:noFill/>
          <a:ln/>
        </p:spPr>
        <p:txBody>
          <a:bodyPr wrap="square" lIns="0" tIns="0" rIns="0" bIns="0" rtlCol="0" anchor="t"/>
          <a:lstStyle/>
          <a:p>
            <a:pPr algn="l" indent="0" marL="0">
              <a:lnSpc>
                <a:spcPct val="104000"/>
              </a:lnSpc>
              <a:buNone/>
            </a:pPr>
            <a:r>
              <a:rPr lang="en-US" sz="1050" dirty="0">
                <a:solidFill>
                  <a:srgbClr val="C9D6F2"/>
                </a:solidFill>
                <a:latin typeface="Calibri" pitchFamily="34" charset="0"/>
                <a:ea typeface="Calibri" pitchFamily="34" charset="-122"/>
                <a:cs typeface="Calibri" pitchFamily="34" charset="-120"/>
              </a:rPr>
              <a:t>El caso de tus montos. Prometes 95 % y la cobertura real cae a 92.3 %: uno de cada 13 intervalos falla, no uno de cada 20.</a:t>
            </a:r>
            <a:endParaRPr lang="en-US" sz="1050" dirty="0"/>
          </a:p>
        </p:txBody>
      </p:sp>
      <p:sp>
        <p:nvSpPr>
          <p:cNvPr id="10" name="Shape 8"/>
          <p:cNvSpPr/>
          <p:nvPr/>
        </p:nvSpPr>
        <p:spPr>
          <a:xfrm>
            <a:off x="548640" y="2862072"/>
            <a:ext cx="6949440" cy="822960"/>
          </a:xfrm>
          <a:prstGeom prst="roundRect">
            <a:avLst>
              <a:gd name="adj" fmla="val 6667"/>
            </a:avLst>
          </a:prstGeom>
          <a:solidFill>
            <a:srgbClr val="FFFFFF"/>
          </a:solidFill>
          <a:ln w="12700">
            <a:solidFill>
              <a:srgbClr val="D2DBEC"/>
            </a:solidFill>
            <a:prstDash val="solid"/>
          </a:ln>
        </p:spPr>
      </p:sp>
      <p:sp>
        <p:nvSpPr>
          <p:cNvPr id="11" name="Shape 9"/>
          <p:cNvSpPr/>
          <p:nvPr/>
        </p:nvSpPr>
        <p:spPr>
          <a:xfrm>
            <a:off x="777240" y="3035808"/>
            <a:ext cx="118872" cy="118872"/>
          </a:xfrm>
          <a:prstGeom prst="roundRect">
            <a:avLst>
              <a:gd name="adj" fmla="val 30769"/>
            </a:avLst>
          </a:prstGeom>
          <a:solidFill>
            <a:srgbClr val="1A56E8"/>
          </a:solidFill>
          <a:ln w="12700">
            <a:solidFill>
              <a:srgbClr val="1A56E8"/>
            </a:solidFill>
            <a:prstDash val="solid"/>
          </a:ln>
        </p:spPr>
      </p:sp>
      <p:sp>
        <p:nvSpPr>
          <p:cNvPr id="12" name="Text 10"/>
          <p:cNvSpPr/>
          <p:nvPr/>
        </p:nvSpPr>
        <p:spPr>
          <a:xfrm>
            <a:off x="1024128" y="2944368"/>
            <a:ext cx="6217920" cy="274320"/>
          </a:xfrm>
          <a:prstGeom prst="rect">
            <a:avLst/>
          </a:prstGeom>
          <a:noFill/>
          <a:ln/>
        </p:spPr>
        <p:txBody>
          <a:bodyPr wrap="square" lIns="0" tIns="0" rIns="0" bIns="0" rtlCol="0" anchor="ctr"/>
          <a:lstStyle/>
          <a:p>
            <a:pPr indent="0" marL="0">
              <a:buNone/>
            </a:pPr>
            <a:r>
              <a:rPr lang="en-US" sz="1250" b="1" dirty="0">
                <a:solidFill>
                  <a:srgbClr val="0A2559"/>
                </a:solidFill>
                <a:latin typeface="Calibri" pitchFamily="34" charset="0"/>
                <a:ea typeface="Calibri" pitchFamily="34" charset="-122"/>
                <a:cs typeface="Calibri" pitchFamily="34" charset="-120"/>
              </a:rPr>
              <a:t>Datos correlacionados o por conglomerados</a:t>
            </a:r>
            <a:endParaRPr lang="en-US" sz="1250" dirty="0"/>
          </a:p>
        </p:txBody>
      </p:sp>
      <p:sp>
        <p:nvSpPr>
          <p:cNvPr id="13" name="Text 11"/>
          <p:cNvSpPr/>
          <p:nvPr/>
        </p:nvSpPr>
        <p:spPr>
          <a:xfrm>
            <a:off x="1024128" y="3227832"/>
            <a:ext cx="6217920" cy="420624"/>
          </a:xfrm>
          <a:prstGeom prst="rect">
            <a:avLst/>
          </a:prstGeom>
          <a:noFill/>
          <a:ln/>
        </p:spPr>
        <p:txBody>
          <a:bodyPr wrap="square" lIns="0" tIns="0" rIns="0" bIns="0" rtlCol="0" anchor="t"/>
          <a:lstStyle/>
          <a:p>
            <a:pPr algn="l" indent="0" marL="0">
              <a:lnSpc>
                <a:spcPct val="104000"/>
              </a:lnSpc>
              <a:buNone/>
            </a:pPr>
            <a:r>
              <a:rPr lang="en-US" sz="1050" dirty="0">
                <a:solidFill>
                  <a:srgbClr val="2C3A55"/>
                </a:solidFill>
                <a:latin typeface="Calibri" pitchFamily="34" charset="0"/>
                <a:ea typeface="Calibri" pitchFamily="34" charset="-122"/>
                <a:cs typeface="Calibri" pitchFamily="34" charset="-120"/>
              </a:rPr>
              <a:t>Si muestreas agencias completas, las observaciones dentro de una agencia se parecen. El EE real es mayor que s/√n y el intervalo sale falsamente angosto.</a:t>
            </a:r>
            <a:endParaRPr lang="en-US" sz="1050" dirty="0"/>
          </a:p>
        </p:txBody>
      </p:sp>
      <p:sp>
        <p:nvSpPr>
          <p:cNvPr id="14" name="Shape 12"/>
          <p:cNvSpPr/>
          <p:nvPr/>
        </p:nvSpPr>
        <p:spPr>
          <a:xfrm>
            <a:off x="548640" y="3758184"/>
            <a:ext cx="6949440" cy="822960"/>
          </a:xfrm>
          <a:prstGeom prst="roundRect">
            <a:avLst>
              <a:gd name="adj" fmla="val 6667"/>
            </a:avLst>
          </a:prstGeom>
          <a:solidFill>
            <a:srgbClr val="FFFFFF"/>
          </a:solidFill>
          <a:ln w="12700">
            <a:solidFill>
              <a:srgbClr val="D2DBEC"/>
            </a:solidFill>
            <a:prstDash val="solid"/>
          </a:ln>
        </p:spPr>
      </p:sp>
      <p:sp>
        <p:nvSpPr>
          <p:cNvPr id="15" name="Shape 13"/>
          <p:cNvSpPr/>
          <p:nvPr/>
        </p:nvSpPr>
        <p:spPr>
          <a:xfrm>
            <a:off x="777240" y="3931920"/>
            <a:ext cx="118872" cy="118872"/>
          </a:xfrm>
          <a:prstGeom prst="roundRect">
            <a:avLst>
              <a:gd name="adj" fmla="val 30769"/>
            </a:avLst>
          </a:prstGeom>
          <a:solidFill>
            <a:srgbClr val="1A56E8"/>
          </a:solidFill>
          <a:ln w="12700">
            <a:solidFill>
              <a:srgbClr val="1A56E8"/>
            </a:solidFill>
            <a:prstDash val="solid"/>
          </a:ln>
        </p:spPr>
      </p:sp>
      <p:sp>
        <p:nvSpPr>
          <p:cNvPr id="16" name="Text 14"/>
          <p:cNvSpPr/>
          <p:nvPr/>
        </p:nvSpPr>
        <p:spPr>
          <a:xfrm>
            <a:off x="1024128" y="3840480"/>
            <a:ext cx="6217920" cy="274320"/>
          </a:xfrm>
          <a:prstGeom prst="rect">
            <a:avLst/>
          </a:prstGeom>
          <a:noFill/>
          <a:ln/>
        </p:spPr>
        <p:txBody>
          <a:bodyPr wrap="square" lIns="0" tIns="0" rIns="0" bIns="0" rtlCol="0" anchor="ctr"/>
          <a:lstStyle/>
          <a:p>
            <a:pPr indent="0" marL="0">
              <a:buNone/>
            </a:pPr>
            <a:r>
              <a:rPr lang="en-US" sz="1250" b="1" dirty="0">
                <a:solidFill>
                  <a:srgbClr val="0A2559"/>
                </a:solidFill>
                <a:latin typeface="Calibri" pitchFamily="34" charset="0"/>
                <a:ea typeface="Calibri" pitchFamily="34" charset="-122"/>
                <a:cs typeface="Calibri" pitchFamily="34" charset="-120"/>
              </a:rPr>
              <a:t>Población finita y muestra grande respecto a ella</a:t>
            </a:r>
            <a:endParaRPr lang="en-US" sz="1250" dirty="0"/>
          </a:p>
        </p:txBody>
      </p:sp>
      <p:sp>
        <p:nvSpPr>
          <p:cNvPr id="17" name="Text 15"/>
          <p:cNvSpPr/>
          <p:nvPr/>
        </p:nvSpPr>
        <p:spPr>
          <a:xfrm>
            <a:off x="1024128" y="4123944"/>
            <a:ext cx="6217920" cy="420624"/>
          </a:xfrm>
          <a:prstGeom prst="rect">
            <a:avLst/>
          </a:prstGeom>
          <a:noFill/>
          <a:ln/>
        </p:spPr>
        <p:txBody>
          <a:bodyPr wrap="square" lIns="0" tIns="0" rIns="0" bIns="0" rtlCol="0" anchor="t"/>
          <a:lstStyle/>
          <a:p>
            <a:pPr algn="l" indent="0" marL="0">
              <a:lnSpc>
                <a:spcPct val="104000"/>
              </a:lnSpc>
              <a:buNone/>
            </a:pPr>
            <a:r>
              <a:rPr lang="en-US" sz="1050" dirty="0">
                <a:solidFill>
                  <a:srgbClr val="2C3A55"/>
                </a:solidFill>
                <a:latin typeface="Calibri" pitchFamily="34" charset="0"/>
                <a:ea typeface="Calibri" pitchFamily="34" charset="-122"/>
                <a:cs typeface="Calibri" pitchFamily="34" charset="-120"/>
              </a:rPr>
              <a:t>Si muestreas 300 de 1 000, el EE clásico sobreestima el error. Se corrige con el factor de población finita √((N−n)/(N−1)).</a:t>
            </a:r>
            <a:endParaRPr lang="en-US" sz="1050" dirty="0"/>
          </a:p>
        </p:txBody>
      </p:sp>
      <p:sp>
        <p:nvSpPr>
          <p:cNvPr id="18" name="Shape 16"/>
          <p:cNvSpPr/>
          <p:nvPr/>
        </p:nvSpPr>
        <p:spPr>
          <a:xfrm>
            <a:off x="548640" y="4654296"/>
            <a:ext cx="6949440" cy="822960"/>
          </a:xfrm>
          <a:prstGeom prst="roundRect">
            <a:avLst>
              <a:gd name="adj" fmla="val 6667"/>
            </a:avLst>
          </a:prstGeom>
          <a:solidFill>
            <a:srgbClr val="FFFFFF"/>
          </a:solidFill>
          <a:ln w="12700">
            <a:solidFill>
              <a:srgbClr val="D2DBEC"/>
            </a:solidFill>
            <a:prstDash val="solid"/>
          </a:ln>
        </p:spPr>
      </p:sp>
      <p:sp>
        <p:nvSpPr>
          <p:cNvPr id="19" name="Shape 17"/>
          <p:cNvSpPr/>
          <p:nvPr/>
        </p:nvSpPr>
        <p:spPr>
          <a:xfrm>
            <a:off x="777240" y="4828032"/>
            <a:ext cx="118872" cy="118872"/>
          </a:xfrm>
          <a:prstGeom prst="roundRect">
            <a:avLst>
              <a:gd name="adj" fmla="val 30769"/>
            </a:avLst>
          </a:prstGeom>
          <a:solidFill>
            <a:srgbClr val="1A56E8"/>
          </a:solidFill>
          <a:ln w="12700">
            <a:solidFill>
              <a:srgbClr val="1A56E8"/>
            </a:solidFill>
            <a:prstDash val="solid"/>
          </a:ln>
        </p:spPr>
      </p:sp>
      <p:sp>
        <p:nvSpPr>
          <p:cNvPr id="20" name="Text 18"/>
          <p:cNvSpPr/>
          <p:nvPr/>
        </p:nvSpPr>
        <p:spPr>
          <a:xfrm>
            <a:off x="1024128" y="4736592"/>
            <a:ext cx="6217920" cy="274320"/>
          </a:xfrm>
          <a:prstGeom prst="rect">
            <a:avLst/>
          </a:prstGeom>
          <a:noFill/>
          <a:ln/>
        </p:spPr>
        <p:txBody>
          <a:bodyPr wrap="square" lIns="0" tIns="0" rIns="0" bIns="0" rtlCol="0" anchor="ctr"/>
          <a:lstStyle/>
          <a:p>
            <a:pPr indent="0" marL="0">
              <a:buNone/>
            </a:pPr>
            <a:r>
              <a:rPr lang="en-US" sz="1250" b="1" dirty="0">
                <a:solidFill>
                  <a:srgbClr val="0A2559"/>
                </a:solidFill>
                <a:latin typeface="Calibri" pitchFamily="34" charset="0"/>
                <a:ea typeface="Calibri" pitchFamily="34" charset="-122"/>
                <a:cs typeface="Calibri" pitchFamily="34" charset="-120"/>
              </a:rPr>
              <a:t>Proporciones con muy pocos eventos</a:t>
            </a:r>
            <a:endParaRPr lang="en-US" sz="1250" dirty="0"/>
          </a:p>
        </p:txBody>
      </p:sp>
      <p:sp>
        <p:nvSpPr>
          <p:cNvPr id="21" name="Text 19"/>
          <p:cNvSpPr/>
          <p:nvPr/>
        </p:nvSpPr>
        <p:spPr>
          <a:xfrm>
            <a:off x="1024128" y="5020056"/>
            <a:ext cx="6217920" cy="420624"/>
          </a:xfrm>
          <a:prstGeom prst="rect">
            <a:avLst/>
          </a:prstGeom>
          <a:noFill/>
          <a:ln/>
        </p:spPr>
        <p:txBody>
          <a:bodyPr wrap="square" lIns="0" tIns="0" rIns="0" bIns="0" rtlCol="0" anchor="t"/>
          <a:lstStyle/>
          <a:p>
            <a:pPr algn="l" indent="0" marL="0">
              <a:lnSpc>
                <a:spcPct val="104000"/>
              </a:lnSpc>
              <a:buNone/>
            </a:pPr>
            <a:r>
              <a:rPr lang="en-US" sz="1050" dirty="0">
                <a:solidFill>
                  <a:srgbClr val="2C3A55"/>
                </a:solidFill>
                <a:latin typeface="Calibri" pitchFamily="34" charset="0"/>
                <a:ea typeface="Calibri" pitchFamily="34" charset="-122"/>
                <a:cs typeface="Calibri" pitchFamily="34" charset="-120"/>
              </a:rPr>
              <a:t>La slide 14: Wald se rompe. Y con cero eventos observados no hay intervalo de Wald en absoluto.</a:t>
            </a:r>
            <a:endParaRPr lang="en-US" sz="1050" dirty="0"/>
          </a:p>
        </p:txBody>
      </p:sp>
      <p:sp>
        <p:nvSpPr>
          <p:cNvPr id="22" name="Shape 20"/>
          <p:cNvSpPr/>
          <p:nvPr/>
        </p:nvSpPr>
        <p:spPr>
          <a:xfrm>
            <a:off x="7635240" y="1965960"/>
            <a:ext cx="4005072" cy="2212848"/>
          </a:xfrm>
          <a:prstGeom prst="roundRect">
            <a:avLst>
              <a:gd name="adj" fmla="val 2479"/>
            </a:avLst>
          </a:prstGeom>
          <a:solidFill>
            <a:srgbClr val="E9EEF8"/>
          </a:solidFill>
          <a:ln w="12700">
            <a:solidFill>
              <a:srgbClr val="D2DBEC"/>
            </a:solidFill>
            <a:prstDash val="solid"/>
          </a:ln>
        </p:spPr>
      </p:sp>
      <p:sp>
        <p:nvSpPr>
          <p:cNvPr id="23" name="Shape 21"/>
          <p:cNvSpPr/>
          <p:nvPr/>
        </p:nvSpPr>
        <p:spPr>
          <a:xfrm>
            <a:off x="7882128" y="2231136"/>
            <a:ext cx="118872" cy="118872"/>
          </a:xfrm>
          <a:prstGeom prst="roundRect">
            <a:avLst>
              <a:gd name="adj" fmla="val 30769"/>
            </a:avLst>
          </a:prstGeom>
          <a:solidFill>
            <a:srgbClr val="E6115E"/>
          </a:solidFill>
          <a:ln w="12700">
            <a:solidFill>
              <a:srgbClr val="E6115E"/>
            </a:solidFill>
            <a:prstDash val="solid"/>
          </a:ln>
        </p:spPr>
      </p:sp>
      <p:sp>
        <p:nvSpPr>
          <p:cNvPr id="24" name="Text 22"/>
          <p:cNvSpPr/>
          <p:nvPr/>
        </p:nvSpPr>
        <p:spPr>
          <a:xfrm>
            <a:off x="8119872" y="2130552"/>
            <a:ext cx="3328416" cy="292608"/>
          </a:xfrm>
          <a:prstGeom prst="rect">
            <a:avLst/>
          </a:prstGeom>
          <a:noFill/>
          <a:ln/>
        </p:spPr>
        <p:txBody>
          <a:bodyPr wrap="square" lIns="0" tIns="0" rIns="0" bIns="0" rtlCol="0" anchor="ctr"/>
          <a:lstStyle/>
          <a:p>
            <a:pPr indent="0" marL="0">
              <a:buNone/>
            </a:pPr>
            <a:r>
              <a:rPr lang="en-US" sz="1500" b="1" dirty="0">
                <a:solidFill>
                  <a:srgbClr val="0A2559"/>
                </a:solidFill>
                <a:latin typeface="Calibri" pitchFamily="34" charset="0"/>
                <a:ea typeface="Calibri" pitchFamily="34" charset="-122"/>
                <a:cs typeface="Calibri" pitchFamily="34" charset="-120"/>
              </a:rPr>
              <a:t>La salida: bootstrap</a:t>
            </a:r>
            <a:endParaRPr lang="en-US" sz="1500" dirty="0"/>
          </a:p>
        </p:txBody>
      </p:sp>
      <p:sp>
        <p:nvSpPr>
          <p:cNvPr id="25" name="Text 23"/>
          <p:cNvSpPr/>
          <p:nvPr/>
        </p:nvSpPr>
        <p:spPr>
          <a:xfrm>
            <a:off x="7882128" y="2505456"/>
            <a:ext cx="3520440" cy="1554480"/>
          </a:xfrm>
          <a:prstGeom prst="rect">
            <a:avLst/>
          </a:prstGeom>
          <a:noFill/>
          <a:ln/>
        </p:spPr>
        <p:txBody>
          <a:bodyPr wrap="square" lIns="0" tIns="0" rIns="0" bIns="0" rtlCol="0" anchor="t"/>
          <a:lstStyle/>
          <a:p>
            <a:pPr algn="l" indent="0" marL="0">
              <a:lnSpc>
                <a:spcPct val="110000"/>
              </a:lnSpc>
              <a:buNone/>
            </a:pPr>
            <a:r>
              <a:rPr lang="en-US" sz="1100" dirty="0">
                <a:solidFill>
                  <a:srgbClr val="2C3A55"/>
                </a:solidFill>
                <a:latin typeface="Calibri" pitchFamily="34" charset="0"/>
                <a:ea typeface="Calibri" pitchFamily="34" charset="-122"/>
                <a:cs typeface="Calibri" pitchFamily="34" charset="-120"/>
              </a:rPr>
              <a:t>No asume normalidad ni fórmula cerrada. La idea completa en tres pasos:</a:t>
            </a:r>
            <a:endParaRPr lang="en-US" sz="1100" dirty="0"/>
          </a:p>
          <a:p>
            <a:pPr algn="l" indent="0" marL="0">
              <a:lnSpc>
                <a:spcPct val="110000"/>
              </a:lnSpc>
              <a:buNone/>
            </a:pPr>
            <a:endParaRPr lang="en-US" sz="1100" dirty="0"/>
          </a:p>
          <a:p>
            <a:pPr algn="l" indent="0" marL="0">
              <a:lnSpc>
                <a:spcPct val="110000"/>
              </a:lnSpc>
              <a:buNone/>
            </a:pPr>
            <a:r>
              <a:rPr lang="en-US" sz="1100" dirty="0">
                <a:solidFill>
                  <a:srgbClr val="2C3A55"/>
                </a:solidFill>
                <a:latin typeface="Calibri" pitchFamily="34" charset="0"/>
                <a:ea typeface="Calibri" pitchFamily="34" charset="-122"/>
                <a:cs typeface="Calibri" pitchFamily="34" charset="-120"/>
              </a:rPr>
              <a:t>1. Remuestrea tu muestra con reemplazo, del mismo tamaño n.</a:t>
            </a:r>
            <a:endParaRPr lang="en-US" sz="1100" dirty="0"/>
          </a:p>
          <a:p>
            <a:pPr algn="l" indent="0" marL="0">
              <a:lnSpc>
                <a:spcPct val="110000"/>
              </a:lnSpc>
              <a:buNone/>
            </a:pPr>
            <a:r>
              <a:rPr lang="en-US" sz="1100" dirty="0">
                <a:solidFill>
                  <a:srgbClr val="2C3A55"/>
                </a:solidFill>
                <a:latin typeface="Calibri" pitchFamily="34" charset="0"/>
                <a:ea typeface="Calibri" pitchFamily="34" charset="-122"/>
                <a:cs typeface="Calibri" pitchFamily="34" charset="-120"/>
              </a:rPr>
              <a:t>2. Calcula el estadístico. Repite 10 000 veces.</a:t>
            </a:r>
            <a:endParaRPr lang="en-US" sz="1100" dirty="0"/>
          </a:p>
          <a:p>
            <a:pPr algn="l" indent="0" marL="0">
              <a:lnSpc>
                <a:spcPct val="110000"/>
              </a:lnSpc>
              <a:buNone/>
            </a:pPr>
            <a:r>
              <a:rPr lang="en-US" sz="1100" dirty="0">
                <a:solidFill>
                  <a:srgbClr val="2C3A55"/>
                </a:solidFill>
                <a:latin typeface="Calibri" pitchFamily="34" charset="0"/>
                <a:ea typeface="Calibri" pitchFamily="34" charset="-122"/>
                <a:cs typeface="Calibri" pitchFamily="34" charset="-120"/>
              </a:rPr>
              <a:t>3. El IC son los percentiles 2.5 y 97.5 de esos 10 000 valores.</a:t>
            </a:r>
            <a:endParaRPr lang="en-US" sz="1100" dirty="0"/>
          </a:p>
        </p:txBody>
      </p:sp>
      <p:sp>
        <p:nvSpPr>
          <p:cNvPr id="26" name="Shape 24"/>
          <p:cNvSpPr/>
          <p:nvPr/>
        </p:nvSpPr>
        <p:spPr>
          <a:xfrm>
            <a:off x="7635240" y="4315968"/>
            <a:ext cx="4005072" cy="1216152"/>
          </a:xfrm>
          <a:prstGeom prst="roundRect">
            <a:avLst>
              <a:gd name="adj" fmla="val 4511"/>
            </a:avLst>
          </a:prstGeom>
          <a:solidFill>
            <a:srgbClr val="0A2559"/>
          </a:solidFill>
          <a:ln w="12700">
            <a:solidFill>
              <a:srgbClr val="0A2559"/>
            </a:solidFill>
            <a:prstDash val="solid"/>
          </a:ln>
        </p:spPr>
      </p:sp>
      <p:sp>
        <p:nvSpPr>
          <p:cNvPr id="27" name="Shape 25"/>
          <p:cNvSpPr/>
          <p:nvPr/>
        </p:nvSpPr>
        <p:spPr>
          <a:xfrm>
            <a:off x="7882128" y="4562856"/>
            <a:ext cx="118872" cy="118872"/>
          </a:xfrm>
          <a:prstGeom prst="roundRect">
            <a:avLst>
              <a:gd name="adj" fmla="val 30769"/>
            </a:avLst>
          </a:prstGeom>
          <a:solidFill>
            <a:srgbClr val="E6115E"/>
          </a:solidFill>
          <a:ln w="12700">
            <a:solidFill>
              <a:srgbClr val="E6115E"/>
            </a:solidFill>
            <a:prstDash val="solid"/>
          </a:ln>
        </p:spPr>
      </p:sp>
      <p:sp>
        <p:nvSpPr>
          <p:cNvPr id="28" name="Text 26"/>
          <p:cNvSpPr/>
          <p:nvPr/>
        </p:nvSpPr>
        <p:spPr>
          <a:xfrm>
            <a:off x="8119872" y="4462272"/>
            <a:ext cx="332841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 sirve para lo que la fórmula no</a:t>
            </a:r>
            <a:endParaRPr lang="en-US" sz="1400" dirty="0"/>
          </a:p>
        </p:txBody>
      </p:sp>
      <p:sp>
        <p:nvSpPr>
          <p:cNvPr id="29" name="Text 27"/>
          <p:cNvSpPr/>
          <p:nvPr/>
        </p:nvSpPr>
        <p:spPr>
          <a:xfrm>
            <a:off x="7882128" y="4809744"/>
            <a:ext cx="3520440" cy="640080"/>
          </a:xfrm>
          <a:prstGeom prst="rect">
            <a:avLst/>
          </a:prstGeom>
          <a:noFill/>
          <a:ln/>
        </p:spPr>
        <p:txBody>
          <a:bodyPr wrap="square" lIns="0" tIns="0" rIns="0" bIns="0" rtlCol="0" anchor="t"/>
          <a:lstStyle/>
          <a:p>
            <a:pPr algn="l" indent="0" marL="0">
              <a:lnSpc>
                <a:spcPct val="106000"/>
              </a:lnSpc>
              <a:buNone/>
            </a:pPr>
            <a:r>
              <a:rPr lang="en-US" sz="1150" dirty="0">
                <a:solidFill>
                  <a:srgbClr val="C9D6F2"/>
                </a:solidFill>
                <a:latin typeface="Calibri" pitchFamily="34" charset="0"/>
                <a:ea typeface="Calibri" pitchFamily="34" charset="-122"/>
                <a:cs typeface="Calibri" pitchFamily="34" charset="-120"/>
              </a:rPr>
              <a:t>No hay fórmula sencilla para el IC de una mediana, un percentil 95 o un índice de Gini. Con bootstrap los tres salen igual de fácil.</a:t>
            </a:r>
            <a:endParaRPr lang="en-US" sz="1150" dirty="0"/>
          </a:p>
        </p:txBody>
      </p:sp>
      <p:sp>
        <p:nvSpPr>
          <p:cNvPr id="30" name="Shape 28"/>
          <p:cNvSpPr/>
          <p:nvPr/>
        </p:nvSpPr>
        <p:spPr>
          <a:xfrm>
            <a:off x="548640" y="5669280"/>
            <a:ext cx="11091672" cy="786384"/>
          </a:xfrm>
          <a:prstGeom prst="roundRect">
            <a:avLst>
              <a:gd name="adj" fmla="val 6977"/>
            </a:avLst>
          </a:prstGeom>
          <a:solidFill>
            <a:srgbClr val="FFFFFF"/>
          </a:solidFill>
          <a:ln w="12700">
            <a:solidFill>
              <a:srgbClr val="D2DBEC"/>
            </a:solidFill>
            <a:prstDash val="solid"/>
          </a:ln>
        </p:spPr>
      </p:sp>
      <p:sp>
        <p:nvSpPr>
          <p:cNvPr id="31" name="Text 29"/>
          <p:cNvSpPr/>
          <p:nvPr/>
        </p:nvSpPr>
        <p:spPr>
          <a:xfrm>
            <a:off x="822960" y="5760720"/>
            <a:ext cx="10607040" cy="640080"/>
          </a:xfrm>
          <a:prstGeom prst="rect">
            <a:avLst/>
          </a:prstGeom>
          <a:noFill/>
          <a:ln/>
        </p:spPr>
        <p:txBody>
          <a:bodyPr wrap="square" lIns="0" tIns="0" rIns="0" bIns="0" rtlCol="0" anchor="t"/>
          <a:lstStyle/>
          <a:p>
            <a:pPr algn="l" indent="0" marL="0">
              <a:lnSpc>
                <a:spcPct val="114000"/>
              </a:lnSpc>
              <a:buNone/>
            </a:pPr>
            <a:r>
              <a:rPr lang="en-US" sz="1100" dirty="0">
                <a:solidFill>
                  <a:srgbClr val="2C3A55"/>
                </a:solidFill>
                <a:latin typeface="Calibri" pitchFamily="34" charset="0"/>
                <a:ea typeface="Calibri" pitchFamily="34" charset="-122"/>
                <a:cs typeface="Calibri" pitchFamily="34" charset="-120"/>
              </a:rPr>
              <a:t>El bootstrap no es magia: necesita que tu muestra sea representativa. Si hay sesgo de selección, remuestrear datos sesgados da intervalos sesgados con más decimales.</a:t>
            </a:r>
            <a:endParaRPr lang="en-US" sz="1100" dirty="0"/>
          </a:p>
          <a:p>
            <a:pPr algn="l" indent="0" marL="0">
              <a:lnSpc>
                <a:spcPct val="114000"/>
              </a:lnSpc>
              <a:buNone/>
            </a:pPr>
            <a:r>
              <a:rPr lang="en-US" sz="1100" dirty="0">
                <a:solidFill>
                  <a:srgbClr val="2C3A55"/>
                </a:solidFill>
                <a:latin typeface="Calibri" pitchFamily="34" charset="0"/>
                <a:ea typeface="Calibri" pitchFamily="34" charset="-122"/>
                <a:cs typeface="Calibri" pitchFamily="34" charset="-120"/>
              </a:rPr>
              <a:t>Cobertura medida por simulación: 20 000 muestras de n = 40 de la población lognormal del curso, IC con t y 95 % nominal. Lo reproduces en el bloque 3 del Colab.</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CHULETA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Qué intervalo usar según lo que estés estimando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Acumulada de la sesión. Esta es la slide que vas a fotografiar.</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914400"/>
        </p:xfrm>
        <a:graphic>
          <a:graphicData uri="http://schemas.openxmlformats.org/drawingml/2006/table">
            <a:tbl>
              <a:tblPr/>
              <a:tblGrid>
                <a:gridCol w="2834640"/>
                <a:gridCol w="2468880"/>
                <a:gridCol w="1828800"/>
                <a:gridCol w="3959352"/>
              </a:tblGrid>
              <a:tr h="41148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Estás estimando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Intervalo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Multiplicador</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Cuándo NO usarlo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411480">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Una media, σ conocida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1A56E8"/>
                          </a:solidFill>
                          <a:latin typeface="Calibri" pitchFamily="34" charset="0"/>
                          <a:ea typeface="Calibri" pitchFamily="34" charset="-122"/>
                          <a:cs typeface="Calibri" pitchFamily="34" charset="-120"/>
                        </a:rPr>
                        <a:t>x̄ ± z · σ/√n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z</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Casi nunca conoces σ. Es el caso de libro.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Una media, σ estimada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x̄ ± t · s/√n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t con ν = n−1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Población muy asimétrica y n moderado → bootstrap.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Una proporción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Wilson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z</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Nunca uses Wald con n·p̂ &lt; 10.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Una diferencia de medias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1A56E8"/>
                          </a:solidFill>
                          <a:latin typeface="Calibri" pitchFamily="34" charset="0"/>
                          <a:ea typeface="Calibri" pitchFamily="34" charset="-122"/>
                          <a:cs typeface="Calibri" pitchFamily="34" charset="-120"/>
                        </a:rPr>
                        <a:t>(x̄₁−x̄₂) ± t · EE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t (Welch)</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No compares dos IC por solape: construye el de la diferencia.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Una mediana o un percentil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9A6B00"/>
                          </a:solidFill>
                          <a:latin typeface="Calibri" pitchFamily="34" charset="0"/>
                          <a:ea typeface="Calibri" pitchFamily="34" charset="-122"/>
                          <a:cs typeface="Calibri" pitchFamily="34" charset="-120"/>
                        </a:rPr>
                        <a:t>Bootstrap percentil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Con muestras muy chicas (n &lt; 20) el bootstrap también sufre.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Una varianza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1A56E8"/>
                          </a:solidFill>
                          <a:latin typeface="Calibri" pitchFamily="34" charset="0"/>
                          <a:ea typeface="Calibri" pitchFamily="34" charset="-122"/>
                          <a:cs typeface="Calibri" pitchFamily="34" charset="-120"/>
                        </a:rPr>
                        <a:t>Basado en χ²</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χ² con ν = n−1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Muy sensible a la no normalidad. Módulo 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120640"/>
            <a:ext cx="11091672" cy="1097280"/>
          </a:xfrm>
          <a:prstGeom prst="roundRect">
            <a:avLst>
              <a:gd name="adj" fmla="val 5000"/>
            </a:avLst>
          </a:prstGeom>
          <a:solidFill>
            <a:srgbClr val="0A2559"/>
          </a:solidFill>
          <a:ln w="12700">
            <a:solidFill>
              <a:srgbClr val="0A2559"/>
            </a:solidFill>
            <a:prstDash val="solid"/>
          </a:ln>
        </p:spPr>
      </p:sp>
      <p:sp>
        <p:nvSpPr>
          <p:cNvPr id="8" name="Shape 5"/>
          <p:cNvSpPr/>
          <p:nvPr/>
        </p:nvSpPr>
        <p:spPr>
          <a:xfrm>
            <a:off x="804672" y="5376672"/>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1042416" y="5276088"/>
            <a:ext cx="61630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 la pregunta que va antes de toda esta tabla</a:t>
            </a:r>
            <a:endParaRPr lang="en-US" sz="1400" dirty="0"/>
          </a:p>
        </p:txBody>
      </p:sp>
      <p:sp>
        <p:nvSpPr>
          <p:cNvPr id="10" name="Text 7"/>
          <p:cNvSpPr/>
          <p:nvPr/>
        </p:nvSpPr>
        <p:spPr>
          <a:xfrm>
            <a:off x="804672" y="5623560"/>
            <a:ext cx="10515600" cy="502920"/>
          </a:xfrm>
          <a:prstGeom prst="rect">
            <a:avLst/>
          </a:prstGeom>
          <a:noFill/>
          <a:ln/>
        </p:spPr>
        <p:txBody>
          <a:bodyPr wrap="square" lIns="0" tIns="0" rIns="0" bIns="0" rtlCol="0" anchor="t"/>
          <a:lstStyle/>
          <a:p>
            <a:pPr algn="l" indent="0" marL="0">
              <a:lnSpc>
                <a:spcPct val="106000"/>
              </a:lnSpc>
              <a:buNone/>
            </a:pPr>
            <a:r>
              <a:rPr lang="en-US" sz="1200" dirty="0">
                <a:solidFill>
                  <a:srgbClr val="C9D6F2"/>
                </a:solidFill>
                <a:latin typeface="Calibri" pitchFamily="34" charset="0"/>
                <a:ea typeface="Calibri" pitchFamily="34" charset="-122"/>
                <a:cs typeface="Calibri" pitchFamily="34" charset="-120"/>
              </a:rPr>
              <a:t>¿Cómo se eligió la muestra? Si la respuesta es «tomé lo que había» o «los casos que ya estaban revisados», ninguna fila de esta tabla te sirve. El intervalo cuantifica el azar del muestreo aleatorio; sin muestreo aleatorio no hay nada que cuantificar.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32918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329184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ANTES DEL LABORATORIO</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Cuatro errores que vas a ver en informes reales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Los cuatro se cometen con la fórmula bien aplicada. Ninguno lo detecta una revisión de código.</a:t>
            </a:r>
            <a:endParaRPr lang="en-US" sz="1400" dirty="0"/>
          </a:p>
        </p:txBody>
      </p:sp>
      <p:sp>
        <p:nvSpPr>
          <p:cNvPr id="6" name="Shape 4"/>
          <p:cNvSpPr/>
          <p:nvPr/>
        </p:nvSpPr>
        <p:spPr>
          <a:xfrm>
            <a:off x="548640" y="2011680"/>
            <a:ext cx="5422392" cy="1828800"/>
          </a:xfrm>
          <a:prstGeom prst="roundRect">
            <a:avLst>
              <a:gd name="adj" fmla="val 3000"/>
            </a:avLst>
          </a:prstGeom>
          <a:solidFill>
            <a:srgbClr val="0A2559"/>
          </a:solidFill>
          <a:ln w="12700">
            <a:solidFill>
              <a:srgbClr val="0A2559"/>
            </a:solidFill>
            <a:prstDash val="solid"/>
          </a:ln>
        </p:spPr>
      </p:sp>
      <p:sp>
        <p:nvSpPr>
          <p:cNvPr id="7" name="Shape 5"/>
          <p:cNvSpPr/>
          <p:nvPr/>
        </p:nvSpPr>
        <p:spPr>
          <a:xfrm>
            <a:off x="777240" y="2212848"/>
            <a:ext cx="384048" cy="384048"/>
          </a:xfrm>
          <a:prstGeom prst="roundRect">
            <a:avLst>
              <a:gd name="adj" fmla="val 50000"/>
            </a:avLst>
          </a:prstGeom>
          <a:solidFill>
            <a:srgbClr val="E6115E"/>
          </a:solidFill>
          <a:ln w="12700">
            <a:solidFill>
              <a:srgbClr val="E6115E"/>
            </a:solidFill>
            <a:prstDash val="solid"/>
          </a:ln>
        </p:spPr>
      </p:sp>
      <p:sp>
        <p:nvSpPr>
          <p:cNvPr id="8" name="Text 6"/>
          <p:cNvSpPr/>
          <p:nvPr/>
        </p:nvSpPr>
        <p:spPr>
          <a:xfrm>
            <a:off x="777240" y="2212848"/>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98448" y="2194560"/>
            <a:ext cx="4480560"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Reportar el punto y esconder el intervalo</a:t>
            </a:r>
            <a:endParaRPr lang="en-US" sz="1300" dirty="0"/>
          </a:p>
        </p:txBody>
      </p:sp>
      <p:sp>
        <p:nvSpPr>
          <p:cNvPr id="10" name="Text 8"/>
          <p:cNvSpPr/>
          <p:nvPr/>
        </p:nvSpPr>
        <p:spPr>
          <a:xfrm>
            <a:off x="777240" y="2724912"/>
            <a:ext cx="4983480" cy="987552"/>
          </a:xfrm>
          <a:prstGeom prst="rect">
            <a:avLst/>
          </a:prstGeom>
          <a:noFill/>
          <a:ln/>
        </p:spPr>
        <p:txBody>
          <a:bodyPr wrap="square" lIns="0" tIns="0" rIns="0" bIns="0" rtlCol="0" anchor="t"/>
          <a:lstStyle/>
          <a:p>
            <a:pPr algn="l" indent="0" marL="0">
              <a:lnSpc>
                <a:spcPct val="108000"/>
              </a:lnSpc>
              <a:buNone/>
            </a:pPr>
            <a:r>
              <a:rPr lang="en-US" sz="1150" dirty="0">
                <a:solidFill>
                  <a:srgbClr val="C9D6F2"/>
                </a:solidFill>
                <a:latin typeface="Calibri" pitchFamily="34" charset="0"/>
                <a:ea typeface="Calibri" pitchFamily="34" charset="-122"/>
                <a:cs typeface="Calibri" pitchFamily="34" charset="-120"/>
              </a:rPr>
              <a:t>«El monto promedio es S/ 3 125.» Sin el intervalo, el lector asume precisión que no existe. Un número solo, sin su incertidumbre, es una afirmación más fuerte que la que tus datos soportan.</a:t>
            </a:r>
            <a:endParaRPr lang="en-US" sz="1150" dirty="0"/>
          </a:p>
        </p:txBody>
      </p:sp>
      <p:sp>
        <p:nvSpPr>
          <p:cNvPr id="11" name="Shape 9"/>
          <p:cNvSpPr/>
          <p:nvPr/>
        </p:nvSpPr>
        <p:spPr>
          <a:xfrm>
            <a:off x="6217920" y="2011680"/>
            <a:ext cx="5422392" cy="1828800"/>
          </a:xfrm>
          <a:prstGeom prst="roundRect">
            <a:avLst>
              <a:gd name="adj" fmla="val 3000"/>
            </a:avLst>
          </a:prstGeom>
          <a:solidFill>
            <a:srgbClr val="FFFFFF"/>
          </a:solidFill>
          <a:ln w="12700">
            <a:solidFill>
              <a:srgbClr val="D2DBEC"/>
            </a:solidFill>
            <a:prstDash val="solid"/>
          </a:ln>
        </p:spPr>
      </p:sp>
      <p:sp>
        <p:nvSpPr>
          <p:cNvPr id="12" name="Shape 10"/>
          <p:cNvSpPr/>
          <p:nvPr/>
        </p:nvSpPr>
        <p:spPr>
          <a:xfrm>
            <a:off x="6446520" y="2212848"/>
            <a:ext cx="384048" cy="384048"/>
          </a:xfrm>
          <a:prstGeom prst="roundRect">
            <a:avLst>
              <a:gd name="adj" fmla="val 50000"/>
            </a:avLst>
          </a:prstGeom>
          <a:solidFill>
            <a:srgbClr val="0A2559"/>
          </a:solidFill>
          <a:ln w="12700">
            <a:solidFill>
              <a:srgbClr val="0A2559"/>
            </a:solidFill>
            <a:prstDash val="solid"/>
          </a:ln>
        </p:spPr>
      </p:sp>
      <p:sp>
        <p:nvSpPr>
          <p:cNvPr id="13" name="Text 11"/>
          <p:cNvSpPr/>
          <p:nvPr/>
        </p:nvSpPr>
        <p:spPr>
          <a:xfrm>
            <a:off x="6446520" y="2212848"/>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6967728" y="2194560"/>
            <a:ext cx="4480560" cy="420624"/>
          </a:xfrm>
          <a:prstGeom prst="rect">
            <a:avLst/>
          </a:prstGeom>
          <a:noFill/>
          <a:ln/>
        </p:spPr>
        <p:txBody>
          <a:bodyPr wrap="square" lIns="0" tIns="0" rIns="0" bIns="0" rtlCol="0" anchor="ctr"/>
          <a:lstStyle/>
          <a:p>
            <a:pPr indent="0" marL="0">
              <a:buNone/>
            </a:pPr>
            <a:r>
              <a:rPr lang="en-US" sz="1300" b="1" dirty="0">
                <a:solidFill>
                  <a:srgbClr val="0A2559"/>
                </a:solidFill>
                <a:latin typeface="Calibri" pitchFamily="34" charset="0"/>
                <a:ea typeface="Calibri" pitchFamily="34" charset="-122"/>
                <a:cs typeface="Calibri" pitchFamily="34" charset="-120"/>
              </a:rPr>
              <a:t>Confundir el IC con un intervalo de predicción</a:t>
            </a:r>
            <a:endParaRPr lang="en-US" sz="1300" dirty="0"/>
          </a:p>
        </p:txBody>
      </p:sp>
      <p:sp>
        <p:nvSpPr>
          <p:cNvPr id="15" name="Text 13"/>
          <p:cNvSpPr/>
          <p:nvPr/>
        </p:nvSpPr>
        <p:spPr>
          <a:xfrm>
            <a:off x="6446520" y="2724912"/>
            <a:ext cx="4983480" cy="987552"/>
          </a:xfrm>
          <a:prstGeom prst="rect">
            <a:avLst/>
          </a:prstGeom>
          <a:noFill/>
          <a:ln/>
        </p:spPr>
        <p:txBody>
          <a:bodyPr wrap="square" lIns="0" tIns="0" rIns="0" bIns="0" rtlCol="0" anchor="t"/>
          <a:lstStyle/>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El IC acota la media; el de predicción acota una observación futura y es mucho más ancho. Prometer que «el 95 % de las transacciones caerá entre X e Y» usando un IC es prometer algo que no calculaste.</a:t>
            </a:r>
            <a:endParaRPr lang="en-US" sz="1150" dirty="0"/>
          </a:p>
        </p:txBody>
      </p:sp>
      <p:sp>
        <p:nvSpPr>
          <p:cNvPr id="16" name="Shape 14"/>
          <p:cNvSpPr/>
          <p:nvPr/>
        </p:nvSpPr>
        <p:spPr>
          <a:xfrm>
            <a:off x="548640" y="4059936"/>
            <a:ext cx="5422392" cy="1828800"/>
          </a:xfrm>
          <a:prstGeom prst="roundRect">
            <a:avLst>
              <a:gd name="adj" fmla="val 3000"/>
            </a:avLst>
          </a:prstGeom>
          <a:solidFill>
            <a:srgbClr val="FFFFFF"/>
          </a:solidFill>
          <a:ln w="12700">
            <a:solidFill>
              <a:srgbClr val="D2DBEC"/>
            </a:solidFill>
            <a:prstDash val="solid"/>
          </a:ln>
        </p:spPr>
      </p:sp>
      <p:sp>
        <p:nvSpPr>
          <p:cNvPr id="17" name="Shape 15"/>
          <p:cNvSpPr/>
          <p:nvPr/>
        </p:nvSpPr>
        <p:spPr>
          <a:xfrm>
            <a:off x="777240" y="4261104"/>
            <a:ext cx="384048" cy="384048"/>
          </a:xfrm>
          <a:prstGeom prst="roundRect">
            <a:avLst>
              <a:gd name="adj" fmla="val 50000"/>
            </a:avLst>
          </a:prstGeom>
          <a:solidFill>
            <a:srgbClr val="0A2559"/>
          </a:solidFill>
          <a:ln w="12700">
            <a:solidFill>
              <a:srgbClr val="0A2559"/>
            </a:solidFill>
            <a:prstDash val="solid"/>
          </a:ln>
        </p:spPr>
      </p:sp>
      <p:sp>
        <p:nvSpPr>
          <p:cNvPr id="18" name="Text 16"/>
          <p:cNvSpPr/>
          <p:nvPr/>
        </p:nvSpPr>
        <p:spPr>
          <a:xfrm>
            <a:off x="777240" y="4261104"/>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298448" y="4242816"/>
            <a:ext cx="4480560" cy="420624"/>
          </a:xfrm>
          <a:prstGeom prst="rect">
            <a:avLst/>
          </a:prstGeom>
          <a:noFill/>
          <a:ln/>
        </p:spPr>
        <p:txBody>
          <a:bodyPr wrap="square" lIns="0" tIns="0" rIns="0" bIns="0" rtlCol="0" anchor="ctr"/>
          <a:lstStyle/>
          <a:p>
            <a:pPr indent="0" marL="0">
              <a:buNone/>
            </a:pPr>
            <a:r>
              <a:rPr lang="en-US" sz="1300" b="1" dirty="0">
                <a:solidFill>
                  <a:srgbClr val="0A2559"/>
                </a:solidFill>
                <a:latin typeface="Calibri" pitchFamily="34" charset="0"/>
                <a:ea typeface="Calibri" pitchFamily="34" charset="-122"/>
                <a:cs typeface="Calibri" pitchFamily="34" charset="-120"/>
              </a:rPr>
              <a:t>Aumentar n para arreglar un problema de sesgo</a:t>
            </a:r>
            <a:endParaRPr lang="en-US" sz="1300" dirty="0"/>
          </a:p>
        </p:txBody>
      </p:sp>
      <p:sp>
        <p:nvSpPr>
          <p:cNvPr id="20" name="Text 18"/>
          <p:cNvSpPr/>
          <p:nvPr/>
        </p:nvSpPr>
        <p:spPr>
          <a:xfrm>
            <a:off x="777240" y="4773168"/>
            <a:ext cx="4983480" cy="987552"/>
          </a:xfrm>
          <a:prstGeom prst="rect">
            <a:avLst/>
          </a:prstGeom>
          <a:noFill/>
          <a:ln/>
        </p:spPr>
        <p:txBody>
          <a:bodyPr wrap="square" lIns="0" tIns="0" rIns="0" bIns="0" rtlCol="0" anchor="t"/>
          <a:lstStyle/>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Más muestra estrecha el intervalo alrededor del número equivocado. El Literary Digest tenía 2.3 millones de respuestas. La precisión no es exactitud.</a:t>
            </a:r>
            <a:endParaRPr lang="en-US" sz="1150" dirty="0"/>
          </a:p>
        </p:txBody>
      </p:sp>
      <p:sp>
        <p:nvSpPr>
          <p:cNvPr id="21" name="Shape 19"/>
          <p:cNvSpPr/>
          <p:nvPr/>
        </p:nvSpPr>
        <p:spPr>
          <a:xfrm>
            <a:off x="6217920" y="4059936"/>
            <a:ext cx="5422392" cy="1828800"/>
          </a:xfrm>
          <a:prstGeom prst="roundRect">
            <a:avLst>
              <a:gd name="adj" fmla="val 3000"/>
            </a:avLst>
          </a:prstGeom>
          <a:solidFill>
            <a:srgbClr val="FFFFFF"/>
          </a:solidFill>
          <a:ln w="12700">
            <a:solidFill>
              <a:srgbClr val="D2DBEC"/>
            </a:solidFill>
            <a:prstDash val="solid"/>
          </a:ln>
        </p:spPr>
      </p:sp>
      <p:sp>
        <p:nvSpPr>
          <p:cNvPr id="22" name="Shape 20"/>
          <p:cNvSpPr/>
          <p:nvPr/>
        </p:nvSpPr>
        <p:spPr>
          <a:xfrm>
            <a:off x="6446520" y="4261104"/>
            <a:ext cx="384048" cy="384048"/>
          </a:xfrm>
          <a:prstGeom prst="roundRect">
            <a:avLst>
              <a:gd name="adj" fmla="val 50000"/>
            </a:avLst>
          </a:prstGeom>
          <a:solidFill>
            <a:srgbClr val="0A2559"/>
          </a:solidFill>
          <a:ln w="12700">
            <a:solidFill>
              <a:srgbClr val="0A2559"/>
            </a:solidFill>
            <a:prstDash val="solid"/>
          </a:ln>
        </p:spPr>
      </p:sp>
      <p:sp>
        <p:nvSpPr>
          <p:cNvPr id="23" name="Text 21"/>
          <p:cNvSpPr/>
          <p:nvPr/>
        </p:nvSpPr>
        <p:spPr>
          <a:xfrm>
            <a:off x="6446520" y="4261104"/>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6967728" y="4242816"/>
            <a:ext cx="4480560" cy="420624"/>
          </a:xfrm>
          <a:prstGeom prst="rect">
            <a:avLst/>
          </a:prstGeom>
          <a:noFill/>
          <a:ln/>
        </p:spPr>
        <p:txBody>
          <a:bodyPr wrap="square" lIns="0" tIns="0" rIns="0" bIns="0" rtlCol="0" anchor="ctr"/>
          <a:lstStyle/>
          <a:p>
            <a:pPr indent="0" marL="0">
              <a:buNone/>
            </a:pPr>
            <a:r>
              <a:rPr lang="en-US" sz="1300" b="1" dirty="0">
                <a:solidFill>
                  <a:srgbClr val="0A2559"/>
                </a:solidFill>
                <a:latin typeface="Calibri" pitchFamily="34" charset="0"/>
                <a:ea typeface="Calibri" pitchFamily="34" charset="-122"/>
                <a:cs typeface="Calibri" pitchFamily="34" charset="-120"/>
              </a:rPr>
              <a:t>Usar Wald con tasas bajas</a:t>
            </a:r>
            <a:endParaRPr lang="en-US" sz="1300" dirty="0"/>
          </a:p>
        </p:txBody>
      </p:sp>
      <p:sp>
        <p:nvSpPr>
          <p:cNvPr id="25" name="Text 23"/>
          <p:cNvSpPr/>
          <p:nvPr/>
        </p:nvSpPr>
        <p:spPr>
          <a:xfrm>
            <a:off x="6446520" y="4773168"/>
            <a:ext cx="4983480" cy="987552"/>
          </a:xfrm>
          <a:prstGeom prst="rect">
            <a:avLst/>
          </a:prstGeom>
          <a:noFill/>
          <a:ln/>
        </p:spPr>
        <p:txBody>
          <a:bodyPr wrap="square" lIns="0" tIns="0" rIns="0" bIns="0" rtlCol="0" anchor="t"/>
          <a:lstStyle/>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Es el error técnico más común en fraude y AML: límites inferiores negativos, o intervalos absurdamente angostos con 3 eventos observados. Wilson por defecto y se acabó el problema.</a:t>
            </a:r>
            <a:endParaRPr lang="en-US" sz="1150" dirty="0"/>
          </a:p>
        </p:txBody>
      </p:sp>
      <p:sp>
        <p:nvSpPr>
          <p:cNvPr id="26" name="Text 24"/>
          <p:cNvSpPr/>
          <p:nvPr/>
        </p:nvSpPr>
        <p:spPr>
          <a:xfrm>
            <a:off x="548640" y="6345936"/>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Los cuatro tienen la misma raíz: tratar el intervalo como un adorno del informe en lugar de como la parte que contiene la información honesta.</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LABORATORIO · 65 MIN</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Los cinco bloques del notebook</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Cada bloque termina con una celda de verificación automática: si el número no coincide, te avisa antes de seguir.</a:t>
            </a:r>
            <a:endParaRPr lang="en-US" sz="1400" dirty="0"/>
          </a:p>
        </p:txBody>
      </p:sp>
      <p:sp>
        <p:nvSpPr>
          <p:cNvPr id="6" name="Shape 4"/>
          <p:cNvSpPr/>
          <p:nvPr/>
        </p:nvSpPr>
        <p:spPr>
          <a:xfrm>
            <a:off x="548640" y="1993392"/>
            <a:ext cx="11091672" cy="731520"/>
          </a:xfrm>
          <a:prstGeom prst="roundRect">
            <a:avLst>
              <a:gd name="adj" fmla="val 7500"/>
            </a:avLst>
          </a:prstGeom>
          <a:solidFill>
            <a:srgbClr val="FFFFFF"/>
          </a:solidFill>
          <a:ln w="12700">
            <a:solidFill>
              <a:srgbClr val="D2DBEC"/>
            </a:solidFill>
            <a:prstDash val="solid"/>
          </a:ln>
        </p:spPr>
      </p:sp>
      <p:sp>
        <p:nvSpPr>
          <p:cNvPr id="7" name="Shape 5"/>
          <p:cNvSpPr/>
          <p:nvPr/>
        </p:nvSpPr>
        <p:spPr>
          <a:xfrm>
            <a:off x="777240" y="2176272"/>
            <a:ext cx="384048" cy="384048"/>
          </a:xfrm>
          <a:prstGeom prst="roundRect">
            <a:avLst>
              <a:gd name="adj" fmla="val 50000"/>
            </a:avLst>
          </a:prstGeom>
          <a:solidFill>
            <a:srgbClr val="0A2559"/>
          </a:solidFill>
          <a:ln w="12700">
            <a:solidFill>
              <a:srgbClr val="0A2559"/>
            </a:solidFill>
            <a:prstDash val="solid"/>
          </a:ln>
        </p:spPr>
      </p:sp>
      <p:sp>
        <p:nvSpPr>
          <p:cNvPr id="8" name="Text 6"/>
          <p:cNvSpPr/>
          <p:nvPr/>
        </p:nvSpPr>
        <p:spPr>
          <a:xfrm>
            <a:off x="777240" y="2176272"/>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98448" y="2075688"/>
            <a:ext cx="3108960" cy="566928"/>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Población y muestra</a:t>
            </a:r>
            <a:endParaRPr lang="en-US" sz="1350" dirty="0"/>
          </a:p>
        </p:txBody>
      </p:sp>
      <p:sp>
        <p:nvSpPr>
          <p:cNvPr id="10" name="Text 8"/>
          <p:cNvSpPr/>
          <p:nvPr/>
        </p:nvSpPr>
        <p:spPr>
          <a:xfrm>
            <a:off x="4434840" y="2075688"/>
            <a:ext cx="868680" cy="566928"/>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12 min</a:t>
            </a:r>
            <a:endParaRPr lang="en-US" sz="1200" dirty="0"/>
          </a:p>
        </p:txBody>
      </p:sp>
      <p:sp>
        <p:nvSpPr>
          <p:cNvPr id="11" name="Text 9"/>
          <p:cNvSpPr/>
          <p:nvPr/>
        </p:nvSpPr>
        <p:spPr>
          <a:xfrm>
            <a:off x="5394960" y="2103120"/>
            <a:ext cx="6080760" cy="530352"/>
          </a:xfrm>
          <a:prstGeom prst="rect">
            <a:avLst/>
          </a:prstGeom>
          <a:noFill/>
          <a:ln/>
        </p:spPr>
        <p:txBody>
          <a:bodyPr wrap="square" lIns="0" tIns="0" rIns="0" bIns="0" rtlCol="0" anchor="ctr"/>
          <a:lstStyle/>
          <a:p>
            <a:pPr algn="l" indent="0" marL="0">
              <a:lnSpc>
                <a:spcPct val="104000"/>
              </a:lnSpc>
              <a:buNone/>
            </a:pPr>
            <a:r>
              <a:rPr lang="en-US" sz="1100" dirty="0">
                <a:solidFill>
                  <a:srgbClr val="2C3A55"/>
                </a:solidFill>
                <a:latin typeface="Calibri" pitchFamily="34" charset="0"/>
                <a:ea typeface="Calibri" pitchFamily="34" charset="-122"/>
                <a:cs typeface="Calibri" pitchFamily="34" charset="-120"/>
              </a:rPr>
              <a:t>Construyes la población de 40 000 montos, tomas muestras de 40 y ves que x̄ cambia con cada una. Reproduces la tabla de la slide 5.</a:t>
            </a:r>
            <a:endParaRPr lang="en-US" sz="1100" dirty="0"/>
          </a:p>
        </p:txBody>
      </p:sp>
      <p:sp>
        <p:nvSpPr>
          <p:cNvPr id="12" name="Shape 10"/>
          <p:cNvSpPr/>
          <p:nvPr/>
        </p:nvSpPr>
        <p:spPr>
          <a:xfrm>
            <a:off x="548640" y="2816352"/>
            <a:ext cx="11091672" cy="731520"/>
          </a:xfrm>
          <a:prstGeom prst="roundRect">
            <a:avLst>
              <a:gd name="adj" fmla="val 7500"/>
            </a:avLst>
          </a:prstGeom>
          <a:solidFill>
            <a:srgbClr val="E9EEF8"/>
          </a:solidFill>
          <a:ln w="12700">
            <a:solidFill>
              <a:srgbClr val="D2DBEC"/>
            </a:solidFill>
            <a:prstDash val="solid"/>
          </a:ln>
        </p:spPr>
      </p:sp>
      <p:sp>
        <p:nvSpPr>
          <p:cNvPr id="13" name="Shape 11"/>
          <p:cNvSpPr/>
          <p:nvPr/>
        </p:nvSpPr>
        <p:spPr>
          <a:xfrm>
            <a:off x="777240" y="2999232"/>
            <a:ext cx="384048" cy="384048"/>
          </a:xfrm>
          <a:prstGeom prst="roundRect">
            <a:avLst>
              <a:gd name="adj" fmla="val 50000"/>
            </a:avLst>
          </a:prstGeom>
          <a:solidFill>
            <a:srgbClr val="0A2559"/>
          </a:solidFill>
          <a:ln w="12700">
            <a:solidFill>
              <a:srgbClr val="0A2559"/>
            </a:solidFill>
            <a:prstDash val="solid"/>
          </a:ln>
        </p:spPr>
      </p:sp>
      <p:sp>
        <p:nvSpPr>
          <p:cNvPr id="14" name="Text 12"/>
          <p:cNvSpPr/>
          <p:nvPr/>
        </p:nvSpPr>
        <p:spPr>
          <a:xfrm>
            <a:off x="777240" y="2999232"/>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1298448" y="2898648"/>
            <a:ext cx="3108960" cy="566928"/>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Distribución muestral y EE</a:t>
            </a:r>
            <a:endParaRPr lang="en-US" sz="1350" dirty="0"/>
          </a:p>
        </p:txBody>
      </p:sp>
      <p:sp>
        <p:nvSpPr>
          <p:cNvPr id="16" name="Text 14"/>
          <p:cNvSpPr/>
          <p:nvPr/>
        </p:nvSpPr>
        <p:spPr>
          <a:xfrm>
            <a:off x="4434840" y="2898648"/>
            <a:ext cx="868680" cy="566928"/>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13 min</a:t>
            </a:r>
            <a:endParaRPr lang="en-US" sz="1200" dirty="0"/>
          </a:p>
        </p:txBody>
      </p:sp>
      <p:sp>
        <p:nvSpPr>
          <p:cNvPr id="17" name="Text 15"/>
          <p:cNvSpPr/>
          <p:nvPr/>
        </p:nvSpPr>
        <p:spPr>
          <a:xfrm>
            <a:off x="5394960" y="2926080"/>
            <a:ext cx="6080760" cy="530352"/>
          </a:xfrm>
          <a:prstGeom prst="rect">
            <a:avLst/>
          </a:prstGeom>
          <a:noFill/>
          <a:ln/>
        </p:spPr>
        <p:txBody>
          <a:bodyPr wrap="square" lIns="0" tIns="0" rIns="0" bIns="0" rtlCol="0" anchor="ctr"/>
          <a:lstStyle/>
          <a:p>
            <a:pPr algn="l" indent="0" marL="0">
              <a:lnSpc>
                <a:spcPct val="104000"/>
              </a:lnSpc>
              <a:buNone/>
            </a:pPr>
            <a:r>
              <a:rPr lang="en-US" sz="1100" dirty="0">
                <a:solidFill>
                  <a:srgbClr val="2C3A55"/>
                </a:solidFill>
                <a:latin typeface="Calibri" pitchFamily="34" charset="0"/>
                <a:ea typeface="Calibri" pitchFamily="34" charset="-122"/>
                <a:cs typeface="Calibri" pitchFamily="34" charset="-120"/>
              </a:rPr>
              <a:t>10 000 muestras, la distribución de x̄ y la comprobación de que su desviación es σ/√n. Reproduces la slide 8.</a:t>
            </a:r>
            <a:endParaRPr lang="en-US" sz="1100" dirty="0"/>
          </a:p>
        </p:txBody>
      </p:sp>
      <p:sp>
        <p:nvSpPr>
          <p:cNvPr id="18" name="Shape 16"/>
          <p:cNvSpPr/>
          <p:nvPr/>
        </p:nvSpPr>
        <p:spPr>
          <a:xfrm>
            <a:off x="548640" y="3639312"/>
            <a:ext cx="11091672" cy="731520"/>
          </a:xfrm>
          <a:prstGeom prst="roundRect">
            <a:avLst>
              <a:gd name="adj" fmla="val 7500"/>
            </a:avLst>
          </a:prstGeom>
          <a:solidFill>
            <a:srgbClr val="FFFFFF"/>
          </a:solidFill>
          <a:ln w="12700">
            <a:solidFill>
              <a:srgbClr val="D2DBEC"/>
            </a:solidFill>
            <a:prstDash val="solid"/>
          </a:ln>
        </p:spPr>
      </p:sp>
      <p:sp>
        <p:nvSpPr>
          <p:cNvPr id="19" name="Shape 17"/>
          <p:cNvSpPr/>
          <p:nvPr/>
        </p:nvSpPr>
        <p:spPr>
          <a:xfrm>
            <a:off x="777240" y="3822192"/>
            <a:ext cx="384048" cy="384048"/>
          </a:xfrm>
          <a:prstGeom prst="roundRect">
            <a:avLst>
              <a:gd name="adj" fmla="val 50000"/>
            </a:avLst>
          </a:prstGeom>
          <a:solidFill>
            <a:srgbClr val="0A2559"/>
          </a:solidFill>
          <a:ln w="12700">
            <a:solidFill>
              <a:srgbClr val="0A2559"/>
            </a:solidFill>
            <a:prstDash val="solid"/>
          </a:ln>
        </p:spPr>
      </p:sp>
      <p:sp>
        <p:nvSpPr>
          <p:cNvPr id="20" name="Text 18"/>
          <p:cNvSpPr/>
          <p:nvPr/>
        </p:nvSpPr>
        <p:spPr>
          <a:xfrm>
            <a:off x="777240" y="3822192"/>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1298448" y="3721608"/>
            <a:ext cx="3108960" cy="566928"/>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El IC y su cobertura real</a:t>
            </a:r>
            <a:endParaRPr lang="en-US" sz="1350" dirty="0"/>
          </a:p>
        </p:txBody>
      </p:sp>
      <p:sp>
        <p:nvSpPr>
          <p:cNvPr id="22" name="Text 20"/>
          <p:cNvSpPr/>
          <p:nvPr/>
        </p:nvSpPr>
        <p:spPr>
          <a:xfrm>
            <a:off x="4434840" y="3721608"/>
            <a:ext cx="868680" cy="566928"/>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15 min</a:t>
            </a:r>
            <a:endParaRPr lang="en-US" sz="1200" dirty="0"/>
          </a:p>
        </p:txBody>
      </p:sp>
      <p:sp>
        <p:nvSpPr>
          <p:cNvPr id="23" name="Text 21"/>
          <p:cNvSpPr/>
          <p:nvPr/>
        </p:nvSpPr>
        <p:spPr>
          <a:xfrm>
            <a:off x="5394960" y="3749040"/>
            <a:ext cx="6080760" cy="530352"/>
          </a:xfrm>
          <a:prstGeom prst="rect">
            <a:avLst/>
          </a:prstGeom>
          <a:noFill/>
          <a:ln/>
        </p:spPr>
        <p:txBody>
          <a:bodyPr wrap="square" lIns="0" tIns="0" rIns="0" bIns="0" rtlCol="0" anchor="ctr"/>
          <a:lstStyle/>
          <a:p>
            <a:pPr algn="l" indent="0" marL="0">
              <a:lnSpc>
                <a:spcPct val="104000"/>
              </a:lnSpc>
              <a:buNone/>
            </a:pPr>
            <a:r>
              <a:rPr lang="en-US" sz="1100" dirty="0">
                <a:solidFill>
                  <a:srgbClr val="2C3A55"/>
                </a:solidFill>
                <a:latin typeface="Calibri" pitchFamily="34" charset="0"/>
                <a:ea typeface="Calibri" pitchFamily="34" charset="-122"/>
                <a:cs typeface="Calibri" pitchFamily="34" charset="-120"/>
              </a:rPr>
              <a:t>Construyes el IC a mano, luego mides cuántos de 10 000 contienen μ. Descubres la caída de cobertura con la lognormal.</a:t>
            </a:r>
            <a:endParaRPr lang="en-US" sz="1100" dirty="0"/>
          </a:p>
        </p:txBody>
      </p:sp>
      <p:sp>
        <p:nvSpPr>
          <p:cNvPr id="24" name="Shape 22"/>
          <p:cNvSpPr/>
          <p:nvPr/>
        </p:nvSpPr>
        <p:spPr>
          <a:xfrm>
            <a:off x="548640" y="4462272"/>
            <a:ext cx="11091672" cy="731520"/>
          </a:xfrm>
          <a:prstGeom prst="roundRect">
            <a:avLst>
              <a:gd name="adj" fmla="val 7500"/>
            </a:avLst>
          </a:prstGeom>
          <a:solidFill>
            <a:srgbClr val="E9EEF8"/>
          </a:solidFill>
          <a:ln w="12700">
            <a:solidFill>
              <a:srgbClr val="D2DBEC"/>
            </a:solidFill>
            <a:prstDash val="solid"/>
          </a:ln>
        </p:spPr>
      </p:sp>
      <p:sp>
        <p:nvSpPr>
          <p:cNvPr id="25" name="Shape 23"/>
          <p:cNvSpPr/>
          <p:nvPr/>
        </p:nvSpPr>
        <p:spPr>
          <a:xfrm>
            <a:off x="777240" y="4645152"/>
            <a:ext cx="384048" cy="384048"/>
          </a:xfrm>
          <a:prstGeom prst="roundRect">
            <a:avLst>
              <a:gd name="adj" fmla="val 50000"/>
            </a:avLst>
          </a:prstGeom>
          <a:solidFill>
            <a:srgbClr val="0A2559"/>
          </a:solidFill>
          <a:ln w="12700">
            <a:solidFill>
              <a:srgbClr val="0A2559"/>
            </a:solidFill>
            <a:prstDash val="solid"/>
          </a:ln>
        </p:spPr>
      </p:sp>
      <p:sp>
        <p:nvSpPr>
          <p:cNvPr id="26" name="Text 24"/>
          <p:cNvSpPr/>
          <p:nvPr/>
        </p:nvSpPr>
        <p:spPr>
          <a:xfrm>
            <a:off x="777240" y="4645152"/>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1298448" y="4544568"/>
            <a:ext cx="3108960" cy="566928"/>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Proporciones: Wald vs Wilson</a:t>
            </a:r>
            <a:endParaRPr lang="en-US" sz="1350" dirty="0"/>
          </a:p>
        </p:txBody>
      </p:sp>
      <p:sp>
        <p:nvSpPr>
          <p:cNvPr id="28" name="Text 26"/>
          <p:cNvSpPr/>
          <p:nvPr/>
        </p:nvSpPr>
        <p:spPr>
          <a:xfrm>
            <a:off x="4434840" y="4544568"/>
            <a:ext cx="868680" cy="566928"/>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13 min</a:t>
            </a:r>
            <a:endParaRPr lang="en-US" sz="1200" dirty="0"/>
          </a:p>
        </p:txBody>
      </p:sp>
      <p:sp>
        <p:nvSpPr>
          <p:cNvPr id="29" name="Text 27"/>
          <p:cNvSpPr/>
          <p:nvPr/>
        </p:nvSpPr>
        <p:spPr>
          <a:xfrm>
            <a:off x="5394960" y="4572000"/>
            <a:ext cx="6080760" cy="530352"/>
          </a:xfrm>
          <a:prstGeom prst="rect">
            <a:avLst/>
          </a:prstGeom>
          <a:noFill/>
          <a:ln/>
        </p:spPr>
        <p:txBody>
          <a:bodyPr wrap="square" lIns="0" tIns="0" rIns="0" bIns="0" rtlCol="0" anchor="ctr"/>
          <a:lstStyle/>
          <a:p>
            <a:pPr algn="l" indent="0" marL="0">
              <a:lnSpc>
                <a:spcPct val="104000"/>
              </a:lnSpc>
              <a:buNone/>
            </a:pPr>
            <a:r>
              <a:rPr lang="en-US" sz="1100" dirty="0">
                <a:solidFill>
                  <a:srgbClr val="2C3A55"/>
                </a:solidFill>
                <a:latin typeface="Calibri" pitchFamily="34" charset="0"/>
                <a:ea typeface="Calibri" pitchFamily="34" charset="-122"/>
                <a:cs typeface="Calibri" pitchFamily="34" charset="-120"/>
              </a:rPr>
              <a:t>Mides la cobertura real de las dos fórmulas con tasas de fraude bajas. Ves a Wald fallar con datos, no con retórica.</a:t>
            </a:r>
            <a:endParaRPr lang="en-US" sz="1100" dirty="0"/>
          </a:p>
        </p:txBody>
      </p:sp>
      <p:sp>
        <p:nvSpPr>
          <p:cNvPr id="30" name="Shape 28"/>
          <p:cNvSpPr/>
          <p:nvPr/>
        </p:nvSpPr>
        <p:spPr>
          <a:xfrm>
            <a:off x="548640" y="5285232"/>
            <a:ext cx="11091672" cy="731520"/>
          </a:xfrm>
          <a:prstGeom prst="roundRect">
            <a:avLst>
              <a:gd name="adj" fmla="val 7500"/>
            </a:avLst>
          </a:prstGeom>
          <a:solidFill>
            <a:srgbClr val="FFFFFF"/>
          </a:solidFill>
          <a:ln w="12700">
            <a:solidFill>
              <a:srgbClr val="D2DBEC"/>
            </a:solidFill>
            <a:prstDash val="solid"/>
          </a:ln>
        </p:spPr>
      </p:sp>
      <p:sp>
        <p:nvSpPr>
          <p:cNvPr id="31" name="Shape 29"/>
          <p:cNvSpPr/>
          <p:nvPr/>
        </p:nvSpPr>
        <p:spPr>
          <a:xfrm>
            <a:off x="777240" y="5468112"/>
            <a:ext cx="384048" cy="384048"/>
          </a:xfrm>
          <a:prstGeom prst="roundRect">
            <a:avLst>
              <a:gd name="adj" fmla="val 50000"/>
            </a:avLst>
          </a:prstGeom>
          <a:solidFill>
            <a:srgbClr val="0A2559"/>
          </a:solidFill>
          <a:ln w="12700">
            <a:solidFill>
              <a:srgbClr val="0A2559"/>
            </a:solidFill>
            <a:prstDash val="solid"/>
          </a:ln>
        </p:spPr>
      </p:sp>
      <p:sp>
        <p:nvSpPr>
          <p:cNvPr id="32" name="Text 30"/>
          <p:cNvSpPr/>
          <p:nvPr/>
        </p:nvSpPr>
        <p:spPr>
          <a:xfrm>
            <a:off x="777240" y="5468112"/>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5</a:t>
            </a:r>
            <a:endParaRPr lang="en-US" sz="1300" dirty="0"/>
          </a:p>
        </p:txBody>
      </p:sp>
      <p:sp>
        <p:nvSpPr>
          <p:cNvPr id="33" name="Text 31"/>
          <p:cNvSpPr/>
          <p:nvPr/>
        </p:nvSpPr>
        <p:spPr>
          <a:xfrm>
            <a:off x="1298448" y="5367528"/>
            <a:ext cx="3108960" cy="566928"/>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Bootstrap</a:t>
            </a:r>
            <a:endParaRPr lang="en-US" sz="1350" dirty="0"/>
          </a:p>
        </p:txBody>
      </p:sp>
      <p:sp>
        <p:nvSpPr>
          <p:cNvPr id="34" name="Text 32"/>
          <p:cNvSpPr/>
          <p:nvPr/>
        </p:nvSpPr>
        <p:spPr>
          <a:xfrm>
            <a:off x="4434840" y="5367528"/>
            <a:ext cx="868680" cy="566928"/>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12 min</a:t>
            </a:r>
            <a:endParaRPr lang="en-US" sz="1200" dirty="0"/>
          </a:p>
        </p:txBody>
      </p:sp>
      <p:sp>
        <p:nvSpPr>
          <p:cNvPr id="35" name="Text 33"/>
          <p:cNvSpPr/>
          <p:nvPr/>
        </p:nvSpPr>
        <p:spPr>
          <a:xfrm>
            <a:off x="5394960" y="5394960"/>
            <a:ext cx="6080760" cy="530352"/>
          </a:xfrm>
          <a:prstGeom prst="rect">
            <a:avLst/>
          </a:prstGeom>
          <a:noFill/>
          <a:ln/>
        </p:spPr>
        <p:txBody>
          <a:bodyPr wrap="square" lIns="0" tIns="0" rIns="0" bIns="0" rtlCol="0" anchor="ctr"/>
          <a:lstStyle/>
          <a:p>
            <a:pPr algn="l" indent="0" marL="0">
              <a:lnSpc>
                <a:spcPct val="104000"/>
              </a:lnSpc>
              <a:buNone/>
            </a:pPr>
            <a:r>
              <a:rPr lang="en-US" sz="1100" dirty="0">
                <a:solidFill>
                  <a:srgbClr val="2C3A55"/>
                </a:solidFill>
                <a:latin typeface="Calibri" pitchFamily="34" charset="0"/>
                <a:ea typeface="Calibri" pitchFamily="34" charset="-122"/>
                <a:cs typeface="Calibri" pitchFamily="34" charset="-120"/>
              </a:rPr>
              <a:t>IC bootstrap para la media y para la mediana. Comparas su cobertura con la del IC clásico en la población asimétrica.</a:t>
            </a:r>
            <a:endParaRPr lang="en-US" sz="1100" dirty="0"/>
          </a:p>
        </p:txBody>
      </p:sp>
      <p:sp>
        <p:nvSpPr>
          <p:cNvPr id="36" name="Shape 34"/>
          <p:cNvSpPr/>
          <p:nvPr/>
        </p:nvSpPr>
        <p:spPr>
          <a:xfrm>
            <a:off x="548640" y="6144768"/>
            <a:ext cx="11091672" cy="502920"/>
          </a:xfrm>
          <a:prstGeom prst="roundRect">
            <a:avLst>
              <a:gd name="adj" fmla="val 10909"/>
            </a:avLst>
          </a:prstGeom>
          <a:solidFill>
            <a:srgbClr val="0A2559"/>
          </a:solidFill>
          <a:ln w="12700">
            <a:solidFill>
              <a:srgbClr val="0A2559"/>
            </a:solidFill>
            <a:prstDash val="solid"/>
          </a:ln>
        </p:spPr>
      </p:sp>
      <p:sp>
        <p:nvSpPr>
          <p:cNvPr id="37" name="Text 35"/>
          <p:cNvSpPr/>
          <p:nvPr/>
        </p:nvSpPr>
        <p:spPr>
          <a:xfrm>
            <a:off x="822960" y="6144768"/>
            <a:ext cx="10607040" cy="502920"/>
          </a:xfrm>
          <a:prstGeom prst="rect">
            <a:avLst/>
          </a:prstGeom>
          <a:noFill/>
          <a:ln/>
        </p:spPr>
        <p:txBody>
          <a:bodyPr wrap="square" lIns="0" tIns="0" rIns="0" bIns="0" rtlCol="0" anchor="ctr"/>
          <a:lstStyle/>
          <a:p>
            <a:pPr algn="l" indent="0" marL="0">
              <a:lnSpc>
                <a:spcPct val="108000"/>
              </a:lnSpc>
              <a:buNone/>
            </a:pPr>
            <a:r>
              <a:rPr lang="en-US" sz="1200" dirty="0">
                <a:solidFill>
                  <a:srgbClr val="C9D6F2"/>
                </a:solidFill>
                <a:latin typeface="Calibri" pitchFamily="34" charset="0"/>
                <a:ea typeface="Calibri" pitchFamily="34" charset="-122"/>
                <a:cs typeface="Calibri" pitchFamily="34" charset="-120"/>
              </a:rPr>
              <a:t>SEED = 42 en la primera celda. El bloque 3 es el obligatorio: si el tiempo se acaba, los demás se terminan en casa.</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2559"/>
        </a:solidFill>
      </p:bgPr>
    </p:bg>
    <p:spTree>
      <p:nvGrpSpPr>
        <p:cNvPr id="1" name=""/>
        <p:cNvGrpSpPr/>
        <p:nvPr/>
      </p:nvGrpSpPr>
      <p:grpSpPr>
        <a:xfrm>
          <a:off x="0" y="0"/>
          <a:ext cx="0" cy="0"/>
          <a:chOff x="0" y="0"/>
          <a:chExt cx="0" cy="0"/>
        </a:xfrm>
      </p:grpSpPr>
      <p:sp>
        <p:nvSpPr>
          <p:cNvPr id="2" name="Shape 0"/>
          <p:cNvSpPr/>
          <p:nvPr/>
        </p:nvSpPr>
        <p:spPr>
          <a:xfrm>
            <a:off x="9281160" y="766448"/>
            <a:ext cx="0" cy="798943"/>
          </a:xfrm>
          <a:prstGeom prst="line">
            <a:avLst/>
          </a:prstGeom>
          <a:noFill/>
          <a:ln w="25400">
            <a:solidFill>
              <a:srgbClr val="2E5AA8"/>
            </a:solidFill>
            <a:prstDash val="solid"/>
          </a:ln>
        </p:spPr>
      </p:sp>
      <p:sp>
        <p:nvSpPr>
          <p:cNvPr id="3" name="Shape 1"/>
          <p:cNvSpPr/>
          <p:nvPr/>
        </p:nvSpPr>
        <p:spPr>
          <a:xfrm>
            <a:off x="9226296" y="1111055"/>
            <a:ext cx="109728" cy="109728"/>
          </a:xfrm>
          <a:prstGeom prst="roundRect">
            <a:avLst>
              <a:gd name="adj" fmla="val 50000"/>
            </a:avLst>
          </a:prstGeom>
          <a:solidFill>
            <a:srgbClr val="4A82FF"/>
          </a:solidFill>
          <a:ln w="12700">
            <a:solidFill>
              <a:srgbClr val="4A82FF"/>
            </a:solidFill>
            <a:prstDash val="solid"/>
          </a:ln>
        </p:spPr>
      </p:sp>
      <p:sp>
        <p:nvSpPr>
          <p:cNvPr id="4" name="Shape 2"/>
          <p:cNvSpPr/>
          <p:nvPr/>
        </p:nvSpPr>
        <p:spPr>
          <a:xfrm>
            <a:off x="9665208" y="1388908"/>
            <a:ext cx="0" cy="761635"/>
          </a:xfrm>
          <a:prstGeom prst="line">
            <a:avLst/>
          </a:prstGeom>
          <a:noFill/>
          <a:ln w="25400">
            <a:solidFill>
              <a:srgbClr val="2E5AA8"/>
            </a:solidFill>
            <a:prstDash val="solid"/>
          </a:ln>
        </p:spPr>
      </p:sp>
      <p:sp>
        <p:nvSpPr>
          <p:cNvPr id="5" name="Shape 3"/>
          <p:cNvSpPr/>
          <p:nvPr/>
        </p:nvSpPr>
        <p:spPr>
          <a:xfrm>
            <a:off x="9610344" y="1714861"/>
            <a:ext cx="109728" cy="109728"/>
          </a:xfrm>
          <a:prstGeom prst="roundRect">
            <a:avLst>
              <a:gd name="adj" fmla="val 50000"/>
            </a:avLst>
          </a:prstGeom>
          <a:solidFill>
            <a:srgbClr val="4A82FF"/>
          </a:solidFill>
          <a:ln w="12700">
            <a:solidFill>
              <a:srgbClr val="4A82FF"/>
            </a:solidFill>
            <a:prstDash val="solid"/>
          </a:ln>
        </p:spPr>
      </p:sp>
      <p:sp>
        <p:nvSpPr>
          <p:cNvPr id="6" name="Shape 4"/>
          <p:cNvSpPr/>
          <p:nvPr/>
        </p:nvSpPr>
        <p:spPr>
          <a:xfrm>
            <a:off x="10049256" y="886003"/>
            <a:ext cx="0" cy="838790"/>
          </a:xfrm>
          <a:prstGeom prst="line">
            <a:avLst/>
          </a:prstGeom>
          <a:noFill/>
          <a:ln w="25400">
            <a:solidFill>
              <a:srgbClr val="2E5AA8"/>
            </a:solidFill>
            <a:prstDash val="solid"/>
          </a:ln>
        </p:spPr>
      </p:sp>
      <p:sp>
        <p:nvSpPr>
          <p:cNvPr id="7" name="Shape 5"/>
          <p:cNvSpPr/>
          <p:nvPr/>
        </p:nvSpPr>
        <p:spPr>
          <a:xfrm>
            <a:off x="9994392" y="1250534"/>
            <a:ext cx="109728" cy="109728"/>
          </a:xfrm>
          <a:prstGeom prst="roundRect">
            <a:avLst>
              <a:gd name="adj" fmla="val 50000"/>
            </a:avLst>
          </a:prstGeom>
          <a:solidFill>
            <a:srgbClr val="4A82FF"/>
          </a:solidFill>
          <a:ln w="12700">
            <a:solidFill>
              <a:srgbClr val="4A82FF"/>
            </a:solidFill>
            <a:prstDash val="solid"/>
          </a:ln>
        </p:spPr>
      </p:sp>
      <p:sp>
        <p:nvSpPr>
          <p:cNvPr id="8" name="Shape 6"/>
          <p:cNvSpPr/>
          <p:nvPr/>
        </p:nvSpPr>
        <p:spPr>
          <a:xfrm>
            <a:off x="10433304" y="792724"/>
            <a:ext cx="0" cy="876489"/>
          </a:xfrm>
          <a:prstGeom prst="line">
            <a:avLst/>
          </a:prstGeom>
          <a:noFill/>
          <a:ln w="25400">
            <a:solidFill>
              <a:srgbClr val="E6115E"/>
            </a:solidFill>
            <a:prstDash val="solid"/>
          </a:ln>
        </p:spPr>
      </p:sp>
      <p:sp>
        <p:nvSpPr>
          <p:cNvPr id="9" name="Shape 7"/>
          <p:cNvSpPr/>
          <p:nvPr/>
        </p:nvSpPr>
        <p:spPr>
          <a:xfrm>
            <a:off x="10378440" y="1176104"/>
            <a:ext cx="109728" cy="109728"/>
          </a:xfrm>
          <a:prstGeom prst="roundRect">
            <a:avLst>
              <a:gd name="adj" fmla="val 50000"/>
            </a:avLst>
          </a:prstGeom>
          <a:solidFill>
            <a:srgbClr val="E6115E"/>
          </a:solidFill>
          <a:ln w="12700">
            <a:solidFill>
              <a:srgbClr val="E6115E"/>
            </a:solidFill>
            <a:prstDash val="solid"/>
          </a:ln>
        </p:spPr>
      </p:sp>
      <p:sp>
        <p:nvSpPr>
          <p:cNvPr id="10" name="Shape 8"/>
          <p:cNvSpPr/>
          <p:nvPr/>
        </p:nvSpPr>
        <p:spPr>
          <a:xfrm>
            <a:off x="10817352" y="996484"/>
            <a:ext cx="0" cy="746432"/>
          </a:xfrm>
          <a:prstGeom prst="line">
            <a:avLst/>
          </a:prstGeom>
          <a:noFill/>
          <a:ln w="25400">
            <a:solidFill>
              <a:srgbClr val="2E5AA8"/>
            </a:solidFill>
            <a:prstDash val="solid"/>
          </a:ln>
        </p:spPr>
      </p:sp>
      <p:sp>
        <p:nvSpPr>
          <p:cNvPr id="11" name="Shape 9"/>
          <p:cNvSpPr/>
          <p:nvPr/>
        </p:nvSpPr>
        <p:spPr>
          <a:xfrm>
            <a:off x="10762488" y="1314836"/>
            <a:ext cx="109728" cy="109728"/>
          </a:xfrm>
          <a:prstGeom prst="roundRect">
            <a:avLst>
              <a:gd name="adj" fmla="val 50000"/>
            </a:avLst>
          </a:prstGeom>
          <a:solidFill>
            <a:srgbClr val="4A82FF"/>
          </a:solidFill>
          <a:ln w="12700">
            <a:solidFill>
              <a:srgbClr val="4A82FF"/>
            </a:solidFill>
            <a:prstDash val="solid"/>
          </a:ln>
        </p:spPr>
      </p:sp>
      <p:sp>
        <p:nvSpPr>
          <p:cNvPr id="12" name="Shape 10"/>
          <p:cNvSpPr/>
          <p:nvPr/>
        </p:nvSpPr>
        <p:spPr>
          <a:xfrm>
            <a:off x="11201400" y="1158776"/>
            <a:ext cx="0" cy="937613"/>
          </a:xfrm>
          <a:prstGeom prst="line">
            <a:avLst/>
          </a:prstGeom>
          <a:noFill/>
          <a:ln w="25400">
            <a:solidFill>
              <a:srgbClr val="2E5AA8"/>
            </a:solidFill>
            <a:prstDash val="solid"/>
          </a:ln>
        </p:spPr>
      </p:sp>
      <p:sp>
        <p:nvSpPr>
          <p:cNvPr id="13" name="Shape 11"/>
          <p:cNvSpPr/>
          <p:nvPr/>
        </p:nvSpPr>
        <p:spPr>
          <a:xfrm>
            <a:off x="11146536" y="1572718"/>
            <a:ext cx="109728" cy="109728"/>
          </a:xfrm>
          <a:prstGeom prst="roundRect">
            <a:avLst>
              <a:gd name="adj" fmla="val 50000"/>
            </a:avLst>
          </a:prstGeom>
          <a:solidFill>
            <a:srgbClr val="4A82FF"/>
          </a:solidFill>
          <a:ln w="12700">
            <a:solidFill>
              <a:srgbClr val="4A82FF"/>
            </a:solidFill>
            <a:prstDash val="solid"/>
          </a:ln>
        </p:spPr>
      </p:sp>
      <p:sp>
        <p:nvSpPr>
          <p:cNvPr id="14" name="Shape 12"/>
          <p:cNvSpPr/>
          <p:nvPr/>
        </p:nvSpPr>
        <p:spPr>
          <a:xfrm>
            <a:off x="11585448" y="1008820"/>
            <a:ext cx="0" cy="1048489"/>
          </a:xfrm>
          <a:prstGeom prst="line">
            <a:avLst/>
          </a:prstGeom>
          <a:noFill/>
          <a:ln w="25400">
            <a:solidFill>
              <a:srgbClr val="2E5AA8"/>
            </a:solidFill>
            <a:prstDash val="solid"/>
          </a:ln>
        </p:spPr>
      </p:sp>
      <p:sp>
        <p:nvSpPr>
          <p:cNvPr id="15" name="Shape 13"/>
          <p:cNvSpPr/>
          <p:nvPr/>
        </p:nvSpPr>
        <p:spPr>
          <a:xfrm>
            <a:off x="11530584" y="1478201"/>
            <a:ext cx="109728" cy="109728"/>
          </a:xfrm>
          <a:prstGeom prst="roundRect">
            <a:avLst>
              <a:gd name="adj" fmla="val 50000"/>
            </a:avLst>
          </a:prstGeom>
          <a:solidFill>
            <a:srgbClr val="4A82FF"/>
          </a:solidFill>
          <a:ln w="12700">
            <a:solidFill>
              <a:srgbClr val="4A82FF"/>
            </a:solidFill>
            <a:prstDash val="solid"/>
          </a:ln>
        </p:spPr>
      </p:sp>
      <p:sp>
        <p:nvSpPr>
          <p:cNvPr id="16" name="Shape 14"/>
          <p:cNvSpPr/>
          <p:nvPr/>
        </p:nvSpPr>
        <p:spPr>
          <a:xfrm>
            <a:off x="548640" y="457200"/>
            <a:ext cx="2194560" cy="347472"/>
          </a:xfrm>
          <a:prstGeom prst="roundRect">
            <a:avLst>
              <a:gd name="adj" fmla="val 50000"/>
            </a:avLst>
          </a:prstGeom>
          <a:solidFill>
            <a:srgbClr val="E6115E"/>
          </a:solidFill>
          <a:ln w="12700">
            <a:solidFill>
              <a:srgbClr val="E6115E"/>
            </a:solidFill>
            <a:prstDash val="solid"/>
          </a:ln>
        </p:spPr>
      </p:sp>
      <p:sp>
        <p:nvSpPr>
          <p:cNvPr id="17" name="Text 15"/>
          <p:cNvSpPr/>
          <p:nvPr/>
        </p:nvSpPr>
        <p:spPr>
          <a:xfrm>
            <a:off x="548640" y="457200"/>
            <a:ext cx="21945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CIERRE · 10 MIN</a:t>
            </a:r>
            <a:endParaRPr lang="en-US" sz="1150" dirty="0"/>
          </a:p>
        </p:txBody>
      </p:sp>
      <p:sp>
        <p:nvSpPr>
          <p:cNvPr id="18" name="Text 16"/>
          <p:cNvSpPr/>
          <p:nvPr/>
        </p:nvSpPr>
        <p:spPr>
          <a:xfrm>
            <a:off x="548640" y="914400"/>
            <a:ext cx="8229600" cy="640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Si te llevas una sola cosa</a:t>
            </a:r>
            <a:endParaRPr lang="en-US" sz="3400" dirty="0"/>
          </a:p>
        </p:txBody>
      </p:sp>
      <p:sp>
        <p:nvSpPr>
          <p:cNvPr id="19" name="Text 17"/>
          <p:cNvSpPr/>
          <p:nvPr/>
        </p:nvSpPr>
        <p:spPr>
          <a:xfrm>
            <a:off x="548640" y="1572768"/>
            <a:ext cx="8412480" cy="457200"/>
          </a:xfrm>
          <a:prstGeom prst="rect">
            <a:avLst/>
          </a:prstGeom>
          <a:noFill/>
          <a:ln/>
        </p:spPr>
        <p:txBody>
          <a:bodyPr wrap="square" lIns="0" tIns="0" rIns="0" bIns="0" rtlCol="0" anchor="t"/>
          <a:lstStyle/>
          <a:p>
            <a:pPr algn="l" indent="0" marL="0">
              <a:lnSpc>
                <a:spcPct val="108000"/>
              </a:lnSpc>
              <a:buNone/>
            </a:pPr>
            <a:r>
              <a:rPr lang="en-US" sz="1500" i="1" dirty="0">
                <a:solidFill>
                  <a:srgbClr val="C9D6F2"/>
                </a:solidFill>
                <a:latin typeface="Calibri" pitchFamily="34" charset="0"/>
                <a:ea typeface="Calibri" pitchFamily="34" charset="-122"/>
                <a:cs typeface="Calibri" pitchFamily="34" charset="-120"/>
              </a:rPr>
              <a:t>Un número sin su intervalo es una opinión con decimales. Y un intervalo sobre una muestra sesgada es una opinión con decimales y coartada.</a:t>
            </a:r>
            <a:endParaRPr lang="en-US" sz="1500" dirty="0"/>
          </a:p>
        </p:txBody>
      </p:sp>
      <p:sp>
        <p:nvSpPr>
          <p:cNvPr id="20" name="Shape 18"/>
          <p:cNvSpPr/>
          <p:nvPr/>
        </p:nvSpPr>
        <p:spPr>
          <a:xfrm>
            <a:off x="548640" y="2212848"/>
            <a:ext cx="5468112" cy="2487168"/>
          </a:xfrm>
          <a:prstGeom prst="roundRect">
            <a:avLst>
              <a:gd name="adj" fmla="val 2206"/>
            </a:avLst>
          </a:prstGeom>
          <a:solidFill>
            <a:srgbClr val="061834"/>
          </a:solidFill>
          <a:ln w="12700">
            <a:solidFill>
              <a:srgbClr val="1A3B72"/>
            </a:solidFill>
            <a:prstDash val="solid"/>
          </a:ln>
        </p:spPr>
      </p:sp>
      <p:sp>
        <p:nvSpPr>
          <p:cNvPr id="21" name="Shape 19"/>
          <p:cNvSpPr/>
          <p:nvPr/>
        </p:nvSpPr>
        <p:spPr>
          <a:xfrm>
            <a:off x="804672" y="2496312"/>
            <a:ext cx="118872" cy="118872"/>
          </a:xfrm>
          <a:prstGeom prst="roundRect">
            <a:avLst>
              <a:gd name="adj" fmla="val 30769"/>
            </a:avLst>
          </a:prstGeom>
          <a:solidFill>
            <a:srgbClr val="E6115E"/>
          </a:solidFill>
          <a:ln w="12700">
            <a:solidFill>
              <a:srgbClr val="E6115E"/>
            </a:solidFill>
            <a:prstDash val="solid"/>
          </a:ln>
        </p:spPr>
      </p:sp>
      <p:sp>
        <p:nvSpPr>
          <p:cNvPr id="22" name="Text 20"/>
          <p:cNvSpPr/>
          <p:nvPr/>
        </p:nvSpPr>
        <p:spPr>
          <a:xfrm>
            <a:off x="1042416" y="2395728"/>
            <a:ext cx="47914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Checklist de salida</a:t>
            </a:r>
            <a:endParaRPr lang="en-US" sz="1500" dirty="0"/>
          </a:p>
        </p:txBody>
      </p:sp>
      <p:sp>
        <p:nvSpPr>
          <p:cNvPr id="23" name="Text 21"/>
          <p:cNvSpPr/>
          <p:nvPr/>
        </p:nvSpPr>
        <p:spPr>
          <a:xfrm>
            <a:off x="804672" y="2798064"/>
            <a:ext cx="4983480" cy="17830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C9D6F2"/>
                </a:solidFill>
                <a:latin typeface="Calibri" pitchFamily="34" charset="0"/>
                <a:ea typeface="Calibri" pitchFamily="34" charset="-122"/>
                <a:cs typeface="Calibri" pitchFamily="34" charset="-120"/>
              </a:rPr>
              <a:t>Distingo μ de x̄ y sé por qué solo uno tiene distribución.</a:t>
            </a:r>
            <a:endParaRPr lang="en-US" sz="1150" dirty="0"/>
          </a:p>
          <a:p>
            <a:pPr marL="342900" indent="-342900">
              <a:spcAft>
                <a:spcPts val="300"/>
              </a:spcAft>
              <a:buSzPct val="100000"/>
              <a:buChar char="•"/>
            </a:pPr>
            <a:r>
              <a:rPr lang="en-US" sz="1150" dirty="0">
                <a:solidFill>
                  <a:srgbClr val="C9D6F2"/>
                </a:solidFill>
                <a:latin typeface="Calibri" pitchFamily="34" charset="0"/>
                <a:ea typeface="Calibri" pitchFamily="34" charset="-122"/>
                <a:cs typeface="Calibri" pitchFamily="34" charset="-120"/>
              </a:rPr>
              <a:t>Sé calcular un EE y explicar por qué va √n.</a:t>
            </a:r>
            <a:endParaRPr lang="en-US" sz="1150" dirty="0"/>
          </a:p>
          <a:p>
            <a:pPr marL="342900" indent="-342900">
              <a:spcAft>
                <a:spcPts val="300"/>
              </a:spcAft>
              <a:buSzPct val="100000"/>
              <a:buChar char="•"/>
            </a:pPr>
            <a:r>
              <a:rPr lang="en-US" sz="1150" dirty="0">
                <a:solidFill>
                  <a:srgbClr val="C9D6F2"/>
                </a:solidFill>
                <a:latin typeface="Calibri" pitchFamily="34" charset="0"/>
                <a:ea typeface="Calibri" pitchFamily="34" charset="-122"/>
                <a:cs typeface="Calibri" pitchFamily="34" charset="-120"/>
              </a:rPr>
              <a:t>Construyo un IC al 95 % a mano.</a:t>
            </a:r>
            <a:endParaRPr lang="en-US" sz="1150" dirty="0"/>
          </a:p>
          <a:p>
            <a:pPr marL="342900" indent="-342900">
              <a:spcAft>
                <a:spcPts val="300"/>
              </a:spcAft>
              <a:buSzPct val="100000"/>
              <a:buChar char="•"/>
            </a:pPr>
            <a:r>
              <a:rPr lang="en-US" sz="1150" dirty="0">
                <a:solidFill>
                  <a:srgbClr val="C9D6F2"/>
                </a:solidFill>
                <a:latin typeface="Calibri" pitchFamily="34" charset="0"/>
                <a:ea typeface="Calibri" pitchFamily="34" charset="-122"/>
                <a:cs typeface="Calibri" pitchFamily="34" charset="-120"/>
              </a:rPr>
              <a:t>Sé decir qué significa «95 %» sin cometer el error 1 de la slide 12.</a:t>
            </a:r>
            <a:endParaRPr lang="en-US" sz="1150" dirty="0"/>
          </a:p>
          <a:p>
            <a:pPr marL="342900" indent="-342900">
              <a:spcAft>
                <a:spcPts val="300"/>
              </a:spcAft>
              <a:buSzPct val="100000"/>
              <a:buChar char="•"/>
            </a:pPr>
            <a:r>
              <a:rPr lang="en-US" sz="1150" dirty="0">
                <a:solidFill>
                  <a:srgbClr val="C9D6F2"/>
                </a:solidFill>
                <a:latin typeface="Calibri" pitchFamily="34" charset="0"/>
                <a:ea typeface="Calibri" pitchFamily="34" charset="-122"/>
                <a:cs typeface="Calibri" pitchFamily="34" charset="-120"/>
              </a:rPr>
              <a:t>Sé calcular cuánta muestra pedir antes de empezar.</a:t>
            </a:r>
            <a:endParaRPr lang="en-US" sz="1150" dirty="0"/>
          </a:p>
          <a:p>
            <a:pPr marL="342900" indent="-342900">
              <a:spcAft>
                <a:spcPts val="300"/>
              </a:spcAft>
              <a:buSzPct val="100000"/>
              <a:buChar char="•"/>
            </a:pPr>
            <a:r>
              <a:rPr lang="en-US" sz="1150" dirty="0">
                <a:solidFill>
                  <a:srgbClr val="C9D6F2"/>
                </a:solidFill>
                <a:latin typeface="Calibri" pitchFamily="34" charset="0"/>
                <a:ea typeface="Calibri" pitchFamily="34" charset="-122"/>
                <a:cs typeface="Calibri" pitchFamily="34" charset="-120"/>
              </a:rPr>
              <a:t>Sé cuándo el IC clásico no me protege.</a:t>
            </a:r>
            <a:endParaRPr lang="en-US" sz="1150" dirty="0"/>
          </a:p>
        </p:txBody>
      </p:sp>
      <p:sp>
        <p:nvSpPr>
          <p:cNvPr id="24" name="Shape 22"/>
          <p:cNvSpPr/>
          <p:nvPr/>
        </p:nvSpPr>
        <p:spPr>
          <a:xfrm>
            <a:off x="6172200" y="2212848"/>
            <a:ext cx="5468112" cy="2487168"/>
          </a:xfrm>
          <a:prstGeom prst="roundRect">
            <a:avLst>
              <a:gd name="adj" fmla="val 2206"/>
            </a:avLst>
          </a:prstGeom>
          <a:solidFill>
            <a:srgbClr val="061834"/>
          </a:solidFill>
          <a:ln w="12700">
            <a:solidFill>
              <a:srgbClr val="1A3B72"/>
            </a:solidFill>
            <a:prstDash val="solid"/>
          </a:ln>
        </p:spPr>
      </p:sp>
      <p:sp>
        <p:nvSpPr>
          <p:cNvPr id="25" name="Shape 23"/>
          <p:cNvSpPr/>
          <p:nvPr/>
        </p:nvSpPr>
        <p:spPr>
          <a:xfrm>
            <a:off x="6419088" y="2496312"/>
            <a:ext cx="118872" cy="118872"/>
          </a:xfrm>
          <a:prstGeom prst="roundRect">
            <a:avLst>
              <a:gd name="adj" fmla="val 30769"/>
            </a:avLst>
          </a:prstGeom>
          <a:solidFill>
            <a:srgbClr val="E6115E"/>
          </a:solidFill>
          <a:ln w="12700">
            <a:solidFill>
              <a:srgbClr val="E6115E"/>
            </a:solidFill>
            <a:prstDash val="solid"/>
          </a:ln>
        </p:spPr>
      </p:sp>
      <p:sp>
        <p:nvSpPr>
          <p:cNvPr id="26" name="Text 24"/>
          <p:cNvSpPr/>
          <p:nvPr/>
        </p:nvSpPr>
        <p:spPr>
          <a:xfrm>
            <a:off x="6656832" y="2395728"/>
            <a:ext cx="47914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Reto para la próxima clase</a:t>
            </a:r>
            <a:endParaRPr lang="en-US" sz="1500" dirty="0"/>
          </a:p>
        </p:txBody>
      </p:sp>
      <p:sp>
        <p:nvSpPr>
          <p:cNvPr id="27" name="Text 25"/>
          <p:cNvSpPr/>
          <p:nvPr/>
        </p:nvSpPr>
        <p:spPr>
          <a:xfrm>
            <a:off x="6419088" y="2798064"/>
            <a:ext cx="4983480" cy="1783080"/>
          </a:xfrm>
          <a:prstGeom prst="rect">
            <a:avLst/>
          </a:prstGeom>
          <a:noFill/>
          <a:ln/>
        </p:spPr>
        <p:txBody>
          <a:bodyPr wrap="square" lIns="0" tIns="0" rIns="0" bIns="0" rtlCol="0" anchor="t"/>
          <a:lstStyle/>
          <a:p>
            <a:pPr algn="l" indent="0" marL="0">
              <a:lnSpc>
                <a:spcPct val="110000"/>
              </a:lnSpc>
              <a:buNone/>
            </a:pPr>
            <a:r>
              <a:rPr lang="en-US" sz="1150" dirty="0">
                <a:solidFill>
                  <a:srgbClr val="C9D6F2"/>
                </a:solidFill>
                <a:latin typeface="Calibri" pitchFamily="34" charset="0"/>
                <a:ea typeface="Calibri" pitchFamily="34" charset="-122"/>
                <a:cs typeface="Calibri" pitchFamily="34" charset="-120"/>
              </a:rPr>
              <a:t>Toma un número que ya hayas reportado en tu trabajo: un promedio, una tasa, un porcentaje de aprobación.</a:t>
            </a:r>
            <a:endParaRPr lang="en-US" sz="1150" dirty="0"/>
          </a:p>
          <a:p>
            <a:pPr algn="l" indent="0" marL="0">
              <a:lnSpc>
                <a:spcPct val="110000"/>
              </a:lnSpc>
              <a:buNone/>
            </a:pPr>
            <a:endParaRPr lang="en-US" sz="1150" dirty="0"/>
          </a:p>
          <a:p>
            <a:pPr algn="l" indent="0" marL="0">
              <a:lnSpc>
                <a:spcPct val="110000"/>
              </a:lnSpc>
              <a:buNone/>
            </a:pPr>
            <a:r>
              <a:rPr lang="en-US" sz="1150" dirty="0">
                <a:solidFill>
                  <a:srgbClr val="C9D6F2"/>
                </a:solidFill>
                <a:latin typeface="Calibri" pitchFamily="34" charset="0"/>
                <a:ea typeface="Calibri" pitchFamily="34" charset="-122"/>
                <a:cs typeface="Calibri" pitchFamily="34" charset="-120"/>
              </a:rPr>
              <a:t>Reconstruye su intervalo de confianza al 95 % y trae las dos cosas: el número que reportaste y el ancho del intervalo que lo acompañaba (o que le faltaba).</a:t>
            </a:r>
            <a:endParaRPr lang="en-US" sz="1150" dirty="0"/>
          </a:p>
          <a:p>
            <a:pPr algn="l" indent="0" marL="0">
              <a:lnSpc>
                <a:spcPct val="110000"/>
              </a:lnSpc>
              <a:buNone/>
            </a:pPr>
            <a:endParaRPr lang="en-US" sz="1150" dirty="0"/>
          </a:p>
          <a:p>
            <a:pPr algn="l" indent="0" marL="0">
              <a:lnSpc>
                <a:spcPct val="110000"/>
              </a:lnSpc>
              <a:buNone/>
            </a:pPr>
            <a:r>
              <a:rPr lang="en-US" sz="1150" dirty="0">
                <a:solidFill>
                  <a:srgbClr val="C9D6F2"/>
                </a:solidFill>
                <a:latin typeface="Calibri" pitchFamily="34" charset="0"/>
                <a:ea typeface="Calibri" pitchFamily="34" charset="-122"/>
                <a:cs typeface="Calibri" pitchFamily="34" charset="-120"/>
              </a:rPr>
              <a:t>Y una segunda pregunta, la incómoda: ¿cómo se eligió esa muestra?</a:t>
            </a:r>
            <a:endParaRPr lang="en-US" sz="1150" dirty="0"/>
          </a:p>
        </p:txBody>
      </p:sp>
      <p:sp>
        <p:nvSpPr>
          <p:cNvPr id="28" name="Shape 26"/>
          <p:cNvSpPr/>
          <p:nvPr/>
        </p:nvSpPr>
        <p:spPr>
          <a:xfrm>
            <a:off x="548640" y="4892040"/>
            <a:ext cx="11091672" cy="1234440"/>
          </a:xfrm>
          <a:prstGeom prst="roundRect">
            <a:avLst>
              <a:gd name="adj" fmla="val 4444"/>
            </a:avLst>
          </a:prstGeom>
          <a:solidFill>
            <a:srgbClr val="061834"/>
          </a:solidFill>
          <a:ln w="12700">
            <a:solidFill>
              <a:srgbClr val="1A3B72"/>
            </a:solidFill>
            <a:prstDash val="solid"/>
          </a:ln>
        </p:spPr>
      </p:sp>
      <p:sp>
        <p:nvSpPr>
          <p:cNvPr id="29" name="Shape 27"/>
          <p:cNvSpPr/>
          <p:nvPr/>
        </p:nvSpPr>
        <p:spPr>
          <a:xfrm>
            <a:off x="804672" y="5157216"/>
            <a:ext cx="118872" cy="118872"/>
          </a:xfrm>
          <a:prstGeom prst="roundRect">
            <a:avLst>
              <a:gd name="adj" fmla="val 30769"/>
            </a:avLst>
          </a:prstGeom>
          <a:solidFill>
            <a:srgbClr val="E6115E"/>
          </a:solidFill>
          <a:ln w="12700">
            <a:solidFill>
              <a:srgbClr val="E6115E"/>
            </a:solidFill>
            <a:prstDash val="solid"/>
          </a:ln>
        </p:spPr>
      </p:sp>
      <p:sp>
        <p:nvSpPr>
          <p:cNvPr id="30" name="Text 28"/>
          <p:cNvSpPr/>
          <p:nvPr/>
        </p:nvSpPr>
        <p:spPr>
          <a:xfrm>
            <a:off x="1042416" y="5056632"/>
            <a:ext cx="52486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Clase 5</a:t>
            </a:r>
            <a:endParaRPr lang="en-US" sz="1500" dirty="0"/>
          </a:p>
        </p:txBody>
      </p:sp>
      <p:sp>
        <p:nvSpPr>
          <p:cNvPr id="31" name="Text 29"/>
          <p:cNvSpPr/>
          <p:nvPr/>
        </p:nvSpPr>
        <p:spPr>
          <a:xfrm>
            <a:off x="804672" y="5422392"/>
            <a:ext cx="10607040" cy="640080"/>
          </a:xfrm>
          <a:prstGeom prst="rect">
            <a:avLst/>
          </a:prstGeom>
          <a:noFill/>
          <a:ln/>
        </p:spPr>
        <p:txBody>
          <a:bodyPr wrap="square" lIns="0" tIns="0" rIns="0" bIns="0" rtlCol="0" anchor="t"/>
          <a:lstStyle/>
          <a:p>
            <a:pPr algn="l" indent="0" marL="0">
              <a:lnSpc>
                <a:spcPct val="110000"/>
              </a:lnSpc>
              <a:buNone/>
            </a:pPr>
            <a:r>
              <a:rPr lang="en-US" sz="1250" dirty="0">
                <a:solidFill>
                  <a:srgbClr val="C9D6F2"/>
                </a:solidFill>
                <a:latin typeface="Calibri" pitchFamily="34" charset="0"/>
                <a:ea typeface="Calibri" pitchFamily="34" charset="-122"/>
                <a:cs typeface="Calibri" pitchFamily="34" charset="-120"/>
              </a:rPr>
              <a:t>Pruebas de hipótesis: la otra cara de la misma moneda. El intervalo de hoy y la prueba de la próxima clase contestan la misma pregunta con distinta gramática — y verás que un IC que no contiene un valor es exactamente una prueba que lo rechaza. Entra también el p-valor, con la misma advertencia de la Clase 3: mide una cosa distinta de la que la gente cree.</a:t>
            </a:r>
            <a:endParaRPr lang="en-US" sz="1250" dirty="0"/>
          </a:p>
        </p:txBody>
      </p:sp>
      <p:sp>
        <p:nvSpPr>
          <p:cNvPr id="32" name="Text 30"/>
          <p:cNvSpPr/>
          <p:nvPr/>
        </p:nvSpPr>
        <p:spPr>
          <a:xfrm>
            <a:off x="548640" y="6263640"/>
            <a:ext cx="8229600" cy="320040"/>
          </a:xfrm>
          <a:prstGeom prst="rect">
            <a:avLst/>
          </a:prstGeom>
          <a:noFill/>
          <a:ln/>
        </p:spPr>
        <p:txBody>
          <a:bodyPr wrap="square" lIns="0" tIns="0" rIns="0" bIns="0" rtlCol="0" anchor="ctr"/>
          <a:lstStyle/>
          <a:p>
            <a:pPr indent="0" marL="0">
              <a:buNone/>
            </a:pPr>
            <a:r>
              <a:rPr lang="en-US" sz="1050" i="1" dirty="0">
                <a:solidFill>
                  <a:srgbClr val="7C93C4"/>
                </a:solidFill>
                <a:latin typeface="Calibri" pitchFamily="34" charset="0"/>
                <a:ea typeface="Calibri" pitchFamily="34" charset="-122"/>
                <a:cs typeface="Calibri" pitchFamily="34" charset="-120"/>
              </a:rPr>
              <a:t>Estadística Descriptiva e Inferencial · Módulo 2 · Clase 4 · SEED = 42</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4 — Del parámetro al estimador</dc:title>
  <dc:subject>PptxGenJS Presentation</dc:subject>
  <dc:creator>Rodrigo</dc:creator>
  <cp:lastModifiedBy>Rodrigo</cp:lastModifiedBy>
  <cp:revision>1</cp:revision>
  <dcterms:created xsi:type="dcterms:W3CDTF">2026-08-07T20:07:19Z</dcterms:created>
  <dcterms:modified xsi:type="dcterms:W3CDTF">2026-08-07T20:07:19Z</dcterms:modified>
</cp:coreProperties>
</file>