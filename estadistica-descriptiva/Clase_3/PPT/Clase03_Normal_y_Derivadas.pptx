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5.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N(500, 120²)  base</c:v>
                </c:pt>
              </c:strCache>
            </c:strRef>
          </c:tx>
          <c:spPr>
            <a:ln w="38100" cap="flat">
              <a:solidFill>
                <a:srgbClr val="1A56E8"/>
              </a:solidFill>
              <a:prstDash val="solid"/>
              <a:round/>
            </a:ln>
            <a:effectLst/>
          </c:spPr>
          <c:marker>
            <c:symbol val="none"/>
          </c:marker>
          <c:cat>
            <c:strRef>
              <c:f>Sheet1!$A$2:$A$92</c:f>
              <c:strCache>
                <c:ptCount val="91"/>
                <c:pt idx="0">
                  <c:v>100</c:v>
                </c:pt>
                <c:pt idx="10">
                  <c:v>200</c:v>
                </c:pt>
                <c:pt idx="20">
                  <c:v>300</c:v>
                </c:pt>
                <c:pt idx="30">
                  <c:v>400</c:v>
                </c:pt>
                <c:pt idx="40">
                  <c:v>500</c:v>
                </c:pt>
                <c:pt idx="50">
                  <c:v>600</c:v>
                </c:pt>
                <c:pt idx="60">
                  <c:v>700</c:v>
                </c:pt>
                <c:pt idx="70">
                  <c:v>800</c:v>
                </c:pt>
                <c:pt idx="80">
                  <c:v>900</c:v>
                </c:pt>
                <c:pt idx="90">
                  <c:v>1000</c:v>
                </c:pt>
              </c:strCache>
            </c:strRef>
          </c:cat>
          <c:val>
            <c:numRef>
              <c:f>Sheet1!$B$2:$B$92</c:f>
              <c:numCache>
                <c:formatCode>General</c:formatCode>
                <c:ptCount val="91"/>
                <c:pt idx="0">
                  <c:v>1.2852324969092543E-5</c:v>
                </c:pt>
                <c:pt idx="1">
                  <c:v>1.6908733810831399E-5</c:v>
                </c:pt>
                <c:pt idx="2">
                  <c:v>2.2091466286917544E-5</c:v>
                </c:pt>
                <c:pt idx="3">
                  <c:v>2.86630277265208E-5</c:v>
                </c:pt>
                <c:pt idx="4">
                  <c:v>3.6932070099483392E-5</c:v>
                </c:pt>
                <c:pt idx="5">
                  <c:v>4.7257343495382425E-5</c:v>
                </c:pt>
                <c:pt idx="6">
                  <c:v>6.0050831371743525E-5</c:v>
                </c:pt>
                <c:pt idx="7">
                  <c:v>7.5779687513258788E-5</c:v>
                </c:pt>
                <c:pt idx="8">
                  <c:v>9.4966550198312012E-5</c:v>
                </c:pt>
                <c:pt idx="9">
                  <c:v>1.1818778128697751E-4</c:v>
                </c:pt>
                <c:pt idx="10">
                  <c:v>1.4606917077973782E-4</c:v>
                </c:pt>
                <c:pt idx="11">
                  <c:v>1.7927866680644716E-4</c:v>
                </c:pt>
                <c:pt idx="12">
                  <c:v>2.1851574244757902E-4</c:v>
                </c:pt>
                <c:pt idx="13">
                  <c:v>2.6449709863056182E-4</c:v>
                </c:pt>
                <c:pt idx="14">
                  <c:v>3.1793852922014983E-4</c:v>
                </c:pt>
                <c:pt idx="15">
                  <c:v>3.7953294060754647E-4</c:v>
                </c:pt>
                <c:pt idx="16">
                  <c:v>4.4992472094323381E-4</c:v>
                </c:pt>
                <c:pt idx="17">
                  <c:v>5.2968088764135271E-4</c:v>
                </c:pt>
                <c:pt idx="18">
                  <c:v>6.1925969632494252E-4</c:v>
                </c:pt>
                <c:pt idx="19">
                  <c:v>7.1897765688759595E-4</c:v>
                </c:pt>
                <c:pt idx="20">
                  <c:v>8.2897615660623898E-4</c:v>
                </c:pt>
                <c:pt idx="21">
                  <c:v>9.4918911766826567E-4</c:v>
                </c:pt>
                <c:pt idx="22">
                  <c:v>1.0793132972157645E-3</c:v>
                </c:pt>
                <c:pt idx="23">
                  <c:v>1.2187829523294643E-3</c:v>
                </c:pt>
                <c:pt idx="24">
                  <c:v>1.3667506222999469E-3</c:v>
                </c:pt>
                <c:pt idx="25">
                  <c:v>1.5220757115751826E-3</c:v>
                </c:pt>
                <c:pt idx="26">
                  <c:v>1.6833223796171573E-3</c:v>
                </c:pt>
                <c:pt idx="27">
                  <c:v>1.8487679558811332E-3</c:v>
                </c:pt>
                <c:pt idx="28">
                  <c:v>2.0164227043261945E-3</c:v>
                </c:pt>
                <c:pt idx="29">
                  <c:v>2.1840612756525118E-3</c:v>
                </c:pt>
                <c:pt idx="30">
                  <c:v>2.3492656284191879E-3</c:v>
                </c:pt>
                <c:pt idx="31">
                  <c:v>2.5094786012900367E-3</c:v>
                </c:pt>
                <c:pt idx="32">
                  <c:v>2.6620667126862688E-3</c:v>
                </c:pt>
                <c:pt idx="33">
                  <c:v>2.8043901895412763E-3</c:v>
                </c:pt>
                <c:pt idx="34">
                  <c:v>2.9338777230358292E-3</c:v>
                </c:pt>
                <c:pt idx="35">
                  <c:v>3.0481030534500199E-3</c:v>
                </c:pt>
                <c:pt idx="36">
                  <c:v>3.1448602307749432E-3</c:v>
                </c:pt>
                <c:pt idx="37">
                  <c:v>3.2222343066904105E-3</c:v>
                </c:pt>
                <c:pt idx="38">
                  <c:v>3.2786643008494991E-3</c:v>
                </c:pt>
                <c:pt idx="39">
                  <c:v>3.3129955521528495E-3</c:v>
                </c:pt>
                <c:pt idx="40">
                  <c:v>3.3245190033452726E-3</c:v>
                </c:pt>
                <c:pt idx="41">
                  <c:v>3.3129955521528495E-3</c:v>
                </c:pt>
                <c:pt idx="42">
                  <c:v>3.2786643008494991E-3</c:v>
                </c:pt>
                <c:pt idx="43">
                  <c:v>3.2222343066904105E-3</c:v>
                </c:pt>
                <c:pt idx="44">
                  <c:v>3.1448602307749432E-3</c:v>
                </c:pt>
                <c:pt idx="45">
                  <c:v>3.0481030534500199E-3</c:v>
                </c:pt>
                <c:pt idx="46">
                  <c:v>2.9338777230358292E-3</c:v>
                </c:pt>
                <c:pt idx="47">
                  <c:v>2.8043901895412763E-3</c:v>
                </c:pt>
                <c:pt idx="48">
                  <c:v>2.6620667126862688E-3</c:v>
                </c:pt>
                <c:pt idx="49">
                  <c:v>2.5094786012900367E-3</c:v>
                </c:pt>
                <c:pt idx="50">
                  <c:v>2.3492656284191879E-3</c:v>
                </c:pt>
                <c:pt idx="51">
                  <c:v>2.1840612756525118E-3</c:v>
                </c:pt>
                <c:pt idx="52">
                  <c:v>2.0164227043261945E-3</c:v>
                </c:pt>
                <c:pt idx="53">
                  <c:v>1.8487679558811332E-3</c:v>
                </c:pt>
                <c:pt idx="54">
                  <c:v>1.6833223796171573E-3</c:v>
                </c:pt>
                <c:pt idx="55">
                  <c:v>1.5220757115751826E-3</c:v>
                </c:pt>
                <c:pt idx="56">
                  <c:v>1.3667506222999469E-3</c:v>
                </c:pt>
                <c:pt idx="57">
                  <c:v>1.2187829523294643E-3</c:v>
                </c:pt>
                <c:pt idx="58">
                  <c:v>1.0793132972157645E-3</c:v>
                </c:pt>
                <c:pt idx="59">
                  <c:v>9.4918911766826567E-4</c:v>
                </c:pt>
                <c:pt idx="60">
                  <c:v>8.2897615660623898E-4</c:v>
                </c:pt>
                <c:pt idx="61">
                  <c:v>7.1897765688759595E-4</c:v>
                </c:pt>
                <c:pt idx="62">
                  <c:v>6.1925969632494252E-4</c:v>
                </c:pt>
                <c:pt idx="63">
                  <c:v>5.2968088764135271E-4</c:v>
                </c:pt>
                <c:pt idx="64">
                  <c:v>4.4992472094323381E-4</c:v>
                </c:pt>
                <c:pt idx="65">
                  <c:v>3.7953294060754647E-4</c:v>
                </c:pt>
                <c:pt idx="66">
                  <c:v>3.1793852922014983E-4</c:v>
                </c:pt>
                <c:pt idx="67">
                  <c:v>2.6449709863056182E-4</c:v>
                </c:pt>
                <c:pt idx="68">
                  <c:v>2.1851574244757902E-4</c:v>
                </c:pt>
                <c:pt idx="69">
                  <c:v>1.7927866680644716E-4</c:v>
                </c:pt>
                <c:pt idx="70">
                  <c:v>1.4606917077973782E-4</c:v>
                </c:pt>
                <c:pt idx="71">
                  <c:v>1.1818778128697751E-4</c:v>
                </c:pt>
                <c:pt idx="72">
                  <c:v>9.4966550198312012E-5</c:v>
                </c:pt>
                <c:pt idx="73">
                  <c:v>7.5779687513258788E-5</c:v>
                </c:pt>
                <c:pt idx="74">
                  <c:v>6.0050831371743525E-5</c:v>
                </c:pt>
                <c:pt idx="75">
                  <c:v>4.7257343495382425E-5</c:v>
                </c:pt>
                <c:pt idx="76">
                  <c:v>3.6932070099483392E-5</c:v>
                </c:pt>
                <c:pt idx="77">
                  <c:v>2.86630277265208E-5</c:v>
                </c:pt>
                <c:pt idx="78">
                  <c:v>2.2091466286917544E-5</c:v>
                </c:pt>
                <c:pt idx="79">
                  <c:v>1.6908733810831399E-5</c:v>
                </c:pt>
                <c:pt idx="80">
                  <c:v>1.2852324969092543E-5</c:v>
                </c:pt>
                <c:pt idx="81">
                  <c:v>9.7014438643032063E-6</c:v>
                </c:pt>
                <c:pt idx="82">
                  <c:v>7.2723557920480011E-6</c:v>
                </c:pt>
                <c:pt idx="83">
                  <c:v>5.4137466409963641E-6</c:v>
                </c:pt>
                <c:pt idx="84">
                  <c:v>4.0022554301735055E-6</c:v>
                </c:pt>
                <c:pt idx="85">
                  <c:v>2.9382973530620451E-6</c:v>
                </c:pt>
                <c:pt idx="86">
                  <c:v>2.1422529588525527E-6</c:v>
                </c:pt>
                <c:pt idx="87">
                  <c:v>1.5510643816312013E-6</c:v>
                </c:pt>
                <c:pt idx="88">
                  <c:v>1.1152518813740446E-6</c:v>
                </c:pt>
                <c:pt idx="89">
                  <c:v>7.9634300625116141E-7</c:v>
                </c:pt>
                <c:pt idx="90">
                  <c:v>5.6469174907348032E-7</c:v>
                </c:pt>
              </c:numCache>
            </c:numRef>
          </c:val>
          <c:smooth val="1"/>
          <c:extLst>
            <c:ext xmlns:c16="http://schemas.microsoft.com/office/drawing/2014/chart" uri="{C3380CC4-5D6E-409C-BE32-E72D297353CC}">
              <c16:uniqueId val="{00000000-21DF-6646-9E91-612672809AD8}"/>
            </c:ext>
          </c:extLst>
        </c:ser>
        <c:ser>
          <c:idx val="1"/>
          <c:order val="1"/>
          <c:tx>
            <c:strRef>
              <c:f>Sheet1!$C$1</c:f>
              <c:strCache>
                <c:ptCount val="1"/>
                <c:pt idx="0">
                  <c:v>N(700, 120²)  μ mayor</c:v>
                </c:pt>
              </c:strCache>
            </c:strRef>
          </c:tx>
          <c:spPr>
            <a:ln w="38100" cap="flat">
              <a:solidFill>
                <a:srgbClr val="E6115E"/>
              </a:solidFill>
              <a:prstDash val="solid"/>
              <a:round/>
            </a:ln>
            <a:effectLst/>
          </c:spPr>
          <c:marker>
            <c:symbol val="none"/>
          </c:marker>
          <c:cat>
            <c:strRef>
              <c:f>Sheet1!$A$2:$A$92</c:f>
              <c:strCache>
                <c:ptCount val="91"/>
                <c:pt idx="0">
                  <c:v>100</c:v>
                </c:pt>
                <c:pt idx="10">
                  <c:v>200</c:v>
                </c:pt>
                <c:pt idx="20">
                  <c:v>300</c:v>
                </c:pt>
                <c:pt idx="30">
                  <c:v>400</c:v>
                </c:pt>
                <c:pt idx="40">
                  <c:v>500</c:v>
                </c:pt>
                <c:pt idx="50">
                  <c:v>600</c:v>
                </c:pt>
                <c:pt idx="60">
                  <c:v>700</c:v>
                </c:pt>
                <c:pt idx="70">
                  <c:v>800</c:v>
                </c:pt>
                <c:pt idx="80">
                  <c:v>900</c:v>
                </c:pt>
                <c:pt idx="90">
                  <c:v>1000</c:v>
                </c:pt>
              </c:strCache>
            </c:strRef>
          </c:cat>
          <c:val>
            <c:numRef>
              <c:f>Sheet1!$C$2:$C$92</c:f>
              <c:numCache>
                <c:formatCode>General</c:formatCode>
                <c:ptCount val="91"/>
                <c:pt idx="0">
                  <c:v>1.2389329289452481E-8</c:v>
                </c:pt>
                <c:pt idx="1">
                  <c:v>1.8728192435225019E-8</c:v>
                </c:pt>
                <c:pt idx="2">
                  <c:v>2.8114346717890136E-8</c:v>
                </c:pt>
                <c:pt idx="3">
                  <c:v>4.1912560738270381E-8</c:v>
                </c:pt>
                <c:pt idx="4">
                  <c:v>6.2050382255249923E-8</c:v>
                </c:pt>
                <c:pt idx="5">
                  <c:v>9.1228134217794641E-8</c:v>
                </c:pt>
                <c:pt idx="6">
                  <c:v>1.3319784255754563E-7</c:v>
                </c:pt>
                <c:pt idx="7">
                  <c:v>1.9312996165461422E-7</c:v>
                </c:pt>
                <c:pt idx="8">
                  <c:v>2.780905199636535E-7</c:v>
                </c:pt>
                <c:pt idx="9">
                  <c:v>3.9765530451004125E-7</c:v>
                </c:pt>
                <c:pt idx="10">
                  <c:v>5.6469174907348032E-7</c:v>
                </c:pt>
                <c:pt idx="11">
                  <c:v>7.9634300625116141E-7</c:v>
                </c:pt>
                <c:pt idx="12">
                  <c:v>1.1152518813740446E-6</c:v>
                </c:pt>
                <c:pt idx="13">
                  <c:v>1.5510643816312013E-6</c:v>
                </c:pt>
                <c:pt idx="14">
                  <c:v>2.1422529588525527E-6</c:v>
                </c:pt>
                <c:pt idx="15">
                  <c:v>2.9382973530620451E-6</c:v>
                </c:pt>
                <c:pt idx="16">
                  <c:v>4.0022554301735055E-6</c:v>
                </c:pt>
                <c:pt idx="17">
                  <c:v>5.4137466409963641E-6</c:v>
                </c:pt>
                <c:pt idx="18">
                  <c:v>7.2723557920480011E-6</c:v>
                </c:pt>
                <c:pt idx="19">
                  <c:v>9.7014438643032063E-6</c:v>
                </c:pt>
                <c:pt idx="20">
                  <c:v>1.2852324969092543E-5</c:v>
                </c:pt>
                <c:pt idx="21">
                  <c:v>1.6908733810831399E-5</c:v>
                </c:pt>
                <c:pt idx="22">
                  <c:v>2.2091466286917544E-5</c:v>
                </c:pt>
                <c:pt idx="23">
                  <c:v>2.86630277265208E-5</c:v>
                </c:pt>
                <c:pt idx="24">
                  <c:v>3.6932070099483392E-5</c:v>
                </c:pt>
                <c:pt idx="25">
                  <c:v>4.7257343495382425E-5</c:v>
                </c:pt>
                <c:pt idx="26">
                  <c:v>6.0050831371743525E-5</c:v>
                </c:pt>
                <c:pt idx="27">
                  <c:v>7.5779687513258788E-5</c:v>
                </c:pt>
                <c:pt idx="28">
                  <c:v>9.4966550198312012E-5</c:v>
                </c:pt>
                <c:pt idx="29">
                  <c:v>1.1818778128697751E-4</c:v>
                </c:pt>
                <c:pt idx="30">
                  <c:v>1.4606917077973782E-4</c:v>
                </c:pt>
                <c:pt idx="31">
                  <c:v>1.7927866680644716E-4</c:v>
                </c:pt>
                <c:pt idx="32">
                  <c:v>2.1851574244757902E-4</c:v>
                </c:pt>
                <c:pt idx="33">
                  <c:v>2.6449709863056182E-4</c:v>
                </c:pt>
                <c:pt idx="34">
                  <c:v>3.1793852922014983E-4</c:v>
                </c:pt>
                <c:pt idx="35">
                  <c:v>3.7953294060754647E-4</c:v>
                </c:pt>
                <c:pt idx="36">
                  <c:v>4.4992472094323381E-4</c:v>
                </c:pt>
                <c:pt idx="37">
                  <c:v>5.2968088764135271E-4</c:v>
                </c:pt>
                <c:pt idx="38">
                  <c:v>6.1925969632494252E-4</c:v>
                </c:pt>
                <c:pt idx="39">
                  <c:v>7.1897765688759595E-4</c:v>
                </c:pt>
                <c:pt idx="40">
                  <c:v>8.2897615660623898E-4</c:v>
                </c:pt>
                <c:pt idx="41">
                  <c:v>9.4918911766826567E-4</c:v>
                </c:pt>
                <c:pt idx="42">
                  <c:v>1.0793132972157645E-3</c:v>
                </c:pt>
                <c:pt idx="43">
                  <c:v>1.2187829523294643E-3</c:v>
                </c:pt>
                <c:pt idx="44">
                  <c:v>1.3667506222999469E-3</c:v>
                </c:pt>
                <c:pt idx="45">
                  <c:v>1.5220757115751826E-3</c:v>
                </c:pt>
                <c:pt idx="46">
                  <c:v>1.6833223796171573E-3</c:v>
                </c:pt>
                <c:pt idx="47">
                  <c:v>1.8487679558811332E-3</c:v>
                </c:pt>
                <c:pt idx="48">
                  <c:v>2.0164227043261945E-3</c:v>
                </c:pt>
                <c:pt idx="49">
                  <c:v>2.1840612756525118E-3</c:v>
                </c:pt>
                <c:pt idx="50">
                  <c:v>2.3492656284191879E-3</c:v>
                </c:pt>
                <c:pt idx="51">
                  <c:v>2.5094786012900367E-3</c:v>
                </c:pt>
                <c:pt idx="52">
                  <c:v>2.6620667126862688E-3</c:v>
                </c:pt>
                <c:pt idx="53">
                  <c:v>2.8043901895412763E-3</c:v>
                </c:pt>
                <c:pt idx="54">
                  <c:v>2.9338777230358292E-3</c:v>
                </c:pt>
                <c:pt idx="55">
                  <c:v>3.0481030534500199E-3</c:v>
                </c:pt>
                <c:pt idx="56">
                  <c:v>3.1448602307749432E-3</c:v>
                </c:pt>
                <c:pt idx="57">
                  <c:v>3.2222343066904105E-3</c:v>
                </c:pt>
                <c:pt idx="58">
                  <c:v>3.2786643008494991E-3</c:v>
                </c:pt>
                <c:pt idx="59">
                  <c:v>3.3129955521528495E-3</c:v>
                </c:pt>
                <c:pt idx="60">
                  <c:v>3.3245190033452726E-3</c:v>
                </c:pt>
                <c:pt idx="61">
                  <c:v>3.3129955521528495E-3</c:v>
                </c:pt>
                <c:pt idx="62">
                  <c:v>3.2786643008494991E-3</c:v>
                </c:pt>
                <c:pt idx="63">
                  <c:v>3.2222343066904105E-3</c:v>
                </c:pt>
                <c:pt idx="64">
                  <c:v>3.1448602307749432E-3</c:v>
                </c:pt>
                <c:pt idx="65">
                  <c:v>3.0481030534500199E-3</c:v>
                </c:pt>
                <c:pt idx="66">
                  <c:v>2.9338777230358292E-3</c:v>
                </c:pt>
                <c:pt idx="67">
                  <c:v>2.8043901895412763E-3</c:v>
                </c:pt>
                <c:pt idx="68">
                  <c:v>2.6620667126862688E-3</c:v>
                </c:pt>
                <c:pt idx="69">
                  <c:v>2.5094786012900367E-3</c:v>
                </c:pt>
                <c:pt idx="70">
                  <c:v>2.3492656284191879E-3</c:v>
                </c:pt>
                <c:pt idx="71">
                  <c:v>2.1840612756525118E-3</c:v>
                </c:pt>
                <c:pt idx="72">
                  <c:v>2.0164227043261945E-3</c:v>
                </c:pt>
                <c:pt idx="73">
                  <c:v>1.8487679558811332E-3</c:v>
                </c:pt>
                <c:pt idx="74">
                  <c:v>1.6833223796171573E-3</c:v>
                </c:pt>
                <c:pt idx="75">
                  <c:v>1.5220757115751826E-3</c:v>
                </c:pt>
                <c:pt idx="76">
                  <c:v>1.3667506222999469E-3</c:v>
                </c:pt>
                <c:pt idx="77">
                  <c:v>1.2187829523294643E-3</c:v>
                </c:pt>
                <c:pt idx="78">
                  <c:v>1.0793132972157645E-3</c:v>
                </c:pt>
                <c:pt idx="79">
                  <c:v>9.4918911766826567E-4</c:v>
                </c:pt>
                <c:pt idx="80">
                  <c:v>8.2897615660623898E-4</c:v>
                </c:pt>
                <c:pt idx="81">
                  <c:v>7.1897765688759595E-4</c:v>
                </c:pt>
                <c:pt idx="82">
                  <c:v>6.1925969632494252E-4</c:v>
                </c:pt>
                <c:pt idx="83">
                  <c:v>5.2968088764135271E-4</c:v>
                </c:pt>
                <c:pt idx="84">
                  <c:v>4.4992472094323381E-4</c:v>
                </c:pt>
                <c:pt idx="85">
                  <c:v>3.7953294060754647E-4</c:v>
                </c:pt>
                <c:pt idx="86">
                  <c:v>3.1793852922014983E-4</c:v>
                </c:pt>
                <c:pt idx="87">
                  <c:v>2.6449709863056182E-4</c:v>
                </c:pt>
                <c:pt idx="88">
                  <c:v>2.1851574244757902E-4</c:v>
                </c:pt>
                <c:pt idx="89">
                  <c:v>1.7927866680644716E-4</c:v>
                </c:pt>
                <c:pt idx="90">
                  <c:v>1.4606917077973782E-4</c:v>
                </c:pt>
              </c:numCache>
            </c:numRef>
          </c:val>
          <c:smooth val="1"/>
          <c:extLst>
            <c:ext xmlns:c16="http://schemas.microsoft.com/office/drawing/2014/chart" uri="{C3380CC4-5D6E-409C-BE32-E72D297353CC}">
              <c16:uniqueId val="{00000001-21DF-6646-9E91-612672809AD8}"/>
            </c:ext>
          </c:extLst>
        </c:ser>
        <c:ser>
          <c:idx val="2"/>
          <c:order val="2"/>
          <c:tx>
            <c:strRef>
              <c:f>Sheet1!$D$1</c:f>
              <c:strCache>
                <c:ptCount val="1"/>
                <c:pt idx="0">
                  <c:v>N(500, 60²)  σ menor</c:v>
                </c:pt>
              </c:strCache>
            </c:strRef>
          </c:tx>
          <c:spPr>
            <a:ln w="38100" cap="flat">
              <a:solidFill>
                <a:srgbClr val="12B886"/>
              </a:solidFill>
              <a:prstDash val="solid"/>
              <a:round/>
            </a:ln>
            <a:effectLst/>
          </c:spPr>
          <c:marker>
            <c:symbol val="none"/>
          </c:marker>
          <c:cat>
            <c:strRef>
              <c:f>Sheet1!$A$2:$A$92</c:f>
              <c:strCache>
                <c:ptCount val="91"/>
                <c:pt idx="0">
                  <c:v>100</c:v>
                </c:pt>
                <c:pt idx="10">
                  <c:v>200</c:v>
                </c:pt>
                <c:pt idx="20">
                  <c:v>300</c:v>
                </c:pt>
                <c:pt idx="30">
                  <c:v>400</c:v>
                </c:pt>
                <c:pt idx="40">
                  <c:v>500</c:v>
                </c:pt>
                <c:pt idx="50">
                  <c:v>600</c:v>
                </c:pt>
                <c:pt idx="60">
                  <c:v>700</c:v>
                </c:pt>
                <c:pt idx="70">
                  <c:v>800</c:v>
                </c:pt>
                <c:pt idx="80">
                  <c:v>900</c:v>
                </c:pt>
                <c:pt idx="90">
                  <c:v>1000</c:v>
                </c:pt>
              </c:strCache>
            </c:strRef>
          </c:cat>
          <c:val>
            <c:numRef>
              <c:f>Sheet1!$D$2:$D$92</c:f>
              <c:numCache>
                <c:formatCode>General</c:formatCode>
                <c:ptCount val="91"/>
                <c:pt idx="0">
                  <c:v>1.4851500312253587E-12</c:v>
                </c:pt>
                <c:pt idx="1">
                  <c:v>4.4492610246047536E-12</c:v>
                </c:pt>
                <c:pt idx="2">
                  <c:v>1.2964080113449491E-11</c:v>
                </c:pt>
                <c:pt idx="3">
                  <c:v>3.6739377329360362E-11</c:v>
                </c:pt>
                <c:pt idx="4">
                  <c:v>1.0126471416372143E-10</c:v>
                </c:pt>
                <c:pt idx="5">
                  <c:v>2.7146932012642563E-10</c:v>
                </c:pt>
                <c:pt idx="6">
                  <c:v>7.0781479107581445E-10</c:v>
                </c:pt>
                <c:pt idx="7">
                  <c:v>1.7949600070905463E-9</c:v>
                </c:pt>
                <c:pt idx="8">
                  <c:v>4.4271698475365206E-9</c:v>
                </c:pt>
                <c:pt idx="9">
                  <c:v>1.0620228369451424E-8</c:v>
                </c:pt>
                <c:pt idx="10">
                  <c:v>2.4778658578904962E-8</c:v>
                </c:pt>
                <c:pt idx="11">
                  <c:v>5.6228693435780271E-8</c:v>
                </c:pt>
                <c:pt idx="12">
                  <c:v>1.2410076451049985E-7</c:v>
                </c:pt>
                <c:pt idx="13">
                  <c:v>2.6639568511509126E-7</c:v>
                </c:pt>
                <c:pt idx="14">
                  <c:v>5.5618103992730701E-7</c:v>
                </c:pt>
                <c:pt idx="15">
                  <c:v>1.1293834981469606E-6</c:v>
                </c:pt>
                <c:pt idx="16">
                  <c:v>2.2305037627480893E-6</c:v>
                </c:pt>
                <c:pt idx="17">
                  <c:v>4.2845059177051054E-6</c:v>
                </c:pt>
                <c:pt idx="18">
                  <c:v>8.004510860347011E-6</c:v>
                </c:pt>
                <c:pt idx="19">
                  <c:v>1.4544711584096002E-5</c:v>
                </c:pt>
                <c:pt idx="20">
                  <c:v>2.5704649938185085E-5</c:v>
                </c:pt>
                <c:pt idx="21">
                  <c:v>4.4182932573835089E-5</c:v>
                </c:pt>
                <c:pt idx="22">
                  <c:v>7.3864140198966785E-5</c:v>
                </c:pt>
                <c:pt idx="23">
                  <c:v>1.2010166274348705E-4</c:v>
                </c:pt>
                <c:pt idx="24">
                  <c:v>1.8993310039662402E-4</c:v>
                </c:pt>
                <c:pt idx="25">
                  <c:v>2.9213834155947564E-4</c:v>
                </c:pt>
                <c:pt idx="26">
                  <c:v>4.3703148489515804E-4</c:v>
                </c:pt>
                <c:pt idx="27">
                  <c:v>6.3587705844029966E-4</c:v>
                </c:pt>
                <c:pt idx="28">
                  <c:v>8.9984944188646761E-4</c:v>
                </c:pt>
                <c:pt idx="29">
                  <c:v>1.238519392649885E-3</c:v>
                </c:pt>
                <c:pt idx="30">
                  <c:v>1.657952313212478E-3</c:v>
                </c:pt>
                <c:pt idx="31">
                  <c:v>2.158626594431529E-3</c:v>
                </c:pt>
                <c:pt idx="32">
                  <c:v>2.7335012445998939E-3</c:v>
                </c:pt>
                <c:pt idx="33">
                  <c:v>3.3666447592343145E-3</c:v>
                </c:pt>
                <c:pt idx="34">
                  <c:v>4.032845408652389E-3</c:v>
                </c:pt>
                <c:pt idx="35">
                  <c:v>4.6985312568383758E-3</c:v>
                </c:pt>
                <c:pt idx="36">
                  <c:v>5.3241334253725375E-3</c:v>
                </c:pt>
                <c:pt idx="37">
                  <c:v>5.8677554460716584E-3</c:v>
                </c:pt>
                <c:pt idx="38">
                  <c:v>6.2897204615498864E-3</c:v>
                </c:pt>
                <c:pt idx="39">
                  <c:v>6.5573286016989982E-3</c:v>
                </c:pt>
                <c:pt idx="40">
                  <c:v>6.6490380066905452E-3</c:v>
                </c:pt>
                <c:pt idx="41">
                  <c:v>6.5573286016989982E-3</c:v>
                </c:pt>
                <c:pt idx="42">
                  <c:v>6.2897204615498864E-3</c:v>
                </c:pt>
                <c:pt idx="43">
                  <c:v>5.8677554460716584E-3</c:v>
                </c:pt>
                <c:pt idx="44">
                  <c:v>5.3241334253725375E-3</c:v>
                </c:pt>
                <c:pt idx="45">
                  <c:v>4.6985312568383758E-3</c:v>
                </c:pt>
                <c:pt idx="46">
                  <c:v>4.032845408652389E-3</c:v>
                </c:pt>
                <c:pt idx="47">
                  <c:v>3.3666447592343145E-3</c:v>
                </c:pt>
                <c:pt idx="48">
                  <c:v>2.7335012445998939E-3</c:v>
                </c:pt>
                <c:pt idx="49">
                  <c:v>2.158626594431529E-3</c:v>
                </c:pt>
                <c:pt idx="50">
                  <c:v>1.657952313212478E-3</c:v>
                </c:pt>
                <c:pt idx="51">
                  <c:v>1.238519392649885E-3</c:v>
                </c:pt>
                <c:pt idx="52">
                  <c:v>8.9984944188646761E-4</c:v>
                </c:pt>
                <c:pt idx="53">
                  <c:v>6.3587705844029966E-4</c:v>
                </c:pt>
                <c:pt idx="54">
                  <c:v>4.3703148489515804E-4</c:v>
                </c:pt>
                <c:pt idx="55">
                  <c:v>2.9213834155947564E-4</c:v>
                </c:pt>
                <c:pt idx="56">
                  <c:v>1.8993310039662402E-4</c:v>
                </c:pt>
                <c:pt idx="57">
                  <c:v>1.2010166274348705E-4</c:v>
                </c:pt>
                <c:pt idx="58">
                  <c:v>7.3864140198966785E-5</c:v>
                </c:pt>
                <c:pt idx="59">
                  <c:v>4.4182932573835089E-5</c:v>
                </c:pt>
                <c:pt idx="60">
                  <c:v>2.5704649938185085E-5</c:v>
                </c:pt>
                <c:pt idx="61">
                  <c:v>1.4544711584096002E-5</c:v>
                </c:pt>
                <c:pt idx="62">
                  <c:v>8.004510860347011E-6</c:v>
                </c:pt>
                <c:pt idx="63">
                  <c:v>4.2845059177051054E-6</c:v>
                </c:pt>
                <c:pt idx="64">
                  <c:v>2.2305037627480893E-6</c:v>
                </c:pt>
                <c:pt idx="65">
                  <c:v>1.1293834981469606E-6</c:v>
                </c:pt>
                <c:pt idx="66">
                  <c:v>5.5618103992730701E-7</c:v>
                </c:pt>
                <c:pt idx="67">
                  <c:v>2.6639568511509126E-7</c:v>
                </c:pt>
                <c:pt idx="68">
                  <c:v>1.2410076451049985E-7</c:v>
                </c:pt>
                <c:pt idx="69">
                  <c:v>5.6228693435780271E-8</c:v>
                </c:pt>
                <c:pt idx="70">
                  <c:v>2.4778658578904962E-8</c:v>
                </c:pt>
                <c:pt idx="71">
                  <c:v>1.0620228369451424E-8</c:v>
                </c:pt>
                <c:pt idx="72">
                  <c:v>4.4271698475365206E-9</c:v>
                </c:pt>
                <c:pt idx="73">
                  <c:v>1.7949600070905463E-9</c:v>
                </c:pt>
                <c:pt idx="74">
                  <c:v>7.0781479107581445E-10</c:v>
                </c:pt>
                <c:pt idx="75">
                  <c:v>2.7146932012642563E-10</c:v>
                </c:pt>
                <c:pt idx="76">
                  <c:v>1.0126471416372143E-10</c:v>
                </c:pt>
                <c:pt idx="77">
                  <c:v>3.6739377329360362E-11</c:v>
                </c:pt>
                <c:pt idx="78">
                  <c:v>1.2964080113449491E-11</c:v>
                </c:pt>
                <c:pt idx="79">
                  <c:v>4.4492610246047536E-12</c:v>
                </c:pt>
                <c:pt idx="80">
                  <c:v>1.4851500312253587E-12</c:v>
                </c:pt>
                <c:pt idx="81">
                  <c:v>4.8215762203464452E-13</c:v>
                </c:pt>
                <c:pt idx="82">
                  <c:v>1.5224534013940991E-13</c:v>
                </c:pt>
                <c:pt idx="83">
                  <c:v>4.6755773429521401E-14</c:v>
                </c:pt>
                <c:pt idx="84">
                  <c:v>1.3965701216982805E-14</c:v>
                </c:pt>
                <c:pt idx="85">
                  <c:v>4.057200888381683E-15</c:v>
                </c:pt>
                <c:pt idx="86">
                  <c:v>1.146374565177807E-15</c:v>
                </c:pt>
                <c:pt idx="87">
                  <c:v>3.1503792326936487E-16</c:v>
                </c:pt>
                <c:pt idx="88">
                  <c:v>8.4204518058948213E-17</c:v>
                </c:pt>
                <c:pt idx="89">
                  <c:v>2.1889922174819734E-17</c:v>
                </c:pt>
                <c:pt idx="90">
                  <c:v>5.5346390748787003E-18</c:v>
                </c:pt>
              </c:numCache>
            </c:numRef>
          </c:val>
          <c:smooth val="1"/>
          <c:extLst>
            <c:ext xmlns:c16="http://schemas.microsoft.com/office/drawing/2014/chart" uri="{C3380CC4-5D6E-409C-BE32-E72D297353CC}">
              <c16:uniqueId val="{00000002-21DF-6646-9E91-612672809AD8}"/>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5B6B87"/>
                    </a:solidFill>
                    <a:latin typeface="Arial"/>
                  </a:defRPr>
                </a:pPr>
                <a:r>
                  <a:rPr lang="en-US" sz="1000" b="0" i="0" u="none" strike="noStrike">
                    <a:solidFill>
                      <a:srgbClr val="5B6B87"/>
                    </a:solidFill>
                    <a:latin typeface="Arial"/>
                  </a:rPr>
                  <a:t>score de riesgo</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1E8F5"/>
              </a:solidFill>
              <a:prstDash val="solid"/>
              <a:round/>
            </a:ln>
          </c:spPr>
        </c:majorGridlines>
        <c:title>
          <c:tx>
            <c:rich>
              <a:bodyPr/>
              <a:lstStyle/>
              <a:p>
                <a:pPr>
                  <a:defRPr sz="1000" b="0" i="0" u="none" strike="noStrike">
                    <a:solidFill>
                      <a:srgbClr val="5B6B87"/>
                    </a:solidFill>
                    <a:latin typeface="Arial"/>
                  </a:defRPr>
                </a:pPr>
                <a:r>
                  <a:rPr lang="en-US" sz="1000" b="0" i="0" u="none" strike="noStrike">
                    <a:solidFill>
                      <a:srgbClr val="5B6B87"/>
                    </a:solidFill>
                    <a:latin typeface="Arial"/>
                  </a:rPr>
                  <a:t>densidad f(x)</a:t>
                </a:r>
              </a:p>
            </c:rich>
          </c:tx>
          <c:overlay val="0"/>
        </c:title>
        <c:numFmt formatCode="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C3A55"/>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 de casos dentro</c:v>
                </c:pt>
              </c:strCache>
            </c:strRef>
          </c:tx>
          <c:spPr>
            <a:solidFill>
              <a:srgbClr val="4A82FF"/>
            </a:solidFill>
            <a:effectLst/>
          </c:spPr>
          <c:invertIfNegative val="0"/>
          <c:dPt>
            <c:idx val="0"/>
            <c:invertIfNegative val="0"/>
            <c:bubble3D val="0"/>
            <c:spPr>
              <a:solidFill>
                <a:srgbClr val="4A82FF"/>
              </a:solidFill>
              <a:effectLst/>
            </c:spPr>
            <c:extLst>
              <c:ext xmlns:c16="http://schemas.microsoft.com/office/drawing/2014/chart" uri="{C3380CC4-5D6E-409C-BE32-E72D297353CC}">
                <c16:uniqueId val="{00000001-6642-3948-8192-90E533C69DBF}"/>
              </c:ext>
            </c:extLst>
          </c:dPt>
          <c:dPt>
            <c:idx val="1"/>
            <c:invertIfNegative val="0"/>
            <c:bubble3D val="0"/>
            <c:spPr>
              <a:solidFill>
                <a:srgbClr val="1A56E8"/>
              </a:solidFill>
              <a:effectLst/>
            </c:spPr>
            <c:extLst>
              <c:ext xmlns:c16="http://schemas.microsoft.com/office/drawing/2014/chart" uri="{C3380CC4-5D6E-409C-BE32-E72D297353CC}">
                <c16:uniqueId val="{00000003-6642-3948-8192-90E533C69DBF}"/>
              </c:ext>
            </c:extLst>
          </c:dPt>
          <c:dPt>
            <c:idx val="2"/>
            <c:invertIfNegative val="0"/>
            <c:bubble3D val="0"/>
            <c:spPr>
              <a:solidFill>
                <a:srgbClr val="0A2559"/>
              </a:solidFill>
              <a:effectLst/>
            </c:spPr>
            <c:extLst>
              <c:ext xmlns:c16="http://schemas.microsoft.com/office/drawing/2014/chart" uri="{C3380CC4-5D6E-409C-BE32-E72D297353CC}">
                <c16:uniqueId val="{00000005-6642-3948-8192-90E533C69DBF}"/>
              </c:ext>
            </c:extLst>
          </c:dPt>
          <c:dLbls>
            <c:numFmt formatCode="0.00&quot;%&quot;" sourceLinked="0"/>
            <c:spPr>
              <a:noFill/>
              <a:ln>
                <a:noFill/>
              </a:ln>
              <a:effectLst/>
            </c:spPr>
            <c:txPr>
              <a:bodyPr/>
              <a:lstStyle/>
              <a:p>
                <a:pPr>
                  <a:defRPr sz="1300" b="1" i="0" u="none" strike="noStrike">
                    <a:solidFill>
                      <a:srgbClr val="0A2559"/>
                    </a:solidFill>
                    <a:latin typeface="Arial"/>
                  </a:defRPr>
                </a:pPr>
                <a:endParaRPr lang="en-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±1σ</c:v>
                </c:pt>
                <c:pt idx="1">
                  <c:v>±2σ</c:v>
                </c:pt>
                <c:pt idx="2">
                  <c:v>±3σ</c:v>
                </c:pt>
              </c:strCache>
            </c:strRef>
          </c:cat>
          <c:val>
            <c:numRef>
              <c:f>Sheet1!$B$2:$B$4</c:f>
              <c:numCache>
                <c:formatCode>General</c:formatCode>
                <c:ptCount val="3"/>
                <c:pt idx="0">
                  <c:v>68.27</c:v>
                </c:pt>
                <c:pt idx="1">
                  <c:v>95.45</c:v>
                </c:pt>
                <c:pt idx="2">
                  <c:v>99.73</c:v>
                </c:pt>
              </c:numCache>
            </c:numRef>
          </c:val>
          <c:extLst>
            <c:ext xmlns:c16="http://schemas.microsoft.com/office/drawing/2014/chart" uri="{C3380CC4-5D6E-409C-BE32-E72D297353CC}">
              <c16:uniqueId val="{00000006-6642-3948-8192-90E533C69DBF}"/>
            </c:ext>
          </c:extLst>
        </c:ser>
        <c:dLbls>
          <c:showLegendKey val="0"/>
          <c:showVal val="1"/>
          <c:showCatName val="0"/>
          <c:showSerName val="0"/>
          <c:showPercent val="0"/>
          <c:showBubbleSize val="0"/>
        </c:dLbls>
        <c:gapWidth val="12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1" i="0" u="none" strike="noStrike">
                <a:solidFill>
                  <a:srgbClr val="2C3A55"/>
                </a:solidFill>
                <a:latin typeface="Arial"/>
              </a:defRPr>
            </a:pPr>
            <a:endParaRPr lang="en-US"/>
          </a:p>
        </c:txPr>
        <c:crossAx val="2094734552"/>
        <c:crosses val="autoZero"/>
        <c:auto val="1"/>
        <c:lblAlgn val="ctr"/>
        <c:lblOffset val="100"/>
        <c:noMultiLvlLbl val="1"/>
      </c:catAx>
      <c:valAx>
        <c:axId val="2094734552"/>
        <c:scaling>
          <c:orientation val="minMax"/>
          <c:max val="108"/>
          <c:min val="0"/>
        </c:scaling>
        <c:delete val="0"/>
        <c:axPos val="l"/>
        <c:majorGridlines>
          <c:spPr>
            <a:ln w="12700" cap="flat">
              <a:solidFill>
                <a:srgbClr val="E1E8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n = 1  (los datos crudos)</c:v>
                </c:pt>
              </c:strCache>
            </c:strRef>
          </c:tx>
          <c:spPr>
            <a:ln w="38100" cap="flat">
              <a:solidFill>
                <a:srgbClr val="9BB4E8"/>
              </a:solidFill>
              <a:prstDash val="solid"/>
              <a:round/>
            </a:ln>
            <a:effectLst/>
          </c:spPr>
          <c:marker>
            <c:symbol val="none"/>
          </c:marker>
          <c:cat>
            <c:strRef>
              <c:f>Sheet1!$A$2:$A$46</c:f>
              <c:strCache>
                <c:ptCount val="45"/>
                <c:pt idx="0">
                  <c:v>0</c:v>
                </c:pt>
                <c:pt idx="5">
                  <c:v>10</c:v>
                </c:pt>
                <c:pt idx="10">
                  <c:v>20</c:v>
                </c:pt>
                <c:pt idx="15">
                  <c:v>30</c:v>
                </c:pt>
                <c:pt idx="20">
                  <c:v>40</c:v>
                </c:pt>
                <c:pt idx="25">
                  <c:v>50</c:v>
                </c:pt>
                <c:pt idx="30">
                  <c:v>60</c:v>
                </c:pt>
                <c:pt idx="35">
                  <c:v>70</c:v>
                </c:pt>
                <c:pt idx="40">
                  <c:v>80</c:v>
                </c:pt>
              </c:strCache>
            </c:strRef>
          </c:cat>
          <c:val>
            <c:numRef>
              <c:f>Sheet1!$B$2:$B$46</c:f>
              <c:numCache>
                <c:formatCode>General</c:formatCode>
                <c:ptCount val="45"/>
                <c:pt idx="0">
                  <c:v>3.2246507484191111</c:v>
                </c:pt>
                <c:pt idx="1">
                  <c:v>3.0166832994335149</c:v>
                </c:pt>
                <c:pt idx="2">
                  <c:v>2.8221282982482832</c:v>
                </c:pt>
                <c:pt idx="3">
                  <c:v>2.6401207356666569</c:v>
                </c:pt>
                <c:pt idx="4">
                  <c:v>2.4698513895429706</c:v>
                </c:pt>
                <c:pt idx="5">
                  <c:v>2.3105632269074974</c:v>
                </c:pt>
                <c:pt idx="6">
                  <c:v>2.1615480381291574</c:v>
                </c:pt>
                <c:pt idx="7">
                  <c:v>2.0221432881512182</c:v>
                </c:pt>
                <c:pt idx="8">
                  <c:v>1.8917291708002659</c:v>
                </c:pt>
                <c:pt idx="9">
                  <c:v>1.7697258530717241</c:v>
                </c:pt>
                <c:pt idx="10">
                  <c:v>1.6555908971396305</c:v>
                </c:pt>
                <c:pt idx="11">
                  <c:v>1.5488168486288922</c:v>
                </c:pt>
                <c:pt idx="12">
                  <c:v>1.4489289804269834</c:v>
                </c:pt>
                <c:pt idx="13">
                  <c:v>1.3554831820041828</c:v>
                </c:pt>
                <c:pt idx="14">
                  <c:v>1.268063984857795</c:v>
                </c:pt>
                <c:pt idx="15">
                  <c:v>1.1862827153014954</c:v>
                </c:pt>
                <c:pt idx="16">
                  <c:v>1.1097757663868251</c:v>
                </c:pt>
                <c:pt idx="17">
                  <c:v>1.0382029812736921</c:v>
                </c:pt>
                <c:pt idx="18">
                  <c:v>0.97124614086218641</c:v>
                </c:pt>
                <c:pt idx="19">
                  <c:v>0.90860754896157914</c:v>
                </c:pt>
                <c:pt idx="20">
                  <c:v>0.85000870870601397</c:v>
                </c:pt>
                <c:pt idx="21">
                  <c:v>0.79518908433218183</c:v>
                </c:pt>
                <c:pt idx="22">
                  <c:v>0.74390494281365438</c:v>
                </c:pt>
                <c:pt idx="23">
                  <c:v>0.6959282702017191</c:v>
                </c:pt>
                <c:pt idx="24">
                  <c:v>0.65104575785467778</c:v>
                </c:pt>
                <c:pt idx="25">
                  <c:v>0.60905785404825474</c:v>
                </c:pt>
                <c:pt idx="26">
                  <c:v>0.56977787675051017</c:v>
                </c:pt>
                <c:pt idx="27">
                  <c:v>0.5330311836165863</c:v>
                </c:pt>
                <c:pt idx="28">
                  <c:v>0.4986543955129874</c:v>
                </c:pt>
                <c:pt idx="29">
                  <c:v>0.46649467011911777</c:v>
                </c:pt>
                <c:pt idx="30">
                  <c:v>0.43640902237645773</c:v>
                </c:pt>
                <c:pt idx="31">
                  <c:v>0.40826368876399205</c:v>
                </c:pt>
                <c:pt idx="32">
                  <c:v>0.38193353257349183</c:v>
                </c:pt>
                <c:pt idx="33">
                  <c:v>0.35730148754030067</c:v>
                </c:pt>
                <c:pt idx="34">
                  <c:v>0.33425803735614018</c:v>
                </c:pt>
                <c:pt idx="35">
                  <c:v>0.31270072874962707</c:v>
                </c:pt>
                <c:pt idx="36">
                  <c:v>0.29253371596975469</c:v>
                </c:pt>
                <c:pt idx="37">
                  <c:v>0.2736673346469598</c:v>
                </c:pt>
                <c:pt idx="38">
                  <c:v>0.25601770313721728</c:v>
                </c:pt>
                <c:pt idx="39">
                  <c:v>0.23950634957661671</c:v>
                </c:pt>
                <c:pt idx="40">
                  <c:v>0.22405986298835029</c:v>
                </c:pt>
                <c:pt idx="41">
                  <c:v>0.20960956689082821</c:v>
                </c:pt>
                <c:pt idx="42">
                  <c:v>0.19609121395582282</c:v>
                </c:pt>
                <c:pt idx="43">
                  <c:v>0.18344470035900062</c:v>
                </c:pt>
                <c:pt idx="44">
                  <c:v>0.17161379855287795</c:v>
                </c:pt>
              </c:numCache>
            </c:numRef>
          </c:val>
          <c:smooth val="1"/>
          <c:extLst>
            <c:ext xmlns:c16="http://schemas.microsoft.com/office/drawing/2014/chart" uri="{C3380CC4-5D6E-409C-BE32-E72D297353CC}">
              <c16:uniqueId val="{00000000-EB62-8E46-9F96-8AC28D71423A}"/>
            </c:ext>
          </c:extLst>
        </c:ser>
        <c:ser>
          <c:idx val="1"/>
          <c:order val="1"/>
          <c:tx>
            <c:strRef>
              <c:f>Sheet1!$C$1</c:f>
              <c:strCache>
                <c:ptCount val="1"/>
                <c:pt idx="0">
                  <c:v>n = 5</c:v>
                </c:pt>
              </c:strCache>
            </c:strRef>
          </c:tx>
          <c:spPr>
            <a:ln w="38100" cap="flat">
              <a:solidFill>
                <a:srgbClr val="1A56E8"/>
              </a:solidFill>
              <a:prstDash val="solid"/>
              <a:round/>
            </a:ln>
            <a:effectLst/>
          </c:spPr>
          <c:marker>
            <c:symbol val="none"/>
          </c:marker>
          <c:cat>
            <c:strRef>
              <c:f>Sheet1!$A$2:$A$46</c:f>
              <c:strCache>
                <c:ptCount val="45"/>
                <c:pt idx="0">
                  <c:v>0</c:v>
                </c:pt>
                <c:pt idx="5">
                  <c:v>10</c:v>
                </c:pt>
                <c:pt idx="10">
                  <c:v>20</c:v>
                </c:pt>
                <c:pt idx="15">
                  <c:v>30</c:v>
                </c:pt>
                <c:pt idx="20">
                  <c:v>40</c:v>
                </c:pt>
                <c:pt idx="25">
                  <c:v>50</c:v>
                </c:pt>
                <c:pt idx="30">
                  <c:v>60</c:v>
                </c:pt>
                <c:pt idx="35">
                  <c:v>70</c:v>
                </c:pt>
                <c:pt idx="40">
                  <c:v>80</c:v>
                </c:pt>
              </c:strCache>
            </c:strRef>
          </c:cat>
          <c:val>
            <c:numRef>
              <c:f>Sheet1!$C$2:$C$46</c:f>
              <c:numCache>
                <c:formatCode>General</c:formatCode>
                <c:ptCount val="45"/>
                <c:pt idx="0">
                  <c:v>0</c:v>
                </c:pt>
                <c:pt idx="1">
                  <c:v>0.04</c:v>
                </c:pt>
                <c:pt idx="2">
                  <c:v>0.15666666666666668</c:v>
                </c:pt>
                <c:pt idx="3">
                  <c:v>0.38916666666666666</c:v>
                </c:pt>
                <c:pt idx="4">
                  <c:v>0.79749999999999999</c:v>
                </c:pt>
                <c:pt idx="5">
                  <c:v>1.2733333333333332</c:v>
                </c:pt>
                <c:pt idx="6">
                  <c:v>1.7033333333333334</c:v>
                </c:pt>
                <c:pt idx="7">
                  <c:v>2.2716666666666665</c:v>
                </c:pt>
                <c:pt idx="8">
                  <c:v>2.7408333333333332</c:v>
                </c:pt>
                <c:pt idx="9">
                  <c:v>3.0241666666666669</c:v>
                </c:pt>
                <c:pt idx="10">
                  <c:v>3.1308333333333334</c:v>
                </c:pt>
                <c:pt idx="11">
                  <c:v>3.1333333333333333</c:v>
                </c:pt>
                <c:pt idx="12">
                  <c:v>3.1791666666666671</c:v>
                </c:pt>
                <c:pt idx="13">
                  <c:v>3.1991666666666667</c:v>
                </c:pt>
                <c:pt idx="14">
                  <c:v>2.9541666666666666</c:v>
                </c:pt>
                <c:pt idx="15">
                  <c:v>2.7616666666666667</c:v>
                </c:pt>
                <c:pt idx="16">
                  <c:v>2.6074999999999999</c:v>
                </c:pt>
                <c:pt idx="17">
                  <c:v>2.3774999999999999</c:v>
                </c:pt>
                <c:pt idx="18">
                  <c:v>2.1074999999999999</c:v>
                </c:pt>
                <c:pt idx="19">
                  <c:v>1.8533333333333333</c:v>
                </c:pt>
                <c:pt idx="20">
                  <c:v>1.6141666666666665</c:v>
                </c:pt>
                <c:pt idx="21">
                  <c:v>1.405</c:v>
                </c:pt>
                <c:pt idx="22">
                  <c:v>1.2424999999999999</c:v>
                </c:pt>
                <c:pt idx="23">
                  <c:v>1.0274999999999999</c:v>
                </c:pt>
                <c:pt idx="24">
                  <c:v>0.86416666666666675</c:v>
                </c:pt>
                <c:pt idx="25">
                  <c:v>0.77083333333333337</c:v>
                </c:pt>
                <c:pt idx="26">
                  <c:v>0.63749999999999996</c:v>
                </c:pt>
                <c:pt idx="27">
                  <c:v>0.49833333333333335</c:v>
                </c:pt>
                <c:pt idx="28">
                  <c:v>0.4325</c:v>
                </c:pt>
                <c:pt idx="29">
                  <c:v>0.33166666666666667</c:v>
                </c:pt>
                <c:pt idx="30">
                  <c:v>0.3075</c:v>
                </c:pt>
                <c:pt idx="31">
                  <c:v>0.23416666666666669</c:v>
                </c:pt>
                <c:pt idx="32">
                  <c:v>0.18083333333333332</c:v>
                </c:pt>
                <c:pt idx="33">
                  <c:v>0.14416666666666667</c:v>
                </c:pt>
                <c:pt idx="34">
                  <c:v>0.1075</c:v>
                </c:pt>
                <c:pt idx="35">
                  <c:v>8.9166666666666672E-2</c:v>
                </c:pt>
                <c:pt idx="36">
                  <c:v>0.09</c:v>
                </c:pt>
                <c:pt idx="37">
                  <c:v>6.4166666666666664E-2</c:v>
                </c:pt>
                <c:pt idx="38">
                  <c:v>6.1666666666666661E-2</c:v>
                </c:pt>
                <c:pt idx="39">
                  <c:v>4.4166666666666667E-2</c:v>
                </c:pt>
                <c:pt idx="40">
                  <c:v>3.5833333333333335E-2</c:v>
                </c:pt>
                <c:pt idx="41">
                  <c:v>2.75E-2</c:v>
                </c:pt>
                <c:pt idx="42">
                  <c:v>1.9166666666666669E-2</c:v>
                </c:pt>
                <c:pt idx="43">
                  <c:v>1.1666666666666667E-2</c:v>
                </c:pt>
                <c:pt idx="44">
                  <c:v>1.0833333333333334E-2</c:v>
                </c:pt>
              </c:numCache>
            </c:numRef>
          </c:val>
          <c:smooth val="1"/>
          <c:extLst>
            <c:ext xmlns:c16="http://schemas.microsoft.com/office/drawing/2014/chart" uri="{C3380CC4-5D6E-409C-BE32-E72D297353CC}">
              <c16:uniqueId val="{00000001-EB62-8E46-9F96-8AC28D71423A}"/>
            </c:ext>
          </c:extLst>
        </c:ser>
        <c:ser>
          <c:idx val="2"/>
          <c:order val="2"/>
          <c:tx>
            <c:strRef>
              <c:f>Sheet1!$D$1</c:f>
              <c:strCache>
                <c:ptCount val="1"/>
                <c:pt idx="0">
                  <c:v>n = 30</c:v>
                </c:pt>
              </c:strCache>
            </c:strRef>
          </c:tx>
          <c:spPr>
            <a:ln w="38100" cap="flat">
              <a:solidFill>
                <a:srgbClr val="E6115E"/>
              </a:solidFill>
              <a:prstDash val="solid"/>
              <a:round/>
            </a:ln>
            <a:effectLst/>
          </c:spPr>
          <c:marker>
            <c:symbol val="none"/>
          </c:marker>
          <c:cat>
            <c:strRef>
              <c:f>Sheet1!$A$2:$A$46</c:f>
              <c:strCache>
                <c:ptCount val="45"/>
                <c:pt idx="0">
                  <c:v>0</c:v>
                </c:pt>
                <c:pt idx="5">
                  <c:v>10</c:v>
                </c:pt>
                <c:pt idx="10">
                  <c:v>20</c:v>
                </c:pt>
                <c:pt idx="15">
                  <c:v>30</c:v>
                </c:pt>
                <c:pt idx="20">
                  <c:v>40</c:v>
                </c:pt>
                <c:pt idx="25">
                  <c:v>50</c:v>
                </c:pt>
                <c:pt idx="30">
                  <c:v>60</c:v>
                </c:pt>
                <c:pt idx="35">
                  <c:v>70</c:v>
                </c:pt>
                <c:pt idx="40">
                  <c:v>80</c:v>
                </c:pt>
              </c:strCache>
            </c:strRef>
          </c:cat>
          <c:val>
            <c:numRef>
              <c:f>Sheet1!$D$2:$D$46</c:f>
              <c:numCache>
                <c:formatCode>General</c:formatCode>
                <c:ptCount val="45"/>
                <c:pt idx="0">
                  <c:v>0</c:v>
                </c:pt>
                <c:pt idx="1">
                  <c:v>0</c:v>
                </c:pt>
                <c:pt idx="2">
                  <c:v>0</c:v>
                </c:pt>
                <c:pt idx="3">
                  <c:v>0</c:v>
                </c:pt>
                <c:pt idx="4">
                  <c:v>0</c:v>
                </c:pt>
                <c:pt idx="5">
                  <c:v>1.6666666666666668E-3</c:v>
                </c:pt>
                <c:pt idx="6">
                  <c:v>4.1666666666666666E-3</c:v>
                </c:pt>
                <c:pt idx="7">
                  <c:v>0.05</c:v>
                </c:pt>
                <c:pt idx="8">
                  <c:v>0.25583333333333336</c:v>
                </c:pt>
                <c:pt idx="9">
                  <c:v>0.81416666666666671</c:v>
                </c:pt>
                <c:pt idx="10">
                  <c:v>1.9824999999999999</c:v>
                </c:pt>
                <c:pt idx="11">
                  <c:v>3.6150000000000002</c:v>
                </c:pt>
                <c:pt idx="12">
                  <c:v>5.503333333333333</c:v>
                </c:pt>
                <c:pt idx="13">
                  <c:v>6.6508333333333338</c:v>
                </c:pt>
                <c:pt idx="14">
                  <c:v>7.2675000000000001</c:v>
                </c:pt>
                <c:pt idx="15">
                  <c:v>6.855833333333333</c:v>
                </c:pt>
                <c:pt idx="16">
                  <c:v>5.8016666666666667</c:v>
                </c:pt>
                <c:pt idx="17">
                  <c:v>4.2866666666666662</c:v>
                </c:pt>
                <c:pt idx="18">
                  <c:v>2.9158333333333335</c:v>
                </c:pt>
                <c:pt idx="19">
                  <c:v>1.8450000000000002</c:v>
                </c:pt>
                <c:pt idx="20">
                  <c:v>1.0699999999999998</c:v>
                </c:pt>
                <c:pt idx="21">
                  <c:v>0.54999999999999993</c:v>
                </c:pt>
                <c:pt idx="22">
                  <c:v>0.28916666666666663</c:v>
                </c:pt>
                <c:pt idx="23">
                  <c:v>0.13250000000000001</c:v>
                </c:pt>
                <c:pt idx="24">
                  <c:v>6.4166666666666664E-2</c:v>
                </c:pt>
                <c:pt idx="25">
                  <c:v>2.8333333333333335E-2</c:v>
                </c:pt>
                <c:pt idx="26">
                  <c:v>1.1666666666666667E-2</c:v>
                </c:pt>
                <c:pt idx="27">
                  <c:v>2.5000000000000001E-3</c:v>
                </c:pt>
                <c:pt idx="28">
                  <c:v>1.6666666666666668E-3</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numCache>
            </c:numRef>
          </c:val>
          <c:smooth val="1"/>
          <c:extLst>
            <c:ext xmlns:c16="http://schemas.microsoft.com/office/drawing/2014/chart" uri="{C3380CC4-5D6E-409C-BE32-E72D297353CC}">
              <c16:uniqueId val="{00000002-EB62-8E46-9F96-8AC28D71423A}"/>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5B6B87"/>
                    </a:solidFill>
                    <a:latin typeface="Arial"/>
                  </a:defRPr>
                </a:pPr>
                <a:r>
                  <a:rPr lang="en-US" sz="1000" b="0" i="0" u="none" strike="noStrike">
                    <a:solidFill>
                      <a:srgbClr val="5B6B87"/>
                    </a:solidFill>
                    <a:latin typeface="Arial"/>
                  </a:rPr>
                  <a:t>media de la muestra (días entre alertas)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1E8F5"/>
              </a:solidFill>
              <a:prstDash val="solid"/>
              <a:round/>
            </a:ln>
          </c:spPr>
        </c:majorGridlines>
        <c:title>
          <c:tx>
            <c:rich>
              <a:bodyPr/>
              <a:lstStyle/>
              <a:p>
                <a:pPr>
                  <a:defRPr sz="1000" b="0" i="0" u="none" strike="noStrike">
                    <a:solidFill>
                      <a:srgbClr val="5B6B87"/>
                    </a:solidFill>
                    <a:latin typeface="Arial"/>
                  </a:defRPr>
                </a:pPr>
                <a:r>
                  <a:rPr lang="en-US" sz="1000" b="0" i="0" u="none" strike="noStrike">
                    <a:solidFill>
                      <a:srgbClr val="5B6B87"/>
                    </a:solidFill>
                    <a:latin typeface="Arial"/>
                  </a:rPr>
                  <a:t>densidad (×100)</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C3A55"/>
              </a:solidFil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Lognormal</c:v>
                </c:pt>
              </c:strCache>
            </c:strRef>
          </c:tx>
          <c:spPr>
            <a:ln w="38100" cap="flat">
              <a:solidFill>
                <a:srgbClr val="E6115E"/>
              </a:solidFill>
              <a:prstDash val="solid"/>
              <a:round/>
            </a:ln>
            <a:effectLst/>
          </c:spPr>
          <c:marker>
            <c:symbol val="none"/>
          </c:marker>
          <c:cat>
            <c:strRef>
              <c:f>Sheet1!$A$2:$A$121</c:f>
              <c:strCache>
                <c:ptCount val="120"/>
                <c:pt idx="19">
                  <c:v>2k</c:v>
                </c:pt>
                <c:pt idx="39">
                  <c:v>4k</c:v>
                </c:pt>
                <c:pt idx="59">
                  <c:v>6k</c:v>
                </c:pt>
                <c:pt idx="79">
                  <c:v>8k</c:v>
                </c:pt>
                <c:pt idx="99">
                  <c:v>10k</c:v>
                </c:pt>
                <c:pt idx="119">
                  <c:v>12k</c:v>
                </c:pt>
              </c:strCache>
            </c:strRef>
          </c:cat>
          <c:val>
            <c:numRef>
              <c:f>Sheet1!$B$2:$B$121</c:f>
              <c:numCache>
                <c:formatCode>General</c:formatCode>
                <c:ptCount val="120"/>
                <c:pt idx="0">
                  <c:v>2.1941228933290828E-3</c:v>
                </c:pt>
                <c:pt idx="1">
                  <c:v>5.8386804047797211E-2</c:v>
                </c:pt>
                <c:pt idx="2">
                  <c:v>0.25264668754328634</c:v>
                </c:pt>
                <c:pt idx="3">
                  <c:v>0.58282156954968267</c:v>
                </c:pt>
                <c:pt idx="4">
                  <c:v>0.99220852737655274</c:v>
                </c:pt>
                <c:pt idx="5">
                  <c:v>1.4211446244490265</c:v>
                </c:pt>
                <c:pt idx="6">
                  <c:v>1.826328163125106</c:v>
                </c:pt>
                <c:pt idx="7">
                  <c:v>2.1823463984908469</c:v>
                </c:pt>
                <c:pt idx="8">
                  <c:v>2.4775873513234048</c:v>
                </c:pt>
                <c:pt idx="9">
                  <c:v>2.7095893059967189</c:v>
                </c:pt>
                <c:pt idx="10">
                  <c:v>2.8813360446135405</c:v>
                </c:pt>
                <c:pt idx="11">
                  <c:v>2.998679857080524</c:v>
                </c:pt>
                <c:pt idx="12">
                  <c:v>3.0686841229264337</c:v>
                </c:pt>
                <c:pt idx="13">
                  <c:v>3.0986223216525115</c:v>
                </c:pt>
                <c:pt idx="14">
                  <c:v>3.0954144553531515</c:v>
                </c:pt>
                <c:pt idx="15">
                  <c:v>3.0653418460283137</c:v>
                </c:pt>
                <c:pt idx="16">
                  <c:v>3.0139322191750098</c:v>
                </c:pt>
                <c:pt idx="17">
                  <c:v>2.9459444717879548</c:v>
                </c:pt>
                <c:pt idx="18">
                  <c:v>2.8654083237928618</c:v>
                </c:pt>
                <c:pt idx="19">
                  <c:v>2.7756911560023898</c:v>
                </c:pt>
                <c:pt idx="20">
                  <c:v>2.6795754015382962</c:v>
                </c:pt>
                <c:pt idx="21">
                  <c:v>2.5793368800672138</c:v>
                </c:pt>
                <c:pt idx="22">
                  <c:v>2.4768188434163791</c:v>
                </c:pt>
                <c:pt idx="23">
                  <c:v>2.3734991786444506</c:v>
                </c:pt>
                <c:pt idx="24">
                  <c:v>2.2705498103337423</c:v>
                </c:pt>
                <c:pt idx="25">
                  <c:v>2.1688882600974626</c:v>
                </c:pt>
                <c:pt idx="26">
                  <c:v>2.0692218165601788</c:v>
                </c:pt>
                <c:pt idx="27">
                  <c:v>1.9720850080549659</c:v>
                </c:pt>
                <c:pt idx="28">
                  <c:v>1.8778711570354272</c:v>
                </c:pt>
                <c:pt idx="29">
                  <c:v>1.7868587948425614</c:v>
                </c:pt>
                <c:pt idx="30">
                  <c:v>1.6992336682547171</c:v>
                </c:pt>
                <c:pt idx="31">
                  <c:v>1.6151069996589162</c:v>
                </c:pt>
                <c:pt idx="32">
                  <c:v>1.5345305852322721</c:v>
                </c:pt>
                <c:pt idx="33">
                  <c:v>1.4575092385040096</c:v>
                </c:pt>
                <c:pt idx="34">
                  <c:v>1.3840110145230258</c:v>
                </c:pt>
                <c:pt idx="35">
                  <c:v>1.3139755846838783</c:v>
                </c:pt>
                <c:pt idx="36">
                  <c:v>1.2473210747793038</c:v>
                </c:pt>
                <c:pt idx="37">
                  <c:v>1.1839496289719946</c:v>
                </c:pt>
                <c:pt idx="38">
                  <c:v>1.1237519196124848</c:v>
                </c:pt>
                <c:pt idx="39">
                  <c:v>1.0666107864756922</c:v>
                </c:pt>
                <c:pt idx="40">
                  <c:v>1.0124041582830599</c:v>
                </c:pt>
                <c:pt idx="41">
                  <c:v>0.96100738356820592</c:v>
                </c:pt>
                <c:pt idx="42">
                  <c:v>0.91229507633077533</c:v>
                </c:pt>
                <c:pt idx="43">
                  <c:v>0.86614256387446464</c:v>
                </c:pt>
                <c:pt idx="44">
                  <c:v>0.82242700918589173</c:v>
                </c:pt>
                <c:pt idx="45">
                  <c:v>0.78102826769993972</c:v>
                </c:pt>
                <c:pt idx="46">
                  <c:v>0.74182952790293821</c:v>
                </c:pt>
                <c:pt idx="47">
                  <c:v>0.70471777659780233</c:v>
                </c:pt>
                <c:pt idx="48">
                  <c:v>0.66958412250040433</c:v>
                </c:pt>
                <c:pt idx="49">
                  <c:v>0.63632400590619609</c:v>
                </c:pt>
                <c:pt idx="50">
                  <c:v>0.60483731725357159</c:v>
                </c:pt>
                <c:pt idx="51">
                  <c:v>0.57502844334265057</c:v>
                </c:pt>
                <c:pt idx="52">
                  <c:v>0.54680625660128335</c:v>
                </c:pt>
                <c:pt idx="53">
                  <c:v>0.52008406000451413</c:v>
                </c:pt>
                <c:pt idx="54">
                  <c:v>0.49477949795009041</c:v>
                </c:pt>
                <c:pt idx="55">
                  <c:v>0.47081444148841894</c:v>
                </c:pt>
                <c:pt idx="56">
                  <c:v>0.44811485473241247</c:v>
                </c:pt>
                <c:pt idx="57">
                  <c:v>0.4266106479739481</c:v>
                </c:pt>
                <c:pt idx="58">
                  <c:v>0.40623552196255808</c:v>
                </c:pt>
                <c:pt idx="59">
                  <c:v>0.38692680691914344</c:v>
                </c:pt>
                <c:pt idx="60">
                  <c:v>0.36862529913094011</c:v>
                </c:pt>
                <c:pt idx="61">
                  <c:v>0.35127509737674828</c:v>
                </c:pt>
                <c:pt idx="62">
                  <c:v>0.33482344094134481</c:v>
                </c:pt>
                <c:pt idx="63">
                  <c:v>0.31922055057671983</c:v>
                </c:pt>
                <c:pt idx="64">
                  <c:v>0.30441947343992454</c:v>
                </c:pt>
                <c:pt idx="65">
                  <c:v>0.29037593277028295</c:v>
                </c:pt>
                <c:pt idx="66">
                  <c:v>0.27704818285196264</c:v>
                </c:pt>
                <c:pt idx="67">
                  <c:v>0.26439686963268666</c:v>
                </c:pt>
                <c:pt idx="68">
                  <c:v>0.25238489722848989</c:v>
                </c:pt>
                <c:pt idx="69">
                  <c:v>0.24097730043178703</c:v>
                </c:pt>
                <c:pt idx="70">
                  <c:v>0.23014112325075259</c:v>
                </c:pt>
                <c:pt idx="71">
                  <c:v>0.21984530343785505</c:v>
                </c:pt>
                <c:pt idx="72">
                  <c:v>0.21006056291098604</c:v>
                </c:pt>
                <c:pt idx="73">
                  <c:v>0.20075930392908767</c:v>
                </c:pt>
                <c:pt idx="74">
                  <c:v>0.19191551085315284</c:v>
                </c:pt>
                <c:pt idx="75">
                  <c:v>0.18350465730101934</c:v>
                </c:pt>
                <c:pt idx="76">
                  <c:v>0.17550361848882132</c:v>
                </c:pt>
                <c:pt idx="77">
                  <c:v>0.16789058854203012</c:v>
                </c:pt>
                <c:pt idx="78">
                  <c:v>0.16064500255354189</c:v>
                </c:pt>
                <c:pt idx="79">
                  <c:v>0.15374746316438107</c:v>
                </c:pt>
                <c:pt idx="80">
                  <c:v>0.14717967144348659</c:v>
                </c:pt>
                <c:pt idx="81">
                  <c:v>0.14092436184616511</c:v>
                </c:pt>
                <c:pt idx="82">
                  <c:v>0.13496524103558233</c:v>
                </c:pt>
                <c:pt idx="83">
                  <c:v>0.12928693035771635</c:v>
                </c:pt>
                <c:pt idx="84">
                  <c:v>0.12387491176717426</c:v>
                </c:pt>
                <c:pt idx="85">
                  <c:v>0.11871547700892512</c:v>
                </c:pt>
                <c:pt idx="86">
                  <c:v>0.11379567986903895</c:v>
                </c:pt>
                <c:pt idx="87">
                  <c:v>0.10910329131585651</c:v>
                </c:pt>
                <c:pt idx="88">
                  <c:v>0.10462675736141362</c:v>
                </c:pt>
                <c:pt idx="89">
                  <c:v>0.10035515948135947</c:v>
                </c:pt>
                <c:pt idx="90">
                  <c:v>9.6278177439923271E-2</c:v>
                </c:pt>
                <c:pt idx="91">
                  <c:v>9.2386054374620705E-2</c:v>
                </c:pt>
                <c:pt idx="92">
                  <c:v>8.8669564003332202E-2</c:v>
                </c:pt>
                <c:pt idx="93">
                  <c:v>8.5119979824050424E-2</c:v>
                </c:pt>
                <c:pt idx="94">
                  <c:v>8.1729046184990328E-2</c:v>
                </c:pt>
                <c:pt idx="95">
                  <c:v>7.848895110984809E-2</c:v>
                </c:pt>
                <c:pt idx="96">
                  <c:v>7.5392300769764872E-2</c:v>
                </c:pt>
                <c:pt idx="97">
                  <c:v>7.2432095500019042E-2</c:v>
                </c:pt>
                <c:pt idx="98">
                  <c:v>6.960170726561174E-2</c:v>
                </c:pt>
                <c:pt idx="99">
                  <c:v>6.6894858485731429E-2</c:v>
                </c:pt>
                <c:pt idx="100">
                  <c:v>6.4305602132611245E-2</c:v>
                </c:pt>
                <c:pt idx="101">
                  <c:v>6.1828303025487363E-2</c:v>
                </c:pt>
                <c:pt idx="102">
                  <c:v>5.9457620245313217E-2</c:v>
                </c:pt>
                <c:pt idx="103">
                  <c:v>5.7188490600502864E-2</c:v>
                </c:pt>
                <c:pt idx="104">
                  <c:v>5.5016113078351442E-2</c:v>
                </c:pt>
                <c:pt idx="105">
                  <c:v>5.2935934220895965E-2</c:v>
                </c:pt>
                <c:pt idx="106">
                  <c:v>5.0943634367832454E-2</c:v>
                </c:pt>
                <c:pt idx="107">
                  <c:v>4.9035114712734321E-2</c:v>
                </c:pt>
                <c:pt idx="108">
                  <c:v>4.7206485122225757E-2</c:v>
                </c:pt>
                <c:pt idx="109">
                  <c:v>4.5454052670946883E-2</c:v>
                </c:pt>
                <c:pt idx="110">
                  <c:v>4.3774310848151789E-2</c:v>
                </c:pt>
                <c:pt idx="111">
                  <c:v>4.2163929394574903E-2</c:v>
                </c:pt>
                <c:pt idx="112">
                  <c:v>4.0619744730834927E-2</c:v>
                </c:pt>
                <c:pt idx="113">
                  <c:v>3.9138750941104535E-2</c:v>
                </c:pt>
                <c:pt idx="114">
                  <c:v>3.7718091278072782E-2</c:v>
                </c:pt>
                <c:pt idx="115">
                  <c:v>3.6355050157392862E-2</c:v>
                </c:pt>
                <c:pt idx="116">
                  <c:v>3.5047045611812974E-2</c:v>
                </c:pt>
                <c:pt idx="117">
                  <c:v>3.3791622177085943E-2</c:v>
                </c:pt>
                <c:pt idx="118">
                  <c:v>3.2586444183510449E-2</c:v>
                </c:pt>
                <c:pt idx="119">
                  <c:v>3.142928942861687E-2</c:v>
                </c:pt>
              </c:numCache>
            </c:numRef>
          </c:val>
          <c:smooth val="1"/>
          <c:extLst>
            <c:ext xmlns:c16="http://schemas.microsoft.com/office/drawing/2014/chart" uri="{C3380CC4-5D6E-409C-BE32-E72D297353CC}">
              <c16:uniqueId val="{00000000-FAE2-F541-91CC-D14DC224E705}"/>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000" b="0" i="0" u="none" strike="noStrike">
                    <a:solidFill>
                      <a:srgbClr val="5B6B87"/>
                    </a:solidFill>
                    <a:latin typeface="Arial"/>
                  </a:defRPr>
                </a:pPr>
                <a:r>
                  <a:rPr sz="1000" b="0" i="0" u="none" strike="noStrike">
                    <a:solidFill>
                      <a:srgbClr val="5B6B87"/>
                    </a:solidFill>
                    <a:latin typeface="Arial"/>
                  </a:rPr>
                  <a:t>monto de la transacción (S/)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1E8F5"/>
              </a:solidFill>
              <a:prstDash val="solid"/>
              <a:round/>
            </a:ln>
          </c:spPr>
        </c:majorGridlines>
        <c:title>
          <c:tx>
            <c:rich>
              <a:bodyPr/>
              <a:lstStyle/>
              <a:p>
                <a:pPr>
                  <a:defRPr sz="1000" b="0" i="0" u="none" strike="noStrike">
                    <a:solidFill>
                      <a:srgbClr val="5B6B87"/>
                    </a:solidFill>
                    <a:latin typeface="Arial"/>
                  </a:defRPr>
                </a:pPr>
                <a:r>
                  <a:rPr sz="1000" b="0" i="0" u="none" strike="noStrike">
                    <a:solidFill>
                      <a:srgbClr val="5B6B87"/>
                    </a:solidFill>
                    <a:latin typeface="Arial"/>
                  </a:rPr>
                  <a:t>densidad (×10⁴)</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Normal N(0,1)</c:v>
                </c:pt>
              </c:strCache>
            </c:strRef>
          </c:tx>
          <c:spPr>
            <a:ln w="38100" cap="flat">
              <a:solidFill>
                <a:srgbClr val="0A2559"/>
              </a:solidFill>
              <a:prstDash val="solid"/>
              <a:round/>
            </a:ln>
            <a:effectLst/>
          </c:spPr>
          <c:marker>
            <c:symbol val="none"/>
          </c:marker>
          <c:cat>
            <c:strRef>
              <c:f>Sheet1!$A$2:$A$102</c:f>
              <c:strCache>
                <c:ptCount val="101"/>
                <c:pt idx="0">
                  <c:v>-5</c:v>
                </c:pt>
                <c:pt idx="10">
                  <c:v>-4</c:v>
                </c:pt>
                <c:pt idx="20">
                  <c:v>-3</c:v>
                </c:pt>
                <c:pt idx="30">
                  <c:v>-2</c:v>
                </c:pt>
                <c:pt idx="40">
                  <c:v>-1</c:v>
                </c:pt>
                <c:pt idx="50">
                  <c:v>0</c:v>
                </c:pt>
                <c:pt idx="60">
                  <c:v>1</c:v>
                </c:pt>
                <c:pt idx="70">
                  <c:v>2</c:v>
                </c:pt>
                <c:pt idx="80">
                  <c:v>3</c:v>
                </c:pt>
                <c:pt idx="90">
                  <c:v>4</c:v>
                </c:pt>
                <c:pt idx="100">
                  <c:v>5</c:v>
                </c:pt>
              </c:strCache>
            </c:strRef>
          </c:cat>
          <c:val>
            <c:numRef>
              <c:f>Sheet1!$B$2:$B$102</c:f>
              <c:numCache>
                <c:formatCode>General</c:formatCode>
                <c:ptCount val="101"/>
                <c:pt idx="0">
                  <c:v>1.4867195147342979E-6</c:v>
                </c:pt>
                <c:pt idx="1">
                  <c:v>2.4389607458933522E-6</c:v>
                </c:pt>
                <c:pt idx="2">
                  <c:v>3.9612990910320753E-6</c:v>
                </c:pt>
                <c:pt idx="3">
                  <c:v>6.3698251788670899E-6</c:v>
                </c:pt>
                <c:pt idx="4">
                  <c:v>1.014085206548676E-5</c:v>
                </c:pt>
                <c:pt idx="5">
                  <c:v>1.5983741106905478E-5</c:v>
                </c:pt>
                <c:pt idx="6">
                  <c:v>2.4942471290053535E-5</c:v>
                </c:pt>
                <c:pt idx="7">
                  <c:v>3.8535196742087129E-5</c:v>
                </c:pt>
                <c:pt idx="8">
                  <c:v>5.8943067756539855E-5</c:v>
                </c:pt>
                <c:pt idx="9">
                  <c:v>8.9261657177132928E-5</c:v>
                </c:pt>
                <c:pt idx="10">
                  <c:v>1.3383022576488537E-4</c:v>
                </c:pt>
                <c:pt idx="11">
                  <c:v>1.9865547139277272E-4</c:v>
                </c:pt>
                <c:pt idx="12">
                  <c:v>2.9194692579146027E-4</c:v>
                </c:pt>
                <c:pt idx="13">
                  <c:v>4.2478027055075143E-4</c:v>
                </c:pt>
                <c:pt idx="14">
                  <c:v>6.119019301137719E-4</c:v>
                </c:pt>
                <c:pt idx="15">
                  <c:v>8.7268269504576015E-4</c:v>
                </c:pt>
                <c:pt idx="16">
                  <c:v>1.2322191684730199E-3</c:v>
                </c:pt>
                <c:pt idx="17">
                  <c:v>1.7225689390536812E-3</c:v>
                </c:pt>
                <c:pt idx="18">
                  <c:v>2.3840882014648404E-3</c:v>
                </c:pt>
                <c:pt idx="19">
                  <c:v>3.2668190561999186E-3</c:v>
                </c:pt>
                <c:pt idx="20">
                  <c:v>4.4318484119380075E-3</c:v>
                </c:pt>
                <c:pt idx="21">
                  <c:v>5.9525324197758538E-3</c:v>
                </c:pt>
                <c:pt idx="22">
                  <c:v>7.9154515829799686E-3</c:v>
                </c:pt>
                <c:pt idx="23">
                  <c:v>1.0420934814422592E-2</c:v>
                </c:pt>
                <c:pt idx="24">
                  <c:v>1.3582969233685615E-2</c:v>
                </c:pt>
                <c:pt idx="25">
                  <c:v>1.752830049356854E-2</c:v>
                </c:pt>
                <c:pt idx="26">
                  <c:v>2.2394530294842899E-2</c:v>
                </c:pt>
                <c:pt idx="27">
                  <c:v>2.832703774160119E-2</c:v>
                </c:pt>
                <c:pt idx="28">
                  <c:v>3.5474592846231424E-2</c:v>
                </c:pt>
                <c:pt idx="29">
                  <c:v>4.3983595980427198E-2</c:v>
                </c:pt>
                <c:pt idx="30">
                  <c:v>5.3990966513188063E-2</c:v>
                </c:pt>
                <c:pt idx="31">
                  <c:v>6.5615814774676595E-2</c:v>
                </c:pt>
                <c:pt idx="32">
                  <c:v>7.8950158300894149E-2</c:v>
                </c:pt>
                <c:pt idx="33">
                  <c:v>9.4049077376886947E-2</c:v>
                </c:pt>
                <c:pt idx="34">
                  <c:v>0.11092083467945554</c:v>
                </c:pt>
                <c:pt idx="35">
                  <c:v>0.12951759566589174</c:v>
                </c:pt>
                <c:pt idx="36">
                  <c:v>0.14972746563574488</c:v>
                </c:pt>
                <c:pt idx="37">
                  <c:v>0.17136859204780736</c:v>
                </c:pt>
                <c:pt idx="38">
                  <c:v>0.19418605498321298</c:v>
                </c:pt>
                <c:pt idx="39">
                  <c:v>0.21785217703255055</c:v>
                </c:pt>
                <c:pt idx="40">
                  <c:v>0.24197072451914337</c:v>
                </c:pt>
                <c:pt idx="41">
                  <c:v>0.26608524989875482</c:v>
                </c:pt>
                <c:pt idx="42">
                  <c:v>0.28969155276148278</c:v>
                </c:pt>
                <c:pt idx="43">
                  <c:v>0.31225393336676133</c:v>
                </c:pt>
                <c:pt idx="44">
                  <c:v>0.33322460289179967</c:v>
                </c:pt>
                <c:pt idx="45">
                  <c:v>0.35206532676429952</c:v>
                </c:pt>
                <c:pt idx="46">
                  <c:v>0.36827014030332333</c:v>
                </c:pt>
                <c:pt idx="47">
                  <c:v>0.38138781546052414</c:v>
                </c:pt>
                <c:pt idx="48">
                  <c:v>0.39104269397545588</c:v>
                </c:pt>
                <c:pt idx="49">
                  <c:v>0.39695254747701181</c:v>
                </c:pt>
                <c:pt idx="50">
                  <c:v>0.3989422804014327</c:v>
                </c:pt>
                <c:pt idx="51">
                  <c:v>0.39695254747701181</c:v>
                </c:pt>
                <c:pt idx="52">
                  <c:v>0.39104269397545588</c:v>
                </c:pt>
                <c:pt idx="53">
                  <c:v>0.38138781546052414</c:v>
                </c:pt>
                <c:pt idx="54">
                  <c:v>0.36827014030332333</c:v>
                </c:pt>
                <c:pt idx="55">
                  <c:v>0.35206532676429952</c:v>
                </c:pt>
                <c:pt idx="56">
                  <c:v>0.33322460289179967</c:v>
                </c:pt>
                <c:pt idx="57">
                  <c:v>0.31225393336676133</c:v>
                </c:pt>
                <c:pt idx="58">
                  <c:v>0.28969155276148278</c:v>
                </c:pt>
                <c:pt idx="59">
                  <c:v>0.26608524989875482</c:v>
                </c:pt>
                <c:pt idx="60">
                  <c:v>0.24197072451914337</c:v>
                </c:pt>
                <c:pt idx="61">
                  <c:v>0.21785217703255055</c:v>
                </c:pt>
                <c:pt idx="62">
                  <c:v>0.19418605498321298</c:v>
                </c:pt>
                <c:pt idx="63">
                  <c:v>0.17136859204780736</c:v>
                </c:pt>
                <c:pt idx="64">
                  <c:v>0.14972746563574488</c:v>
                </c:pt>
                <c:pt idx="65">
                  <c:v>0.12951759566589174</c:v>
                </c:pt>
                <c:pt idx="66">
                  <c:v>0.11092083467945554</c:v>
                </c:pt>
                <c:pt idx="67">
                  <c:v>9.4049077376886947E-2</c:v>
                </c:pt>
                <c:pt idx="68">
                  <c:v>7.8950158300894149E-2</c:v>
                </c:pt>
                <c:pt idx="69">
                  <c:v>6.5615814774676595E-2</c:v>
                </c:pt>
                <c:pt idx="70">
                  <c:v>5.3990966513188063E-2</c:v>
                </c:pt>
                <c:pt idx="71">
                  <c:v>4.3983595980427198E-2</c:v>
                </c:pt>
                <c:pt idx="72">
                  <c:v>3.5474592846231424E-2</c:v>
                </c:pt>
                <c:pt idx="73">
                  <c:v>2.832703774160119E-2</c:v>
                </c:pt>
                <c:pt idx="74">
                  <c:v>2.2394530294842899E-2</c:v>
                </c:pt>
                <c:pt idx="75">
                  <c:v>1.752830049356854E-2</c:v>
                </c:pt>
                <c:pt idx="76">
                  <c:v>1.3582969233685615E-2</c:v>
                </c:pt>
                <c:pt idx="77">
                  <c:v>1.0420934814422592E-2</c:v>
                </c:pt>
                <c:pt idx="78">
                  <c:v>7.9154515829799686E-3</c:v>
                </c:pt>
                <c:pt idx="79">
                  <c:v>5.9525324197758538E-3</c:v>
                </c:pt>
                <c:pt idx="80">
                  <c:v>4.4318484119380075E-3</c:v>
                </c:pt>
                <c:pt idx="81">
                  <c:v>3.2668190561999186E-3</c:v>
                </c:pt>
                <c:pt idx="82">
                  <c:v>2.3840882014648404E-3</c:v>
                </c:pt>
                <c:pt idx="83">
                  <c:v>1.7225689390536812E-3</c:v>
                </c:pt>
                <c:pt idx="84">
                  <c:v>1.2322191684730199E-3</c:v>
                </c:pt>
                <c:pt idx="85">
                  <c:v>8.7268269504576015E-4</c:v>
                </c:pt>
                <c:pt idx="86">
                  <c:v>6.119019301137719E-4</c:v>
                </c:pt>
                <c:pt idx="87">
                  <c:v>4.2478027055075143E-4</c:v>
                </c:pt>
                <c:pt idx="88">
                  <c:v>2.9194692579146027E-4</c:v>
                </c:pt>
                <c:pt idx="89">
                  <c:v>1.9865547139277272E-4</c:v>
                </c:pt>
                <c:pt idx="90">
                  <c:v>1.3383022576488537E-4</c:v>
                </c:pt>
                <c:pt idx="91">
                  <c:v>8.9261657177132928E-5</c:v>
                </c:pt>
                <c:pt idx="92">
                  <c:v>5.8943067756539855E-5</c:v>
                </c:pt>
                <c:pt idx="93">
                  <c:v>3.8535196742087129E-5</c:v>
                </c:pt>
                <c:pt idx="94">
                  <c:v>2.4942471290053535E-5</c:v>
                </c:pt>
                <c:pt idx="95">
                  <c:v>1.5983741106905478E-5</c:v>
                </c:pt>
                <c:pt idx="96">
                  <c:v>1.014085206548676E-5</c:v>
                </c:pt>
                <c:pt idx="97">
                  <c:v>6.3698251788670899E-6</c:v>
                </c:pt>
                <c:pt idx="98">
                  <c:v>3.9612990910320753E-6</c:v>
                </c:pt>
                <c:pt idx="99">
                  <c:v>2.4389607458933522E-6</c:v>
                </c:pt>
                <c:pt idx="100">
                  <c:v>1.4867195147342979E-6</c:v>
                </c:pt>
              </c:numCache>
            </c:numRef>
          </c:val>
          <c:smooth val="1"/>
          <c:extLst>
            <c:ext xmlns:c16="http://schemas.microsoft.com/office/drawing/2014/chart" uri="{C3380CC4-5D6E-409C-BE32-E72D297353CC}">
              <c16:uniqueId val="{00000000-E411-514F-8188-A45267863C96}"/>
            </c:ext>
          </c:extLst>
        </c:ser>
        <c:ser>
          <c:idx val="1"/>
          <c:order val="1"/>
          <c:tx>
            <c:strRef>
              <c:f>Sheet1!$C$1</c:f>
              <c:strCache>
                <c:ptCount val="1"/>
                <c:pt idx="0">
                  <c:v>t con ν = 10</c:v>
                </c:pt>
              </c:strCache>
            </c:strRef>
          </c:tx>
          <c:spPr>
            <a:ln w="38100" cap="flat">
              <a:solidFill>
                <a:srgbClr val="1A56E8"/>
              </a:solidFill>
              <a:prstDash val="solid"/>
              <a:round/>
            </a:ln>
            <a:effectLst/>
          </c:spPr>
          <c:marker>
            <c:symbol val="none"/>
          </c:marker>
          <c:cat>
            <c:strRef>
              <c:f>Sheet1!$A$2:$A$102</c:f>
              <c:strCache>
                <c:ptCount val="101"/>
                <c:pt idx="0">
                  <c:v>-5</c:v>
                </c:pt>
                <c:pt idx="10">
                  <c:v>-4</c:v>
                </c:pt>
                <c:pt idx="20">
                  <c:v>-3</c:v>
                </c:pt>
                <c:pt idx="30">
                  <c:v>-2</c:v>
                </c:pt>
                <c:pt idx="40">
                  <c:v>-1</c:v>
                </c:pt>
                <c:pt idx="50">
                  <c:v>0</c:v>
                </c:pt>
                <c:pt idx="60">
                  <c:v>1</c:v>
                </c:pt>
                <c:pt idx="70">
                  <c:v>2</c:v>
                </c:pt>
                <c:pt idx="80">
                  <c:v>3</c:v>
                </c:pt>
                <c:pt idx="90">
                  <c:v>4</c:v>
                </c:pt>
                <c:pt idx="100">
                  <c:v>5</c:v>
                </c:pt>
              </c:strCache>
            </c:strRef>
          </c:cat>
          <c:val>
            <c:numRef>
              <c:f>Sheet1!$C$2:$C$102</c:f>
              <c:numCache>
                <c:formatCode>General</c:formatCode>
                <c:ptCount val="101"/>
                <c:pt idx="0">
                  <c:v>3.9600105646379977E-4</c:v>
                </c:pt>
                <c:pt idx="1">
                  <c:v>4.6369681498458718E-4</c:v>
                </c:pt>
                <c:pt idx="2">
                  <c:v>5.4368878659587748E-4</c:v>
                </c:pt>
                <c:pt idx="3">
                  <c:v>6.3831807809212383E-4</c:v>
                </c:pt>
                <c:pt idx="4">
                  <c:v>7.503858206315085E-4</c:v>
                </c:pt>
                <c:pt idx="5">
                  <c:v>8.8324462669311108E-4</c:v>
                </c:pt>
                <c:pt idx="6">
                  <c:v>1.040907904785351E-3</c:v>
                </c:pt>
                <c:pt idx="7">
                  <c:v>1.2281802735239508E-3</c:v>
                </c:pt>
                <c:pt idx="8">
                  <c:v>1.4508127902000019E-3</c:v>
                </c:pt>
                <c:pt idx="9">
                  <c:v>1.715687201488351E-3</c:v>
                </c:pt>
                <c:pt idx="10">
                  <c:v>2.0310339110412197E-3</c:v>
                </c:pt>
                <c:pt idx="11">
                  <c:v>2.4066888019954953E-3</c:v>
                </c:pt>
                <c:pt idx="12">
                  <c:v>2.8543943946096116E-3</c:v>
                </c:pt>
                <c:pt idx="13">
                  <c:v>3.3881509779624063E-3</c:v>
                </c:pt>
                <c:pt idx="14">
                  <c:v>4.0246232150294757E-3</c:v>
                </c:pt>
                <c:pt idx="15">
                  <c:v>4.7836071267013331E-3</c:v>
                </c:pt>
                <c:pt idx="16">
                  <c:v>5.6885611066299462E-3</c:v>
                </c:pt>
                <c:pt idx="17">
                  <c:v>6.7672024406869521E-3</c:v>
                </c:pt>
                <c:pt idx="18">
                  <c:v>8.0521673723421838E-3</c:v>
                </c:pt>
                <c:pt idx="19">
                  <c:v>9.5817276708977488E-3</c:v>
                </c:pt>
                <c:pt idx="20">
                  <c:v>1.1400549464542551E-2</c:v>
                </c:pt>
                <c:pt idx="21">
                  <c:v>1.3560470295244955E-2</c:v>
                </c:pt>
                <c:pt idx="22">
                  <c:v>1.6121257439422183E-2</c:v>
                </c:pt>
                <c:pt idx="23">
                  <c:v>1.9151294092491031E-2</c:v>
                </c:pt>
                <c:pt idx="24">
                  <c:v>2.2728119798464997E-2</c:v>
                </c:pt>
                <c:pt idx="25">
                  <c:v>2.6938727628244515E-2</c:v>
                </c:pt>
                <c:pt idx="26">
                  <c:v>3.1879493750030623E-2</c:v>
                </c:pt>
                <c:pt idx="27">
                  <c:v>3.7655586709753462E-2</c:v>
                </c:pt>
                <c:pt idx="28">
                  <c:v>4.4379676614245793E-2</c:v>
                </c:pt>
                <c:pt idx="29">
                  <c:v>5.2169742604355106E-2</c:v>
                </c:pt>
                <c:pt idx="30">
                  <c:v>6.114576632121832E-2</c:v>
                </c:pt>
                <c:pt idx="31">
                  <c:v>7.1425107032802623E-2</c:v>
                </c:pt>
                <c:pt idx="32">
                  <c:v>8.3116389653879741E-2</c:v>
                </c:pt>
                <c:pt idx="33">
                  <c:v>9.6311809633229523E-2</c:v>
                </c:pt>
                <c:pt idx="34">
                  <c:v>0.11107787729698355</c:v>
                </c:pt>
                <c:pt idx="35">
                  <c:v>0.12744479428709191</c:v>
                </c:pt>
                <c:pt idx="36">
                  <c:v>0.14539487566000645</c:v>
                </c:pt>
                <c:pt idx="37">
                  <c:v>0.16485069296801966</c:v>
                </c:pt>
                <c:pt idx="38">
                  <c:v>0.18566389362670363</c:v>
                </c:pt>
                <c:pt idx="39">
                  <c:v>0.20760591316421448</c:v>
                </c:pt>
                <c:pt idx="40">
                  <c:v>0.23036198922913903</c:v>
                </c:pt>
                <c:pt idx="41">
                  <c:v>0.25352995055982808</c:v>
                </c:pt>
                <c:pt idx="42">
                  <c:v>0.27662513233825692</c:v>
                </c:pt>
                <c:pt idx="43">
                  <c:v>0.29909241773685341</c:v>
                </c:pt>
                <c:pt idx="44">
                  <c:v>0.32032581052912512</c:v>
                </c:pt>
                <c:pt idx="45">
                  <c:v>0.33969513635207865</c:v>
                </c:pt>
                <c:pt idx="46">
                  <c:v>0.35657853369790465</c:v>
                </c:pt>
                <c:pt idx="47">
                  <c:v>0.37039846155274642</c:v>
                </c:pt>
                <c:pt idx="48">
                  <c:v>0.38065818105444993</c:v>
                </c:pt>
                <c:pt idx="49">
                  <c:v>0.38697522581518146</c:v>
                </c:pt>
                <c:pt idx="50">
                  <c:v>0.38910838396603187</c:v>
                </c:pt>
                <c:pt idx="51">
                  <c:v>0.38697522581518146</c:v>
                </c:pt>
                <c:pt idx="52">
                  <c:v>0.38065818105444993</c:v>
                </c:pt>
                <c:pt idx="53">
                  <c:v>0.37039846155274642</c:v>
                </c:pt>
                <c:pt idx="54">
                  <c:v>0.35657853369790465</c:v>
                </c:pt>
                <c:pt idx="55">
                  <c:v>0.33969513635207865</c:v>
                </c:pt>
                <c:pt idx="56">
                  <c:v>0.32032581052912512</c:v>
                </c:pt>
                <c:pt idx="57">
                  <c:v>0.29909241773685341</c:v>
                </c:pt>
                <c:pt idx="58">
                  <c:v>0.27662513233825692</c:v>
                </c:pt>
                <c:pt idx="59">
                  <c:v>0.25352995055982808</c:v>
                </c:pt>
                <c:pt idx="60">
                  <c:v>0.23036198922913903</c:v>
                </c:pt>
                <c:pt idx="61">
                  <c:v>0.20760591316421448</c:v>
                </c:pt>
                <c:pt idx="62">
                  <c:v>0.18566389362670363</c:v>
                </c:pt>
                <c:pt idx="63">
                  <c:v>0.16485069296801966</c:v>
                </c:pt>
                <c:pt idx="64">
                  <c:v>0.14539487566000645</c:v>
                </c:pt>
                <c:pt idx="65">
                  <c:v>0.12744479428709191</c:v>
                </c:pt>
                <c:pt idx="66">
                  <c:v>0.11107787729698355</c:v>
                </c:pt>
                <c:pt idx="67">
                  <c:v>9.6311809633229523E-2</c:v>
                </c:pt>
                <c:pt idx="68">
                  <c:v>8.3116389653879741E-2</c:v>
                </c:pt>
                <c:pt idx="69">
                  <c:v>7.1425107032802623E-2</c:v>
                </c:pt>
                <c:pt idx="70">
                  <c:v>6.114576632121832E-2</c:v>
                </c:pt>
                <c:pt idx="71">
                  <c:v>5.2169742604355106E-2</c:v>
                </c:pt>
                <c:pt idx="72">
                  <c:v>4.4379676614245793E-2</c:v>
                </c:pt>
                <c:pt idx="73">
                  <c:v>3.7655586709753462E-2</c:v>
                </c:pt>
                <c:pt idx="74">
                  <c:v>3.1879493750030623E-2</c:v>
                </c:pt>
                <c:pt idx="75">
                  <c:v>2.6938727628244515E-2</c:v>
                </c:pt>
                <c:pt idx="76">
                  <c:v>2.2728119798464997E-2</c:v>
                </c:pt>
                <c:pt idx="77">
                  <c:v>1.9151294092491031E-2</c:v>
                </c:pt>
                <c:pt idx="78">
                  <c:v>1.6121257439422183E-2</c:v>
                </c:pt>
                <c:pt idx="79">
                  <c:v>1.3560470295244955E-2</c:v>
                </c:pt>
                <c:pt idx="80">
                  <c:v>1.1400549464542551E-2</c:v>
                </c:pt>
                <c:pt idx="81">
                  <c:v>9.5817276708977488E-3</c:v>
                </c:pt>
                <c:pt idx="82">
                  <c:v>8.0521673723421838E-3</c:v>
                </c:pt>
                <c:pt idx="83">
                  <c:v>6.7672024406869521E-3</c:v>
                </c:pt>
                <c:pt idx="84">
                  <c:v>5.6885611066299462E-3</c:v>
                </c:pt>
                <c:pt idx="85">
                  <c:v>4.7836071267013331E-3</c:v>
                </c:pt>
                <c:pt idx="86">
                  <c:v>4.0246232150294757E-3</c:v>
                </c:pt>
                <c:pt idx="87">
                  <c:v>3.3881509779624063E-3</c:v>
                </c:pt>
                <c:pt idx="88">
                  <c:v>2.8543943946096116E-3</c:v>
                </c:pt>
                <c:pt idx="89">
                  <c:v>2.4066888019954953E-3</c:v>
                </c:pt>
                <c:pt idx="90">
                  <c:v>2.0310339110412197E-3</c:v>
                </c:pt>
                <c:pt idx="91">
                  <c:v>1.715687201488351E-3</c:v>
                </c:pt>
                <c:pt idx="92">
                  <c:v>1.4508127902000019E-3</c:v>
                </c:pt>
                <c:pt idx="93">
                  <c:v>1.2281802735239508E-3</c:v>
                </c:pt>
                <c:pt idx="94">
                  <c:v>1.040907904785351E-3</c:v>
                </c:pt>
                <c:pt idx="95">
                  <c:v>8.8324462669311108E-4</c:v>
                </c:pt>
                <c:pt idx="96">
                  <c:v>7.503858206315085E-4</c:v>
                </c:pt>
                <c:pt idx="97">
                  <c:v>6.3831807809212383E-4</c:v>
                </c:pt>
                <c:pt idx="98">
                  <c:v>5.4368878659587748E-4</c:v>
                </c:pt>
                <c:pt idx="99">
                  <c:v>4.6369681498458718E-4</c:v>
                </c:pt>
                <c:pt idx="100">
                  <c:v>3.9600105646379977E-4</c:v>
                </c:pt>
              </c:numCache>
            </c:numRef>
          </c:val>
          <c:smooth val="1"/>
          <c:extLst>
            <c:ext xmlns:c16="http://schemas.microsoft.com/office/drawing/2014/chart" uri="{C3380CC4-5D6E-409C-BE32-E72D297353CC}">
              <c16:uniqueId val="{00000001-E411-514F-8188-A45267863C96}"/>
            </c:ext>
          </c:extLst>
        </c:ser>
        <c:ser>
          <c:idx val="2"/>
          <c:order val="2"/>
          <c:tx>
            <c:strRef>
              <c:f>Sheet1!$D$1</c:f>
              <c:strCache>
                <c:ptCount val="1"/>
                <c:pt idx="0">
                  <c:v>t con ν = 3</c:v>
                </c:pt>
              </c:strCache>
            </c:strRef>
          </c:tx>
          <c:spPr>
            <a:ln w="38100" cap="flat">
              <a:solidFill>
                <a:srgbClr val="E6115E"/>
              </a:solidFill>
              <a:prstDash val="solid"/>
              <a:round/>
            </a:ln>
            <a:effectLst/>
          </c:spPr>
          <c:marker>
            <c:symbol val="none"/>
          </c:marker>
          <c:cat>
            <c:strRef>
              <c:f>Sheet1!$A$2:$A$102</c:f>
              <c:strCache>
                <c:ptCount val="101"/>
                <c:pt idx="0">
                  <c:v>-5</c:v>
                </c:pt>
                <c:pt idx="10">
                  <c:v>-4</c:v>
                </c:pt>
                <c:pt idx="20">
                  <c:v>-3</c:v>
                </c:pt>
                <c:pt idx="30">
                  <c:v>-2</c:v>
                </c:pt>
                <c:pt idx="40">
                  <c:v>-1</c:v>
                </c:pt>
                <c:pt idx="50">
                  <c:v>0</c:v>
                </c:pt>
                <c:pt idx="60">
                  <c:v>1</c:v>
                </c:pt>
                <c:pt idx="70">
                  <c:v>2</c:v>
                </c:pt>
                <c:pt idx="80">
                  <c:v>3</c:v>
                </c:pt>
                <c:pt idx="90">
                  <c:v>4</c:v>
                </c:pt>
                <c:pt idx="100">
                  <c:v>5</c:v>
                </c:pt>
              </c:strCache>
            </c:strRef>
          </c:cat>
          <c:val>
            <c:numRef>
              <c:f>Sheet1!$D$2:$D$102</c:f>
              <c:numCache>
                <c:formatCode>General</c:formatCode>
                <c:ptCount val="101"/>
                <c:pt idx="0">
                  <c:v>4.2193537914933053E-3</c:v>
                </c:pt>
                <c:pt idx="1">
                  <c:v>4.5343269993393786E-3</c:v>
                </c:pt>
                <c:pt idx="2">
                  <c:v>4.8784296352102048E-3</c:v>
                </c:pt>
                <c:pt idx="3">
                  <c:v>5.2548543418754288E-3</c:v>
                </c:pt>
                <c:pt idx="4">
                  <c:v>5.6671948539310799E-3</c:v>
                </c:pt>
                <c:pt idx="5">
                  <c:v>6.1195021344076809E-3</c:v>
                </c:pt>
                <c:pt idx="6">
                  <c:v>6.6163490190818625E-3</c:v>
                </c:pt>
                <c:pt idx="7">
                  <c:v>7.162904716643455E-3</c:v>
                </c:pt>
                <c:pt idx="8">
                  <c:v>7.7650207237835766E-3</c:v>
                </c:pt>
                <c:pt idx="9">
                  <c:v>8.4293299534134412E-3</c:v>
                </c:pt>
                <c:pt idx="10">
                  <c:v>9.1633611427444656E-3</c:v>
                </c:pt>
                <c:pt idx="11">
                  <c:v>9.9756709055489733E-3</c:v>
                </c:pt>
                <c:pt idx="12">
                  <c:v>1.0875996116865792E-2</c:v>
                </c:pt>
                <c:pt idx="13">
                  <c:v>1.1875429662214367E-2</c:v>
                </c:pt>
                <c:pt idx="14">
                  <c:v>1.2986622934728548E-2</c:v>
                </c:pt>
                <c:pt idx="15">
                  <c:v>1.4224018801529705E-2</c:v>
                </c:pt>
                <c:pt idx="16">
                  <c:v>1.5604119051380566E-2</c:v>
                </c:pt>
                <c:pt idx="17">
                  <c:v>1.7145790526982046E-2</c:v>
                </c:pt>
                <c:pt idx="18">
                  <c:v>1.8870614158612273E-2</c:v>
                </c:pt>
                <c:pt idx="19">
                  <c:v>2.0803280835425427E-2</c:v>
                </c:pt>
                <c:pt idx="20">
                  <c:v>2.2972037309241331E-2</c:v>
                </c:pt>
                <c:pt idx="21">
                  <c:v>2.540918388493842E-2</c:v>
                </c:pt>
                <c:pt idx="22">
                  <c:v>2.815162317822089E-2</c:v>
                </c:pt>
                <c:pt idx="23">
                  <c:v>3.1241455256556475E-2</c:v>
                </c:pt>
                <c:pt idx="24">
                  <c:v>3.4726608402172128E-2</c:v>
                </c:pt>
                <c:pt idx="25">
                  <c:v>3.8661485727167294E-2</c:v>
                </c:pt>
                <c:pt idx="26">
                  <c:v>4.3107594875663971E-2</c:v>
                </c:pt>
                <c:pt idx="27">
                  <c:v>4.8134109759614942E-2</c:v>
                </c:pt>
                <c:pt idx="28">
                  <c:v>5.3818288156802369E-2</c:v>
                </c:pt>
                <c:pt idx="29">
                  <c:v>6.0245635389509972E-2</c:v>
                </c:pt>
                <c:pt idx="30">
                  <c:v>6.7509660663892912E-2</c:v>
                </c:pt>
                <c:pt idx="31">
                  <c:v>7.5711018068043243E-2</c:v>
                </c:pt>
                <c:pt idx="32">
                  <c:v>8.4955759279738641E-2</c:v>
                </c:pt>
                <c:pt idx="33">
                  <c:v>9.5352353202335746E-2</c:v>
                </c:pt>
                <c:pt idx="34">
                  <c:v>0.10700705749348996</c:v>
                </c:pt>
                <c:pt idx="35">
                  <c:v>0.12001717451358737</c:v>
                </c:pt>
                <c:pt idx="36">
                  <c:v>0.13446171682048128</c:v>
                </c:pt>
                <c:pt idx="37">
                  <c:v>0.15038908590753594</c:v>
                </c:pt>
                <c:pt idx="38">
                  <c:v>0.16780158735749695</c:v>
                </c:pt>
                <c:pt idx="39">
                  <c:v>0.18663702938545548</c:v>
                </c:pt>
                <c:pt idx="40">
                  <c:v>0.20674833578317203</c:v>
                </c:pt>
                <c:pt idx="41">
                  <c:v>0.22788306587380577</c:v>
                </c:pt>
                <c:pt idx="42">
                  <c:v>0.24966590482208906</c:v>
                </c:pt>
                <c:pt idx="43">
                  <c:v>0.27158835908824658</c:v>
                </c:pt>
                <c:pt idx="44">
                  <c:v>0.29301067996481284</c:v>
                </c:pt>
                <c:pt idx="45">
                  <c:v>0.31318091100882861</c:v>
                </c:pt>
                <c:pt idx="46">
                  <c:v>0.33127437234925816</c:v>
                </c:pt>
                <c:pt idx="47">
                  <c:v>0.34645357427454171</c:v>
                </c:pt>
                <c:pt idx="48">
                  <c:v>0.3579437946384556</c:v>
                </c:pt>
                <c:pt idx="49">
                  <c:v>0.36511444382851749</c:v>
                </c:pt>
                <c:pt idx="50">
                  <c:v>0.3675525969478613</c:v>
                </c:pt>
                <c:pt idx="51">
                  <c:v>0.36511444382851749</c:v>
                </c:pt>
                <c:pt idx="52">
                  <c:v>0.3579437946384556</c:v>
                </c:pt>
                <c:pt idx="53">
                  <c:v>0.34645357427454171</c:v>
                </c:pt>
                <c:pt idx="54">
                  <c:v>0.33127437234925816</c:v>
                </c:pt>
                <c:pt idx="55">
                  <c:v>0.31318091100882861</c:v>
                </c:pt>
                <c:pt idx="56">
                  <c:v>0.29301067996481284</c:v>
                </c:pt>
                <c:pt idx="57">
                  <c:v>0.27158835908824658</c:v>
                </c:pt>
                <c:pt idx="58">
                  <c:v>0.24966590482208906</c:v>
                </c:pt>
                <c:pt idx="59">
                  <c:v>0.22788306587380577</c:v>
                </c:pt>
                <c:pt idx="60">
                  <c:v>0.20674833578317203</c:v>
                </c:pt>
                <c:pt idx="61">
                  <c:v>0.18663702938545548</c:v>
                </c:pt>
                <c:pt idx="62">
                  <c:v>0.16780158735749695</c:v>
                </c:pt>
                <c:pt idx="63">
                  <c:v>0.15038908590753594</c:v>
                </c:pt>
                <c:pt idx="64">
                  <c:v>0.13446171682048128</c:v>
                </c:pt>
                <c:pt idx="65">
                  <c:v>0.12001717451358737</c:v>
                </c:pt>
                <c:pt idx="66">
                  <c:v>0.10700705749348996</c:v>
                </c:pt>
                <c:pt idx="67">
                  <c:v>9.5352353202335746E-2</c:v>
                </c:pt>
                <c:pt idx="68">
                  <c:v>8.4955759279738641E-2</c:v>
                </c:pt>
                <c:pt idx="69">
                  <c:v>7.5711018068043243E-2</c:v>
                </c:pt>
                <c:pt idx="70">
                  <c:v>6.7509660663892912E-2</c:v>
                </c:pt>
                <c:pt idx="71">
                  <c:v>6.0245635389509972E-2</c:v>
                </c:pt>
                <c:pt idx="72">
                  <c:v>5.3818288156802369E-2</c:v>
                </c:pt>
                <c:pt idx="73">
                  <c:v>4.8134109759614942E-2</c:v>
                </c:pt>
                <c:pt idx="74">
                  <c:v>4.3107594875663971E-2</c:v>
                </c:pt>
                <c:pt idx="75">
                  <c:v>3.8661485727167294E-2</c:v>
                </c:pt>
                <c:pt idx="76">
                  <c:v>3.4726608402172128E-2</c:v>
                </c:pt>
                <c:pt idx="77">
                  <c:v>3.1241455256556475E-2</c:v>
                </c:pt>
                <c:pt idx="78">
                  <c:v>2.815162317822089E-2</c:v>
                </c:pt>
                <c:pt idx="79">
                  <c:v>2.540918388493842E-2</c:v>
                </c:pt>
                <c:pt idx="80">
                  <c:v>2.2972037309241331E-2</c:v>
                </c:pt>
                <c:pt idx="81">
                  <c:v>2.0803280835425427E-2</c:v>
                </c:pt>
                <c:pt idx="82">
                  <c:v>1.8870614158612273E-2</c:v>
                </c:pt>
                <c:pt idx="83">
                  <c:v>1.7145790526982046E-2</c:v>
                </c:pt>
                <c:pt idx="84">
                  <c:v>1.5604119051380566E-2</c:v>
                </c:pt>
                <c:pt idx="85">
                  <c:v>1.4224018801529705E-2</c:v>
                </c:pt>
                <c:pt idx="86">
                  <c:v>1.2986622934728548E-2</c:v>
                </c:pt>
                <c:pt idx="87">
                  <c:v>1.1875429662214367E-2</c:v>
                </c:pt>
                <c:pt idx="88">
                  <c:v>1.0875996116865792E-2</c:v>
                </c:pt>
                <c:pt idx="89">
                  <c:v>9.9756709055489733E-3</c:v>
                </c:pt>
                <c:pt idx="90">
                  <c:v>9.1633611427444656E-3</c:v>
                </c:pt>
                <c:pt idx="91">
                  <c:v>8.4293299534134412E-3</c:v>
                </c:pt>
                <c:pt idx="92">
                  <c:v>7.7650207237835766E-3</c:v>
                </c:pt>
                <c:pt idx="93">
                  <c:v>7.162904716643455E-3</c:v>
                </c:pt>
                <c:pt idx="94">
                  <c:v>6.6163490190818625E-3</c:v>
                </c:pt>
                <c:pt idx="95">
                  <c:v>6.1195021344076809E-3</c:v>
                </c:pt>
                <c:pt idx="96">
                  <c:v>5.6671948539310799E-3</c:v>
                </c:pt>
                <c:pt idx="97">
                  <c:v>5.2548543418754288E-3</c:v>
                </c:pt>
                <c:pt idx="98">
                  <c:v>4.8784296352102048E-3</c:v>
                </c:pt>
                <c:pt idx="99">
                  <c:v>4.5343269993393786E-3</c:v>
                </c:pt>
                <c:pt idx="100">
                  <c:v>4.2193537914933053E-3</c:v>
                </c:pt>
              </c:numCache>
            </c:numRef>
          </c:val>
          <c:smooth val="1"/>
          <c:extLst>
            <c:ext xmlns:c16="http://schemas.microsoft.com/office/drawing/2014/chart" uri="{C3380CC4-5D6E-409C-BE32-E72D297353CC}">
              <c16:uniqueId val="{00000002-E411-514F-8188-A45267863C96}"/>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1E8F5"/>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C3A55"/>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7018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la pregunta, no con la definición: 'tienen 40 000 montos de transacción en pantalla. ¿Cuál es raro?'. Nadie puede responder sin una regla. Esa regla es la clase de hoy. Aviso de honestidad: la normal es la distribución más usada y la peor usada. Vamos a aprender las dos cosas: cuándo sirve y cuándo miente.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segundos por tarjeta. El punto es que la Clase 3 no es un tema nuevo suelto: es la tercera respuesta a la misma pregunta ('¿cómo describo el comportamiento de una variable?'). Insistir en el cierre: la normal no es 'la distribución de los datos', es una referencia contra la cual medimos. Ese matiz evita el 90 % de los abusos que verán en informes reales.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 voz alta el reparto: hoy hablo menos que en la Clase 2 porque el laboratorio es más largo (el TLC hay que verlo corriendo, no explicarlo). Si el grupo viene retrasado, el bloque 4 (χ², t, F) es el que se comprime: basta con nombrarlas y decir para qué sirve cada una.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leer las ocho tarjetas en voz alta — eso mata la clase. Leer solo μ, σ y Z, y decir: 'las otras cinco están acá para cuando las necesiten; vuelvan a esta slide durante el laboratorio'. La distinción μ/σ contra x̄/s del pie es la que hay que decir mirando al grupo: es el puente hacia el Módulo 2 completo.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Escribir el z en la pizarra a mano, no leerlo de la slide. El mensaje: f(740) = 0.000450 no le sirve a nadie. Lo que sirve es z = 2.0. Por eso la próxima slide es la estandarización, y por eso en la práctica casi nunca usan la densidad: usan la acumulada. Recordar de la Clase 2: f(x) no es una probabilidad, es densidad.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 antes de mostrar la verde: '¿si σ baja a la mitad, la curva se hace más alta o más baja?'. Muchos dicen más baja. Es más alta, porque el área tiene que seguir siendo 1: si se angosta, tiene que crecer en altura. Ese razonamiento de 'el área manda' es el que quiero que se lleven.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momento de mayor valor práctico de la clase. Muchos han visto 68-95-99.7; casi nadie ha traducido el 0.27 % a un número de alertas. Hacer la multiplicación en la pizarra: 40 000 × 0.0027 = 108. Y luego la advertencia del pie: en montos reales, la cola derecha tendrá mucho más de 108. Ahí queda plantada la semilla de la lognormal (slide 13) y de las colas pesadas (slide 17).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Hacer la primera fila juntos en la pizarra: (8400 − 3000) / 2700 = 2.0. Luego pedirle al grupo la segunda antes de mostrarla mentalmente. El signo es lo que más se equivoca: z negativo significa por debajo del promedio, no 'malo'. Cerrar con el puente: cuando en el Módulo 3 estandarizan features antes de un modelo, están haciendo exactamente esto, columna por columna.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columna que hay que señalar con el dedo es «ocurre 1 vez cada». Traduce probabilidades abstractas a frecuencias, que es como piensa un comité. z = 3 no es 'imposible': es 1 en 741. Con 40 000 transacciones al mes, eso pasa 54 veces. Nadie discute un umbral cuando lo ves en esa unidad. La fila de z = 4 se deja marcada: volvemos a ella en la slide 17.</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caso cuesta 3 minutos y paga el resto del curso. La primera tarjeta es historia; la tarjeta oscura es la que hay que decir despacio. Es el mismo error que verán en un comité cuando alguien dice 'este cliente está fuera de la norma, entonces es sospechoso'. Fuera de la norma es una descripción, no un veredicto. Si el grupo es de riesgo o cumplimiento, dejar 30 segundos de silencio acá.</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con más carga conceptual del día. Recorrer las tres curvas con el puntero: la clara es la exponencial de la Clase 2, con su pico en cero y su cola larga. Con n=5 ya empieza a inclinarse hacia la campana. Con n=30 es una campana centrada en 30 y angosta. Después de mostrarlo, decir la frase de la tercera tarjeta y pedirles que la repitan. Es la frase que más veces van a necesitar defender en una reunión.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leer las cuatro. Leer la primera y la tercera — son las dos que causan daño monetario real. La tercera es la que hundió modelos de pérdida operacional en varios bancos: usaron normal para la cola. Las otras dos quedan para lectura. Si el tiempo aprieta, esta slide se puede resumir en la frase del pie y seguir.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rescate de la Clase 2: la lognormal es la prima de la exponencial en el catálogo de variables positivas. La tarjeta de mediana contra media es la que hay que decir mirando al grupo: en cualquier informe de montos, reportar solo el promedio es engañoso. La última fila de la tabla es un guiño al TLC de la slide anterior: el score se parece a una normal porque es una suma.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Ocho minutos como máximo. No hay fórmulas de densidad acá a propósito: lo único que importa hoy es que son construcciones hechas con normales, no distribuciones caídas del cielo. La t es la que van a usar mañana; χ² y F se nombran y se dejan anotadas. Si alguien pregunta por qué la t divide entre un χ², la respuesta corta: porque estimar σ mete su propia incertidumbre, y esa incertidumbre es un χ².</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se lee en las puntas, no en el pico. Señalar el extremo izquierdo: la curva magenta está por encima de la azul oscura. Más masa en la cola = eventos extremos más probables = umbrales más exigentes. La tabla convierte eso en números: 2.326 contra 4.541. Casi el doble. Ese es todo el aporte de Gosset, y es la siguiente slide.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minutos. Contarlo como anécdota, cobrarlo como método. La pregunta al grupo: '¿cuántos de ustedes validan algo con menos de 30 casos revisados a mano?'. Casi todos levantan la mano. Entonces todos usan t y muchos no lo saben. La nota de método del pie es el cierre.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impacto. Dejar el 3 × 10⁻⁸⁹ en pantalla y decir: 'el modelo no dijo improbable, dijo imposible. Y ocurrió'. El punto no es que la normal sea mala, es que la normal es una decisión y hay que justificarla. Conectar con la fila z = 4 de la slide 9: ya vieron ahí que la normal se apaga muy rápido. Acá se ve el costo.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 donde el grupo suele traer el vicio aprendido: 'corro Shapiro y si p &lt; 0.05 no es normal'. Desarmarlo con el número: con n = 40 000 el test rechaza aunque el desvío sea cosmético. El último bullet del protocolo es el más importante y el que menos se dice: para una regresión lineal no necesitas que X sea normal, ni siquiera que Y lo sea — necesitas residuos aproximadamente normales, y con n grande ni eso es crítico.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Anunciar: 'esta es la slide para fotografiar'. Dar 20 segundos de silencio para que la capturen; si no, la van a fotografiar mientras hablas y no escuchan nada. Después recorrer solo tres filas: monto (lognormal), promedio (normal por TLC) y pérdida máxima (valores extremos). El contraste entre las filas 7 y 9 es el examen conceptual del día.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1 es el que más aparece en tesis y en informes internos. El error 3 es el que cuesta plata en operación. Los dos del medio son técnicos. Si el tiempo aprieta, decir solo el 1 y el 3 y pasar al Colab: los cuatro están escritos y los pueden releer.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Repartir el enlace del Colab acá, no antes: si lo abren temprano se pierden la exposición. Anunciar que van a trabajar en parejas y que el bloque 3 es el único obligatorio si el tiempo se acaba — el resto se puede terminar en casa. Recorrer el aula durante el bloque 2: ahí es donde se traban con el signo del z.</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el checklist en voz alta y pedir pulgares arriba o abajo en cada punto: es la única medición honesta de si la clase funcionó. Si el punto 3 (el TLC) tiene pulgares abajo, vale la pena robarle 3 minutos al cierre y repetirlo — es el que más se necesita en la Clase 4. El reto es corto a propósito: dos números y ya. Los que lo traigan abren la próxima sesión.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6858000" y="4474250"/>
            <a:ext cx="91440" cy="91440"/>
          </a:xfrm>
          <a:prstGeom prst="roundRect">
            <a:avLst>
              <a:gd name="adj" fmla="val 50000"/>
            </a:avLst>
          </a:prstGeom>
          <a:solidFill>
            <a:srgbClr val="E6115E"/>
          </a:solidFill>
          <a:ln w="12700">
            <a:solidFill>
              <a:srgbClr val="E6115E"/>
            </a:solidFill>
            <a:prstDash val="solid"/>
          </a:ln>
        </p:spPr>
      </p:sp>
      <p:sp>
        <p:nvSpPr>
          <p:cNvPr id="3" name="Shape 1"/>
          <p:cNvSpPr/>
          <p:nvPr/>
        </p:nvSpPr>
        <p:spPr>
          <a:xfrm>
            <a:off x="6976872" y="4469474"/>
            <a:ext cx="91440" cy="91440"/>
          </a:xfrm>
          <a:prstGeom prst="roundRect">
            <a:avLst>
              <a:gd name="adj" fmla="val 50000"/>
            </a:avLst>
          </a:prstGeom>
          <a:solidFill>
            <a:srgbClr val="4A82FF"/>
          </a:solidFill>
          <a:ln w="12700">
            <a:solidFill>
              <a:srgbClr val="4A82FF"/>
            </a:solidFill>
            <a:prstDash val="solid"/>
          </a:ln>
        </p:spPr>
      </p:sp>
      <p:sp>
        <p:nvSpPr>
          <p:cNvPr id="4" name="Shape 2"/>
          <p:cNvSpPr/>
          <p:nvPr/>
        </p:nvSpPr>
        <p:spPr>
          <a:xfrm>
            <a:off x="7095744" y="4461639"/>
            <a:ext cx="91440" cy="91440"/>
          </a:xfrm>
          <a:prstGeom prst="roundRect">
            <a:avLst>
              <a:gd name="adj" fmla="val 50000"/>
            </a:avLst>
          </a:prstGeom>
          <a:solidFill>
            <a:srgbClr val="4A82FF"/>
          </a:solidFill>
          <a:ln w="12700">
            <a:solidFill>
              <a:srgbClr val="4A82FF"/>
            </a:solidFill>
            <a:prstDash val="solid"/>
          </a:ln>
        </p:spPr>
      </p:sp>
      <p:sp>
        <p:nvSpPr>
          <p:cNvPr id="5" name="Shape 3"/>
          <p:cNvSpPr/>
          <p:nvPr/>
        </p:nvSpPr>
        <p:spPr>
          <a:xfrm>
            <a:off x="7214616" y="4449184"/>
            <a:ext cx="91440" cy="91440"/>
          </a:xfrm>
          <a:prstGeom prst="roundRect">
            <a:avLst>
              <a:gd name="adj" fmla="val 50000"/>
            </a:avLst>
          </a:prstGeom>
          <a:solidFill>
            <a:srgbClr val="4A82FF"/>
          </a:solidFill>
          <a:ln w="12700">
            <a:solidFill>
              <a:srgbClr val="4A82FF"/>
            </a:solidFill>
            <a:prstDash val="solid"/>
          </a:ln>
        </p:spPr>
      </p:sp>
      <p:sp>
        <p:nvSpPr>
          <p:cNvPr id="6" name="Shape 4"/>
          <p:cNvSpPr/>
          <p:nvPr/>
        </p:nvSpPr>
        <p:spPr>
          <a:xfrm>
            <a:off x="7333488" y="4430013"/>
            <a:ext cx="91440" cy="91440"/>
          </a:xfrm>
          <a:prstGeom prst="roundRect">
            <a:avLst>
              <a:gd name="adj" fmla="val 50000"/>
            </a:avLst>
          </a:prstGeom>
          <a:solidFill>
            <a:srgbClr val="4A82FF"/>
          </a:solidFill>
          <a:ln w="12700">
            <a:solidFill>
              <a:srgbClr val="4A82FF"/>
            </a:solidFill>
            <a:prstDash val="solid"/>
          </a:ln>
        </p:spPr>
      </p:sp>
      <p:sp>
        <p:nvSpPr>
          <p:cNvPr id="7" name="Shape 5"/>
          <p:cNvSpPr/>
          <p:nvPr/>
        </p:nvSpPr>
        <p:spPr>
          <a:xfrm>
            <a:off x="7452360" y="4401449"/>
            <a:ext cx="91440" cy="91440"/>
          </a:xfrm>
          <a:prstGeom prst="roundRect">
            <a:avLst>
              <a:gd name="adj" fmla="val 50000"/>
            </a:avLst>
          </a:prstGeom>
          <a:solidFill>
            <a:srgbClr val="E6115E"/>
          </a:solidFill>
          <a:ln w="12700">
            <a:solidFill>
              <a:srgbClr val="E6115E"/>
            </a:solidFill>
            <a:prstDash val="solid"/>
          </a:ln>
        </p:spPr>
      </p:sp>
      <p:sp>
        <p:nvSpPr>
          <p:cNvPr id="8" name="Shape 6"/>
          <p:cNvSpPr/>
          <p:nvPr/>
        </p:nvSpPr>
        <p:spPr>
          <a:xfrm>
            <a:off x="7571232" y="4360271"/>
            <a:ext cx="91440" cy="91440"/>
          </a:xfrm>
          <a:prstGeom prst="roundRect">
            <a:avLst>
              <a:gd name="adj" fmla="val 50000"/>
            </a:avLst>
          </a:prstGeom>
          <a:solidFill>
            <a:srgbClr val="4A82FF"/>
          </a:solidFill>
          <a:ln w="12700">
            <a:solidFill>
              <a:srgbClr val="4A82FF"/>
            </a:solidFill>
            <a:prstDash val="solid"/>
          </a:ln>
        </p:spPr>
      </p:sp>
      <p:sp>
        <p:nvSpPr>
          <p:cNvPr id="9" name="Shape 7"/>
          <p:cNvSpPr/>
          <p:nvPr/>
        </p:nvSpPr>
        <p:spPr>
          <a:xfrm>
            <a:off x="7690104" y="4302869"/>
            <a:ext cx="91440" cy="91440"/>
          </a:xfrm>
          <a:prstGeom prst="roundRect">
            <a:avLst>
              <a:gd name="adj" fmla="val 50000"/>
            </a:avLst>
          </a:prstGeom>
          <a:solidFill>
            <a:srgbClr val="4A82FF"/>
          </a:solidFill>
          <a:ln w="12700">
            <a:solidFill>
              <a:srgbClr val="4A82FF"/>
            </a:solidFill>
            <a:prstDash val="solid"/>
          </a:ln>
        </p:spPr>
      </p:sp>
      <p:sp>
        <p:nvSpPr>
          <p:cNvPr id="10" name="Shape 8"/>
          <p:cNvSpPr/>
          <p:nvPr/>
        </p:nvSpPr>
        <p:spPr>
          <a:xfrm>
            <a:off x="7808976" y="4225552"/>
            <a:ext cx="91440" cy="91440"/>
          </a:xfrm>
          <a:prstGeom prst="roundRect">
            <a:avLst>
              <a:gd name="adj" fmla="val 50000"/>
            </a:avLst>
          </a:prstGeom>
          <a:solidFill>
            <a:srgbClr val="4A82FF"/>
          </a:solidFill>
          <a:ln w="12700">
            <a:solidFill>
              <a:srgbClr val="4A82FF"/>
            </a:solidFill>
            <a:prstDash val="solid"/>
          </a:ln>
        </p:spPr>
      </p:sp>
      <p:sp>
        <p:nvSpPr>
          <p:cNvPr id="11" name="Shape 9"/>
          <p:cNvSpPr/>
          <p:nvPr/>
        </p:nvSpPr>
        <p:spPr>
          <a:xfrm>
            <a:off x="7927848" y="4125017"/>
            <a:ext cx="91440" cy="91440"/>
          </a:xfrm>
          <a:prstGeom prst="roundRect">
            <a:avLst>
              <a:gd name="adj" fmla="val 50000"/>
            </a:avLst>
          </a:prstGeom>
          <a:solidFill>
            <a:srgbClr val="4A82FF"/>
          </a:solidFill>
          <a:ln w="12700">
            <a:solidFill>
              <a:srgbClr val="4A82FF"/>
            </a:solidFill>
            <a:prstDash val="solid"/>
          </a:ln>
        </p:spPr>
      </p:sp>
      <p:sp>
        <p:nvSpPr>
          <p:cNvPr id="12" name="Shape 10"/>
          <p:cNvSpPr/>
          <p:nvPr/>
        </p:nvSpPr>
        <p:spPr>
          <a:xfrm>
            <a:off x="8046720" y="3998969"/>
            <a:ext cx="91440" cy="91440"/>
          </a:xfrm>
          <a:prstGeom prst="roundRect">
            <a:avLst>
              <a:gd name="adj" fmla="val 50000"/>
            </a:avLst>
          </a:prstGeom>
          <a:solidFill>
            <a:srgbClr val="E6115E"/>
          </a:solidFill>
          <a:ln w="12700">
            <a:solidFill>
              <a:srgbClr val="E6115E"/>
            </a:solidFill>
            <a:prstDash val="solid"/>
          </a:ln>
        </p:spPr>
      </p:sp>
      <p:sp>
        <p:nvSpPr>
          <p:cNvPr id="13" name="Shape 11"/>
          <p:cNvSpPr/>
          <p:nvPr/>
        </p:nvSpPr>
        <p:spPr>
          <a:xfrm>
            <a:off x="8165592" y="3846815"/>
            <a:ext cx="91440" cy="91440"/>
          </a:xfrm>
          <a:prstGeom prst="roundRect">
            <a:avLst>
              <a:gd name="adj" fmla="val 50000"/>
            </a:avLst>
          </a:prstGeom>
          <a:solidFill>
            <a:srgbClr val="4A82FF"/>
          </a:solidFill>
          <a:ln w="12700">
            <a:solidFill>
              <a:srgbClr val="4A82FF"/>
            </a:solidFill>
            <a:prstDash val="solid"/>
          </a:ln>
        </p:spPr>
      </p:sp>
      <p:sp>
        <p:nvSpPr>
          <p:cNvPr id="14" name="Shape 12"/>
          <p:cNvSpPr/>
          <p:nvPr/>
        </p:nvSpPr>
        <p:spPr>
          <a:xfrm>
            <a:off x="8284464" y="3670348"/>
            <a:ext cx="91440" cy="91440"/>
          </a:xfrm>
          <a:prstGeom prst="roundRect">
            <a:avLst>
              <a:gd name="adj" fmla="val 50000"/>
            </a:avLst>
          </a:prstGeom>
          <a:solidFill>
            <a:srgbClr val="4A82FF"/>
          </a:solidFill>
          <a:ln w="12700">
            <a:solidFill>
              <a:srgbClr val="4A82FF"/>
            </a:solidFill>
            <a:prstDash val="solid"/>
          </a:ln>
        </p:spPr>
      </p:sp>
      <p:sp>
        <p:nvSpPr>
          <p:cNvPr id="15" name="Shape 13"/>
          <p:cNvSpPr/>
          <p:nvPr/>
        </p:nvSpPr>
        <p:spPr>
          <a:xfrm>
            <a:off x="8403336" y="3474249"/>
            <a:ext cx="91440" cy="91440"/>
          </a:xfrm>
          <a:prstGeom prst="roundRect">
            <a:avLst>
              <a:gd name="adj" fmla="val 50000"/>
            </a:avLst>
          </a:prstGeom>
          <a:solidFill>
            <a:srgbClr val="4A82FF"/>
          </a:solidFill>
          <a:ln w="12700">
            <a:solidFill>
              <a:srgbClr val="4A82FF"/>
            </a:solidFill>
            <a:prstDash val="solid"/>
          </a:ln>
        </p:spPr>
      </p:sp>
      <p:sp>
        <p:nvSpPr>
          <p:cNvPr id="16" name="Shape 14"/>
          <p:cNvSpPr/>
          <p:nvPr/>
        </p:nvSpPr>
        <p:spPr>
          <a:xfrm>
            <a:off x="8522208" y="3266293"/>
            <a:ext cx="91440" cy="91440"/>
          </a:xfrm>
          <a:prstGeom prst="roundRect">
            <a:avLst>
              <a:gd name="adj" fmla="val 50000"/>
            </a:avLst>
          </a:prstGeom>
          <a:solidFill>
            <a:srgbClr val="4A82FF"/>
          </a:solidFill>
          <a:ln w="12700">
            <a:solidFill>
              <a:srgbClr val="4A82FF"/>
            </a:solidFill>
            <a:prstDash val="solid"/>
          </a:ln>
        </p:spPr>
      </p:sp>
      <p:sp>
        <p:nvSpPr>
          <p:cNvPr id="17" name="Shape 15"/>
          <p:cNvSpPr/>
          <p:nvPr/>
        </p:nvSpPr>
        <p:spPr>
          <a:xfrm>
            <a:off x="8641080" y="3057099"/>
            <a:ext cx="91440" cy="91440"/>
          </a:xfrm>
          <a:prstGeom prst="roundRect">
            <a:avLst>
              <a:gd name="adj" fmla="val 50000"/>
            </a:avLst>
          </a:prstGeom>
          <a:solidFill>
            <a:srgbClr val="E6115E"/>
          </a:solidFill>
          <a:ln w="12700">
            <a:solidFill>
              <a:srgbClr val="E6115E"/>
            </a:solidFill>
            <a:prstDash val="solid"/>
          </a:ln>
        </p:spPr>
      </p:sp>
      <p:sp>
        <p:nvSpPr>
          <p:cNvPr id="18" name="Shape 16"/>
          <p:cNvSpPr/>
          <p:nvPr/>
        </p:nvSpPr>
        <p:spPr>
          <a:xfrm>
            <a:off x="8759952" y="2859402"/>
            <a:ext cx="91440" cy="91440"/>
          </a:xfrm>
          <a:prstGeom prst="roundRect">
            <a:avLst>
              <a:gd name="adj" fmla="val 50000"/>
            </a:avLst>
          </a:prstGeom>
          <a:solidFill>
            <a:srgbClr val="4A82FF"/>
          </a:solidFill>
          <a:ln w="12700">
            <a:solidFill>
              <a:srgbClr val="4A82FF"/>
            </a:solidFill>
            <a:prstDash val="solid"/>
          </a:ln>
        </p:spPr>
      </p:sp>
      <p:sp>
        <p:nvSpPr>
          <p:cNvPr id="19" name="Shape 17"/>
          <p:cNvSpPr/>
          <p:nvPr/>
        </p:nvSpPr>
        <p:spPr>
          <a:xfrm>
            <a:off x="8878824" y="2686841"/>
            <a:ext cx="91440" cy="91440"/>
          </a:xfrm>
          <a:prstGeom prst="roundRect">
            <a:avLst>
              <a:gd name="adj" fmla="val 50000"/>
            </a:avLst>
          </a:prstGeom>
          <a:solidFill>
            <a:srgbClr val="4A82FF"/>
          </a:solidFill>
          <a:ln w="12700">
            <a:solidFill>
              <a:srgbClr val="4A82FF"/>
            </a:solidFill>
            <a:prstDash val="solid"/>
          </a:ln>
        </p:spPr>
      </p:sp>
      <p:sp>
        <p:nvSpPr>
          <p:cNvPr id="20" name="Shape 18"/>
          <p:cNvSpPr/>
          <p:nvPr/>
        </p:nvSpPr>
        <p:spPr>
          <a:xfrm>
            <a:off x="8997696" y="2552449"/>
            <a:ext cx="91440" cy="91440"/>
          </a:xfrm>
          <a:prstGeom prst="roundRect">
            <a:avLst>
              <a:gd name="adj" fmla="val 50000"/>
            </a:avLst>
          </a:prstGeom>
          <a:solidFill>
            <a:srgbClr val="4A82FF"/>
          </a:solidFill>
          <a:ln w="12700">
            <a:solidFill>
              <a:srgbClr val="4A82FF"/>
            </a:solidFill>
            <a:prstDash val="solid"/>
          </a:ln>
        </p:spPr>
      </p:sp>
      <p:sp>
        <p:nvSpPr>
          <p:cNvPr id="21" name="Shape 19"/>
          <p:cNvSpPr/>
          <p:nvPr/>
        </p:nvSpPr>
        <p:spPr>
          <a:xfrm>
            <a:off x="9116568" y="2467027"/>
            <a:ext cx="91440" cy="91440"/>
          </a:xfrm>
          <a:prstGeom prst="roundRect">
            <a:avLst>
              <a:gd name="adj" fmla="val 50000"/>
            </a:avLst>
          </a:prstGeom>
          <a:solidFill>
            <a:srgbClr val="4A82FF"/>
          </a:solidFill>
          <a:ln w="12700">
            <a:solidFill>
              <a:srgbClr val="4A82FF"/>
            </a:solidFill>
            <a:prstDash val="solid"/>
          </a:ln>
        </p:spPr>
      </p:sp>
      <p:sp>
        <p:nvSpPr>
          <p:cNvPr id="22" name="Shape 20"/>
          <p:cNvSpPr/>
          <p:nvPr/>
        </p:nvSpPr>
        <p:spPr>
          <a:xfrm>
            <a:off x="9235440" y="2437720"/>
            <a:ext cx="91440" cy="91440"/>
          </a:xfrm>
          <a:prstGeom prst="roundRect">
            <a:avLst>
              <a:gd name="adj" fmla="val 50000"/>
            </a:avLst>
          </a:prstGeom>
          <a:solidFill>
            <a:srgbClr val="E6115E"/>
          </a:solidFill>
          <a:ln w="12700">
            <a:solidFill>
              <a:srgbClr val="E6115E"/>
            </a:solidFill>
            <a:prstDash val="solid"/>
          </a:ln>
        </p:spPr>
      </p:sp>
      <p:sp>
        <p:nvSpPr>
          <p:cNvPr id="23" name="Shape 21"/>
          <p:cNvSpPr/>
          <p:nvPr/>
        </p:nvSpPr>
        <p:spPr>
          <a:xfrm>
            <a:off x="9354312" y="2467027"/>
            <a:ext cx="91440" cy="91440"/>
          </a:xfrm>
          <a:prstGeom prst="roundRect">
            <a:avLst>
              <a:gd name="adj" fmla="val 50000"/>
            </a:avLst>
          </a:prstGeom>
          <a:solidFill>
            <a:srgbClr val="4A82FF"/>
          </a:solidFill>
          <a:ln w="12700">
            <a:solidFill>
              <a:srgbClr val="4A82FF"/>
            </a:solidFill>
            <a:prstDash val="solid"/>
          </a:ln>
        </p:spPr>
      </p:sp>
      <p:sp>
        <p:nvSpPr>
          <p:cNvPr id="24" name="Shape 22"/>
          <p:cNvSpPr/>
          <p:nvPr/>
        </p:nvSpPr>
        <p:spPr>
          <a:xfrm>
            <a:off x="9473184" y="2552449"/>
            <a:ext cx="91440" cy="91440"/>
          </a:xfrm>
          <a:prstGeom prst="roundRect">
            <a:avLst>
              <a:gd name="adj" fmla="val 50000"/>
            </a:avLst>
          </a:prstGeom>
          <a:solidFill>
            <a:srgbClr val="4A82FF"/>
          </a:solidFill>
          <a:ln w="12700">
            <a:solidFill>
              <a:srgbClr val="4A82FF"/>
            </a:solidFill>
            <a:prstDash val="solid"/>
          </a:ln>
        </p:spPr>
      </p:sp>
      <p:sp>
        <p:nvSpPr>
          <p:cNvPr id="25" name="Shape 23"/>
          <p:cNvSpPr/>
          <p:nvPr/>
        </p:nvSpPr>
        <p:spPr>
          <a:xfrm>
            <a:off x="9592056" y="2686841"/>
            <a:ext cx="91440" cy="91440"/>
          </a:xfrm>
          <a:prstGeom prst="roundRect">
            <a:avLst>
              <a:gd name="adj" fmla="val 50000"/>
            </a:avLst>
          </a:prstGeom>
          <a:solidFill>
            <a:srgbClr val="4A82FF"/>
          </a:solidFill>
          <a:ln w="12700">
            <a:solidFill>
              <a:srgbClr val="4A82FF"/>
            </a:solidFill>
            <a:prstDash val="solid"/>
          </a:ln>
        </p:spPr>
      </p:sp>
      <p:sp>
        <p:nvSpPr>
          <p:cNvPr id="26" name="Shape 24"/>
          <p:cNvSpPr/>
          <p:nvPr/>
        </p:nvSpPr>
        <p:spPr>
          <a:xfrm>
            <a:off x="9710928" y="2859402"/>
            <a:ext cx="91440" cy="91440"/>
          </a:xfrm>
          <a:prstGeom prst="roundRect">
            <a:avLst>
              <a:gd name="adj" fmla="val 50000"/>
            </a:avLst>
          </a:prstGeom>
          <a:solidFill>
            <a:srgbClr val="4A82FF"/>
          </a:solidFill>
          <a:ln w="12700">
            <a:solidFill>
              <a:srgbClr val="4A82FF"/>
            </a:solidFill>
            <a:prstDash val="solid"/>
          </a:ln>
        </p:spPr>
      </p:sp>
      <p:sp>
        <p:nvSpPr>
          <p:cNvPr id="27" name="Shape 25"/>
          <p:cNvSpPr/>
          <p:nvPr/>
        </p:nvSpPr>
        <p:spPr>
          <a:xfrm>
            <a:off x="9829800" y="3057099"/>
            <a:ext cx="91440" cy="91440"/>
          </a:xfrm>
          <a:prstGeom prst="roundRect">
            <a:avLst>
              <a:gd name="adj" fmla="val 50000"/>
            </a:avLst>
          </a:prstGeom>
          <a:solidFill>
            <a:srgbClr val="E6115E"/>
          </a:solidFill>
          <a:ln w="12700">
            <a:solidFill>
              <a:srgbClr val="E6115E"/>
            </a:solidFill>
            <a:prstDash val="solid"/>
          </a:ln>
        </p:spPr>
      </p:sp>
      <p:sp>
        <p:nvSpPr>
          <p:cNvPr id="28" name="Shape 26"/>
          <p:cNvSpPr/>
          <p:nvPr/>
        </p:nvSpPr>
        <p:spPr>
          <a:xfrm>
            <a:off x="9948672" y="3266293"/>
            <a:ext cx="91440" cy="91440"/>
          </a:xfrm>
          <a:prstGeom prst="roundRect">
            <a:avLst>
              <a:gd name="adj" fmla="val 50000"/>
            </a:avLst>
          </a:prstGeom>
          <a:solidFill>
            <a:srgbClr val="4A82FF"/>
          </a:solidFill>
          <a:ln w="12700">
            <a:solidFill>
              <a:srgbClr val="4A82FF"/>
            </a:solidFill>
            <a:prstDash val="solid"/>
          </a:ln>
        </p:spPr>
      </p:sp>
      <p:sp>
        <p:nvSpPr>
          <p:cNvPr id="29" name="Shape 27"/>
          <p:cNvSpPr/>
          <p:nvPr/>
        </p:nvSpPr>
        <p:spPr>
          <a:xfrm>
            <a:off x="10067544" y="3474249"/>
            <a:ext cx="91440" cy="91440"/>
          </a:xfrm>
          <a:prstGeom prst="roundRect">
            <a:avLst>
              <a:gd name="adj" fmla="val 50000"/>
            </a:avLst>
          </a:prstGeom>
          <a:solidFill>
            <a:srgbClr val="4A82FF"/>
          </a:solidFill>
          <a:ln w="12700">
            <a:solidFill>
              <a:srgbClr val="4A82FF"/>
            </a:solidFill>
            <a:prstDash val="solid"/>
          </a:ln>
        </p:spPr>
      </p:sp>
      <p:sp>
        <p:nvSpPr>
          <p:cNvPr id="30" name="Shape 28"/>
          <p:cNvSpPr/>
          <p:nvPr/>
        </p:nvSpPr>
        <p:spPr>
          <a:xfrm>
            <a:off x="10186416" y="3670348"/>
            <a:ext cx="91440" cy="91440"/>
          </a:xfrm>
          <a:prstGeom prst="roundRect">
            <a:avLst>
              <a:gd name="adj" fmla="val 50000"/>
            </a:avLst>
          </a:prstGeom>
          <a:solidFill>
            <a:srgbClr val="4A82FF"/>
          </a:solidFill>
          <a:ln w="12700">
            <a:solidFill>
              <a:srgbClr val="4A82FF"/>
            </a:solidFill>
            <a:prstDash val="solid"/>
          </a:ln>
        </p:spPr>
      </p:sp>
      <p:sp>
        <p:nvSpPr>
          <p:cNvPr id="31" name="Shape 29"/>
          <p:cNvSpPr/>
          <p:nvPr/>
        </p:nvSpPr>
        <p:spPr>
          <a:xfrm>
            <a:off x="10305288" y="3846815"/>
            <a:ext cx="91440" cy="91440"/>
          </a:xfrm>
          <a:prstGeom prst="roundRect">
            <a:avLst>
              <a:gd name="adj" fmla="val 50000"/>
            </a:avLst>
          </a:prstGeom>
          <a:solidFill>
            <a:srgbClr val="4A82FF"/>
          </a:solidFill>
          <a:ln w="12700">
            <a:solidFill>
              <a:srgbClr val="4A82FF"/>
            </a:solidFill>
            <a:prstDash val="solid"/>
          </a:ln>
        </p:spPr>
      </p:sp>
      <p:sp>
        <p:nvSpPr>
          <p:cNvPr id="32" name="Shape 30"/>
          <p:cNvSpPr/>
          <p:nvPr/>
        </p:nvSpPr>
        <p:spPr>
          <a:xfrm>
            <a:off x="10424160" y="3998969"/>
            <a:ext cx="91440" cy="91440"/>
          </a:xfrm>
          <a:prstGeom prst="roundRect">
            <a:avLst>
              <a:gd name="adj" fmla="val 50000"/>
            </a:avLst>
          </a:prstGeom>
          <a:solidFill>
            <a:srgbClr val="E6115E"/>
          </a:solidFill>
          <a:ln w="12700">
            <a:solidFill>
              <a:srgbClr val="E6115E"/>
            </a:solidFill>
            <a:prstDash val="solid"/>
          </a:ln>
        </p:spPr>
      </p:sp>
      <p:sp>
        <p:nvSpPr>
          <p:cNvPr id="33" name="Shape 31"/>
          <p:cNvSpPr/>
          <p:nvPr/>
        </p:nvSpPr>
        <p:spPr>
          <a:xfrm>
            <a:off x="10543032" y="4125017"/>
            <a:ext cx="91440" cy="91440"/>
          </a:xfrm>
          <a:prstGeom prst="roundRect">
            <a:avLst>
              <a:gd name="adj" fmla="val 50000"/>
            </a:avLst>
          </a:prstGeom>
          <a:solidFill>
            <a:srgbClr val="4A82FF"/>
          </a:solidFill>
          <a:ln w="12700">
            <a:solidFill>
              <a:srgbClr val="4A82FF"/>
            </a:solidFill>
            <a:prstDash val="solid"/>
          </a:ln>
        </p:spPr>
      </p:sp>
      <p:sp>
        <p:nvSpPr>
          <p:cNvPr id="34" name="Shape 32"/>
          <p:cNvSpPr/>
          <p:nvPr/>
        </p:nvSpPr>
        <p:spPr>
          <a:xfrm>
            <a:off x="10661904" y="4225552"/>
            <a:ext cx="91440" cy="91440"/>
          </a:xfrm>
          <a:prstGeom prst="roundRect">
            <a:avLst>
              <a:gd name="adj" fmla="val 50000"/>
            </a:avLst>
          </a:prstGeom>
          <a:solidFill>
            <a:srgbClr val="4A82FF"/>
          </a:solidFill>
          <a:ln w="12700">
            <a:solidFill>
              <a:srgbClr val="4A82FF"/>
            </a:solidFill>
            <a:prstDash val="solid"/>
          </a:ln>
        </p:spPr>
      </p:sp>
      <p:sp>
        <p:nvSpPr>
          <p:cNvPr id="35" name="Shape 33"/>
          <p:cNvSpPr/>
          <p:nvPr/>
        </p:nvSpPr>
        <p:spPr>
          <a:xfrm>
            <a:off x="10780776" y="4302869"/>
            <a:ext cx="91440" cy="91440"/>
          </a:xfrm>
          <a:prstGeom prst="roundRect">
            <a:avLst>
              <a:gd name="adj" fmla="val 50000"/>
            </a:avLst>
          </a:prstGeom>
          <a:solidFill>
            <a:srgbClr val="4A82FF"/>
          </a:solidFill>
          <a:ln w="12700">
            <a:solidFill>
              <a:srgbClr val="4A82FF"/>
            </a:solidFill>
            <a:prstDash val="solid"/>
          </a:ln>
        </p:spPr>
      </p:sp>
      <p:sp>
        <p:nvSpPr>
          <p:cNvPr id="36" name="Shape 34"/>
          <p:cNvSpPr/>
          <p:nvPr/>
        </p:nvSpPr>
        <p:spPr>
          <a:xfrm>
            <a:off x="10899648" y="4360271"/>
            <a:ext cx="91440" cy="91440"/>
          </a:xfrm>
          <a:prstGeom prst="roundRect">
            <a:avLst>
              <a:gd name="adj" fmla="val 50000"/>
            </a:avLst>
          </a:prstGeom>
          <a:solidFill>
            <a:srgbClr val="4A82FF"/>
          </a:solidFill>
          <a:ln w="12700">
            <a:solidFill>
              <a:srgbClr val="4A82FF"/>
            </a:solidFill>
            <a:prstDash val="solid"/>
          </a:ln>
        </p:spPr>
      </p:sp>
      <p:sp>
        <p:nvSpPr>
          <p:cNvPr id="37" name="Shape 35"/>
          <p:cNvSpPr/>
          <p:nvPr/>
        </p:nvSpPr>
        <p:spPr>
          <a:xfrm>
            <a:off x="11018520" y="4401449"/>
            <a:ext cx="91440" cy="91440"/>
          </a:xfrm>
          <a:prstGeom prst="roundRect">
            <a:avLst>
              <a:gd name="adj" fmla="val 50000"/>
            </a:avLst>
          </a:prstGeom>
          <a:solidFill>
            <a:srgbClr val="E6115E"/>
          </a:solidFill>
          <a:ln w="12700">
            <a:solidFill>
              <a:srgbClr val="E6115E"/>
            </a:solidFill>
            <a:prstDash val="solid"/>
          </a:ln>
        </p:spPr>
      </p:sp>
      <p:sp>
        <p:nvSpPr>
          <p:cNvPr id="38" name="Shape 36"/>
          <p:cNvSpPr/>
          <p:nvPr/>
        </p:nvSpPr>
        <p:spPr>
          <a:xfrm>
            <a:off x="11137392" y="4430013"/>
            <a:ext cx="91440" cy="91440"/>
          </a:xfrm>
          <a:prstGeom prst="roundRect">
            <a:avLst>
              <a:gd name="adj" fmla="val 50000"/>
            </a:avLst>
          </a:prstGeom>
          <a:solidFill>
            <a:srgbClr val="4A82FF"/>
          </a:solidFill>
          <a:ln w="12700">
            <a:solidFill>
              <a:srgbClr val="4A82FF"/>
            </a:solidFill>
            <a:prstDash val="solid"/>
          </a:ln>
        </p:spPr>
      </p:sp>
      <p:sp>
        <p:nvSpPr>
          <p:cNvPr id="39" name="Shape 37"/>
          <p:cNvSpPr/>
          <p:nvPr/>
        </p:nvSpPr>
        <p:spPr>
          <a:xfrm>
            <a:off x="11256264" y="4449184"/>
            <a:ext cx="91440" cy="91440"/>
          </a:xfrm>
          <a:prstGeom prst="roundRect">
            <a:avLst>
              <a:gd name="adj" fmla="val 50000"/>
            </a:avLst>
          </a:prstGeom>
          <a:solidFill>
            <a:srgbClr val="4A82FF"/>
          </a:solidFill>
          <a:ln w="12700">
            <a:solidFill>
              <a:srgbClr val="4A82FF"/>
            </a:solidFill>
            <a:prstDash val="solid"/>
          </a:ln>
        </p:spPr>
      </p:sp>
      <p:sp>
        <p:nvSpPr>
          <p:cNvPr id="40" name="Shape 38"/>
          <p:cNvSpPr/>
          <p:nvPr/>
        </p:nvSpPr>
        <p:spPr>
          <a:xfrm>
            <a:off x="11375136" y="4461639"/>
            <a:ext cx="91440" cy="91440"/>
          </a:xfrm>
          <a:prstGeom prst="roundRect">
            <a:avLst>
              <a:gd name="adj" fmla="val 50000"/>
            </a:avLst>
          </a:prstGeom>
          <a:solidFill>
            <a:srgbClr val="4A82FF"/>
          </a:solidFill>
          <a:ln w="12700">
            <a:solidFill>
              <a:srgbClr val="4A82FF"/>
            </a:solidFill>
            <a:prstDash val="solid"/>
          </a:ln>
        </p:spPr>
      </p:sp>
      <p:sp>
        <p:nvSpPr>
          <p:cNvPr id="41" name="Shape 39"/>
          <p:cNvSpPr/>
          <p:nvPr/>
        </p:nvSpPr>
        <p:spPr>
          <a:xfrm>
            <a:off x="11494008" y="4469474"/>
            <a:ext cx="91440" cy="91440"/>
          </a:xfrm>
          <a:prstGeom prst="roundRect">
            <a:avLst>
              <a:gd name="adj" fmla="val 50000"/>
            </a:avLst>
          </a:prstGeom>
          <a:solidFill>
            <a:srgbClr val="4A82FF"/>
          </a:solidFill>
          <a:ln w="12700">
            <a:solidFill>
              <a:srgbClr val="4A82FF"/>
            </a:solidFill>
            <a:prstDash val="solid"/>
          </a:ln>
        </p:spPr>
      </p:sp>
      <p:sp>
        <p:nvSpPr>
          <p:cNvPr id="42" name="Shape 40"/>
          <p:cNvSpPr/>
          <p:nvPr/>
        </p:nvSpPr>
        <p:spPr>
          <a:xfrm>
            <a:off x="11612880" y="4474250"/>
            <a:ext cx="91440" cy="91440"/>
          </a:xfrm>
          <a:prstGeom prst="roundRect">
            <a:avLst>
              <a:gd name="adj" fmla="val 50000"/>
            </a:avLst>
          </a:prstGeom>
          <a:solidFill>
            <a:srgbClr val="E6115E"/>
          </a:solidFill>
          <a:ln w="12700">
            <a:solidFill>
              <a:srgbClr val="E6115E"/>
            </a:solidFill>
            <a:prstDash val="solid"/>
          </a:ln>
        </p:spPr>
      </p:sp>
      <p:sp>
        <p:nvSpPr>
          <p:cNvPr id="43" name="Shape 41"/>
          <p:cNvSpPr/>
          <p:nvPr/>
        </p:nvSpPr>
        <p:spPr>
          <a:xfrm>
            <a:off x="685800" y="1234440"/>
            <a:ext cx="2743200" cy="347472"/>
          </a:xfrm>
          <a:prstGeom prst="roundRect">
            <a:avLst>
              <a:gd name="adj" fmla="val 50000"/>
            </a:avLst>
          </a:prstGeom>
          <a:solidFill>
            <a:srgbClr val="E6115E"/>
          </a:solidFill>
          <a:ln w="12700">
            <a:solidFill>
              <a:srgbClr val="E6115E"/>
            </a:solidFill>
            <a:prstDash val="solid"/>
          </a:ln>
        </p:spPr>
      </p:sp>
      <p:sp>
        <p:nvSpPr>
          <p:cNvPr id="44" name="Text 42"/>
          <p:cNvSpPr/>
          <p:nvPr/>
        </p:nvSpPr>
        <p:spPr>
          <a:xfrm>
            <a:off x="685800" y="1234440"/>
            <a:ext cx="274320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MÓDULO 1 · CLASE 3</a:t>
            </a:r>
            <a:endParaRPr lang="en-US" sz="1150" dirty="0"/>
          </a:p>
        </p:txBody>
      </p:sp>
      <p:sp>
        <p:nvSpPr>
          <p:cNvPr id="45" name="Text 43"/>
          <p:cNvSpPr/>
          <p:nvPr/>
        </p:nvSpPr>
        <p:spPr>
          <a:xfrm>
            <a:off x="685800" y="1783080"/>
            <a:ext cx="6035040" cy="1737360"/>
          </a:xfrm>
          <a:prstGeom prst="rect">
            <a:avLst/>
          </a:prstGeom>
          <a:noFill/>
          <a:ln/>
        </p:spPr>
        <p:txBody>
          <a:bodyPr wrap="square" lIns="0" tIns="0" rIns="0" bIns="0" rtlCol="0" anchor="t"/>
          <a:lstStyle/>
          <a:p>
            <a:pPr marL="0" indent="0">
              <a:lnSpc>
                <a:spcPct val="95000"/>
              </a:lnSpc>
              <a:buNone/>
            </a:pPr>
            <a:r>
              <a:rPr lang="en-US" sz="4600" b="1" dirty="0">
                <a:solidFill>
                  <a:srgbClr val="FFFFFF"/>
                </a:solidFill>
                <a:latin typeface="Calibri" pitchFamily="34" charset="0"/>
                <a:ea typeface="Calibri" pitchFamily="34" charset="-122"/>
                <a:cs typeface="Calibri" pitchFamily="34" charset="-120"/>
              </a:rPr>
              <a:t>La curva que</a:t>
            </a:r>
            <a:endParaRPr lang="en-US" sz="4600" dirty="0"/>
          </a:p>
          <a:p>
            <a:pPr marL="0" indent="0">
              <a:lnSpc>
                <a:spcPct val="95000"/>
              </a:lnSpc>
              <a:buNone/>
            </a:pPr>
            <a:r>
              <a:rPr lang="en-US" sz="4600" b="1" dirty="0">
                <a:solidFill>
                  <a:srgbClr val="FFFFFF"/>
                </a:solidFill>
                <a:latin typeface="Calibri" pitchFamily="34" charset="0"/>
                <a:ea typeface="Calibri" pitchFamily="34" charset="-122"/>
                <a:cs typeface="Calibri" pitchFamily="34" charset="-120"/>
              </a:rPr>
              <a:t>nadie invitó</a:t>
            </a:r>
            <a:endParaRPr lang="en-US" sz="4600" dirty="0"/>
          </a:p>
        </p:txBody>
      </p:sp>
      <p:sp>
        <p:nvSpPr>
          <p:cNvPr id="46" name="Text 44"/>
          <p:cNvSpPr/>
          <p:nvPr/>
        </p:nvSpPr>
        <p:spPr>
          <a:xfrm>
            <a:off x="713232" y="3657600"/>
            <a:ext cx="6035040" cy="822960"/>
          </a:xfrm>
          <a:prstGeom prst="rect">
            <a:avLst/>
          </a:prstGeom>
          <a:noFill/>
          <a:ln/>
        </p:spPr>
        <p:txBody>
          <a:bodyPr wrap="square" lIns="0" tIns="0" rIns="0" bIns="0" rtlCol="0" anchor="t"/>
          <a:lstStyle/>
          <a:p>
            <a:pPr marL="0" indent="0" algn="l">
              <a:lnSpc>
                <a:spcPct val="120000"/>
              </a:lnSpc>
              <a:buNone/>
            </a:pPr>
            <a:r>
              <a:rPr lang="en-US" sz="1500" dirty="0">
                <a:solidFill>
                  <a:srgbClr val="C9D6F2"/>
                </a:solidFill>
                <a:latin typeface="Calibri" pitchFamily="34" charset="0"/>
                <a:ea typeface="Calibri" pitchFamily="34" charset="-122"/>
                <a:cs typeface="Calibri" pitchFamily="34" charset="-120"/>
              </a:rPr>
              <a:t>La distribución normal, la estandarización, el Teorema del Límite Central</a:t>
            </a:r>
            <a:endParaRPr lang="en-US" sz="1500" dirty="0"/>
          </a:p>
          <a:p>
            <a:pPr marL="0" indent="0" algn="l">
              <a:lnSpc>
                <a:spcPct val="120000"/>
              </a:lnSpc>
              <a:buNone/>
            </a:pPr>
            <a:r>
              <a:rPr lang="en-US" sz="1500" dirty="0">
                <a:solidFill>
                  <a:srgbClr val="C9D6F2"/>
                </a:solidFill>
                <a:latin typeface="Calibri" pitchFamily="34" charset="0"/>
                <a:ea typeface="Calibri" pitchFamily="34" charset="-122"/>
                <a:cs typeface="Calibri" pitchFamily="34" charset="-120"/>
              </a:rPr>
              <a:t>y las tres distribuciones que nacen de ella: χ², t y F.</a:t>
            </a:r>
            <a:endParaRPr lang="en-US" sz="1500" dirty="0"/>
          </a:p>
        </p:txBody>
      </p:sp>
      <p:sp>
        <p:nvSpPr>
          <p:cNvPr id="47" name="Text 45"/>
          <p:cNvSpPr/>
          <p:nvPr/>
        </p:nvSpPr>
        <p:spPr>
          <a:xfrm>
            <a:off x="713232" y="5074920"/>
            <a:ext cx="2560320" cy="365760"/>
          </a:xfrm>
          <a:prstGeom prst="rect">
            <a:avLst/>
          </a:prstGeom>
          <a:noFill/>
          <a:ln/>
        </p:spPr>
        <p:txBody>
          <a:bodyPr wrap="square" lIns="0" tIns="0" rIns="0" bIns="0" rtlCol="0" anchor="ctr"/>
          <a:lstStyle/>
          <a:p>
            <a:pPr marL="0" indent="0">
              <a:buNone/>
            </a:pPr>
            <a:r>
              <a:rPr lang="en-US" sz="2000" b="1" dirty="0">
                <a:solidFill>
                  <a:srgbClr val="4A82FF"/>
                </a:solidFill>
                <a:latin typeface="Calibri" pitchFamily="34" charset="0"/>
                <a:ea typeface="Calibri" pitchFamily="34" charset="-122"/>
                <a:cs typeface="Calibri" pitchFamily="34" charset="-120"/>
              </a:rPr>
              <a:t>120 min</a:t>
            </a:r>
            <a:endParaRPr lang="en-US" sz="2000" dirty="0"/>
          </a:p>
        </p:txBody>
      </p:sp>
      <p:sp>
        <p:nvSpPr>
          <p:cNvPr id="48" name="Text 46"/>
          <p:cNvSpPr/>
          <p:nvPr/>
        </p:nvSpPr>
        <p:spPr>
          <a:xfrm>
            <a:off x="713232" y="5440680"/>
            <a:ext cx="256032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1 sesión</a:t>
            </a:r>
            <a:endParaRPr lang="en-US" sz="1150" dirty="0"/>
          </a:p>
        </p:txBody>
      </p:sp>
      <p:sp>
        <p:nvSpPr>
          <p:cNvPr id="49" name="Text 47"/>
          <p:cNvSpPr/>
          <p:nvPr/>
        </p:nvSpPr>
        <p:spPr>
          <a:xfrm>
            <a:off x="3502152" y="5074920"/>
            <a:ext cx="2560320" cy="365760"/>
          </a:xfrm>
          <a:prstGeom prst="rect">
            <a:avLst/>
          </a:prstGeom>
          <a:noFill/>
          <a:ln/>
        </p:spPr>
        <p:txBody>
          <a:bodyPr wrap="square" lIns="0" tIns="0" rIns="0" bIns="0" rtlCol="0" anchor="ctr"/>
          <a:lstStyle/>
          <a:p>
            <a:pPr marL="0" indent="0">
              <a:buNone/>
            </a:pPr>
            <a:r>
              <a:rPr lang="en-US" sz="2000" b="1" dirty="0">
                <a:solidFill>
                  <a:srgbClr val="4A82FF"/>
                </a:solidFill>
                <a:latin typeface="Calibri" pitchFamily="34" charset="0"/>
                <a:ea typeface="Calibri" pitchFamily="34" charset="-122"/>
                <a:cs typeface="Calibri" pitchFamily="34" charset="-120"/>
              </a:rPr>
              <a:t>5 bloques</a:t>
            </a:r>
            <a:endParaRPr lang="en-US" sz="2000" dirty="0"/>
          </a:p>
        </p:txBody>
      </p:sp>
      <p:sp>
        <p:nvSpPr>
          <p:cNvPr id="50" name="Text 48"/>
          <p:cNvSpPr/>
          <p:nvPr/>
        </p:nvSpPr>
        <p:spPr>
          <a:xfrm>
            <a:off x="3502152" y="5440680"/>
            <a:ext cx="256032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de laboratorio en Colab</a:t>
            </a:r>
            <a:endParaRPr lang="en-US" sz="1150" dirty="0"/>
          </a:p>
        </p:txBody>
      </p:sp>
      <p:sp>
        <p:nvSpPr>
          <p:cNvPr id="51" name="Text 49"/>
          <p:cNvSpPr/>
          <p:nvPr/>
        </p:nvSpPr>
        <p:spPr>
          <a:xfrm>
            <a:off x="6291072" y="5074920"/>
            <a:ext cx="2560320" cy="365760"/>
          </a:xfrm>
          <a:prstGeom prst="rect">
            <a:avLst/>
          </a:prstGeom>
          <a:noFill/>
          <a:ln/>
        </p:spPr>
        <p:txBody>
          <a:bodyPr wrap="square" lIns="0" tIns="0" rIns="0" bIns="0" rtlCol="0" anchor="ctr"/>
          <a:lstStyle/>
          <a:p>
            <a:pPr marL="0" indent="0">
              <a:buNone/>
            </a:pPr>
            <a:r>
              <a:rPr lang="en-US" sz="2000" b="1" dirty="0">
                <a:solidFill>
                  <a:srgbClr val="4A82FF"/>
                </a:solidFill>
                <a:latin typeface="Calibri" pitchFamily="34" charset="0"/>
                <a:ea typeface="Calibri" pitchFamily="34" charset="-122"/>
                <a:cs typeface="Calibri" pitchFamily="34" charset="-120"/>
              </a:rPr>
              <a:t>SEED = 42</a:t>
            </a:r>
            <a:endParaRPr lang="en-US" sz="2000" dirty="0"/>
          </a:p>
        </p:txBody>
      </p:sp>
      <p:sp>
        <p:nvSpPr>
          <p:cNvPr id="52" name="Text 50"/>
          <p:cNvSpPr/>
          <p:nvPr/>
        </p:nvSpPr>
        <p:spPr>
          <a:xfrm>
            <a:off x="6291072" y="5440680"/>
            <a:ext cx="2560320" cy="457200"/>
          </a:xfrm>
          <a:prstGeom prst="rect">
            <a:avLst/>
          </a:prstGeom>
          <a:noFill/>
          <a:ln/>
        </p:spPr>
        <p:txBody>
          <a:bodyPr wrap="square" lIns="0" tIns="0" rIns="0" bIns="0" rtlCol="0" anchor="t"/>
          <a:lstStyle/>
          <a:p>
            <a:pPr marL="0" indent="0">
              <a:buNone/>
            </a:pPr>
            <a:r>
              <a:rPr lang="en-US" sz="1150" dirty="0">
                <a:solidFill>
                  <a:srgbClr val="8FA6D4"/>
                </a:solidFill>
                <a:latin typeface="Calibri" pitchFamily="34" charset="0"/>
                <a:ea typeface="Calibri" pitchFamily="34" charset="-122"/>
                <a:cs typeface="Calibri" pitchFamily="34" charset="-120"/>
              </a:rPr>
              <a:t>slides y notebook coinciden</a:t>
            </a:r>
            <a:endParaRPr lang="en-US" sz="1150" dirty="0"/>
          </a:p>
        </p:txBody>
      </p:sp>
      <p:sp>
        <p:nvSpPr>
          <p:cNvPr id="53" name="Text 51"/>
          <p:cNvSpPr/>
          <p:nvPr/>
        </p:nvSpPr>
        <p:spPr>
          <a:xfrm>
            <a:off x="713232" y="6172200"/>
            <a:ext cx="8229600" cy="320040"/>
          </a:xfrm>
          <a:prstGeom prst="rect">
            <a:avLst/>
          </a:prstGeom>
          <a:noFill/>
          <a:ln/>
        </p:spPr>
        <p:txBody>
          <a:bodyPr wrap="square" lIns="0" tIns="0" rIns="0" bIns="0" rtlCol="0" anchor="ctr"/>
          <a:lstStyle/>
          <a:p>
            <a:pPr marL="0" indent="0">
              <a:buNone/>
            </a:pPr>
            <a:r>
              <a:rPr lang="en-US" sz="1100" i="1" dirty="0">
                <a:solidFill>
                  <a:srgbClr val="7C93C4"/>
                </a:solidFill>
                <a:latin typeface="Calibri" pitchFamily="34" charset="0"/>
                <a:ea typeface="Calibri" pitchFamily="34" charset="-122"/>
                <a:cs typeface="Calibri" pitchFamily="34" charset="-120"/>
              </a:rPr>
              <a:t>Estadística Descriptiva e Inferencial · 37 horas académicas · 14 sesiones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DÓNDE ESTAMOS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Tres clases, una sola idea que va creciendo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De contar eventos, a medir tiempos, a poner una escala universal sobre cualquier medición.</a:t>
            </a:r>
            <a:endParaRPr lang="en-US" sz="1400" dirty="0"/>
          </a:p>
        </p:txBody>
      </p:sp>
      <p:sp>
        <p:nvSpPr>
          <p:cNvPr id="6" name="Shape 4"/>
          <p:cNvSpPr/>
          <p:nvPr/>
        </p:nvSpPr>
        <p:spPr>
          <a:xfrm>
            <a:off x="548640" y="2011680"/>
            <a:ext cx="3520440" cy="1783080"/>
          </a:xfrm>
          <a:prstGeom prst="roundRect">
            <a:avLst>
              <a:gd name="adj" fmla="val 3077"/>
            </a:avLst>
          </a:prstGeom>
          <a:solidFill>
            <a:srgbClr val="E9EEF8"/>
          </a:solidFill>
          <a:ln w="12700">
            <a:solidFill>
              <a:srgbClr val="D2DBEC"/>
            </a:solidFill>
            <a:prstDash val="solid"/>
          </a:ln>
        </p:spPr>
      </p:sp>
      <p:sp>
        <p:nvSpPr>
          <p:cNvPr id="7" name="Text 5"/>
          <p:cNvSpPr/>
          <p:nvPr/>
        </p:nvSpPr>
        <p:spPr>
          <a:xfrm>
            <a:off x="804672" y="2157984"/>
            <a:ext cx="3017520" cy="274320"/>
          </a:xfrm>
          <a:prstGeom prst="rect">
            <a:avLst/>
          </a:prstGeom>
          <a:noFill/>
          <a:ln/>
        </p:spPr>
        <p:txBody>
          <a:bodyPr wrap="square" lIns="0" tIns="0" rIns="0" bIns="0" rtlCol="0" anchor="ctr"/>
          <a:lstStyle/>
          <a:p>
            <a:pPr marL="0" indent="0">
              <a:buNone/>
            </a:pPr>
            <a:r>
              <a:rPr lang="en-US" sz="1100" b="1" kern="0" spc="100" dirty="0">
                <a:solidFill>
                  <a:srgbClr val="1A56E8"/>
                </a:solidFill>
                <a:latin typeface="Calibri" pitchFamily="34" charset="0"/>
                <a:ea typeface="Calibri" pitchFamily="34" charset="-122"/>
                <a:cs typeface="Calibri" pitchFamily="34" charset="-120"/>
              </a:rPr>
              <a:t>CLASE 1</a:t>
            </a:r>
            <a:endParaRPr lang="en-US" sz="1100" dirty="0"/>
          </a:p>
        </p:txBody>
      </p:sp>
      <p:sp>
        <p:nvSpPr>
          <p:cNvPr id="8" name="Text 6"/>
          <p:cNvSpPr/>
          <p:nvPr/>
        </p:nvSpPr>
        <p:spPr>
          <a:xfrm>
            <a:off x="804672" y="2450592"/>
            <a:ext cx="3017520" cy="365760"/>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Variables discretas</a:t>
            </a:r>
            <a:endParaRPr lang="en-US" sz="1600" dirty="0"/>
          </a:p>
        </p:txBody>
      </p:sp>
      <p:sp>
        <p:nvSpPr>
          <p:cNvPr id="9" name="Text 7"/>
          <p:cNvSpPr/>
          <p:nvPr/>
        </p:nvSpPr>
        <p:spPr>
          <a:xfrm>
            <a:off x="804672" y="2889504"/>
            <a:ext cx="3017520" cy="777240"/>
          </a:xfrm>
          <a:prstGeom prst="rect">
            <a:avLst/>
          </a:prstGeom>
          <a:noFill/>
          <a:ln/>
        </p:spPr>
        <p:txBody>
          <a:bodyPr wrap="square" lIns="0" tIns="0" rIns="0" bIns="0" rtlCol="0" anchor="t"/>
          <a:lstStyle/>
          <a:p>
            <a:pPr marL="0" indent="0" algn="l">
              <a:lnSpc>
                <a:spcPct val="112000"/>
              </a:lnSpc>
              <a:buNone/>
            </a:pPr>
            <a:r>
              <a:rPr lang="en-US" sz="1200" dirty="0">
                <a:solidFill>
                  <a:srgbClr val="2C3A55"/>
                </a:solidFill>
                <a:latin typeface="Calibri" pitchFamily="34" charset="0"/>
                <a:ea typeface="Calibri" pitchFamily="34" charset="-122"/>
                <a:cs typeface="Calibri" pitchFamily="34" charset="-120"/>
              </a:rPr>
              <a:t>Contar: binomial, Poisson, geométrica.</a:t>
            </a:r>
            <a:endParaRPr lang="en-US" sz="1200" dirty="0"/>
          </a:p>
          <a:p>
            <a:pPr marL="0" indent="0" algn="l">
              <a:lnSpc>
                <a:spcPct val="112000"/>
              </a:lnSpc>
              <a:buNone/>
            </a:pPr>
            <a:r>
              <a:rPr lang="en-US" sz="1200" dirty="0">
                <a:solidFill>
                  <a:srgbClr val="2C3A55"/>
                </a:solidFill>
                <a:latin typeface="Calibri" pitchFamily="34" charset="0"/>
                <a:ea typeface="Calibri" pitchFamily="34" charset="-122"/>
                <a:cs typeface="Calibri" pitchFamily="34" charset="-120"/>
              </a:rPr>
              <a:t>¿Cuántas alertas hoy?</a:t>
            </a:r>
            <a:endParaRPr lang="en-US" sz="1200" dirty="0"/>
          </a:p>
        </p:txBody>
      </p:sp>
      <p:sp>
        <p:nvSpPr>
          <p:cNvPr id="10" name="Shape 8"/>
          <p:cNvSpPr/>
          <p:nvPr/>
        </p:nvSpPr>
        <p:spPr>
          <a:xfrm>
            <a:off x="4297680" y="2011680"/>
            <a:ext cx="3520440" cy="1783080"/>
          </a:xfrm>
          <a:prstGeom prst="roundRect">
            <a:avLst>
              <a:gd name="adj" fmla="val 3077"/>
            </a:avLst>
          </a:prstGeom>
          <a:solidFill>
            <a:srgbClr val="E9EEF8"/>
          </a:solidFill>
          <a:ln w="12700">
            <a:solidFill>
              <a:srgbClr val="D2DBEC"/>
            </a:solidFill>
            <a:prstDash val="solid"/>
          </a:ln>
        </p:spPr>
      </p:sp>
      <p:sp>
        <p:nvSpPr>
          <p:cNvPr id="11" name="Text 9"/>
          <p:cNvSpPr/>
          <p:nvPr/>
        </p:nvSpPr>
        <p:spPr>
          <a:xfrm>
            <a:off x="4553712" y="2157984"/>
            <a:ext cx="3017520" cy="274320"/>
          </a:xfrm>
          <a:prstGeom prst="rect">
            <a:avLst/>
          </a:prstGeom>
          <a:noFill/>
          <a:ln/>
        </p:spPr>
        <p:txBody>
          <a:bodyPr wrap="square" lIns="0" tIns="0" rIns="0" bIns="0" rtlCol="0" anchor="ctr"/>
          <a:lstStyle/>
          <a:p>
            <a:pPr marL="0" indent="0">
              <a:buNone/>
            </a:pPr>
            <a:r>
              <a:rPr lang="en-US" sz="1100" b="1" kern="0" spc="100" dirty="0">
                <a:solidFill>
                  <a:srgbClr val="1A56E8"/>
                </a:solidFill>
                <a:latin typeface="Calibri" pitchFamily="34" charset="0"/>
                <a:ea typeface="Calibri" pitchFamily="34" charset="-122"/>
                <a:cs typeface="Calibri" pitchFamily="34" charset="-120"/>
              </a:rPr>
              <a:t>CLASE 2</a:t>
            </a:r>
            <a:endParaRPr lang="en-US" sz="1100" dirty="0"/>
          </a:p>
        </p:txBody>
      </p:sp>
      <p:sp>
        <p:nvSpPr>
          <p:cNvPr id="12" name="Text 10"/>
          <p:cNvSpPr/>
          <p:nvPr/>
        </p:nvSpPr>
        <p:spPr>
          <a:xfrm>
            <a:off x="4553712" y="2450592"/>
            <a:ext cx="3017520" cy="365760"/>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Variables continuas</a:t>
            </a:r>
            <a:endParaRPr lang="en-US" sz="1600" dirty="0"/>
          </a:p>
        </p:txBody>
      </p:sp>
      <p:sp>
        <p:nvSpPr>
          <p:cNvPr id="13" name="Text 11"/>
          <p:cNvSpPr/>
          <p:nvPr/>
        </p:nvSpPr>
        <p:spPr>
          <a:xfrm>
            <a:off x="4553712" y="2889504"/>
            <a:ext cx="3017520" cy="777240"/>
          </a:xfrm>
          <a:prstGeom prst="rect">
            <a:avLst/>
          </a:prstGeom>
          <a:noFill/>
          <a:ln/>
        </p:spPr>
        <p:txBody>
          <a:bodyPr wrap="square" lIns="0" tIns="0" rIns="0" bIns="0" rtlCol="0" anchor="t"/>
          <a:lstStyle/>
          <a:p>
            <a:pPr marL="0" indent="0" algn="l">
              <a:lnSpc>
                <a:spcPct val="112000"/>
              </a:lnSpc>
              <a:buNone/>
            </a:pPr>
            <a:r>
              <a:rPr lang="en-US" sz="1200" dirty="0">
                <a:solidFill>
                  <a:srgbClr val="2C3A55"/>
                </a:solidFill>
                <a:latin typeface="Calibri" pitchFamily="34" charset="0"/>
                <a:ea typeface="Calibri" pitchFamily="34" charset="-122"/>
                <a:cs typeface="Calibri" pitchFamily="34" charset="-120"/>
              </a:rPr>
              <a:t>Medir: densidad, acumulada, exponencial.</a:t>
            </a:r>
            <a:endParaRPr lang="en-US" sz="1200" dirty="0"/>
          </a:p>
          <a:p>
            <a:pPr marL="0" indent="0" algn="l">
              <a:lnSpc>
                <a:spcPct val="112000"/>
              </a:lnSpc>
              <a:buNone/>
            </a:pPr>
            <a:r>
              <a:rPr lang="en-US" sz="1200" dirty="0">
                <a:solidFill>
                  <a:srgbClr val="2C3A55"/>
                </a:solidFill>
                <a:latin typeface="Calibri" pitchFamily="34" charset="0"/>
                <a:ea typeface="Calibri" pitchFamily="34" charset="-122"/>
                <a:cs typeface="Calibri" pitchFamily="34" charset="-120"/>
              </a:rPr>
              <a:t>¿Cuánto tiempo hasta la próxima?</a:t>
            </a:r>
            <a:endParaRPr lang="en-US" sz="1200" dirty="0"/>
          </a:p>
        </p:txBody>
      </p:sp>
      <p:sp>
        <p:nvSpPr>
          <p:cNvPr id="14" name="Shape 12"/>
          <p:cNvSpPr/>
          <p:nvPr/>
        </p:nvSpPr>
        <p:spPr>
          <a:xfrm>
            <a:off x="8046720" y="2011680"/>
            <a:ext cx="3520440" cy="1783080"/>
          </a:xfrm>
          <a:prstGeom prst="roundRect">
            <a:avLst>
              <a:gd name="adj" fmla="val 3077"/>
            </a:avLst>
          </a:prstGeom>
          <a:solidFill>
            <a:srgbClr val="0A2559"/>
          </a:solidFill>
          <a:ln w="12700">
            <a:solidFill>
              <a:srgbClr val="0A2559"/>
            </a:solidFill>
            <a:prstDash val="solid"/>
          </a:ln>
        </p:spPr>
      </p:sp>
      <p:sp>
        <p:nvSpPr>
          <p:cNvPr id="15" name="Text 13"/>
          <p:cNvSpPr/>
          <p:nvPr/>
        </p:nvSpPr>
        <p:spPr>
          <a:xfrm>
            <a:off x="8302752" y="2157984"/>
            <a:ext cx="3017520" cy="274320"/>
          </a:xfrm>
          <a:prstGeom prst="rect">
            <a:avLst/>
          </a:prstGeom>
          <a:noFill/>
          <a:ln/>
        </p:spPr>
        <p:txBody>
          <a:bodyPr wrap="square" lIns="0" tIns="0" rIns="0" bIns="0" rtlCol="0" anchor="ctr"/>
          <a:lstStyle/>
          <a:p>
            <a:pPr marL="0" indent="0">
              <a:buNone/>
            </a:pPr>
            <a:r>
              <a:rPr lang="en-US" sz="1100" b="1" kern="0" spc="100" dirty="0">
                <a:solidFill>
                  <a:srgbClr val="E6115E"/>
                </a:solidFill>
                <a:latin typeface="Calibri" pitchFamily="34" charset="0"/>
                <a:ea typeface="Calibri" pitchFamily="34" charset="-122"/>
                <a:cs typeface="Calibri" pitchFamily="34" charset="-120"/>
              </a:rPr>
              <a:t>CLASE 3</a:t>
            </a:r>
            <a:endParaRPr lang="en-US" sz="1100" dirty="0"/>
          </a:p>
        </p:txBody>
      </p:sp>
      <p:sp>
        <p:nvSpPr>
          <p:cNvPr id="16" name="Text 14"/>
          <p:cNvSpPr/>
          <p:nvPr/>
        </p:nvSpPr>
        <p:spPr>
          <a:xfrm>
            <a:off x="8302752" y="2450592"/>
            <a:ext cx="301752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La normal y sus hijas</a:t>
            </a:r>
            <a:endParaRPr lang="en-US" sz="1600" dirty="0"/>
          </a:p>
        </p:txBody>
      </p:sp>
      <p:sp>
        <p:nvSpPr>
          <p:cNvPr id="17" name="Text 15"/>
          <p:cNvSpPr/>
          <p:nvPr/>
        </p:nvSpPr>
        <p:spPr>
          <a:xfrm>
            <a:off x="8302752" y="2889504"/>
            <a:ext cx="3017520" cy="777240"/>
          </a:xfrm>
          <a:prstGeom prst="rect">
            <a:avLst/>
          </a:prstGeom>
          <a:noFill/>
          <a:ln/>
        </p:spPr>
        <p:txBody>
          <a:bodyPr wrap="square" lIns="0" tIns="0" rIns="0" bIns="0" rtlCol="0" anchor="t"/>
          <a:lstStyle/>
          <a:p>
            <a:pPr marL="0" indent="0" algn="l">
              <a:lnSpc>
                <a:spcPct val="112000"/>
              </a:lnSpc>
              <a:buNone/>
            </a:pPr>
            <a:r>
              <a:rPr lang="en-US" sz="1200" dirty="0">
                <a:solidFill>
                  <a:srgbClr val="C9D6F2"/>
                </a:solidFill>
                <a:latin typeface="Calibri" pitchFamily="34" charset="0"/>
                <a:ea typeface="Calibri" pitchFamily="34" charset="-122"/>
                <a:cs typeface="Calibri" pitchFamily="34" charset="-120"/>
              </a:rPr>
              <a:t>Comparar: z, TLC, χ² · t · F.</a:t>
            </a:r>
            <a:endParaRPr lang="en-US" sz="1200" dirty="0"/>
          </a:p>
          <a:p>
            <a:pPr marL="0" indent="0" algn="l">
              <a:lnSpc>
                <a:spcPct val="112000"/>
              </a:lnSpc>
              <a:buNone/>
            </a:pPr>
            <a:r>
              <a:rPr lang="en-US" sz="1200" dirty="0">
                <a:solidFill>
                  <a:srgbClr val="C9D6F2"/>
                </a:solidFill>
                <a:latin typeface="Calibri" pitchFamily="34" charset="0"/>
                <a:ea typeface="Calibri" pitchFamily="34" charset="-122"/>
                <a:cs typeface="Calibri" pitchFamily="34" charset="-120"/>
              </a:rPr>
              <a:t>¿Qué tan raro es este valor?</a:t>
            </a:r>
            <a:endParaRPr lang="en-US" sz="1200" dirty="0"/>
          </a:p>
        </p:txBody>
      </p:sp>
      <p:sp>
        <p:nvSpPr>
          <p:cNvPr id="18" name="Shape 16"/>
          <p:cNvSpPr/>
          <p:nvPr/>
        </p:nvSpPr>
        <p:spPr>
          <a:xfrm>
            <a:off x="548640" y="4069080"/>
            <a:ext cx="11091672" cy="2103120"/>
          </a:xfrm>
          <a:prstGeom prst="roundRect">
            <a:avLst>
              <a:gd name="adj" fmla="val 2609"/>
            </a:avLst>
          </a:prstGeom>
          <a:solidFill>
            <a:srgbClr val="FFFFFF"/>
          </a:solidFill>
          <a:ln w="12700">
            <a:solidFill>
              <a:srgbClr val="D2DBEC"/>
            </a:solidFill>
            <a:prstDash val="solid"/>
          </a:ln>
        </p:spPr>
      </p:sp>
      <p:sp>
        <p:nvSpPr>
          <p:cNvPr id="19" name="Shape 17"/>
          <p:cNvSpPr/>
          <p:nvPr/>
        </p:nvSpPr>
        <p:spPr>
          <a:xfrm>
            <a:off x="822960" y="4379976"/>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60704" y="4279392"/>
            <a:ext cx="10277856" cy="292608"/>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La pregunta que abre la clase</a:t>
            </a:r>
            <a:endParaRPr lang="en-US" sz="1600" dirty="0"/>
          </a:p>
        </p:txBody>
      </p:sp>
      <p:sp>
        <p:nvSpPr>
          <p:cNvPr id="21" name="Text 19"/>
          <p:cNvSpPr/>
          <p:nvPr/>
        </p:nvSpPr>
        <p:spPr>
          <a:xfrm>
            <a:off x="822960" y="4681728"/>
            <a:ext cx="10515600" cy="1325880"/>
          </a:xfrm>
          <a:prstGeom prst="rect">
            <a:avLst/>
          </a:prstGeom>
          <a:noFill/>
          <a:ln/>
        </p:spPr>
        <p:txBody>
          <a:bodyPr wrap="square" lIns="0" tIns="0" rIns="0" bIns="0" rtlCol="0" anchor="t"/>
          <a:lstStyle/>
          <a:p>
            <a:pPr marL="0" indent="0" algn="l">
              <a:lnSpc>
                <a:spcPct val="115000"/>
              </a:lnSpc>
              <a:buNone/>
            </a:pPr>
            <a:r>
              <a:rPr lang="en-US" sz="1300" dirty="0">
                <a:solidFill>
                  <a:srgbClr val="2C3A55"/>
                </a:solidFill>
                <a:latin typeface="Calibri" pitchFamily="34" charset="0"/>
                <a:ea typeface="Calibri" pitchFamily="34" charset="-122"/>
                <a:cs typeface="Calibri" pitchFamily="34" charset="-120"/>
              </a:rPr>
              <a:t>Tienes en pantalla el monto de 40 000 transacciones del mes. El comité te pregunta cuáles son «raras».</a:t>
            </a:r>
            <a:endParaRPr lang="en-US" sz="1300" dirty="0"/>
          </a:p>
          <a:p>
            <a:pPr marL="0" indent="0" algn="l">
              <a:lnSpc>
                <a:spcPct val="115000"/>
              </a:lnSpc>
              <a:buNone/>
            </a:pPr>
            <a:endParaRPr lang="en-US" sz="1300" dirty="0"/>
          </a:p>
          <a:p>
            <a:pPr marL="0" indent="0" algn="l">
              <a:lnSpc>
                <a:spcPct val="115000"/>
              </a:lnSpc>
              <a:buNone/>
            </a:pPr>
            <a:r>
              <a:rPr lang="en-US" sz="1300" dirty="0">
                <a:solidFill>
                  <a:srgbClr val="2C3A55"/>
                </a:solidFill>
                <a:latin typeface="Calibri" pitchFamily="34" charset="0"/>
                <a:ea typeface="Calibri" pitchFamily="34" charset="-122"/>
                <a:cs typeface="Calibri" pitchFamily="34" charset="-120"/>
              </a:rPr>
              <a:t>Sin una distribución de referencia, «raro» es una opinión: el que grita más fuerte decide el umbral. Con una distribución de referencia, «raro» es un número que cualquiera puede recalcular y auditar. Hoy construimos esa referencia — y también aprendemos a reconocer cuándo la referencia no aplica, que es la mitad del trabajo real en riesgo y fraude.</a:t>
            </a:r>
            <a:endParaRPr lang="en-US" sz="1300" dirty="0"/>
          </a:p>
        </p:txBody>
      </p:sp>
      <p:sp>
        <p:nvSpPr>
          <p:cNvPr id="22" name="Text 20"/>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Regla del curso: primero la pregunta de negocio, después la fórmula. Nunca al revés.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AGENDA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Cómo repartimos los 120 minutos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45 min de construcción conceptual · 65 min de laboratorio en Colab · 10 min de cierre.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7315200" cy="2688336"/>
        </p:xfrm>
        <a:graphic>
          <a:graphicData uri="http://schemas.openxmlformats.org/drawingml/2006/table">
            <a:tbl>
              <a:tblPr/>
              <a:tblGrid>
                <a:gridCol w="6858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Formato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normal: fórmula, μ y σ, regla 68-95-99.7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Exposición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Estandarización z y lectura de Φ(z)</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Exposición + pizarra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Teorema del Límite Central: qué dice y qué 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Exposición + simulación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Las derivadas: χ², t de Student y F</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Exposición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4"/>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Laboratorio guiado en Colab (5 bloques)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Práctica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5"/>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Cierre, checklist y reto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Discusión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6"/>
                  </a:ext>
                </a:extLst>
              </a:tr>
            </a:tbl>
          </a:graphicData>
        </a:graphic>
      </p:graphicFrame>
      <p:sp>
        <p:nvSpPr>
          <p:cNvPr id="7" name="Shape 4"/>
          <p:cNvSpPr/>
          <p:nvPr/>
        </p:nvSpPr>
        <p:spPr>
          <a:xfrm>
            <a:off x="8092440" y="2011680"/>
            <a:ext cx="3547872" cy="2697480"/>
          </a:xfrm>
          <a:prstGeom prst="roundRect">
            <a:avLst>
              <a:gd name="adj" fmla="val 2034"/>
            </a:avLst>
          </a:prstGeom>
          <a:solidFill>
            <a:srgbClr val="E9EEF8"/>
          </a:solidFill>
          <a:ln w="12700">
            <a:solidFill>
              <a:srgbClr val="D2DBEC"/>
            </a:solidFill>
            <a:prstDash val="solid"/>
          </a:ln>
        </p:spPr>
      </p:sp>
      <p:sp>
        <p:nvSpPr>
          <p:cNvPr id="8" name="Shape 5"/>
          <p:cNvSpPr/>
          <p:nvPr/>
        </p:nvSpPr>
        <p:spPr>
          <a:xfrm>
            <a:off x="8339328" y="2313432"/>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577072" y="2212848"/>
            <a:ext cx="287121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0" name="Text 7"/>
          <p:cNvSpPr/>
          <p:nvPr/>
        </p:nvSpPr>
        <p:spPr>
          <a:xfrm>
            <a:off x="8339328" y="2606040"/>
            <a:ext cx="3063240" cy="196596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Decidir si un valor es «raro» con un número, no con una opinión.</a:t>
            </a:r>
            <a:endParaRPr lang="en-US" sz="1150" dirty="0"/>
          </a:p>
          <a:p>
            <a:pPr marL="342900" indent="-342900">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Comparar variables en escalas distintas.</a:t>
            </a:r>
            <a:endParaRPr lang="en-US" sz="1150" dirty="0"/>
          </a:p>
          <a:p>
            <a:pPr marL="342900" indent="-342900">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Saber por qué la media se vuelve normal aunque los datos no lo sean.</a:t>
            </a:r>
            <a:endParaRPr lang="en-US" sz="1150" dirty="0"/>
          </a:p>
          <a:p>
            <a:pPr marL="342900" indent="-342900">
              <a:spcAft>
                <a:spcPts val="700"/>
              </a:spcAft>
              <a:buSzPct val="100000"/>
              <a:buChar char="•"/>
            </a:pPr>
            <a:r>
              <a:rPr lang="en-US" sz="1150" dirty="0">
                <a:solidFill>
                  <a:srgbClr val="2C3A55"/>
                </a:solidFill>
                <a:latin typeface="Calibri" pitchFamily="34" charset="0"/>
                <a:ea typeface="Calibri" pitchFamily="34" charset="-122"/>
                <a:cs typeface="Calibri" pitchFamily="34" charset="-120"/>
              </a:rPr>
              <a:t>Reconocer cuándo la normal miente.</a:t>
            </a:r>
            <a:endParaRPr lang="en-US" sz="1150" dirty="0"/>
          </a:p>
        </p:txBody>
      </p:sp>
      <p:sp>
        <p:nvSpPr>
          <p:cNvPr id="11" name="Shape 8"/>
          <p:cNvSpPr/>
          <p:nvPr/>
        </p:nvSpPr>
        <p:spPr>
          <a:xfrm>
            <a:off x="8092440" y="4864608"/>
            <a:ext cx="3547872" cy="1307592"/>
          </a:xfrm>
          <a:prstGeom prst="roundRect">
            <a:avLst>
              <a:gd name="adj" fmla="val 4196"/>
            </a:avLst>
          </a:prstGeom>
          <a:solidFill>
            <a:srgbClr val="0A2559"/>
          </a:solidFill>
          <a:ln w="12700">
            <a:solidFill>
              <a:srgbClr val="0A2559"/>
            </a:solidFill>
            <a:prstDash val="solid"/>
          </a:ln>
        </p:spPr>
      </p:sp>
      <p:sp>
        <p:nvSpPr>
          <p:cNvPr id="12" name="Shape 9"/>
          <p:cNvSpPr/>
          <p:nvPr/>
        </p:nvSpPr>
        <p:spPr>
          <a:xfrm>
            <a:off x="8339328" y="5129784"/>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577072" y="5029200"/>
            <a:ext cx="287121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Prerrequisito</a:t>
            </a:r>
            <a:endParaRPr lang="en-US" sz="1400" dirty="0"/>
          </a:p>
        </p:txBody>
      </p:sp>
      <p:sp>
        <p:nvSpPr>
          <p:cNvPr id="14" name="Text 11"/>
          <p:cNvSpPr/>
          <p:nvPr/>
        </p:nvSpPr>
        <p:spPr>
          <a:xfrm>
            <a:off x="8339328" y="5413248"/>
            <a:ext cx="3063240" cy="640080"/>
          </a:xfrm>
          <a:prstGeom prst="rect">
            <a:avLst/>
          </a:prstGeom>
          <a:noFill/>
          <a:ln/>
        </p:spPr>
        <p:txBody>
          <a:bodyPr wrap="square" lIns="0" tIns="0" rIns="0" bIns="0" rtlCol="0" anchor="t"/>
          <a:lstStyle/>
          <a:p>
            <a:pPr marL="0" indent="0" algn="l">
              <a:lnSpc>
                <a:spcPct val="110000"/>
              </a:lnSpc>
              <a:buNone/>
            </a:pPr>
            <a:r>
              <a:rPr lang="en-US" sz="1150" dirty="0">
                <a:solidFill>
                  <a:srgbClr val="C9D6F2"/>
                </a:solidFill>
                <a:latin typeface="Calibri" pitchFamily="34" charset="0"/>
                <a:ea typeface="Calibri" pitchFamily="34" charset="-122"/>
                <a:cs typeface="Calibri" pitchFamily="34" charset="-120"/>
              </a:rPr>
              <a:t>Clase 2: densidad, acumulada y cuantiles. Si eso no está firme, el bloque 2 se va a sentir cuesta arriba.</a:t>
            </a:r>
            <a:endParaRPr lang="en-US" sz="1150" dirty="0"/>
          </a:p>
        </p:txBody>
      </p:sp>
      <p:sp>
        <p:nvSpPr>
          <p:cNvPr id="15" name="Shape 12"/>
          <p:cNvSpPr/>
          <p:nvPr/>
        </p:nvSpPr>
        <p:spPr>
          <a:xfrm>
            <a:off x="548640" y="4864608"/>
            <a:ext cx="7315200" cy="1316736"/>
          </a:xfrm>
          <a:prstGeom prst="roundRect">
            <a:avLst>
              <a:gd name="adj" fmla="val 4167"/>
            </a:avLst>
          </a:prstGeom>
          <a:solidFill>
            <a:srgbClr val="FFFFFF"/>
          </a:solidFill>
          <a:ln w="12700">
            <a:solidFill>
              <a:srgbClr val="D2DBEC"/>
            </a:solidFill>
            <a:prstDash val="solid"/>
          </a:ln>
        </p:spPr>
      </p:sp>
      <p:sp>
        <p:nvSpPr>
          <p:cNvPr id="16" name="Shape 13"/>
          <p:cNvSpPr/>
          <p:nvPr/>
        </p:nvSpPr>
        <p:spPr>
          <a:xfrm>
            <a:off x="804672" y="5111496"/>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1042416" y="5010912"/>
            <a:ext cx="652881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Materiales de la sesión</a:t>
            </a:r>
            <a:endParaRPr lang="en-US" sz="1400" dirty="0"/>
          </a:p>
        </p:txBody>
      </p:sp>
      <p:sp>
        <p:nvSpPr>
          <p:cNvPr id="18" name="Text 15"/>
          <p:cNvSpPr/>
          <p:nvPr/>
        </p:nvSpPr>
        <p:spPr>
          <a:xfrm>
            <a:off x="804672" y="5358384"/>
            <a:ext cx="6766560" cy="749808"/>
          </a:xfrm>
          <a:prstGeom prst="rect">
            <a:avLst/>
          </a:prstGeom>
          <a:noFill/>
          <a:ln/>
        </p:spPr>
        <p:txBody>
          <a:bodyPr wrap="square" lIns="0" tIns="0" rIns="0" bIns="0" rtlCol="0" anchor="t"/>
          <a:lstStyle/>
          <a:p>
            <a:pPr marL="342900" indent="-342900">
              <a:buSzPct val="100000"/>
              <a:buChar char="•"/>
            </a:pPr>
            <a:r>
              <a:rPr lang="en-US" sz="1100" dirty="0">
                <a:solidFill>
                  <a:srgbClr val="2C3A55"/>
                </a:solidFill>
                <a:latin typeface="Calibri" pitchFamily="34" charset="0"/>
                <a:ea typeface="Calibri" pitchFamily="34" charset="-122"/>
                <a:cs typeface="Calibri" pitchFamily="34" charset="-120"/>
              </a:rPr>
              <a:t>Este deck en PDF — las notas del expositor van incluidas.</a:t>
            </a:r>
            <a:endParaRPr lang="en-US" sz="1100" dirty="0"/>
          </a:p>
          <a:p>
            <a:pPr marL="342900" indent="-342900">
              <a:buSzPct val="100000"/>
              <a:buChar char="•"/>
            </a:pPr>
            <a:r>
              <a:rPr lang="en-US" sz="1100" dirty="0">
                <a:solidFill>
                  <a:srgbClr val="2C3A55"/>
                </a:solidFill>
                <a:latin typeface="Calibri" pitchFamily="34" charset="0"/>
                <a:ea typeface="Calibri" pitchFamily="34" charset="-122"/>
                <a:cs typeface="Calibri" pitchFamily="34" charset="-120"/>
              </a:rPr>
              <a:t>Notebook del alumno en Colab, con celdas de verificación automática.</a:t>
            </a:r>
            <a:endParaRPr lang="en-US" sz="1100" dirty="0"/>
          </a:p>
          <a:p>
            <a:pPr marL="342900" indent="-342900">
              <a:buSzPct val="100000"/>
              <a:buChar char="•"/>
            </a:pPr>
            <a:r>
              <a:rPr lang="en-US" sz="1100" dirty="0">
                <a:solidFill>
                  <a:srgbClr val="2C3A55"/>
                </a:solidFill>
                <a:latin typeface="Calibri" pitchFamily="34" charset="0"/>
                <a:ea typeface="Calibri" pitchFamily="34" charset="-122"/>
                <a:cs typeface="Calibri" pitchFamily="34" charset="-120"/>
              </a:rPr>
              <a:t>Notebook de solución, que se libera al final de la </a:t>
            </a:r>
            <a:r>
              <a:rPr lang="en-US" sz="1100" dirty="0" err="1">
                <a:solidFill>
                  <a:srgbClr val="2C3A55"/>
                </a:solidFill>
                <a:latin typeface="Calibri" pitchFamily="34" charset="0"/>
                <a:ea typeface="Calibri" pitchFamily="34" charset="-122"/>
                <a:cs typeface="Calibri" pitchFamily="34" charset="-120"/>
              </a:rPr>
              <a:t>sesión</a:t>
            </a:r>
            <a:r>
              <a:rPr lang="en-US" sz="1100" dirty="0">
                <a:solidFill>
                  <a:srgbClr val="2C3A55"/>
                </a:solidFill>
                <a:latin typeface="Calibri" pitchFamily="34" charset="0"/>
                <a:ea typeface="Calibri" pitchFamily="34" charset="-122"/>
                <a:cs typeface="Calibri" pitchFamily="34" charset="-120"/>
              </a:rPr>
              <a:t>.</a:t>
            </a:r>
            <a:endParaRPr lang="en-US" sz="1100" dirty="0"/>
          </a:p>
        </p:txBody>
      </p:sp>
      <p:sp>
        <p:nvSpPr>
          <p:cNvPr id="19" name="Text 16"/>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Los bloques 1 a 4 suman 45 min de exposición efectiva; el material extra de las slides queda como apoyo de estudio.</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1089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1089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ANTES DE LA FÓRMULA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Diccionario: cada símbolo que vas a ver hoy</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Ninguna letra aparece en una fórmula antes de estar aquí. Si algo no está en esta lista, es un error mío.</a:t>
            </a:r>
            <a:endParaRPr lang="en-US" sz="1400" dirty="0"/>
          </a:p>
        </p:txBody>
      </p:sp>
      <p:sp>
        <p:nvSpPr>
          <p:cNvPr id="6" name="Shape 4"/>
          <p:cNvSpPr/>
          <p:nvPr/>
        </p:nvSpPr>
        <p:spPr>
          <a:xfrm>
            <a:off x="548640" y="1975104"/>
            <a:ext cx="5422392" cy="932688"/>
          </a:xfrm>
          <a:prstGeom prst="roundRect">
            <a:avLst>
              <a:gd name="adj" fmla="val 5882"/>
            </a:avLst>
          </a:prstGeom>
          <a:solidFill>
            <a:srgbClr val="FFFFFF"/>
          </a:solidFill>
          <a:ln w="12700">
            <a:solidFill>
              <a:srgbClr val="D2DBEC"/>
            </a:solidFill>
            <a:prstDash val="solid"/>
          </a:ln>
        </p:spPr>
      </p:sp>
      <p:sp>
        <p:nvSpPr>
          <p:cNvPr id="7" name="Shape 5"/>
          <p:cNvSpPr/>
          <p:nvPr/>
        </p:nvSpPr>
        <p:spPr>
          <a:xfrm>
            <a:off x="694944" y="2121408"/>
            <a:ext cx="1152144" cy="640080"/>
          </a:xfrm>
          <a:prstGeom prst="roundRect">
            <a:avLst>
              <a:gd name="adj" fmla="val 8571"/>
            </a:avLst>
          </a:prstGeom>
          <a:solidFill>
            <a:srgbClr val="0A2559"/>
          </a:solidFill>
          <a:ln w="12700">
            <a:solidFill>
              <a:srgbClr val="0A2559"/>
            </a:solidFill>
            <a:prstDash val="solid"/>
          </a:ln>
        </p:spPr>
      </p:sp>
      <p:sp>
        <p:nvSpPr>
          <p:cNvPr id="8" name="Text 6"/>
          <p:cNvSpPr/>
          <p:nvPr/>
        </p:nvSpPr>
        <p:spPr>
          <a:xfrm>
            <a:off x="694944" y="2121408"/>
            <a:ext cx="1152144" cy="64008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μ</a:t>
            </a:r>
            <a:endParaRPr lang="en-US" sz="1900" dirty="0"/>
          </a:p>
        </p:txBody>
      </p:sp>
      <p:sp>
        <p:nvSpPr>
          <p:cNvPr id="9" name="Text 7"/>
          <p:cNvSpPr/>
          <p:nvPr/>
        </p:nvSpPr>
        <p:spPr>
          <a:xfrm>
            <a:off x="1965960" y="2093976"/>
            <a:ext cx="3840480" cy="256032"/>
          </a:xfrm>
          <a:prstGeom prst="rect">
            <a:avLst/>
          </a:prstGeom>
          <a:noFill/>
          <a:ln/>
        </p:spPr>
        <p:txBody>
          <a:bodyPr wrap="square" lIns="0" tIns="0" rIns="0" bIns="0" rtlCol="0" anchor="ctr"/>
          <a:lstStyle/>
          <a:p>
            <a:pPr marL="0" indent="0">
              <a:buNone/>
            </a:pPr>
            <a:r>
              <a:rPr lang="en-US" sz="1100" b="1" i="1" dirty="0">
                <a:solidFill>
                  <a:srgbClr val="E6115E"/>
                </a:solidFill>
                <a:latin typeface="Calibri" pitchFamily="34" charset="0"/>
                <a:ea typeface="Calibri" pitchFamily="34" charset="-122"/>
                <a:cs typeface="Calibri" pitchFamily="34" charset="-120"/>
              </a:rPr>
              <a:t>«mu»</a:t>
            </a:r>
            <a:endParaRPr lang="en-US" sz="1100" dirty="0"/>
          </a:p>
        </p:txBody>
      </p:sp>
      <p:sp>
        <p:nvSpPr>
          <p:cNvPr id="10" name="Text 8"/>
          <p:cNvSpPr/>
          <p:nvPr/>
        </p:nvSpPr>
        <p:spPr>
          <a:xfrm>
            <a:off x="1965960" y="2350008"/>
            <a:ext cx="3858768" cy="47548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La media de la población. El centro de la campana. En código: mu.</a:t>
            </a:r>
            <a:endParaRPr lang="en-US" sz="1150" dirty="0"/>
          </a:p>
        </p:txBody>
      </p:sp>
      <p:sp>
        <p:nvSpPr>
          <p:cNvPr id="11" name="Shape 9"/>
          <p:cNvSpPr/>
          <p:nvPr/>
        </p:nvSpPr>
        <p:spPr>
          <a:xfrm>
            <a:off x="6217920" y="1975104"/>
            <a:ext cx="5422392" cy="932688"/>
          </a:xfrm>
          <a:prstGeom prst="roundRect">
            <a:avLst>
              <a:gd name="adj" fmla="val 5882"/>
            </a:avLst>
          </a:prstGeom>
          <a:solidFill>
            <a:srgbClr val="FFFFFF"/>
          </a:solidFill>
          <a:ln w="12700">
            <a:solidFill>
              <a:srgbClr val="D2DBEC"/>
            </a:solidFill>
            <a:prstDash val="solid"/>
          </a:ln>
        </p:spPr>
      </p:sp>
      <p:sp>
        <p:nvSpPr>
          <p:cNvPr id="12" name="Shape 10"/>
          <p:cNvSpPr/>
          <p:nvPr/>
        </p:nvSpPr>
        <p:spPr>
          <a:xfrm>
            <a:off x="6364224" y="2121408"/>
            <a:ext cx="1152144" cy="640080"/>
          </a:xfrm>
          <a:prstGeom prst="roundRect">
            <a:avLst>
              <a:gd name="adj" fmla="val 8571"/>
            </a:avLst>
          </a:prstGeom>
          <a:solidFill>
            <a:srgbClr val="0A2559"/>
          </a:solidFill>
          <a:ln w="12700">
            <a:solidFill>
              <a:srgbClr val="0A2559"/>
            </a:solidFill>
            <a:prstDash val="solid"/>
          </a:ln>
        </p:spPr>
      </p:sp>
      <p:sp>
        <p:nvSpPr>
          <p:cNvPr id="13" name="Text 11"/>
          <p:cNvSpPr/>
          <p:nvPr/>
        </p:nvSpPr>
        <p:spPr>
          <a:xfrm>
            <a:off x="6364224" y="2121408"/>
            <a:ext cx="1152144" cy="64008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σ</a:t>
            </a:r>
            <a:endParaRPr lang="en-US" sz="1900" dirty="0"/>
          </a:p>
        </p:txBody>
      </p:sp>
      <p:sp>
        <p:nvSpPr>
          <p:cNvPr id="14" name="Text 12"/>
          <p:cNvSpPr/>
          <p:nvPr/>
        </p:nvSpPr>
        <p:spPr>
          <a:xfrm>
            <a:off x="7635240" y="2093976"/>
            <a:ext cx="3840480" cy="256032"/>
          </a:xfrm>
          <a:prstGeom prst="rect">
            <a:avLst/>
          </a:prstGeom>
          <a:noFill/>
          <a:ln/>
        </p:spPr>
        <p:txBody>
          <a:bodyPr wrap="square" lIns="0" tIns="0" rIns="0" bIns="0" rtlCol="0" anchor="ctr"/>
          <a:lstStyle/>
          <a:p>
            <a:pPr marL="0" indent="0">
              <a:buNone/>
            </a:pPr>
            <a:r>
              <a:rPr lang="en-US" sz="1100" b="1" i="1" dirty="0">
                <a:solidFill>
                  <a:srgbClr val="E6115E"/>
                </a:solidFill>
                <a:latin typeface="Calibri" pitchFamily="34" charset="0"/>
                <a:ea typeface="Calibri" pitchFamily="34" charset="-122"/>
                <a:cs typeface="Calibri" pitchFamily="34" charset="-120"/>
              </a:rPr>
              <a:t>«sigma»</a:t>
            </a:r>
            <a:endParaRPr lang="en-US" sz="1100" dirty="0"/>
          </a:p>
        </p:txBody>
      </p:sp>
      <p:sp>
        <p:nvSpPr>
          <p:cNvPr id="15" name="Text 13"/>
          <p:cNvSpPr/>
          <p:nvPr/>
        </p:nvSpPr>
        <p:spPr>
          <a:xfrm>
            <a:off x="7635240" y="2350008"/>
            <a:ext cx="3858768" cy="47548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La desviación estándar. El ancho de la campana. En código: sd.</a:t>
            </a:r>
            <a:endParaRPr lang="en-US" sz="1150" dirty="0"/>
          </a:p>
        </p:txBody>
      </p:sp>
      <p:sp>
        <p:nvSpPr>
          <p:cNvPr id="16" name="Shape 14"/>
          <p:cNvSpPr/>
          <p:nvPr/>
        </p:nvSpPr>
        <p:spPr>
          <a:xfrm>
            <a:off x="548640" y="3044952"/>
            <a:ext cx="5422392" cy="932688"/>
          </a:xfrm>
          <a:prstGeom prst="roundRect">
            <a:avLst>
              <a:gd name="adj" fmla="val 5882"/>
            </a:avLst>
          </a:prstGeom>
          <a:solidFill>
            <a:srgbClr val="FFFFFF"/>
          </a:solidFill>
          <a:ln w="12700">
            <a:solidFill>
              <a:srgbClr val="D2DBEC"/>
            </a:solidFill>
            <a:prstDash val="solid"/>
          </a:ln>
        </p:spPr>
      </p:sp>
      <p:sp>
        <p:nvSpPr>
          <p:cNvPr id="17" name="Shape 15"/>
          <p:cNvSpPr/>
          <p:nvPr/>
        </p:nvSpPr>
        <p:spPr>
          <a:xfrm>
            <a:off x="694944" y="3191256"/>
            <a:ext cx="1152144" cy="640080"/>
          </a:xfrm>
          <a:prstGeom prst="roundRect">
            <a:avLst>
              <a:gd name="adj" fmla="val 8571"/>
            </a:avLst>
          </a:prstGeom>
          <a:solidFill>
            <a:srgbClr val="0A2559"/>
          </a:solidFill>
          <a:ln w="12700">
            <a:solidFill>
              <a:srgbClr val="0A2559"/>
            </a:solidFill>
            <a:prstDash val="solid"/>
          </a:ln>
        </p:spPr>
      </p:sp>
      <p:sp>
        <p:nvSpPr>
          <p:cNvPr id="18" name="Text 16"/>
          <p:cNvSpPr/>
          <p:nvPr/>
        </p:nvSpPr>
        <p:spPr>
          <a:xfrm>
            <a:off x="694944" y="3191256"/>
            <a:ext cx="1152144" cy="64008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σ²</a:t>
            </a:r>
            <a:endParaRPr lang="en-US" sz="1900" dirty="0"/>
          </a:p>
        </p:txBody>
      </p:sp>
      <p:sp>
        <p:nvSpPr>
          <p:cNvPr id="19" name="Text 17"/>
          <p:cNvSpPr/>
          <p:nvPr/>
        </p:nvSpPr>
        <p:spPr>
          <a:xfrm>
            <a:off x="1965960" y="3163824"/>
            <a:ext cx="3840480" cy="256032"/>
          </a:xfrm>
          <a:prstGeom prst="rect">
            <a:avLst/>
          </a:prstGeom>
          <a:noFill/>
          <a:ln/>
        </p:spPr>
        <p:txBody>
          <a:bodyPr wrap="square" lIns="0" tIns="0" rIns="0" bIns="0" rtlCol="0" anchor="ctr"/>
          <a:lstStyle/>
          <a:p>
            <a:pPr marL="0" indent="0">
              <a:buNone/>
            </a:pPr>
            <a:r>
              <a:rPr lang="en-US" sz="1100" b="1" i="1" dirty="0">
                <a:solidFill>
                  <a:srgbClr val="E6115E"/>
                </a:solidFill>
                <a:latin typeface="Calibri" pitchFamily="34" charset="0"/>
                <a:ea typeface="Calibri" pitchFamily="34" charset="-122"/>
                <a:cs typeface="Calibri" pitchFamily="34" charset="-120"/>
              </a:rPr>
              <a:t>«sigma cuadrado»</a:t>
            </a:r>
            <a:endParaRPr lang="en-US" sz="1100" dirty="0"/>
          </a:p>
        </p:txBody>
      </p:sp>
      <p:sp>
        <p:nvSpPr>
          <p:cNvPr id="20" name="Text 18"/>
          <p:cNvSpPr/>
          <p:nvPr/>
        </p:nvSpPr>
        <p:spPr>
          <a:xfrm>
            <a:off x="1965960" y="3419856"/>
            <a:ext cx="3858768" cy="47548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La varianza. Es σ elevado al cuadrado, nada más.</a:t>
            </a:r>
            <a:endParaRPr lang="en-US" sz="1150" dirty="0"/>
          </a:p>
        </p:txBody>
      </p:sp>
      <p:sp>
        <p:nvSpPr>
          <p:cNvPr id="21" name="Shape 19"/>
          <p:cNvSpPr/>
          <p:nvPr/>
        </p:nvSpPr>
        <p:spPr>
          <a:xfrm>
            <a:off x="6217920" y="3044952"/>
            <a:ext cx="5422392" cy="932688"/>
          </a:xfrm>
          <a:prstGeom prst="roundRect">
            <a:avLst>
              <a:gd name="adj" fmla="val 5882"/>
            </a:avLst>
          </a:prstGeom>
          <a:solidFill>
            <a:srgbClr val="FFFFFF"/>
          </a:solidFill>
          <a:ln w="12700">
            <a:solidFill>
              <a:srgbClr val="D2DBEC"/>
            </a:solidFill>
            <a:prstDash val="solid"/>
          </a:ln>
        </p:spPr>
      </p:sp>
      <p:sp>
        <p:nvSpPr>
          <p:cNvPr id="22" name="Shape 20"/>
          <p:cNvSpPr/>
          <p:nvPr/>
        </p:nvSpPr>
        <p:spPr>
          <a:xfrm>
            <a:off x="6364224" y="3191256"/>
            <a:ext cx="1152144" cy="640080"/>
          </a:xfrm>
          <a:prstGeom prst="roundRect">
            <a:avLst>
              <a:gd name="adj" fmla="val 8571"/>
            </a:avLst>
          </a:prstGeom>
          <a:solidFill>
            <a:srgbClr val="0A2559"/>
          </a:solidFill>
          <a:ln w="12700">
            <a:solidFill>
              <a:srgbClr val="0A2559"/>
            </a:solidFill>
            <a:prstDash val="solid"/>
          </a:ln>
        </p:spPr>
      </p:sp>
      <p:sp>
        <p:nvSpPr>
          <p:cNvPr id="23" name="Text 21"/>
          <p:cNvSpPr/>
          <p:nvPr/>
        </p:nvSpPr>
        <p:spPr>
          <a:xfrm>
            <a:off x="6364224" y="3191256"/>
            <a:ext cx="1152144" cy="64008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N(μ, σ²)</a:t>
            </a:r>
            <a:endParaRPr lang="en-US" sz="1900" dirty="0"/>
          </a:p>
        </p:txBody>
      </p:sp>
      <p:sp>
        <p:nvSpPr>
          <p:cNvPr id="24" name="Text 22"/>
          <p:cNvSpPr/>
          <p:nvPr/>
        </p:nvSpPr>
        <p:spPr>
          <a:xfrm>
            <a:off x="7635240" y="3163824"/>
            <a:ext cx="3840480" cy="256032"/>
          </a:xfrm>
          <a:prstGeom prst="rect">
            <a:avLst/>
          </a:prstGeom>
          <a:noFill/>
          <a:ln/>
        </p:spPr>
        <p:txBody>
          <a:bodyPr wrap="square" lIns="0" tIns="0" rIns="0" bIns="0" rtlCol="0" anchor="ctr"/>
          <a:lstStyle/>
          <a:p>
            <a:pPr marL="0" indent="0">
              <a:buNone/>
            </a:pPr>
            <a:r>
              <a:rPr lang="en-US" sz="1100" b="1" i="1" dirty="0">
                <a:solidFill>
                  <a:srgbClr val="E6115E"/>
                </a:solidFill>
                <a:latin typeface="Calibri" pitchFamily="34" charset="0"/>
                <a:ea typeface="Calibri" pitchFamily="34" charset="-122"/>
                <a:cs typeface="Calibri" pitchFamily="34" charset="-120"/>
              </a:rPr>
              <a:t>«normal de μ y σ²»</a:t>
            </a:r>
            <a:endParaRPr lang="en-US" sz="1100" dirty="0"/>
          </a:p>
        </p:txBody>
      </p:sp>
      <p:sp>
        <p:nvSpPr>
          <p:cNvPr id="25" name="Text 23"/>
          <p:cNvSpPr/>
          <p:nvPr/>
        </p:nvSpPr>
        <p:spPr>
          <a:xfrm>
            <a:off x="7635240" y="3419856"/>
            <a:ext cx="3858768" cy="47548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«Se distribuye normal con centro μ y varianza σ²».</a:t>
            </a:r>
            <a:endParaRPr lang="en-US" sz="1150" dirty="0"/>
          </a:p>
        </p:txBody>
      </p:sp>
      <p:sp>
        <p:nvSpPr>
          <p:cNvPr id="26" name="Shape 24"/>
          <p:cNvSpPr/>
          <p:nvPr/>
        </p:nvSpPr>
        <p:spPr>
          <a:xfrm>
            <a:off x="548640" y="4114800"/>
            <a:ext cx="5422392" cy="932688"/>
          </a:xfrm>
          <a:prstGeom prst="roundRect">
            <a:avLst>
              <a:gd name="adj" fmla="val 5882"/>
            </a:avLst>
          </a:prstGeom>
          <a:solidFill>
            <a:srgbClr val="FFFFFF"/>
          </a:solidFill>
          <a:ln w="12700">
            <a:solidFill>
              <a:srgbClr val="D2DBEC"/>
            </a:solidFill>
            <a:prstDash val="solid"/>
          </a:ln>
        </p:spPr>
      </p:sp>
      <p:sp>
        <p:nvSpPr>
          <p:cNvPr id="27" name="Shape 25"/>
          <p:cNvSpPr/>
          <p:nvPr/>
        </p:nvSpPr>
        <p:spPr>
          <a:xfrm>
            <a:off x="694944" y="4261104"/>
            <a:ext cx="1152144" cy="640080"/>
          </a:xfrm>
          <a:prstGeom prst="roundRect">
            <a:avLst>
              <a:gd name="adj" fmla="val 8571"/>
            </a:avLst>
          </a:prstGeom>
          <a:solidFill>
            <a:srgbClr val="0A2559"/>
          </a:solidFill>
          <a:ln w="12700">
            <a:solidFill>
              <a:srgbClr val="0A2559"/>
            </a:solidFill>
            <a:prstDash val="solid"/>
          </a:ln>
        </p:spPr>
      </p:sp>
      <p:sp>
        <p:nvSpPr>
          <p:cNvPr id="28" name="Text 26"/>
          <p:cNvSpPr/>
          <p:nvPr/>
        </p:nvSpPr>
        <p:spPr>
          <a:xfrm>
            <a:off x="694944" y="4261104"/>
            <a:ext cx="1152144" cy="64008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Z</a:t>
            </a:r>
            <a:endParaRPr lang="en-US" sz="1900" dirty="0"/>
          </a:p>
        </p:txBody>
      </p:sp>
      <p:sp>
        <p:nvSpPr>
          <p:cNvPr id="29" name="Text 27"/>
          <p:cNvSpPr/>
          <p:nvPr/>
        </p:nvSpPr>
        <p:spPr>
          <a:xfrm>
            <a:off x="1965960" y="4233672"/>
            <a:ext cx="3840480" cy="256032"/>
          </a:xfrm>
          <a:prstGeom prst="rect">
            <a:avLst/>
          </a:prstGeom>
          <a:noFill/>
          <a:ln/>
        </p:spPr>
        <p:txBody>
          <a:bodyPr wrap="square" lIns="0" tIns="0" rIns="0" bIns="0" rtlCol="0" anchor="ctr"/>
          <a:lstStyle/>
          <a:p>
            <a:pPr marL="0" indent="0">
              <a:buNone/>
            </a:pPr>
            <a:r>
              <a:rPr lang="en-US" sz="1100" b="1" i="1" dirty="0">
                <a:solidFill>
                  <a:srgbClr val="E6115E"/>
                </a:solidFill>
                <a:latin typeface="Calibri" pitchFamily="34" charset="0"/>
                <a:ea typeface="Calibri" pitchFamily="34" charset="-122"/>
                <a:cs typeface="Calibri" pitchFamily="34" charset="-120"/>
              </a:rPr>
              <a:t>«zeta»</a:t>
            </a:r>
            <a:endParaRPr lang="en-US" sz="1100" dirty="0"/>
          </a:p>
        </p:txBody>
      </p:sp>
      <p:sp>
        <p:nvSpPr>
          <p:cNvPr id="30" name="Text 28"/>
          <p:cNvSpPr/>
          <p:nvPr/>
        </p:nvSpPr>
        <p:spPr>
          <a:xfrm>
            <a:off x="1965960" y="4489704"/>
            <a:ext cx="3858768" cy="47548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La variable ya estandarizada: N(0, 1). Centro 0, ancho 1.</a:t>
            </a:r>
            <a:endParaRPr lang="en-US" sz="1150" dirty="0"/>
          </a:p>
        </p:txBody>
      </p:sp>
      <p:sp>
        <p:nvSpPr>
          <p:cNvPr id="31" name="Shape 29"/>
          <p:cNvSpPr/>
          <p:nvPr/>
        </p:nvSpPr>
        <p:spPr>
          <a:xfrm>
            <a:off x="6217920" y="4114800"/>
            <a:ext cx="5422392" cy="932688"/>
          </a:xfrm>
          <a:prstGeom prst="roundRect">
            <a:avLst>
              <a:gd name="adj" fmla="val 5882"/>
            </a:avLst>
          </a:prstGeom>
          <a:solidFill>
            <a:srgbClr val="FFFFFF"/>
          </a:solidFill>
          <a:ln w="12700">
            <a:solidFill>
              <a:srgbClr val="D2DBEC"/>
            </a:solidFill>
            <a:prstDash val="solid"/>
          </a:ln>
        </p:spPr>
      </p:sp>
      <p:sp>
        <p:nvSpPr>
          <p:cNvPr id="32" name="Shape 30"/>
          <p:cNvSpPr/>
          <p:nvPr/>
        </p:nvSpPr>
        <p:spPr>
          <a:xfrm>
            <a:off x="6364224" y="4261104"/>
            <a:ext cx="1152144" cy="640080"/>
          </a:xfrm>
          <a:prstGeom prst="roundRect">
            <a:avLst>
              <a:gd name="adj" fmla="val 8571"/>
            </a:avLst>
          </a:prstGeom>
          <a:solidFill>
            <a:srgbClr val="0A2559"/>
          </a:solidFill>
          <a:ln w="12700">
            <a:solidFill>
              <a:srgbClr val="0A2559"/>
            </a:solidFill>
            <a:prstDash val="solid"/>
          </a:ln>
        </p:spPr>
      </p:sp>
      <p:sp>
        <p:nvSpPr>
          <p:cNvPr id="33" name="Text 31"/>
          <p:cNvSpPr/>
          <p:nvPr/>
        </p:nvSpPr>
        <p:spPr>
          <a:xfrm>
            <a:off x="6364224" y="4261104"/>
            <a:ext cx="1152144" cy="64008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Φ(z)</a:t>
            </a:r>
            <a:endParaRPr lang="en-US" sz="1900" dirty="0"/>
          </a:p>
        </p:txBody>
      </p:sp>
      <p:sp>
        <p:nvSpPr>
          <p:cNvPr id="34" name="Text 32"/>
          <p:cNvSpPr/>
          <p:nvPr/>
        </p:nvSpPr>
        <p:spPr>
          <a:xfrm>
            <a:off x="7635240" y="4233672"/>
            <a:ext cx="3840480" cy="256032"/>
          </a:xfrm>
          <a:prstGeom prst="rect">
            <a:avLst/>
          </a:prstGeom>
          <a:noFill/>
          <a:ln/>
        </p:spPr>
        <p:txBody>
          <a:bodyPr wrap="square" lIns="0" tIns="0" rIns="0" bIns="0" rtlCol="0" anchor="ctr"/>
          <a:lstStyle/>
          <a:p>
            <a:pPr marL="0" indent="0">
              <a:buNone/>
            </a:pPr>
            <a:r>
              <a:rPr lang="en-US" sz="1100" b="1" i="1" dirty="0">
                <a:solidFill>
                  <a:srgbClr val="E6115E"/>
                </a:solidFill>
                <a:latin typeface="Calibri" pitchFamily="34" charset="0"/>
                <a:ea typeface="Calibri" pitchFamily="34" charset="-122"/>
                <a:cs typeface="Calibri" pitchFamily="34" charset="-120"/>
              </a:rPr>
              <a:t>«fi de z»</a:t>
            </a:r>
            <a:endParaRPr lang="en-US" sz="1100" dirty="0"/>
          </a:p>
        </p:txBody>
      </p:sp>
      <p:sp>
        <p:nvSpPr>
          <p:cNvPr id="35" name="Text 33"/>
          <p:cNvSpPr/>
          <p:nvPr/>
        </p:nvSpPr>
        <p:spPr>
          <a:xfrm>
            <a:off x="7635240" y="4489704"/>
            <a:ext cx="3858768" cy="47548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Probabilidad acumulada hasta z. En código: norm.cdf(z).</a:t>
            </a:r>
            <a:endParaRPr lang="en-US" sz="1150" dirty="0"/>
          </a:p>
        </p:txBody>
      </p:sp>
      <p:sp>
        <p:nvSpPr>
          <p:cNvPr id="36" name="Shape 34"/>
          <p:cNvSpPr/>
          <p:nvPr/>
        </p:nvSpPr>
        <p:spPr>
          <a:xfrm>
            <a:off x="548640" y="5184648"/>
            <a:ext cx="5422392" cy="932688"/>
          </a:xfrm>
          <a:prstGeom prst="roundRect">
            <a:avLst>
              <a:gd name="adj" fmla="val 5882"/>
            </a:avLst>
          </a:prstGeom>
          <a:solidFill>
            <a:srgbClr val="FFFFFF"/>
          </a:solidFill>
          <a:ln w="12700">
            <a:solidFill>
              <a:srgbClr val="D2DBEC"/>
            </a:solidFill>
            <a:prstDash val="solid"/>
          </a:ln>
        </p:spPr>
      </p:sp>
      <p:sp>
        <p:nvSpPr>
          <p:cNvPr id="37" name="Shape 35"/>
          <p:cNvSpPr/>
          <p:nvPr/>
        </p:nvSpPr>
        <p:spPr>
          <a:xfrm>
            <a:off x="694944" y="5330952"/>
            <a:ext cx="1152144" cy="640080"/>
          </a:xfrm>
          <a:prstGeom prst="roundRect">
            <a:avLst>
              <a:gd name="adj" fmla="val 8571"/>
            </a:avLst>
          </a:prstGeom>
          <a:solidFill>
            <a:srgbClr val="0A2559"/>
          </a:solidFill>
          <a:ln w="12700">
            <a:solidFill>
              <a:srgbClr val="0A2559"/>
            </a:solidFill>
            <a:prstDash val="solid"/>
          </a:ln>
        </p:spPr>
      </p:sp>
      <p:sp>
        <p:nvSpPr>
          <p:cNvPr id="38" name="Text 36"/>
          <p:cNvSpPr/>
          <p:nvPr/>
        </p:nvSpPr>
        <p:spPr>
          <a:xfrm>
            <a:off x="694944" y="5330952"/>
            <a:ext cx="1152144" cy="64008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z(α)</a:t>
            </a:r>
            <a:endParaRPr lang="en-US" sz="1900" dirty="0"/>
          </a:p>
        </p:txBody>
      </p:sp>
      <p:sp>
        <p:nvSpPr>
          <p:cNvPr id="39" name="Text 37"/>
          <p:cNvSpPr/>
          <p:nvPr/>
        </p:nvSpPr>
        <p:spPr>
          <a:xfrm>
            <a:off x="1965960" y="5303520"/>
            <a:ext cx="3840480" cy="256032"/>
          </a:xfrm>
          <a:prstGeom prst="rect">
            <a:avLst/>
          </a:prstGeom>
          <a:noFill/>
          <a:ln/>
        </p:spPr>
        <p:txBody>
          <a:bodyPr wrap="square" lIns="0" tIns="0" rIns="0" bIns="0" rtlCol="0" anchor="ctr"/>
          <a:lstStyle/>
          <a:p>
            <a:pPr marL="0" indent="0">
              <a:buNone/>
            </a:pPr>
            <a:r>
              <a:rPr lang="en-US" sz="1100" b="1" i="1" dirty="0">
                <a:solidFill>
                  <a:srgbClr val="E6115E"/>
                </a:solidFill>
                <a:latin typeface="Calibri" pitchFamily="34" charset="0"/>
                <a:ea typeface="Calibri" pitchFamily="34" charset="-122"/>
                <a:cs typeface="Calibri" pitchFamily="34" charset="-120"/>
              </a:rPr>
              <a:t>«zeta sub alfa»</a:t>
            </a:r>
            <a:endParaRPr lang="en-US" sz="1100" dirty="0"/>
          </a:p>
        </p:txBody>
      </p:sp>
      <p:sp>
        <p:nvSpPr>
          <p:cNvPr id="40" name="Text 38"/>
          <p:cNvSpPr/>
          <p:nvPr/>
        </p:nvSpPr>
        <p:spPr>
          <a:xfrm>
            <a:off x="1965960" y="5559552"/>
            <a:ext cx="3858768" cy="47548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El valor de z que deja α de probabilidad en la cola.</a:t>
            </a:r>
            <a:endParaRPr lang="en-US" sz="1150" dirty="0"/>
          </a:p>
        </p:txBody>
      </p:sp>
      <p:sp>
        <p:nvSpPr>
          <p:cNvPr id="41" name="Shape 39"/>
          <p:cNvSpPr/>
          <p:nvPr/>
        </p:nvSpPr>
        <p:spPr>
          <a:xfrm>
            <a:off x="6217920" y="5184648"/>
            <a:ext cx="5422392" cy="932688"/>
          </a:xfrm>
          <a:prstGeom prst="roundRect">
            <a:avLst>
              <a:gd name="adj" fmla="val 5882"/>
            </a:avLst>
          </a:prstGeom>
          <a:solidFill>
            <a:srgbClr val="FFFFFF"/>
          </a:solidFill>
          <a:ln w="12700">
            <a:solidFill>
              <a:srgbClr val="D2DBEC"/>
            </a:solidFill>
            <a:prstDash val="solid"/>
          </a:ln>
        </p:spPr>
      </p:sp>
      <p:sp>
        <p:nvSpPr>
          <p:cNvPr id="42" name="Shape 40"/>
          <p:cNvSpPr/>
          <p:nvPr/>
        </p:nvSpPr>
        <p:spPr>
          <a:xfrm>
            <a:off x="6364224" y="5330952"/>
            <a:ext cx="1152144" cy="640080"/>
          </a:xfrm>
          <a:prstGeom prst="roundRect">
            <a:avLst>
              <a:gd name="adj" fmla="val 8571"/>
            </a:avLst>
          </a:prstGeom>
          <a:solidFill>
            <a:srgbClr val="0A2559"/>
          </a:solidFill>
          <a:ln w="12700">
            <a:solidFill>
              <a:srgbClr val="0A2559"/>
            </a:solidFill>
            <a:prstDash val="solid"/>
          </a:ln>
        </p:spPr>
      </p:sp>
      <p:sp>
        <p:nvSpPr>
          <p:cNvPr id="43" name="Text 41"/>
          <p:cNvSpPr/>
          <p:nvPr/>
        </p:nvSpPr>
        <p:spPr>
          <a:xfrm>
            <a:off x="6364224" y="5330952"/>
            <a:ext cx="1152144" cy="640080"/>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ν</a:t>
            </a:r>
            <a:endParaRPr lang="en-US" sz="1900" dirty="0"/>
          </a:p>
        </p:txBody>
      </p:sp>
      <p:sp>
        <p:nvSpPr>
          <p:cNvPr id="44" name="Text 42"/>
          <p:cNvSpPr/>
          <p:nvPr/>
        </p:nvSpPr>
        <p:spPr>
          <a:xfrm>
            <a:off x="7635240" y="5303520"/>
            <a:ext cx="3840480" cy="256032"/>
          </a:xfrm>
          <a:prstGeom prst="rect">
            <a:avLst/>
          </a:prstGeom>
          <a:noFill/>
          <a:ln/>
        </p:spPr>
        <p:txBody>
          <a:bodyPr wrap="square" lIns="0" tIns="0" rIns="0" bIns="0" rtlCol="0" anchor="ctr"/>
          <a:lstStyle/>
          <a:p>
            <a:pPr marL="0" indent="0">
              <a:buNone/>
            </a:pPr>
            <a:r>
              <a:rPr lang="en-US" sz="1100" b="1" i="1" dirty="0">
                <a:solidFill>
                  <a:srgbClr val="E6115E"/>
                </a:solidFill>
                <a:latin typeface="Calibri" pitchFamily="34" charset="0"/>
                <a:ea typeface="Calibri" pitchFamily="34" charset="-122"/>
                <a:cs typeface="Calibri" pitchFamily="34" charset="-120"/>
              </a:rPr>
              <a:t>«nu»</a:t>
            </a:r>
            <a:endParaRPr lang="en-US" sz="1100" dirty="0"/>
          </a:p>
        </p:txBody>
      </p:sp>
      <p:sp>
        <p:nvSpPr>
          <p:cNvPr id="45" name="Text 43"/>
          <p:cNvSpPr/>
          <p:nvPr/>
        </p:nvSpPr>
        <p:spPr>
          <a:xfrm>
            <a:off x="7635240" y="5559552"/>
            <a:ext cx="3858768" cy="47548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Grados de libertad. Aparece en χ², t y F. En código: df.</a:t>
            </a:r>
            <a:endParaRPr lang="en-US" sz="1150" dirty="0"/>
          </a:p>
        </p:txBody>
      </p:sp>
      <p:sp>
        <p:nvSpPr>
          <p:cNvPr id="46" name="Text 44"/>
          <p:cNvSpPr/>
          <p:nvPr/>
        </p:nvSpPr>
        <p:spPr>
          <a:xfrm>
            <a:off x="548640" y="6382512"/>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Truco de lectura: μ y σ describen a la población; x̄ y s describen a tu muestra. Confundirlos es el error más caro del curso.</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LA FÓRMULA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Cómo se lee la densidad normal sin memorizarla</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Tres piezas. Solo una hace el trabajo; las otras dos son ajustes de escala.</a:t>
            </a:r>
            <a:endParaRPr lang="en-US" sz="1400" dirty="0"/>
          </a:p>
        </p:txBody>
      </p:sp>
      <p:sp>
        <p:nvSpPr>
          <p:cNvPr id="6" name="Shape 4"/>
          <p:cNvSpPr/>
          <p:nvPr/>
        </p:nvSpPr>
        <p:spPr>
          <a:xfrm>
            <a:off x="548640" y="1965960"/>
            <a:ext cx="11091672" cy="868680"/>
          </a:xfrm>
          <a:prstGeom prst="roundRect">
            <a:avLst>
              <a:gd name="adj" fmla="val 6316"/>
            </a:avLst>
          </a:prstGeom>
          <a:solidFill>
            <a:srgbClr val="0A2559"/>
          </a:solidFill>
          <a:ln w="12700">
            <a:solidFill>
              <a:srgbClr val="0A2559"/>
            </a:solidFill>
            <a:prstDash val="solid"/>
          </a:ln>
        </p:spPr>
      </p:sp>
      <p:sp>
        <p:nvSpPr>
          <p:cNvPr id="7" name="Text 5"/>
          <p:cNvSpPr/>
          <p:nvPr/>
        </p:nvSpPr>
        <p:spPr>
          <a:xfrm>
            <a:off x="548640" y="1965960"/>
            <a:ext cx="11091672" cy="86868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f(x)  =   1 / (σ · √(2π))   ×   e^( − ½ · [ (x − μ) / σ ]² )</a:t>
            </a:r>
            <a:endParaRPr lang="en-US" sz="2400" dirty="0"/>
          </a:p>
        </p:txBody>
      </p:sp>
      <p:sp>
        <p:nvSpPr>
          <p:cNvPr id="8" name="Shape 6"/>
          <p:cNvSpPr/>
          <p:nvPr/>
        </p:nvSpPr>
        <p:spPr>
          <a:xfrm>
            <a:off x="548640" y="3063240"/>
            <a:ext cx="3520440" cy="1920240"/>
          </a:xfrm>
          <a:prstGeom prst="roundRect">
            <a:avLst>
              <a:gd name="adj" fmla="val 2857"/>
            </a:avLst>
          </a:prstGeom>
          <a:solidFill>
            <a:srgbClr val="FFFFFF"/>
          </a:solidFill>
          <a:ln w="12700">
            <a:solidFill>
              <a:srgbClr val="D2DBEC"/>
            </a:solidFill>
            <a:prstDash val="solid"/>
          </a:ln>
        </p:spPr>
      </p:sp>
      <p:sp>
        <p:nvSpPr>
          <p:cNvPr id="9" name="Shape 7"/>
          <p:cNvSpPr/>
          <p:nvPr/>
        </p:nvSpPr>
        <p:spPr>
          <a:xfrm>
            <a:off x="749808" y="3246120"/>
            <a:ext cx="365760" cy="365760"/>
          </a:xfrm>
          <a:prstGeom prst="roundRect">
            <a:avLst>
              <a:gd name="adj" fmla="val 50000"/>
            </a:avLst>
          </a:prstGeom>
          <a:solidFill>
            <a:srgbClr val="E6115E"/>
          </a:solidFill>
          <a:ln w="12700">
            <a:solidFill>
              <a:srgbClr val="E6115E"/>
            </a:solidFill>
            <a:prstDash val="solid"/>
          </a:ln>
        </p:spPr>
      </p:sp>
      <p:sp>
        <p:nvSpPr>
          <p:cNvPr id="10" name="Text 8"/>
          <p:cNvSpPr/>
          <p:nvPr/>
        </p:nvSpPr>
        <p:spPr>
          <a:xfrm>
            <a:off x="749808" y="3246120"/>
            <a:ext cx="36576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1207008" y="3246120"/>
            <a:ext cx="2651760" cy="36576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La distancia estandarizada</a:t>
            </a:r>
            <a:endParaRPr lang="en-US" sz="1350" dirty="0"/>
          </a:p>
        </p:txBody>
      </p:sp>
      <p:sp>
        <p:nvSpPr>
          <p:cNvPr id="12" name="Text 10"/>
          <p:cNvSpPr/>
          <p:nvPr/>
        </p:nvSpPr>
        <p:spPr>
          <a:xfrm>
            <a:off x="749808" y="3675888"/>
            <a:ext cx="3108960" cy="292608"/>
          </a:xfrm>
          <a:prstGeom prst="rect">
            <a:avLst/>
          </a:prstGeom>
          <a:noFill/>
          <a:ln/>
        </p:spPr>
        <p:txBody>
          <a:bodyPr wrap="square" lIns="0" tIns="0" rIns="0" bIns="0" rtlCol="0" anchor="ctr"/>
          <a:lstStyle/>
          <a:p>
            <a:pPr marL="0" indent="0">
              <a:buNone/>
            </a:pPr>
            <a:r>
              <a:rPr lang="en-US" sz="1300" b="1" dirty="0">
                <a:solidFill>
                  <a:srgbClr val="1A56E8"/>
                </a:solidFill>
                <a:latin typeface="Courier New" pitchFamily="34" charset="0"/>
                <a:ea typeface="Courier New" pitchFamily="34" charset="-122"/>
                <a:cs typeface="Courier New" pitchFamily="34" charset="-120"/>
              </a:rPr>
              <a:t>(x − μ) / σ</a:t>
            </a:r>
            <a:endParaRPr lang="en-US" sz="1300" dirty="0"/>
          </a:p>
        </p:txBody>
      </p:sp>
      <p:sp>
        <p:nvSpPr>
          <p:cNvPr id="13" name="Text 11"/>
          <p:cNvSpPr/>
          <p:nvPr/>
        </p:nvSpPr>
        <p:spPr>
          <a:xfrm>
            <a:off x="749808" y="4041648"/>
            <a:ext cx="3108960" cy="822960"/>
          </a:xfrm>
          <a:prstGeom prst="rect">
            <a:avLst/>
          </a:prstGeom>
          <a:noFill/>
          <a:ln/>
        </p:spPr>
        <p:txBody>
          <a:bodyPr wrap="square" lIns="0" tIns="0" rIns="0" bIns="0" rtlCol="0" anchor="t"/>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«¿a cuántas desviaciones estándar está x del centro?». Es la única parte que depende de tu dato. Todo lo demás es decoración matemática.</a:t>
            </a:r>
            <a:endParaRPr lang="en-US" sz="1150" dirty="0"/>
          </a:p>
        </p:txBody>
      </p:sp>
      <p:sp>
        <p:nvSpPr>
          <p:cNvPr id="14" name="Shape 12"/>
          <p:cNvSpPr/>
          <p:nvPr/>
        </p:nvSpPr>
        <p:spPr>
          <a:xfrm>
            <a:off x="4297680" y="3063240"/>
            <a:ext cx="3520440" cy="1920240"/>
          </a:xfrm>
          <a:prstGeom prst="roundRect">
            <a:avLst>
              <a:gd name="adj" fmla="val 2857"/>
            </a:avLst>
          </a:prstGeom>
          <a:solidFill>
            <a:srgbClr val="FFFFFF"/>
          </a:solidFill>
          <a:ln w="12700">
            <a:solidFill>
              <a:srgbClr val="D2DBEC"/>
            </a:solidFill>
            <a:prstDash val="solid"/>
          </a:ln>
        </p:spPr>
      </p:sp>
      <p:sp>
        <p:nvSpPr>
          <p:cNvPr id="15" name="Shape 13"/>
          <p:cNvSpPr/>
          <p:nvPr/>
        </p:nvSpPr>
        <p:spPr>
          <a:xfrm>
            <a:off x="4498848" y="3246120"/>
            <a:ext cx="365760" cy="365760"/>
          </a:xfrm>
          <a:prstGeom prst="roundRect">
            <a:avLst>
              <a:gd name="adj" fmla="val 50000"/>
            </a:avLst>
          </a:prstGeom>
          <a:solidFill>
            <a:srgbClr val="1A56E8"/>
          </a:solidFill>
          <a:ln w="12700">
            <a:solidFill>
              <a:srgbClr val="1A56E8"/>
            </a:solidFill>
            <a:prstDash val="solid"/>
          </a:ln>
        </p:spPr>
      </p:sp>
      <p:sp>
        <p:nvSpPr>
          <p:cNvPr id="16" name="Text 14"/>
          <p:cNvSpPr/>
          <p:nvPr/>
        </p:nvSpPr>
        <p:spPr>
          <a:xfrm>
            <a:off x="4498848" y="3246120"/>
            <a:ext cx="36576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4956048" y="3246120"/>
            <a:ext cx="2651760" cy="36576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El corazón: e^(−½ z²)</a:t>
            </a:r>
            <a:endParaRPr lang="en-US" sz="1350" dirty="0"/>
          </a:p>
        </p:txBody>
      </p:sp>
      <p:sp>
        <p:nvSpPr>
          <p:cNvPr id="18" name="Text 16"/>
          <p:cNvSpPr/>
          <p:nvPr/>
        </p:nvSpPr>
        <p:spPr>
          <a:xfrm>
            <a:off x="4498848" y="3675888"/>
            <a:ext cx="3108960" cy="292608"/>
          </a:xfrm>
          <a:prstGeom prst="rect">
            <a:avLst/>
          </a:prstGeom>
          <a:noFill/>
          <a:ln/>
        </p:spPr>
        <p:txBody>
          <a:bodyPr wrap="square" lIns="0" tIns="0" rIns="0" bIns="0" rtlCol="0" anchor="ctr"/>
          <a:lstStyle/>
          <a:p>
            <a:pPr marL="0" indent="0">
              <a:buNone/>
            </a:pPr>
            <a:r>
              <a:rPr lang="en-US" sz="1300" b="1" dirty="0">
                <a:solidFill>
                  <a:srgbClr val="1A56E8"/>
                </a:solidFill>
                <a:latin typeface="Courier New" pitchFamily="34" charset="0"/>
                <a:ea typeface="Courier New" pitchFamily="34" charset="-122"/>
                <a:cs typeface="Courier New" pitchFamily="34" charset="-120"/>
              </a:rPr>
              <a:t>e^(−½ z²)</a:t>
            </a:r>
            <a:endParaRPr lang="en-US" sz="1300" dirty="0"/>
          </a:p>
        </p:txBody>
      </p:sp>
      <p:sp>
        <p:nvSpPr>
          <p:cNvPr id="19" name="Text 17"/>
          <p:cNvSpPr/>
          <p:nvPr/>
        </p:nvSpPr>
        <p:spPr>
          <a:xfrm>
            <a:off x="4498848" y="4041648"/>
            <a:ext cx="3108960" cy="822960"/>
          </a:xfrm>
          <a:prstGeom prst="rect">
            <a:avLst/>
          </a:prstGeom>
          <a:noFill/>
          <a:ln/>
        </p:spPr>
        <p:txBody>
          <a:bodyPr wrap="square" lIns="0" tIns="0" rIns="0" bIns="0" rtlCol="0" anchor="t"/>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Al elevar al cuadrado, alejarse cuesta cada vez más caro. A 1σ vale 0.61; a 2σ, 0.14; a 3σ, 0.011. Eso produce la campana.</a:t>
            </a:r>
            <a:endParaRPr lang="en-US" sz="1150" dirty="0"/>
          </a:p>
        </p:txBody>
      </p:sp>
      <p:sp>
        <p:nvSpPr>
          <p:cNvPr id="20" name="Shape 18"/>
          <p:cNvSpPr/>
          <p:nvPr/>
        </p:nvSpPr>
        <p:spPr>
          <a:xfrm>
            <a:off x="8046720" y="3063240"/>
            <a:ext cx="3520440" cy="1920240"/>
          </a:xfrm>
          <a:prstGeom prst="roundRect">
            <a:avLst>
              <a:gd name="adj" fmla="val 2857"/>
            </a:avLst>
          </a:prstGeom>
          <a:solidFill>
            <a:srgbClr val="FFFFFF"/>
          </a:solidFill>
          <a:ln w="12700">
            <a:solidFill>
              <a:srgbClr val="D2DBEC"/>
            </a:solidFill>
            <a:prstDash val="solid"/>
          </a:ln>
        </p:spPr>
      </p:sp>
      <p:sp>
        <p:nvSpPr>
          <p:cNvPr id="21" name="Shape 19"/>
          <p:cNvSpPr/>
          <p:nvPr/>
        </p:nvSpPr>
        <p:spPr>
          <a:xfrm>
            <a:off x="8247888" y="3246120"/>
            <a:ext cx="365760" cy="365760"/>
          </a:xfrm>
          <a:prstGeom prst="roundRect">
            <a:avLst>
              <a:gd name="adj" fmla="val 50000"/>
            </a:avLst>
          </a:prstGeom>
          <a:solidFill>
            <a:srgbClr val="1A56E8"/>
          </a:solidFill>
          <a:ln w="12700">
            <a:solidFill>
              <a:srgbClr val="1A56E8"/>
            </a:solidFill>
            <a:prstDash val="solid"/>
          </a:ln>
        </p:spPr>
      </p:sp>
      <p:sp>
        <p:nvSpPr>
          <p:cNvPr id="22" name="Text 20"/>
          <p:cNvSpPr/>
          <p:nvPr/>
        </p:nvSpPr>
        <p:spPr>
          <a:xfrm>
            <a:off x="8247888" y="3246120"/>
            <a:ext cx="36576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8705088" y="3246120"/>
            <a:ext cx="2651760" cy="365760"/>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La constante de escala</a:t>
            </a:r>
            <a:endParaRPr lang="en-US" sz="1350" dirty="0"/>
          </a:p>
        </p:txBody>
      </p:sp>
      <p:sp>
        <p:nvSpPr>
          <p:cNvPr id="24" name="Text 22"/>
          <p:cNvSpPr/>
          <p:nvPr/>
        </p:nvSpPr>
        <p:spPr>
          <a:xfrm>
            <a:off x="8247888" y="3675888"/>
            <a:ext cx="3108960" cy="292608"/>
          </a:xfrm>
          <a:prstGeom prst="rect">
            <a:avLst/>
          </a:prstGeom>
          <a:noFill/>
          <a:ln/>
        </p:spPr>
        <p:txBody>
          <a:bodyPr wrap="square" lIns="0" tIns="0" rIns="0" bIns="0" rtlCol="0" anchor="ctr"/>
          <a:lstStyle/>
          <a:p>
            <a:pPr marL="0" indent="0">
              <a:buNone/>
            </a:pPr>
            <a:r>
              <a:rPr lang="en-US" sz="1300" b="1" dirty="0">
                <a:solidFill>
                  <a:srgbClr val="1A56E8"/>
                </a:solidFill>
                <a:latin typeface="Courier New" pitchFamily="34" charset="0"/>
                <a:ea typeface="Courier New" pitchFamily="34" charset="-122"/>
                <a:cs typeface="Courier New" pitchFamily="34" charset="-120"/>
              </a:rPr>
              <a:t>1 / (σ√2π)</a:t>
            </a:r>
            <a:endParaRPr lang="en-US" sz="1300" dirty="0"/>
          </a:p>
        </p:txBody>
      </p:sp>
      <p:sp>
        <p:nvSpPr>
          <p:cNvPr id="25" name="Text 23"/>
          <p:cNvSpPr/>
          <p:nvPr/>
        </p:nvSpPr>
        <p:spPr>
          <a:xfrm>
            <a:off x="8247888" y="4041648"/>
            <a:ext cx="3108960" cy="822960"/>
          </a:xfrm>
          <a:prstGeom prst="rect">
            <a:avLst/>
          </a:prstGeom>
          <a:noFill/>
          <a:ln/>
        </p:spPr>
        <p:txBody>
          <a:bodyPr wrap="square" lIns="0" tIns="0" rIns="0" bIns="0" rtlCol="0" anchor="t"/>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No aporta forma: solo estira o achata para que el área total sea exactamente 1. Es la condición de la Clase 2.</a:t>
            </a:r>
            <a:endParaRPr lang="en-US" sz="1150" dirty="0"/>
          </a:p>
        </p:txBody>
      </p:sp>
      <p:sp>
        <p:nvSpPr>
          <p:cNvPr id="26" name="Shape 24"/>
          <p:cNvSpPr/>
          <p:nvPr/>
        </p:nvSpPr>
        <p:spPr>
          <a:xfrm>
            <a:off x="548640" y="5166360"/>
            <a:ext cx="11091672" cy="1051560"/>
          </a:xfrm>
          <a:prstGeom prst="roundRect">
            <a:avLst>
              <a:gd name="adj" fmla="val 5217"/>
            </a:avLst>
          </a:prstGeom>
          <a:solidFill>
            <a:srgbClr val="E9EEF8"/>
          </a:solidFill>
          <a:ln w="12700">
            <a:solidFill>
              <a:srgbClr val="D2DBEC"/>
            </a:solidFill>
            <a:prstDash val="solid"/>
          </a:ln>
        </p:spPr>
      </p:sp>
      <p:sp>
        <p:nvSpPr>
          <p:cNvPr id="27" name="Shape 25"/>
          <p:cNvSpPr/>
          <p:nvPr/>
        </p:nvSpPr>
        <p:spPr>
          <a:xfrm>
            <a:off x="804672" y="5422392"/>
            <a:ext cx="118872" cy="118872"/>
          </a:xfrm>
          <a:prstGeom prst="roundRect">
            <a:avLst>
              <a:gd name="adj" fmla="val 30769"/>
            </a:avLst>
          </a:prstGeom>
          <a:solidFill>
            <a:srgbClr val="E6115E"/>
          </a:solidFill>
          <a:ln w="12700">
            <a:solidFill>
              <a:srgbClr val="E6115E"/>
            </a:solidFill>
            <a:prstDash val="solid"/>
          </a:ln>
        </p:spPr>
      </p:sp>
      <p:sp>
        <p:nvSpPr>
          <p:cNvPr id="28" name="Text 26"/>
          <p:cNvSpPr/>
          <p:nvPr/>
        </p:nvSpPr>
        <p:spPr>
          <a:xfrm>
            <a:off x="1042416" y="5321808"/>
            <a:ext cx="52486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Con números, una sola vez</a:t>
            </a:r>
            <a:endParaRPr lang="en-US" sz="1400" dirty="0"/>
          </a:p>
        </p:txBody>
      </p:sp>
      <p:sp>
        <p:nvSpPr>
          <p:cNvPr id="29" name="Text 27"/>
          <p:cNvSpPr/>
          <p:nvPr/>
        </p:nvSpPr>
        <p:spPr>
          <a:xfrm>
            <a:off x="804672" y="5687568"/>
            <a:ext cx="10607040" cy="411480"/>
          </a:xfrm>
          <a:prstGeom prst="rect">
            <a:avLst/>
          </a:prstGeom>
          <a:noFill/>
          <a:ln/>
        </p:spPr>
        <p:txBody>
          <a:bodyPr wrap="square" lIns="0" tIns="0" rIns="0" bIns="0" rtlCol="0" anchor="t"/>
          <a:lstStyle/>
          <a:p>
            <a:pPr marL="0" indent="0" algn="l">
              <a:lnSpc>
                <a:spcPct val="108000"/>
              </a:lnSpc>
              <a:buNone/>
            </a:pPr>
            <a:r>
              <a:rPr lang="en-US" sz="1250" dirty="0">
                <a:solidFill>
                  <a:srgbClr val="2C3A55"/>
                </a:solidFill>
                <a:latin typeface="Calibri" pitchFamily="34" charset="0"/>
                <a:ea typeface="Calibri" pitchFamily="34" charset="-122"/>
                <a:cs typeface="Calibri" pitchFamily="34" charset="-120"/>
              </a:rPr>
              <a:t>Score de riesgo con μ = 500 y σ = 120. Un cliente marca x = 740.   →   z = (740 − 500) / 120 = 2.0   →   e^(−½ · 2.0²) = 0.135   →   f(740) = 0.000450</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LOS DOS PARÁMETROS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μ mueve la campana, σ decide qué tan gorda es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Solo hay dos perillas. Cambiar μ desliza; cambiar σ estira. La forma nunca cambia.</a:t>
            </a:r>
            <a:endParaRPr lang="en-US" sz="1400" dirty="0"/>
          </a:p>
        </p:txBody>
      </p:sp>
      <p:graphicFrame>
        <p:nvGraphicFramePr>
          <p:cNvPr id="6" name="Chart 0"/>
          <p:cNvGraphicFramePr/>
          <p:nvPr/>
        </p:nvGraphicFramePr>
        <p:xfrm>
          <a:off x="548640" y="1965960"/>
          <a:ext cx="7223760" cy="370332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8001000" y="1965960"/>
            <a:ext cx="3639312" cy="1737360"/>
          </a:xfrm>
          <a:prstGeom prst="roundRect">
            <a:avLst>
              <a:gd name="adj" fmla="val 3158"/>
            </a:avLst>
          </a:prstGeom>
          <a:solidFill>
            <a:srgbClr val="FFFFFF"/>
          </a:solidFill>
          <a:ln w="12700">
            <a:solidFill>
              <a:srgbClr val="D2DBEC"/>
            </a:solidFill>
            <a:prstDash val="solid"/>
          </a:ln>
        </p:spPr>
      </p:sp>
      <p:sp>
        <p:nvSpPr>
          <p:cNvPr id="8" name="Shape 5"/>
          <p:cNvSpPr/>
          <p:nvPr/>
        </p:nvSpPr>
        <p:spPr>
          <a:xfrm>
            <a:off x="8247888" y="2249424"/>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485632" y="2148840"/>
            <a:ext cx="29626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μ es ubicación</a:t>
            </a:r>
            <a:endParaRPr lang="en-US" sz="1400" dirty="0"/>
          </a:p>
        </p:txBody>
      </p:sp>
      <p:sp>
        <p:nvSpPr>
          <p:cNvPr id="10" name="Text 7"/>
          <p:cNvSpPr/>
          <p:nvPr/>
        </p:nvSpPr>
        <p:spPr>
          <a:xfrm>
            <a:off x="8247888" y="2542032"/>
            <a:ext cx="3154680" cy="100584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La curva magenta es la misma curva azul, movida 200 puntos a la derecha. Misma forma, mismo ancho, distinto centro. Si tu score sube de nivel, μ se mueve.</a:t>
            </a:r>
            <a:endParaRPr lang="en-US" sz="1200" dirty="0"/>
          </a:p>
        </p:txBody>
      </p:sp>
      <p:sp>
        <p:nvSpPr>
          <p:cNvPr id="11" name="Shape 8"/>
          <p:cNvSpPr/>
          <p:nvPr/>
        </p:nvSpPr>
        <p:spPr>
          <a:xfrm>
            <a:off x="8001000" y="3840480"/>
            <a:ext cx="3639312" cy="1828800"/>
          </a:xfrm>
          <a:prstGeom prst="roundRect">
            <a:avLst>
              <a:gd name="adj" fmla="val 3000"/>
            </a:avLst>
          </a:prstGeom>
          <a:solidFill>
            <a:srgbClr val="FFFFFF"/>
          </a:solidFill>
          <a:ln w="12700">
            <a:solidFill>
              <a:srgbClr val="D2DBEC"/>
            </a:solidFill>
            <a:prstDash val="solid"/>
          </a:ln>
        </p:spPr>
      </p:sp>
      <p:sp>
        <p:nvSpPr>
          <p:cNvPr id="12" name="Shape 9"/>
          <p:cNvSpPr/>
          <p:nvPr/>
        </p:nvSpPr>
        <p:spPr>
          <a:xfrm>
            <a:off x="8247888" y="4123944"/>
            <a:ext cx="118872" cy="118872"/>
          </a:xfrm>
          <a:prstGeom prst="roundRect">
            <a:avLst>
              <a:gd name="adj" fmla="val 30769"/>
            </a:avLst>
          </a:prstGeom>
          <a:solidFill>
            <a:srgbClr val="12B886"/>
          </a:solidFill>
          <a:ln w="12700">
            <a:solidFill>
              <a:srgbClr val="12B886"/>
            </a:solidFill>
            <a:prstDash val="solid"/>
          </a:ln>
        </p:spPr>
      </p:sp>
      <p:sp>
        <p:nvSpPr>
          <p:cNvPr id="13" name="Text 10"/>
          <p:cNvSpPr/>
          <p:nvPr/>
        </p:nvSpPr>
        <p:spPr>
          <a:xfrm>
            <a:off x="8485632" y="4023360"/>
            <a:ext cx="29626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σ es incertidumbre</a:t>
            </a:r>
            <a:endParaRPr lang="en-US" sz="1400" dirty="0"/>
          </a:p>
        </p:txBody>
      </p:sp>
      <p:sp>
        <p:nvSpPr>
          <p:cNvPr id="14" name="Text 11"/>
          <p:cNvSpPr/>
          <p:nvPr/>
        </p:nvSpPr>
        <p:spPr>
          <a:xfrm>
            <a:off x="8247888" y="4416552"/>
            <a:ext cx="3154680" cy="109728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La curva verde tiene la mitad de σ: es más alta y más angosta. Menos σ = menos dispersión = más predecible. El área bajo las tres sigue siendo exactamente 1.</a:t>
            </a:r>
            <a:endParaRPr lang="en-US" sz="1200" dirty="0"/>
          </a:p>
        </p:txBody>
      </p:sp>
      <p:sp>
        <p:nvSpPr>
          <p:cNvPr id="15" name="Text 12"/>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Curvas calculadas en el generador del deck con la misma fórmula del notebook — los valores del eje coinciden con tu Colab.</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LA REGLA PRÁCTICA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68 · 95 · 99.7 — lo único que vale memorizar hoy</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Tres números que te dan un criterio de rareza sin abrir una tabla ni un notebook.</a:t>
            </a:r>
            <a:endParaRPr lang="en-US" sz="1400" dirty="0"/>
          </a:p>
        </p:txBody>
      </p:sp>
      <p:graphicFrame>
        <p:nvGraphicFramePr>
          <p:cNvPr id="6" name="Chart 0"/>
          <p:cNvGraphicFramePr/>
          <p:nvPr/>
        </p:nvGraphicFramePr>
        <p:xfrm>
          <a:off x="548640" y="1965960"/>
          <a:ext cx="5486400" cy="3063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63640" y="1965960"/>
          <a:ext cx="5376672" cy="1645920"/>
        </p:xfrm>
        <a:graphic>
          <a:graphicData uri="http://schemas.openxmlformats.org/drawingml/2006/table">
            <a:tbl>
              <a:tblPr/>
              <a:tblGrid>
                <a:gridCol w="10515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41148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Rango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Dentro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Fuera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 40 000 transacciones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11480">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μ ± 1σ</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68.27 %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31.73 %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12 692 quedan fuera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411480">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μ ± 2σ</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95.45 %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4.55 %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1 820 quedan fuera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411480">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μ ± 3σ</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99.73 %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0.27 %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108 quedan fuera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bl>
          </a:graphicData>
        </a:graphic>
      </p:graphicFrame>
      <p:sp>
        <p:nvSpPr>
          <p:cNvPr id="7" name="Shape 4"/>
          <p:cNvSpPr/>
          <p:nvPr/>
        </p:nvSpPr>
        <p:spPr>
          <a:xfrm>
            <a:off x="6263640" y="3886200"/>
            <a:ext cx="5376672" cy="1143000"/>
          </a:xfrm>
          <a:prstGeom prst="roundRect">
            <a:avLst>
              <a:gd name="adj" fmla="val 4800"/>
            </a:avLst>
          </a:prstGeom>
          <a:solidFill>
            <a:srgbClr val="0A2559"/>
          </a:solidFill>
          <a:ln w="12700">
            <a:solidFill>
              <a:srgbClr val="0A2559"/>
            </a:solidFill>
            <a:prstDash val="solid"/>
          </a:ln>
        </p:spPr>
      </p:sp>
      <p:sp>
        <p:nvSpPr>
          <p:cNvPr id="9" name="Shape 5"/>
          <p:cNvSpPr/>
          <p:nvPr/>
        </p:nvSpPr>
        <p:spPr>
          <a:xfrm>
            <a:off x="6510528" y="4151376"/>
            <a:ext cx="118872" cy="118872"/>
          </a:xfrm>
          <a:prstGeom prst="roundRect">
            <a:avLst>
              <a:gd name="adj" fmla="val 30769"/>
            </a:avLst>
          </a:prstGeom>
          <a:solidFill>
            <a:srgbClr val="E6115E"/>
          </a:solidFill>
          <a:ln w="12700">
            <a:solidFill>
              <a:srgbClr val="E6115E"/>
            </a:solidFill>
            <a:prstDash val="solid"/>
          </a:ln>
        </p:spPr>
      </p:sp>
      <p:sp>
        <p:nvSpPr>
          <p:cNvPr id="10" name="Text 6"/>
          <p:cNvSpPr/>
          <p:nvPr/>
        </p:nvSpPr>
        <p:spPr>
          <a:xfrm>
            <a:off x="6748272" y="4050792"/>
            <a:ext cx="470001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 que esto significa en tu trabajo</a:t>
            </a:r>
            <a:endParaRPr lang="en-US" sz="1400" dirty="0"/>
          </a:p>
        </p:txBody>
      </p:sp>
      <p:sp>
        <p:nvSpPr>
          <p:cNvPr id="11" name="Text 7"/>
          <p:cNvSpPr/>
          <p:nvPr/>
        </p:nvSpPr>
        <p:spPr>
          <a:xfrm>
            <a:off x="6510528" y="4416552"/>
            <a:ext cx="4937760" cy="548640"/>
          </a:xfrm>
          <a:prstGeom prst="rect">
            <a:avLst/>
          </a:prstGeom>
          <a:noFill/>
          <a:ln/>
        </p:spPr>
        <p:txBody>
          <a:bodyPr wrap="square" lIns="0" tIns="0" rIns="0" bIns="0" rtlCol="0" anchor="t"/>
          <a:lstStyle/>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Un umbral en ±3σ no te deja «cero» falsos positivos: te deja 108 alertas al mes solo por azar. Si tu equipo revisa 20 al día, ese umbral ya es inviable.</a:t>
            </a:r>
            <a:endParaRPr lang="en-US" sz="1200" dirty="0"/>
          </a:p>
        </p:txBody>
      </p:sp>
      <p:sp>
        <p:nvSpPr>
          <p:cNvPr id="12" name="Shape 8"/>
          <p:cNvSpPr/>
          <p:nvPr/>
        </p:nvSpPr>
        <p:spPr>
          <a:xfrm>
            <a:off x="548640" y="5193792"/>
            <a:ext cx="11091672" cy="1005840"/>
          </a:xfrm>
          <a:prstGeom prst="roundRect">
            <a:avLst>
              <a:gd name="adj" fmla="val 5455"/>
            </a:avLst>
          </a:prstGeom>
          <a:solidFill>
            <a:srgbClr val="E9EEF8"/>
          </a:solidFill>
          <a:ln w="12700">
            <a:solidFill>
              <a:srgbClr val="D2DBEC"/>
            </a:solidFill>
            <a:prstDash val="solid"/>
          </a:ln>
        </p:spPr>
      </p:sp>
      <p:sp>
        <p:nvSpPr>
          <p:cNvPr id="13" name="Shape 9"/>
          <p:cNvSpPr/>
          <p:nvPr/>
        </p:nvSpPr>
        <p:spPr>
          <a:xfrm>
            <a:off x="804672" y="5449824"/>
            <a:ext cx="118872" cy="118872"/>
          </a:xfrm>
          <a:prstGeom prst="roundRect">
            <a:avLst>
              <a:gd name="adj" fmla="val 30769"/>
            </a:avLst>
          </a:prstGeom>
          <a:solidFill>
            <a:srgbClr val="E6115E"/>
          </a:solidFill>
          <a:ln w="12700">
            <a:solidFill>
              <a:srgbClr val="E6115E"/>
            </a:solidFill>
            <a:prstDash val="solid"/>
          </a:ln>
        </p:spPr>
      </p:sp>
      <p:sp>
        <p:nvSpPr>
          <p:cNvPr id="14" name="Text 10"/>
          <p:cNvSpPr/>
          <p:nvPr/>
        </p:nvSpPr>
        <p:spPr>
          <a:xfrm>
            <a:off x="1042416" y="5349240"/>
            <a:ext cx="61630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condición que casi nadie menciona</a:t>
            </a:r>
            <a:endParaRPr lang="en-US" sz="1400" dirty="0"/>
          </a:p>
        </p:txBody>
      </p:sp>
      <p:sp>
        <p:nvSpPr>
          <p:cNvPr id="15" name="Text 11"/>
          <p:cNvSpPr/>
          <p:nvPr/>
        </p:nvSpPr>
        <p:spPr>
          <a:xfrm>
            <a:off x="804672" y="5705856"/>
            <a:ext cx="10607040" cy="457200"/>
          </a:xfrm>
          <a:prstGeom prst="rect">
            <a:avLst/>
          </a:prstGeom>
          <a:noFill/>
          <a:ln/>
        </p:spPr>
        <p:txBody>
          <a:bodyPr wrap="square" lIns="0" tIns="0" rIns="0" bIns="0" rtlCol="0" anchor="t"/>
          <a:lstStyle/>
          <a:p>
            <a:pPr marL="0" indent="0" algn="l">
              <a:lnSpc>
                <a:spcPct val="105000"/>
              </a:lnSpc>
              <a:buNone/>
            </a:pPr>
            <a:r>
              <a:rPr lang="en-US" sz="1200" dirty="0">
                <a:solidFill>
                  <a:srgbClr val="2C3A55"/>
                </a:solidFill>
                <a:latin typeface="Calibri" pitchFamily="34" charset="0"/>
                <a:ea typeface="Calibri" pitchFamily="34" charset="-122"/>
                <a:cs typeface="Calibri" pitchFamily="34" charset="-120"/>
              </a:rPr>
              <a:t>Estos tres números son exactos SOLO si la variable es normal. Aplicados a montos de transacción — que son asimétricos y de cola pesada — subestiman gravemente la cola derecha. La regla es una herramienta de diagnóstico, no una ley de la naturaleza.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92608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92608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ESTANDARIZACIÓN</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 máquina de comparar cosas que no se comparan</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z convierte cualquier medición — soles, días, puntos, kilos — en la misma unidad: desviaciones estándar.</a:t>
            </a:r>
            <a:endParaRPr lang="en-US" sz="1400" dirty="0"/>
          </a:p>
        </p:txBody>
      </p:sp>
      <p:sp>
        <p:nvSpPr>
          <p:cNvPr id="6" name="Shape 4"/>
          <p:cNvSpPr/>
          <p:nvPr/>
        </p:nvSpPr>
        <p:spPr>
          <a:xfrm>
            <a:off x="548640" y="1938528"/>
            <a:ext cx="5394960" cy="914400"/>
          </a:xfrm>
          <a:prstGeom prst="roundRect">
            <a:avLst>
              <a:gd name="adj" fmla="val 6000"/>
            </a:avLst>
          </a:prstGeom>
          <a:solidFill>
            <a:srgbClr val="0A2559"/>
          </a:solidFill>
          <a:ln w="12700">
            <a:solidFill>
              <a:srgbClr val="0A2559"/>
            </a:solidFill>
            <a:prstDash val="solid"/>
          </a:ln>
        </p:spPr>
      </p:sp>
      <p:sp>
        <p:nvSpPr>
          <p:cNvPr id="7" name="Text 5"/>
          <p:cNvSpPr/>
          <p:nvPr/>
        </p:nvSpPr>
        <p:spPr>
          <a:xfrm>
            <a:off x="548640" y="1938528"/>
            <a:ext cx="5394960" cy="914400"/>
          </a:xfrm>
          <a:prstGeom prst="rect">
            <a:avLst/>
          </a:prstGeom>
          <a:noFill/>
          <a:ln/>
        </p:spPr>
        <p:txBody>
          <a:bodyPr wrap="square" lIns="0" tIns="0" rIns="0" bIns="0"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z  =  ( x − μ ) / σ            x  =  μ + z · σ</a:t>
            </a:r>
            <a:endParaRPr lang="en-US" sz="1900" dirty="0"/>
          </a:p>
        </p:txBody>
      </p:sp>
      <p:sp>
        <p:nvSpPr>
          <p:cNvPr id="8" name="Text 6"/>
          <p:cNvSpPr/>
          <p:nvPr/>
        </p:nvSpPr>
        <p:spPr>
          <a:xfrm>
            <a:off x="548640" y="2926080"/>
            <a:ext cx="5394960" cy="274320"/>
          </a:xfrm>
          <a:prstGeom prst="rect">
            <a:avLst/>
          </a:prstGeom>
          <a:noFill/>
          <a:ln/>
        </p:spPr>
        <p:txBody>
          <a:bodyPr wrap="square" lIns="0" tIns="0" rIns="0" bIns="0" rtlCol="0" anchor="t"/>
          <a:lstStyle/>
          <a:p>
            <a:pPr marL="0" indent="0" algn="ctr">
              <a:lnSpc>
                <a:spcPct val="108000"/>
              </a:lnSpc>
              <a:buNone/>
            </a:pPr>
            <a:r>
              <a:rPr lang="en-US" sz="1150" i="1" dirty="0">
                <a:solidFill>
                  <a:srgbClr val="5B6B87"/>
                </a:solidFill>
                <a:latin typeface="Calibri" pitchFamily="34" charset="0"/>
                <a:ea typeface="Calibri" pitchFamily="34" charset="-122"/>
                <a:cs typeface="Calibri" pitchFamily="34" charset="-120"/>
              </a:rPr>
              <a:t>Ida: de tu unidad a σ.        Vuelta: de σ a tu unidad.</a:t>
            </a:r>
            <a:endParaRPr lang="en-US" sz="1150" dirty="0"/>
          </a:p>
        </p:txBody>
      </p:sp>
      <p:sp>
        <p:nvSpPr>
          <p:cNvPr id="9" name="Shape 7"/>
          <p:cNvSpPr/>
          <p:nvPr/>
        </p:nvSpPr>
        <p:spPr>
          <a:xfrm>
            <a:off x="6172200" y="1938528"/>
            <a:ext cx="5468112" cy="1261872"/>
          </a:xfrm>
          <a:prstGeom prst="roundRect">
            <a:avLst>
              <a:gd name="adj" fmla="val 4348"/>
            </a:avLst>
          </a:prstGeom>
          <a:solidFill>
            <a:srgbClr val="FFFFFF"/>
          </a:solidFill>
          <a:ln w="12700">
            <a:solidFill>
              <a:srgbClr val="D2DBEC"/>
            </a:solidFill>
            <a:prstDash val="solid"/>
          </a:ln>
        </p:spPr>
      </p:sp>
      <p:sp>
        <p:nvSpPr>
          <p:cNvPr id="10" name="Shape 8"/>
          <p:cNvSpPr/>
          <p:nvPr/>
        </p:nvSpPr>
        <p:spPr>
          <a:xfrm>
            <a:off x="6419088" y="2203704"/>
            <a:ext cx="118872" cy="118872"/>
          </a:xfrm>
          <a:prstGeom prst="roundRect">
            <a:avLst>
              <a:gd name="adj" fmla="val 30769"/>
            </a:avLst>
          </a:prstGeom>
          <a:solidFill>
            <a:srgbClr val="E6115E"/>
          </a:solidFill>
          <a:ln w="12700">
            <a:solidFill>
              <a:srgbClr val="E6115E"/>
            </a:solidFill>
            <a:prstDash val="solid"/>
          </a:ln>
        </p:spPr>
      </p:sp>
      <p:sp>
        <p:nvSpPr>
          <p:cNvPr id="11" name="Text 9"/>
          <p:cNvSpPr/>
          <p:nvPr/>
        </p:nvSpPr>
        <p:spPr>
          <a:xfrm>
            <a:off x="6656832" y="2103120"/>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analogía</a:t>
            </a:r>
            <a:endParaRPr lang="en-US" sz="1400" dirty="0"/>
          </a:p>
        </p:txBody>
      </p:sp>
      <p:sp>
        <p:nvSpPr>
          <p:cNvPr id="12" name="Text 10"/>
          <p:cNvSpPr/>
          <p:nvPr/>
        </p:nvSpPr>
        <p:spPr>
          <a:xfrm>
            <a:off x="6419088" y="2487168"/>
            <a:ext cx="4983480" cy="621792"/>
          </a:xfrm>
          <a:prstGeom prst="rect">
            <a:avLst/>
          </a:prstGeom>
          <a:noFill/>
          <a:ln/>
        </p:spPr>
        <p:txBody>
          <a:bodyPr wrap="square" lIns="0" tIns="0" rIns="0" bIns="0" rtlCol="0" anchor="t"/>
          <a:lstStyle/>
          <a:p>
            <a:pPr marL="0" indent="0" algn="l">
              <a:lnSpc>
                <a:spcPct val="108000"/>
              </a:lnSpc>
              <a:buNone/>
            </a:pPr>
            <a:r>
              <a:rPr lang="en-US" sz="1200" dirty="0">
                <a:solidFill>
                  <a:srgbClr val="2C3A55"/>
                </a:solidFill>
                <a:latin typeface="Calibri" pitchFamily="34" charset="0"/>
                <a:ea typeface="Calibri" pitchFamily="34" charset="-122"/>
                <a:cs typeface="Calibri" pitchFamily="34" charset="-120"/>
              </a:rPr>
              <a:t>Es un tipo de cambio. No puedes sumar soles con euros, pero sí puedes convertir ambos a dólares y compararlos. σ es el dólar de la estadística.</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364992"/>
          <a:ext cx="11091672" cy="1609344"/>
        </p:xfrm>
        <a:graphic>
          <a:graphicData uri="http://schemas.openxmlformats.org/drawingml/2006/table">
            <a:tbl>
              <a:tblPr/>
              <a:tblGrid>
                <a:gridCol w="301752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2953512">
                  <a:extLst>
                    <a:ext uri="{9D8B030D-6E8A-4147-A177-3AD203B41FA5}">
                      <a16:colId xmlns:a16="http://schemas.microsoft.com/office/drawing/2014/main" val="20005"/>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Variable del cliente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Su valor  x</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Media  μ</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Desv.  σ</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z</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Lectura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02336">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Monto de la transacción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S/ 8 400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S/ 3 000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S/ 2 700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2.28 % está más arriba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402336">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Antigüedad del cliente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14 meses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38 meses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16 meses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6.68 % está más abajo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402336">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N.º de operaciones/mes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2.11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1.74 % está más arriba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bl>
          </a:graphicData>
        </a:graphic>
      </p:graphicFrame>
      <p:sp>
        <p:nvSpPr>
          <p:cNvPr id="14" name="Shape 11"/>
          <p:cNvSpPr/>
          <p:nvPr/>
        </p:nvSpPr>
        <p:spPr>
          <a:xfrm>
            <a:off x="548640" y="5230368"/>
            <a:ext cx="11091672" cy="969264"/>
          </a:xfrm>
          <a:prstGeom prst="roundRect">
            <a:avLst>
              <a:gd name="adj" fmla="val 5660"/>
            </a:avLst>
          </a:prstGeom>
          <a:solidFill>
            <a:srgbClr val="E9EEF8"/>
          </a:solidFill>
          <a:ln w="12700">
            <a:solidFill>
              <a:srgbClr val="D2DBEC"/>
            </a:solidFill>
            <a:prstDash val="solid"/>
          </a:ln>
        </p:spPr>
      </p:sp>
      <p:sp>
        <p:nvSpPr>
          <p:cNvPr id="15" name="Shape 12"/>
          <p:cNvSpPr/>
          <p:nvPr/>
        </p:nvSpPr>
        <p:spPr>
          <a:xfrm>
            <a:off x="804672" y="5477256"/>
            <a:ext cx="118872" cy="118872"/>
          </a:xfrm>
          <a:prstGeom prst="roundRect">
            <a:avLst>
              <a:gd name="adj" fmla="val 30769"/>
            </a:avLst>
          </a:prstGeom>
          <a:solidFill>
            <a:srgbClr val="E6115E"/>
          </a:solidFill>
          <a:ln w="12700">
            <a:solidFill>
              <a:srgbClr val="E6115E"/>
            </a:solidFill>
            <a:prstDash val="solid"/>
          </a:ln>
        </p:spPr>
      </p:sp>
      <p:sp>
        <p:nvSpPr>
          <p:cNvPr id="16" name="Text 13"/>
          <p:cNvSpPr/>
          <p:nvPr/>
        </p:nvSpPr>
        <p:spPr>
          <a:xfrm>
            <a:off x="1042416" y="5376672"/>
            <a:ext cx="52486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esto importa</a:t>
            </a:r>
            <a:endParaRPr lang="en-US" sz="1400" dirty="0"/>
          </a:p>
        </p:txBody>
      </p:sp>
      <p:sp>
        <p:nvSpPr>
          <p:cNvPr id="17" name="Text 14"/>
          <p:cNvSpPr/>
          <p:nvPr/>
        </p:nvSpPr>
        <p:spPr>
          <a:xfrm>
            <a:off x="804672" y="5724144"/>
            <a:ext cx="10607040" cy="420624"/>
          </a:xfrm>
          <a:prstGeom prst="rect">
            <a:avLst/>
          </a:prstGeom>
          <a:noFill/>
          <a:ln/>
        </p:spPr>
        <p:txBody>
          <a:bodyPr wrap="square" lIns="0" tIns="0" rIns="0" bIns="0" rtlCol="0" anchor="t"/>
          <a:lstStyle/>
          <a:p>
            <a:pPr marL="0" indent="0" algn="l">
              <a:lnSpc>
                <a:spcPct val="105000"/>
              </a:lnSpc>
              <a:buNone/>
            </a:pPr>
            <a:r>
              <a:rPr lang="en-US" sz="1200" dirty="0">
                <a:solidFill>
                  <a:srgbClr val="2C3A55"/>
                </a:solidFill>
                <a:latin typeface="Calibri" pitchFamily="34" charset="0"/>
                <a:ea typeface="Calibri" pitchFamily="34" charset="-122"/>
                <a:cs typeface="Calibri" pitchFamily="34" charset="-120"/>
              </a:rPr>
              <a:t>Las tres variables están en unidades distintas y ninguna se puede sumar con otra. En z sí: el cliente está +2.0 en monto y +2.11 en frecuencia, pero −1.5 en antigüedad. Eso ya es un perfil, y es exactamente lo que hace por dentro un modelo con variables estandarizadas.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LEER Φ(z)</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De la tabla del libro a una línea de código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Los mismos números que tus profesores buscaban en un apéndice. Vale entender la tabla; no vale memorizarla.</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7635240" cy="3291840"/>
        </p:xfrm>
        <a:graphic>
          <a:graphicData uri="http://schemas.openxmlformats.org/drawingml/2006/table">
            <a:tbl>
              <a:tblPr/>
              <a:tblGrid>
                <a:gridCol w="77724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z</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Φ(z)  acumulada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Cola derecha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Ocurre 1 vez cada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 usa para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0.84134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0.158655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6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regla del 68 %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1.645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0.95002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0.049985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20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IC al 90 % · VaR 95 % de una cola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1.960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0.97500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0.024998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40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IC al 95 % — el número más citado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0.97725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0.022750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44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regla del 95 %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4"/>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2.326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0.98999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0.010009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100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IC al 98 % · VaR 99 %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5"/>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2.576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0.99500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0.004998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200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IC al 99 %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6"/>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0.99865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0.001350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741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control de calidad · «3 sigma»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7"/>
                  </a:ext>
                </a:extLst>
              </a:tr>
              <a:tr h="365760">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4.000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0.99997</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0.000032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31 574 casos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colas extremas — donde la normal falla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8"/>
                  </a:ext>
                </a:extLst>
              </a:tr>
            </a:tbl>
          </a:graphicData>
        </a:graphic>
      </p:graphicFrame>
      <p:sp>
        <p:nvSpPr>
          <p:cNvPr id="7" name="Shape 4"/>
          <p:cNvSpPr/>
          <p:nvPr/>
        </p:nvSpPr>
        <p:spPr>
          <a:xfrm>
            <a:off x="8412480" y="1965960"/>
            <a:ext cx="3227832" cy="2148840"/>
          </a:xfrm>
          <a:prstGeom prst="roundRect">
            <a:avLst>
              <a:gd name="adj" fmla="val 2553"/>
            </a:avLst>
          </a:prstGeom>
          <a:solidFill>
            <a:srgbClr val="0A2559"/>
          </a:solidFill>
          <a:ln w="12700">
            <a:solidFill>
              <a:srgbClr val="0A2559"/>
            </a:solidFill>
            <a:prstDash val="solid"/>
          </a:ln>
        </p:spPr>
      </p:sp>
      <p:sp>
        <p:nvSpPr>
          <p:cNvPr id="8" name="Shape 5"/>
          <p:cNvSpPr/>
          <p:nvPr/>
        </p:nvSpPr>
        <p:spPr>
          <a:xfrm>
            <a:off x="8641080"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878824" y="2130552"/>
            <a:ext cx="259689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En código</a:t>
            </a:r>
            <a:endParaRPr lang="en-US" sz="1400" dirty="0"/>
          </a:p>
        </p:txBody>
      </p:sp>
      <p:sp>
        <p:nvSpPr>
          <p:cNvPr id="6" name="Text 7"/>
          <p:cNvSpPr/>
          <p:nvPr/>
        </p:nvSpPr>
        <p:spPr>
          <a:xfrm>
            <a:off x="8641080" y="2505456"/>
            <a:ext cx="2788920" cy="1481328"/>
          </a:xfrm>
          <a:prstGeom prst="rect">
            <a:avLst/>
          </a:prstGeom>
          <a:noFill/>
          <a:ln/>
        </p:spPr>
        <p:txBody>
          <a:bodyPr wrap="square" lIns="0" tIns="0" rIns="0" bIns="0" rtlCol="0" anchor="t"/>
          <a:lstStyle/>
          <a:p>
            <a:pPr marL="0" indent="0">
              <a:lnSpc>
                <a:spcPct val="100000"/>
              </a:lnSpc>
              <a:buNone/>
            </a:pPr>
            <a:r>
              <a:rPr lang="en-US" sz="1100" dirty="0">
                <a:solidFill>
                  <a:srgbClr val="C9D6F2"/>
                </a:solidFill>
                <a:latin typeface="Courier New" pitchFamily="34" charset="0"/>
                <a:ea typeface="Courier New" pitchFamily="34" charset="-122"/>
                <a:cs typeface="Courier New" pitchFamily="34" charset="-120"/>
              </a:rPr>
              <a:t>from scipy.stats import norm</a:t>
            </a:r>
            <a:endParaRPr lang="en-US" sz="1100" dirty="0"/>
          </a:p>
          <a:p>
            <a:pPr marL="0" indent="0">
              <a:lnSpc>
                <a:spcPct val="100000"/>
              </a:lnSpc>
              <a:buNone/>
            </a:pPr>
            <a:endParaRPr lang="en-US" sz="1100" dirty="0"/>
          </a:p>
          <a:p>
            <a:pPr marL="0" indent="0">
              <a:lnSpc>
                <a:spcPct val="100000"/>
              </a:lnSpc>
              <a:buNone/>
            </a:pPr>
            <a:r>
              <a:rPr lang="en-US" sz="1100" dirty="0">
                <a:solidFill>
                  <a:srgbClr val="C9D6F2"/>
                </a:solidFill>
                <a:latin typeface="Courier New" pitchFamily="34" charset="0"/>
                <a:ea typeface="Courier New" pitchFamily="34" charset="-122"/>
                <a:cs typeface="Courier New" pitchFamily="34" charset="-120"/>
              </a:rPr>
              <a:t>norm.cdf(1.96)</a:t>
            </a:r>
            <a:endParaRPr lang="en-US" sz="1100" dirty="0"/>
          </a:p>
          <a:p>
            <a:pPr marL="0" indent="0">
              <a:lnSpc>
                <a:spcPct val="100000"/>
              </a:lnSpc>
              <a:buNone/>
            </a:pPr>
            <a:r>
              <a:rPr lang="en-US" sz="1100" dirty="0">
                <a:solidFill>
                  <a:srgbClr val="C9D6F2"/>
                </a:solidFill>
                <a:latin typeface="Courier New" pitchFamily="34" charset="0"/>
                <a:ea typeface="Courier New" pitchFamily="34" charset="-122"/>
                <a:cs typeface="Courier New" pitchFamily="34" charset="-120"/>
              </a:rPr>
              <a:t>  → 0.975</a:t>
            </a:r>
            <a:endParaRPr lang="en-US" sz="1100" dirty="0"/>
          </a:p>
          <a:p>
            <a:pPr marL="0" indent="0">
              <a:lnSpc>
                <a:spcPct val="100000"/>
              </a:lnSpc>
              <a:buNone/>
            </a:pPr>
            <a:endParaRPr lang="en-US" sz="1100" dirty="0"/>
          </a:p>
          <a:p>
            <a:pPr marL="0" indent="0">
              <a:lnSpc>
                <a:spcPct val="100000"/>
              </a:lnSpc>
              <a:buNone/>
            </a:pPr>
            <a:r>
              <a:rPr lang="en-US" sz="1100" dirty="0">
                <a:solidFill>
                  <a:srgbClr val="C9D6F2"/>
                </a:solidFill>
                <a:latin typeface="Courier New" pitchFamily="34" charset="0"/>
                <a:ea typeface="Courier New" pitchFamily="34" charset="-122"/>
                <a:cs typeface="Courier New" pitchFamily="34" charset="-120"/>
              </a:rPr>
              <a:t>norm.ppf(0.99)</a:t>
            </a:r>
            <a:endParaRPr lang="en-US" sz="1100" dirty="0"/>
          </a:p>
          <a:p>
            <a:pPr marL="0" indent="0">
              <a:lnSpc>
                <a:spcPct val="100000"/>
              </a:lnSpc>
              <a:buNone/>
            </a:pPr>
            <a:r>
              <a:rPr lang="en-US" sz="1100" dirty="0">
                <a:solidFill>
                  <a:srgbClr val="C9D6F2"/>
                </a:solidFill>
                <a:latin typeface="Courier New" pitchFamily="34" charset="0"/>
                <a:ea typeface="Courier New" pitchFamily="34" charset="-122"/>
                <a:cs typeface="Courier New" pitchFamily="34" charset="-120"/>
              </a:rPr>
              <a:t>  → 2.326</a:t>
            </a:r>
            <a:endParaRPr lang="en-US" sz="1100" dirty="0"/>
          </a:p>
        </p:txBody>
      </p:sp>
      <p:sp>
        <p:nvSpPr>
          <p:cNvPr id="11" name="Shape 8"/>
          <p:cNvSpPr/>
          <p:nvPr/>
        </p:nvSpPr>
        <p:spPr>
          <a:xfrm>
            <a:off x="8412480" y="4251960"/>
            <a:ext cx="3227832" cy="1947672"/>
          </a:xfrm>
          <a:prstGeom prst="roundRect">
            <a:avLst>
              <a:gd name="adj" fmla="val 2817"/>
            </a:avLst>
          </a:prstGeom>
          <a:solidFill>
            <a:srgbClr val="FFFFFF"/>
          </a:solidFill>
          <a:ln w="12700">
            <a:solidFill>
              <a:srgbClr val="D2DBEC"/>
            </a:solidFill>
            <a:prstDash val="solid"/>
          </a:ln>
        </p:spPr>
      </p:sp>
      <p:sp>
        <p:nvSpPr>
          <p:cNvPr id="12" name="Shape 9"/>
          <p:cNvSpPr/>
          <p:nvPr/>
        </p:nvSpPr>
        <p:spPr>
          <a:xfrm>
            <a:off x="8641080" y="4517136"/>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878824" y="4416552"/>
            <a:ext cx="259689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cdf y ppf son inversas</a:t>
            </a:r>
            <a:endParaRPr lang="en-US" sz="1400" dirty="0"/>
          </a:p>
        </p:txBody>
      </p:sp>
      <p:sp>
        <p:nvSpPr>
          <p:cNvPr id="14" name="Text 11"/>
          <p:cNvSpPr/>
          <p:nvPr/>
        </p:nvSpPr>
        <p:spPr>
          <a:xfrm>
            <a:off x="8641080" y="4800600"/>
            <a:ext cx="2788920" cy="1280160"/>
          </a:xfrm>
          <a:prstGeom prst="rect">
            <a:avLst/>
          </a:prstGeom>
          <a:noFill/>
          <a:ln/>
        </p:spPr>
        <p:txBody>
          <a:bodyPr wrap="square" lIns="0" tIns="0" rIns="0" bIns="0" rtlCol="0" anchor="t"/>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cdf va de z a probabilidad.</a:t>
            </a:r>
            <a:endParaRPr lang="en-US" sz="1150" dirty="0"/>
          </a:p>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ppf va de probabilidad a z.</a:t>
            </a:r>
            <a:endParaRPr lang="en-US" sz="1150" dirty="0"/>
          </a:p>
          <a:p>
            <a:pPr marL="0" indent="0" algn="l">
              <a:lnSpc>
                <a:spcPct val="108000"/>
              </a:lnSpc>
              <a:buNone/>
            </a:pPr>
            <a:endParaRPr lang="en-US" sz="1150" dirty="0"/>
          </a:p>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Si te confundes, recuerda la Clase 2: ppf es el cuantil, y el cuantil es el que te da el umbral.</a:t>
            </a:r>
            <a:endParaRPr lang="en-US" sz="1150" dirty="0"/>
          </a:p>
        </p:txBody>
      </p:sp>
      <p:sp>
        <p:nvSpPr>
          <p:cNvPr id="15" name="Shape 12"/>
          <p:cNvSpPr/>
          <p:nvPr/>
        </p:nvSpPr>
        <p:spPr>
          <a:xfrm>
            <a:off x="548640" y="5486400"/>
            <a:ext cx="7635240" cy="713232"/>
          </a:xfrm>
          <a:prstGeom prst="roundRect">
            <a:avLst>
              <a:gd name="adj" fmla="val 7692"/>
            </a:avLst>
          </a:prstGeom>
          <a:solidFill>
            <a:srgbClr val="0A2559"/>
          </a:solidFill>
          <a:ln w="12700">
            <a:solidFill>
              <a:srgbClr val="0A2559"/>
            </a:solidFill>
            <a:prstDash val="solid"/>
          </a:ln>
        </p:spPr>
      </p:sp>
      <p:sp>
        <p:nvSpPr>
          <p:cNvPr id="16" name="Text 13"/>
          <p:cNvSpPr/>
          <p:nvPr/>
        </p:nvSpPr>
        <p:spPr>
          <a:xfrm>
            <a:off x="822960" y="5486400"/>
            <a:ext cx="7086600" cy="713232"/>
          </a:xfrm>
          <a:prstGeom prst="rect">
            <a:avLst/>
          </a:prstGeom>
          <a:noFill/>
          <a:ln/>
        </p:spPr>
        <p:txBody>
          <a:bodyPr wrap="square" lIns="0" tIns="0" rIns="0" bIns="0" rtlCol="0" anchor="ctr"/>
          <a:lstStyle/>
          <a:p>
            <a:pPr marL="0" indent="0" algn="l">
              <a:lnSpc>
                <a:spcPct val="106000"/>
              </a:lnSpc>
              <a:buNone/>
            </a:pPr>
            <a:r>
              <a:rPr lang="en-US" sz="1200" dirty="0">
                <a:solidFill>
                  <a:srgbClr val="C9D6F2"/>
                </a:solidFill>
                <a:latin typeface="Calibri" pitchFamily="34" charset="0"/>
                <a:ea typeface="Calibri" pitchFamily="34" charset="-122"/>
                <a:cs typeface="Calibri" pitchFamily="34" charset="-120"/>
              </a:rPr>
              <a:t>Cómo se lee la fila de z = 1.96:  el 97.5 % de los casos está por debajo, el 2.5 % por encima, y ese 2.5 % ocurre 1 vez cada 40 casos.  Esa última columna es la que entiende un comité.</a:t>
            </a:r>
            <a:endParaRPr lang="en-US" sz="1200" dirty="0"/>
          </a:p>
        </p:txBody>
      </p:sp>
      <p:sp>
        <p:nvSpPr>
          <p:cNvPr id="17" name="Text 14"/>
          <p:cNvSpPr/>
          <p:nvPr/>
        </p:nvSpPr>
        <p:spPr>
          <a:xfrm>
            <a:off x="548640" y="6309360"/>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Φ(z) calculada con el algoritmo de Hart en el generador del deck: coincide con scipy.stats.norm.cdf en todos los dígitos mostrados.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834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83464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CASO REAL · 1846</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El pecho de 5 738 soldados escoceses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primera vez que alguien afirmó que una medida humana seguía la campana de los astrónomos.</a:t>
            </a:r>
            <a:endParaRPr lang="en-US" sz="1400" dirty="0"/>
          </a:p>
        </p:txBody>
      </p:sp>
      <p:sp>
        <p:nvSpPr>
          <p:cNvPr id="6" name="Shape 4"/>
          <p:cNvSpPr/>
          <p:nvPr/>
        </p:nvSpPr>
        <p:spPr>
          <a:xfrm>
            <a:off x="548640" y="1938528"/>
            <a:ext cx="6675120" cy="2377440"/>
          </a:xfrm>
          <a:prstGeom prst="roundRect">
            <a:avLst>
              <a:gd name="adj" fmla="val 2308"/>
            </a:avLst>
          </a:prstGeom>
          <a:solidFill>
            <a:srgbClr val="FFFFFF"/>
          </a:solidFill>
          <a:ln w="12700">
            <a:solidFill>
              <a:srgbClr val="D2DBEC"/>
            </a:solidFill>
            <a:prstDash val="solid"/>
          </a:ln>
        </p:spPr>
      </p:sp>
      <p:sp>
        <p:nvSpPr>
          <p:cNvPr id="7" name="Shape 5"/>
          <p:cNvSpPr/>
          <p:nvPr/>
        </p:nvSpPr>
        <p:spPr>
          <a:xfrm>
            <a:off x="804672" y="2203704"/>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03120"/>
            <a:ext cx="5980176" cy="292608"/>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Qué pasó</a:t>
            </a:r>
            <a:endParaRPr lang="en-US" sz="1500" dirty="0"/>
          </a:p>
        </p:txBody>
      </p:sp>
      <p:sp>
        <p:nvSpPr>
          <p:cNvPr id="9" name="Text 7"/>
          <p:cNvSpPr/>
          <p:nvPr/>
        </p:nvSpPr>
        <p:spPr>
          <a:xfrm>
            <a:off x="804672" y="2487168"/>
            <a:ext cx="6172200" cy="1700784"/>
          </a:xfrm>
          <a:prstGeom prst="rect">
            <a:avLst/>
          </a:prstGeom>
          <a:noFill/>
          <a:ln/>
        </p:spPr>
        <p:txBody>
          <a:bodyPr wrap="square" lIns="0" tIns="0" rIns="0" bIns="0" rtlCol="0" anchor="t"/>
          <a:lstStyle/>
          <a:p>
            <a:pPr marL="0" indent="0" algn="l">
              <a:lnSpc>
                <a:spcPct val="108000"/>
              </a:lnSpc>
              <a:buNone/>
            </a:pPr>
            <a:r>
              <a:rPr lang="en-US" sz="1200" dirty="0">
                <a:solidFill>
                  <a:srgbClr val="2C3A55"/>
                </a:solidFill>
                <a:latin typeface="Calibri" pitchFamily="34" charset="0"/>
                <a:ea typeface="Calibri" pitchFamily="34" charset="-122"/>
                <a:cs typeface="Calibri" pitchFamily="34" charset="-120"/>
              </a:rPr>
              <a:t>Adolphe Quetelet, astrónomo belga, tomó una tabla publicada en 1817 en el Edinburgh Medical and Surgical Journal con la circunferencia de pecho de 5 738 soldados escoceses. Ajustó a esos datos la misma curva que los astrónomos usaban para los errores de medición de la posición de los planetas — y encajó.</a:t>
            </a:r>
            <a:endParaRPr lang="en-US" sz="1200" dirty="0"/>
          </a:p>
          <a:p>
            <a:pPr marL="0" indent="0" algn="l">
              <a:lnSpc>
                <a:spcPct val="108000"/>
              </a:lnSpc>
              <a:buNone/>
            </a:pPr>
            <a:endParaRPr lang="en-US" sz="1200" dirty="0"/>
          </a:p>
          <a:p>
            <a:pPr marL="0" indent="0" algn="l">
              <a:lnSpc>
                <a:spcPct val="108000"/>
              </a:lnSpc>
              <a:buNone/>
            </a:pPr>
            <a:r>
              <a:rPr lang="en-US" sz="1200" dirty="0">
                <a:solidFill>
                  <a:srgbClr val="2C3A55"/>
                </a:solidFill>
                <a:latin typeface="Calibri" pitchFamily="34" charset="0"/>
                <a:ea typeface="Calibri" pitchFamily="34" charset="-122"/>
                <a:cs typeface="Calibri" pitchFamily="34" charset="-120"/>
              </a:rPr>
              <a:t>El promedio rondaba las 39.8 pulgadas y los datos se acumulaban simétricamente a su alrededor. Quetelet concluyó que la variabilidad humana se comportaba como el error de un instrumento: como si la naturaleza intentara construir un «hombre medio» y fallara un poco cada vez.</a:t>
            </a:r>
            <a:endParaRPr lang="en-US" sz="1200" dirty="0"/>
          </a:p>
        </p:txBody>
      </p:sp>
      <p:sp>
        <p:nvSpPr>
          <p:cNvPr id="10" name="Shape 8"/>
          <p:cNvSpPr/>
          <p:nvPr/>
        </p:nvSpPr>
        <p:spPr>
          <a:xfrm>
            <a:off x="7452360" y="1938528"/>
            <a:ext cx="4187952" cy="2377440"/>
          </a:xfrm>
          <a:prstGeom prst="roundRect">
            <a:avLst>
              <a:gd name="adj" fmla="val 2308"/>
            </a:avLst>
          </a:prstGeom>
          <a:solidFill>
            <a:srgbClr val="E9EEF8"/>
          </a:solidFill>
          <a:ln w="12700">
            <a:solidFill>
              <a:srgbClr val="D2DBEC"/>
            </a:solidFill>
            <a:prstDash val="solid"/>
          </a:ln>
        </p:spPr>
      </p:sp>
      <p:sp>
        <p:nvSpPr>
          <p:cNvPr id="11" name="Shape 9"/>
          <p:cNvSpPr/>
          <p:nvPr/>
        </p:nvSpPr>
        <p:spPr>
          <a:xfrm>
            <a:off x="7699248" y="2203704"/>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7936992" y="2103120"/>
            <a:ext cx="351129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se recuerda</a:t>
            </a:r>
            <a:endParaRPr lang="en-US" sz="1400" dirty="0"/>
          </a:p>
        </p:txBody>
      </p:sp>
      <p:sp>
        <p:nvSpPr>
          <p:cNvPr id="13" name="Text 11"/>
          <p:cNvSpPr/>
          <p:nvPr/>
        </p:nvSpPr>
        <p:spPr>
          <a:xfrm>
            <a:off x="7699248" y="2505456"/>
            <a:ext cx="3703320" cy="170078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C3A55"/>
                </a:solidFill>
                <a:latin typeface="Calibri" pitchFamily="34" charset="0"/>
                <a:ea typeface="Calibri" pitchFamily="34" charset="-122"/>
                <a:cs typeface="Calibri" pitchFamily="34" charset="-120"/>
              </a:rPr>
              <a:t>Movió la normal de la astronomía a las ciencias sociales.</a:t>
            </a:r>
            <a:endParaRPr lang="en-US" sz="1200" dirty="0"/>
          </a:p>
          <a:p>
            <a:pPr marL="342900" indent="-342900">
              <a:spcAft>
                <a:spcPts val="800"/>
              </a:spcAft>
              <a:buSzPct val="100000"/>
              <a:buChar char="•"/>
            </a:pPr>
            <a:r>
              <a:rPr lang="en-US" sz="1200" dirty="0">
                <a:solidFill>
                  <a:srgbClr val="2C3A55"/>
                </a:solidFill>
                <a:latin typeface="Calibri" pitchFamily="34" charset="0"/>
                <a:ea typeface="Calibri" pitchFamily="34" charset="-122"/>
                <a:cs typeface="Calibri" pitchFamily="34" charset="-120"/>
              </a:rPr>
              <a:t>De ahí sale el índice de Quetelet, que hoy llamamos IMC.</a:t>
            </a:r>
            <a:endParaRPr lang="en-US" sz="1200" dirty="0"/>
          </a:p>
          <a:p>
            <a:pPr marL="342900" indent="-342900">
              <a:spcAft>
                <a:spcPts val="800"/>
              </a:spcAft>
              <a:buSzPct val="100000"/>
              <a:buChar char="•"/>
            </a:pPr>
            <a:r>
              <a:rPr lang="en-US" sz="1200" dirty="0">
                <a:solidFill>
                  <a:srgbClr val="2C3A55"/>
                </a:solidFill>
                <a:latin typeface="Calibri" pitchFamily="34" charset="0"/>
                <a:ea typeface="Calibri" pitchFamily="34" charset="-122"/>
                <a:cs typeface="Calibri" pitchFamily="34" charset="-120"/>
              </a:rPr>
              <a:t>Inauguró la idea de medir poblaciones con dos números: μ y σ.</a:t>
            </a:r>
            <a:endParaRPr lang="en-US" sz="1200" dirty="0"/>
          </a:p>
        </p:txBody>
      </p:sp>
      <p:sp>
        <p:nvSpPr>
          <p:cNvPr id="14" name="Shape 12"/>
          <p:cNvSpPr/>
          <p:nvPr/>
        </p:nvSpPr>
        <p:spPr>
          <a:xfrm>
            <a:off x="548640" y="4480560"/>
            <a:ext cx="11091672" cy="1536192"/>
          </a:xfrm>
          <a:prstGeom prst="roundRect">
            <a:avLst>
              <a:gd name="adj" fmla="val 3571"/>
            </a:avLst>
          </a:prstGeom>
          <a:solidFill>
            <a:srgbClr val="0A2559"/>
          </a:solidFill>
          <a:ln w="12700">
            <a:solidFill>
              <a:srgbClr val="0A2559"/>
            </a:solidFill>
            <a:prstDash val="solid"/>
          </a:ln>
        </p:spPr>
      </p:sp>
      <p:sp>
        <p:nvSpPr>
          <p:cNvPr id="15" name="Shape 13"/>
          <p:cNvSpPr/>
          <p:nvPr/>
        </p:nvSpPr>
        <p:spPr>
          <a:xfrm>
            <a:off x="804672" y="4727448"/>
            <a:ext cx="118872" cy="118872"/>
          </a:xfrm>
          <a:prstGeom prst="roundRect">
            <a:avLst>
              <a:gd name="adj" fmla="val 30769"/>
            </a:avLst>
          </a:prstGeom>
          <a:solidFill>
            <a:srgbClr val="E6115E"/>
          </a:solidFill>
          <a:ln w="12700">
            <a:solidFill>
              <a:srgbClr val="E6115E"/>
            </a:solidFill>
            <a:prstDash val="solid"/>
          </a:ln>
        </p:spPr>
      </p:sp>
      <p:sp>
        <p:nvSpPr>
          <p:cNvPr id="16" name="Text 14"/>
          <p:cNvSpPr/>
          <p:nvPr/>
        </p:nvSpPr>
        <p:spPr>
          <a:xfrm>
            <a:off x="1042416" y="4626864"/>
            <a:ext cx="102778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La lección incómoda — y es la razón de que este caso esté acá</a:t>
            </a:r>
            <a:endParaRPr lang="en-US" sz="1500" dirty="0"/>
          </a:p>
        </p:txBody>
      </p:sp>
      <p:sp>
        <p:nvSpPr>
          <p:cNvPr id="17" name="Text 15"/>
          <p:cNvSpPr/>
          <p:nvPr/>
        </p:nvSpPr>
        <p:spPr>
          <a:xfrm>
            <a:off x="804672" y="4992624"/>
            <a:ext cx="10515600" cy="932688"/>
          </a:xfrm>
          <a:prstGeom prst="rect">
            <a:avLst/>
          </a:prstGeom>
          <a:noFill/>
          <a:ln/>
        </p:spPr>
        <p:txBody>
          <a:bodyPr wrap="square" lIns="0" tIns="0" rIns="0" bIns="0" rtlCol="0" anchor="t"/>
          <a:lstStyle/>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Quetelet acertó en la descripción y se pasó de la raya en la interpretación: el «hombre medio» derivó en un programa donde el promedio era el ideal y la desviación un defecto, razonamiento que la eugenia del siglo XIX aprovechó sin dificultad.</a:t>
            </a:r>
            <a:endParaRPr lang="en-US" sz="1200" dirty="0"/>
          </a:p>
          <a:p>
            <a:pPr marL="0" indent="0" algn="l">
              <a:lnSpc>
                <a:spcPct val="108000"/>
              </a:lnSpc>
              <a:buNone/>
            </a:pPr>
            <a:endParaRPr lang="en-US" sz="1200" dirty="0"/>
          </a:p>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El mismo error se repite hoy en informes de riesgo. La distribución describe lo que hay, no lo que debería haber: «fuera de la norma» no significa «indebido».</a:t>
            </a:r>
            <a:endParaRPr lang="en-US" sz="1200" dirty="0"/>
          </a:p>
        </p:txBody>
      </p:sp>
      <p:sp>
        <p:nvSpPr>
          <p:cNvPr id="18" name="Text 16"/>
          <p:cNvSpPr/>
          <p:nvPr/>
        </p:nvSpPr>
        <p:spPr>
          <a:xfrm>
            <a:off x="548640" y="6108192"/>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Fuente: A. Quetelet, «Sur l'homme et le développement de ses facultés» (1835); datos originales publicados en el Edinburgh Medical and Surgical Journal, 1817.</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17373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17373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TLC</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Por qué la normal aparece aunque nadie la haya invitado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Tomamos la exponencial de la Clase 2 — asimétrica, nada normal — y promediamos. Miren qué pasa.</a:t>
            </a:r>
            <a:endParaRPr lang="en-US" sz="1400" dirty="0"/>
          </a:p>
        </p:txBody>
      </p:sp>
      <p:graphicFrame>
        <p:nvGraphicFramePr>
          <p:cNvPr id="6" name="Chart 0"/>
          <p:cNvGraphicFramePr/>
          <p:nvPr/>
        </p:nvGraphicFramePr>
        <p:xfrm>
          <a:off x="548640" y="1965960"/>
          <a:ext cx="70866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863840" y="1965960"/>
            <a:ext cx="3776472" cy="1371600"/>
          </a:xfrm>
          <a:prstGeom prst="roundRect">
            <a:avLst>
              <a:gd name="adj" fmla="val 4000"/>
            </a:avLst>
          </a:prstGeom>
          <a:solidFill>
            <a:srgbClr val="0A2559"/>
          </a:solidFill>
          <a:ln w="12700">
            <a:solidFill>
              <a:srgbClr val="0A2559"/>
            </a:solidFill>
            <a:prstDash val="solid"/>
          </a:ln>
        </p:spPr>
      </p:sp>
      <p:sp>
        <p:nvSpPr>
          <p:cNvPr id="8" name="Shape 5"/>
          <p:cNvSpPr/>
          <p:nvPr/>
        </p:nvSpPr>
        <p:spPr>
          <a:xfrm>
            <a:off x="8110728"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8348472" y="2130552"/>
            <a:ext cx="305409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enunciado, en una frase</a:t>
            </a:r>
            <a:endParaRPr lang="en-US" sz="1400" dirty="0"/>
          </a:p>
        </p:txBody>
      </p:sp>
      <p:sp>
        <p:nvSpPr>
          <p:cNvPr id="10" name="Text 7"/>
          <p:cNvSpPr/>
          <p:nvPr/>
        </p:nvSpPr>
        <p:spPr>
          <a:xfrm>
            <a:off x="8110728" y="2505456"/>
            <a:ext cx="3291840" cy="731520"/>
          </a:xfrm>
          <a:prstGeom prst="rect">
            <a:avLst/>
          </a:prstGeom>
          <a:noFill/>
          <a:ln/>
        </p:spPr>
        <p:txBody>
          <a:bodyPr wrap="square" lIns="0" tIns="0" rIns="0" bIns="0" rtlCol="0" anchor="t"/>
          <a:lstStyle/>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La media de una muestra grande se distribuye normal, sin importar de qué distribución vinieron los datos.</a:t>
            </a:r>
            <a:endParaRPr lang="en-US" sz="1200" dirty="0"/>
          </a:p>
        </p:txBody>
      </p:sp>
      <p:sp>
        <p:nvSpPr>
          <p:cNvPr id="11" name="Shape 8"/>
          <p:cNvSpPr/>
          <p:nvPr/>
        </p:nvSpPr>
        <p:spPr>
          <a:xfrm>
            <a:off x="7863840" y="3474720"/>
            <a:ext cx="3776472" cy="1170432"/>
          </a:xfrm>
          <a:prstGeom prst="roundRect">
            <a:avLst>
              <a:gd name="adj" fmla="val 4688"/>
            </a:avLst>
          </a:prstGeom>
          <a:solidFill>
            <a:srgbClr val="FFFFFF"/>
          </a:solidFill>
          <a:ln w="12700">
            <a:solidFill>
              <a:srgbClr val="D2DBEC"/>
            </a:solidFill>
            <a:prstDash val="solid"/>
          </a:ln>
        </p:spPr>
      </p:sp>
      <p:sp>
        <p:nvSpPr>
          <p:cNvPr id="12" name="Shape 9"/>
          <p:cNvSpPr/>
          <p:nvPr/>
        </p:nvSpPr>
        <p:spPr>
          <a:xfrm>
            <a:off x="8110728" y="3721608"/>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348472" y="3621024"/>
            <a:ext cx="305409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Y el ancho se encoge</a:t>
            </a:r>
            <a:endParaRPr lang="en-US" sz="1400" dirty="0"/>
          </a:p>
        </p:txBody>
      </p:sp>
      <p:sp>
        <p:nvSpPr>
          <p:cNvPr id="14" name="Text 11"/>
          <p:cNvSpPr/>
          <p:nvPr/>
        </p:nvSpPr>
        <p:spPr>
          <a:xfrm>
            <a:off x="8110728" y="3986784"/>
            <a:ext cx="3291840" cy="274320"/>
          </a:xfrm>
          <a:prstGeom prst="rect">
            <a:avLst/>
          </a:prstGeom>
          <a:noFill/>
          <a:ln/>
        </p:spPr>
        <p:txBody>
          <a:bodyPr wrap="square" lIns="0" tIns="0" rIns="0" bIns="0" rtlCol="0" anchor="ctr"/>
          <a:lstStyle/>
          <a:p>
            <a:pPr marL="0" indent="0">
              <a:buNone/>
            </a:pPr>
            <a:r>
              <a:rPr lang="en-US" sz="1350" b="1" dirty="0">
                <a:solidFill>
                  <a:srgbClr val="1A56E8"/>
                </a:solidFill>
                <a:latin typeface="Courier New" pitchFamily="34" charset="0"/>
                <a:ea typeface="Courier New" pitchFamily="34" charset="-122"/>
                <a:cs typeface="Courier New" pitchFamily="34" charset="-120"/>
              </a:rPr>
              <a:t>σ(x̄)  =  σ / √n</a:t>
            </a:r>
            <a:endParaRPr lang="en-US" sz="1350" dirty="0"/>
          </a:p>
        </p:txBody>
      </p:sp>
      <p:sp>
        <p:nvSpPr>
          <p:cNvPr id="15" name="Text 12"/>
          <p:cNvSpPr/>
          <p:nvPr/>
        </p:nvSpPr>
        <p:spPr>
          <a:xfrm>
            <a:off x="8110728" y="4279392"/>
            <a:ext cx="3291840" cy="292608"/>
          </a:xfrm>
          <a:prstGeom prst="rect">
            <a:avLst/>
          </a:prstGeom>
          <a:noFill/>
          <a:ln/>
        </p:spPr>
        <p:txBody>
          <a:bodyPr wrap="square" lIns="0" tIns="0" rIns="0" bIns="0" rtlCol="0" anchor="t"/>
          <a:lstStyle/>
          <a:p>
            <a:pPr marL="0" indent="0" algn="l">
              <a:lnSpc>
                <a:spcPct val="108000"/>
              </a:lnSpc>
              <a:buNone/>
            </a:pPr>
            <a:r>
              <a:rPr lang="en-US" sz="1150" dirty="0">
                <a:solidFill>
                  <a:srgbClr val="2C3A55"/>
                </a:solidFill>
                <a:latin typeface="Calibri" pitchFamily="34" charset="0"/>
                <a:ea typeface="Calibri" pitchFamily="34" charset="-122"/>
                <a:cs typeface="Calibri" pitchFamily="34" charset="-120"/>
              </a:rPr>
              <a:t>Con n = 30: 30 / √30 = 5.48 días de error estándar.</a:t>
            </a:r>
            <a:endParaRPr lang="en-US" sz="1150" dirty="0"/>
          </a:p>
        </p:txBody>
      </p:sp>
      <p:sp>
        <p:nvSpPr>
          <p:cNvPr id="16" name="Shape 13"/>
          <p:cNvSpPr/>
          <p:nvPr/>
        </p:nvSpPr>
        <p:spPr>
          <a:xfrm>
            <a:off x="7863840" y="4782312"/>
            <a:ext cx="3776472" cy="1417320"/>
          </a:xfrm>
          <a:prstGeom prst="roundRect">
            <a:avLst>
              <a:gd name="adj" fmla="val 3871"/>
            </a:avLst>
          </a:prstGeom>
          <a:solidFill>
            <a:srgbClr val="E9EEF8"/>
          </a:solidFill>
          <a:ln w="12700">
            <a:solidFill>
              <a:srgbClr val="D2DBEC"/>
            </a:solidFill>
            <a:prstDash val="solid"/>
          </a:ln>
        </p:spPr>
      </p:sp>
      <p:sp>
        <p:nvSpPr>
          <p:cNvPr id="17" name="Shape 14"/>
          <p:cNvSpPr/>
          <p:nvPr/>
        </p:nvSpPr>
        <p:spPr>
          <a:xfrm>
            <a:off x="8110728" y="5029200"/>
            <a:ext cx="118872" cy="118872"/>
          </a:xfrm>
          <a:prstGeom prst="roundRect">
            <a:avLst>
              <a:gd name="adj" fmla="val 30769"/>
            </a:avLst>
          </a:prstGeom>
          <a:solidFill>
            <a:srgbClr val="1A56E8"/>
          </a:solidFill>
          <a:ln w="12700">
            <a:solidFill>
              <a:srgbClr val="1A56E8"/>
            </a:solidFill>
            <a:prstDash val="solid"/>
          </a:ln>
        </p:spPr>
      </p:sp>
      <p:sp>
        <p:nvSpPr>
          <p:cNvPr id="18" name="Text 15"/>
          <p:cNvSpPr/>
          <p:nvPr/>
        </p:nvSpPr>
        <p:spPr>
          <a:xfrm>
            <a:off x="8348472" y="4928616"/>
            <a:ext cx="305409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frase que quiero que repitan</a:t>
            </a:r>
            <a:endParaRPr lang="en-US" sz="1400" dirty="0"/>
          </a:p>
        </p:txBody>
      </p:sp>
      <p:sp>
        <p:nvSpPr>
          <p:cNvPr id="19" name="Text 16"/>
          <p:cNvSpPr/>
          <p:nvPr/>
        </p:nvSpPr>
        <p:spPr>
          <a:xfrm>
            <a:off x="8110728" y="5303520"/>
            <a:ext cx="3291840" cy="777240"/>
          </a:xfrm>
          <a:prstGeom prst="rect">
            <a:avLst/>
          </a:prstGeom>
          <a:noFill/>
          <a:ln/>
        </p:spPr>
        <p:txBody>
          <a:bodyPr wrap="square" lIns="0" tIns="0" rIns="0" bIns="0" rtlCol="0" anchor="t"/>
          <a:lstStyle/>
          <a:p>
            <a:pPr marL="0" indent="0" algn="l">
              <a:lnSpc>
                <a:spcPct val="108000"/>
              </a:lnSpc>
              <a:buNone/>
            </a:pPr>
            <a:r>
              <a:rPr lang="en-US" sz="1200" dirty="0">
                <a:solidFill>
                  <a:srgbClr val="2C3A55"/>
                </a:solidFill>
                <a:latin typeface="Calibri" pitchFamily="34" charset="0"/>
                <a:ea typeface="Calibri" pitchFamily="34" charset="-122"/>
                <a:cs typeface="Calibri" pitchFamily="34" charset="-120"/>
              </a:rPr>
              <a:t>El TLC no vuelve normales tus datos. Vuelve normal tu estadístico. Los datos crudos siguen siendo tan torcidos como siempre.</a:t>
            </a:r>
            <a:endParaRPr lang="en-US" sz="1200" dirty="0"/>
          </a:p>
        </p:txBody>
      </p:sp>
      <p:sp>
        <p:nvSpPr>
          <p:cNvPr id="20" name="Text 17"/>
          <p:cNvSpPr/>
          <p:nvPr/>
        </p:nvSpPr>
        <p:spPr>
          <a:xfrm>
            <a:off x="548640" y="5650992"/>
            <a:ext cx="7086600" cy="548640"/>
          </a:xfrm>
          <a:prstGeom prst="rect">
            <a:avLst/>
          </a:prstGeom>
          <a:noFill/>
          <a:ln/>
        </p:spPr>
        <p:txBody>
          <a:bodyPr wrap="square" lIns="0" tIns="0" rIns="0" bIns="0" rtlCol="0" anchor="t"/>
          <a:lstStyle/>
          <a:p>
            <a:pPr marL="0" indent="0">
              <a:lnSpc>
                <a:spcPct val="110000"/>
              </a:lnSpc>
              <a:buNone/>
            </a:pPr>
            <a:r>
              <a:rPr lang="en-US" sz="1050" i="1" dirty="0">
                <a:solidFill>
                  <a:srgbClr val="5B6B87"/>
                </a:solidFill>
                <a:latin typeface="Calibri" pitchFamily="34" charset="0"/>
                <a:ea typeface="Calibri" pitchFamily="34" charset="-122"/>
                <a:cs typeface="Calibri" pitchFamily="34" charset="-120"/>
              </a:rPr>
              <a:t>Simulación determinista: 60 000 réplicas de Exp(media = 30 días),</a:t>
            </a:r>
            <a:endParaRPr lang="en-US" sz="1050" dirty="0"/>
          </a:p>
          <a:p>
            <a:pPr marL="0" indent="0">
              <a:lnSpc>
                <a:spcPct val="110000"/>
              </a:lnSpc>
              <a:buNone/>
            </a:pPr>
            <a:r>
              <a:rPr lang="en-US" sz="1050" i="1" dirty="0">
                <a:solidFill>
                  <a:srgbClr val="5B6B87"/>
                </a:solidFill>
                <a:latin typeface="Calibri" pitchFamily="34" charset="0"/>
                <a:ea typeface="Calibri" pitchFamily="34" charset="-122"/>
                <a:cs typeface="Calibri" pitchFamily="34" charset="-120"/>
              </a:rPr>
              <a:t>generador sembrado con SEED = 42. La curva n = 1 es la densidad exacta.</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1945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1945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LETRA CHICA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Cuatro cosas que el TLC no dice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Cada una de estas es un error que ya viste en un informe, aunque no lo hayas identificado.</a:t>
            </a:r>
            <a:endParaRPr lang="en-US" sz="1400" dirty="0"/>
          </a:p>
        </p:txBody>
      </p:sp>
      <p:sp>
        <p:nvSpPr>
          <p:cNvPr id="6" name="Shape 4"/>
          <p:cNvSpPr/>
          <p:nvPr/>
        </p:nvSpPr>
        <p:spPr>
          <a:xfrm>
            <a:off x="548640" y="2011680"/>
            <a:ext cx="5422392" cy="1874520"/>
          </a:xfrm>
          <a:prstGeom prst="roundRect">
            <a:avLst>
              <a:gd name="adj" fmla="val 2927"/>
            </a:avLst>
          </a:prstGeom>
          <a:solidFill>
            <a:srgbClr val="FFFFFF"/>
          </a:solidFill>
          <a:ln w="12700">
            <a:solidFill>
              <a:srgbClr val="D2DBEC"/>
            </a:solidFill>
            <a:prstDash val="solid"/>
          </a:ln>
        </p:spPr>
      </p:sp>
      <p:sp>
        <p:nvSpPr>
          <p:cNvPr id="7" name="Shape 5"/>
          <p:cNvSpPr/>
          <p:nvPr/>
        </p:nvSpPr>
        <p:spPr>
          <a:xfrm>
            <a:off x="749808" y="2212848"/>
            <a:ext cx="658368" cy="402336"/>
          </a:xfrm>
          <a:prstGeom prst="roundRect">
            <a:avLst>
              <a:gd name="adj" fmla="val 13636"/>
            </a:avLst>
          </a:prstGeom>
          <a:solidFill>
            <a:srgbClr val="E6115E"/>
          </a:solidFill>
          <a:ln w="12700">
            <a:solidFill>
              <a:srgbClr val="E6115E"/>
            </a:solidFill>
            <a:prstDash val="solid"/>
          </a:ln>
        </p:spPr>
      </p:sp>
      <p:sp>
        <p:nvSpPr>
          <p:cNvPr id="8" name="Text 6"/>
          <p:cNvSpPr/>
          <p:nvPr/>
        </p:nvSpPr>
        <p:spPr>
          <a:xfrm>
            <a:off x="749808" y="2212848"/>
            <a:ext cx="65836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No</a:t>
            </a:r>
            <a:endParaRPr lang="en-US" sz="1500" dirty="0"/>
          </a:p>
        </p:txBody>
      </p:sp>
      <p:sp>
        <p:nvSpPr>
          <p:cNvPr id="9" name="Text 7"/>
          <p:cNvSpPr/>
          <p:nvPr/>
        </p:nvSpPr>
        <p:spPr>
          <a:xfrm>
            <a:off x="1517904" y="2194560"/>
            <a:ext cx="4251960" cy="43891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«tus datos se vuelven normales»</a:t>
            </a:r>
            <a:endParaRPr lang="en-US" sz="1400" dirty="0"/>
          </a:p>
        </p:txBody>
      </p:sp>
      <p:sp>
        <p:nvSpPr>
          <p:cNvPr id="10" name="Text 8"/>
          <p:cNvSpPr/>
          <p:nvPr/>
        </p:nvSpPr>
        <p:spPr>
          <a:xfrm>
            <a:off x="749808" y="2724912"/>
            <a:ext cx="5029200" cy="100584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Lo que se vuelve normal es la media muestral. El histograma de los datos crudos no cambia. Si vas a modelar montos individuales, el TLC no te sirve de nada.</a:t>
            </a:r>
            <a:endParaRPr lang="en-US" sz="1200" dirty="0"/>
          </a:p>
        </p:txBody>
      </p:sp>
      <p:sp>
        <p:nvSpPr>
          <p:cNvPr id="11" name="Shape 9"/>
          <p:cNvSpPr/>
          <p:nvPr/>
        </p:nvSpPr>
        <p:spPr>
          <a:xfrm>
            <a:off x="6217920" y="2011680"/>
            <a:ext cx="5422392" cy="1874520"/>
          </a:xfrm>
          <a:prstGeom prst="roundRect">
            <a:avLst>
              <a:gd name="adj" fmla="val 2927"/>
            </a:avLst>
          </a:prstGeom>
          <a:solidFill>
            <a:srgbClr val="FFFFFF"/>
          </a:solidFill>
          <a:ln w="12700">
            <a:solidFill>
              <a:srgbClr val="D2DBEC"/>
            </a:solidFill>
            <a:prstDash val="solid"/>
          </a:ln>
        </p:spPr>
      </p:sp>
      <p:sp>
        <p:nvSpPr>
          <p:cNvPr id="12" name="Shape 10"/>
          <p:cNvSpPr/>
          <p:nvPr/>
        </p:nvSpPr>
        <p:spPr>
          <a:xfrm>
            <a:off x="6419088" y="2212848"/>
            <a:ext cx="658368" cy="402336"/>
          </a:xfrm>
          <a:prstGeom prst="roundRect">
            <a:avLst>
              <a:gd name="adj" fmla="val 13636"/>
            </a:avLst>
          </a:prstGeom>
          <a:solidFill>
            <a:srgbClr val="E6115E"/>
          </a:solidFill>
          <a:ln w="12700">
            <a:solidFill>
              <a:srgbClr val="E6115E"/>
            </a:solidFill>
            <a:prstDash val="solid"/>
          </a:ln>
        </p:spPr>
      </p:sp>
      <p:sp>
        <p:nvSpPr>
          <p:cNvPr id="13" name="Text 11"/>
          <p:cNvSpPr/>
          <p:nvPr/>
        </p:nvSpPr>
        <p:spPr>
          <a:xfrm>
            <a:off x="6419088" y="2212848"/>
            <a:ext cx="65836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No</a:t>
            </a:r>
            <a:endParaRPr lang="en-US" sz="1500" dirty="0"/>
          </a:p>
        </p:txBody>
      </p:sp>
      <p:sp>
        <p:nvSpPr>
          <p:cNvPr id="14" name="Text 12"/>
          <p:cNvSpPr/>
          <p:nvPr/>
        </p:nvSpPr>
        <p:spPr>
          <a:xfrm>
            <a:off x="7187184" y="2194560"/>
            <a:ext cx="4251960" cy="43891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«con n = 30 siempre alcanza»</a:t>
            </a:r>
            <a:endParaRPr lang="en-US" sz="1400" dirty="0"/>
          </a:p>
        </p:txBody>
      </p:sp>
      <p:sp>
        <p:nvSpPr>
          <p:cNvPr id="15" name="Text 13"/>
          <p:cNvSpPr/>
          <p:nvPr/>
        </p:nvSpPr>
        <p:spPr>
          <a:xfrm>
            <a:off x="6419088" y="2724912"/>
            <a:ext cx="5029200" cy="100584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30 es una regla de dedo para asimetría moderada. Con montos muy asimétricos o eventos raros puedes necesitar cientos o miles. La forma de convergencia depende de la asimetría, no de un número mágico.</a:t>
            </a:r>
            <a:endParaRPr lang="en-US" sz="1200" dirty="0"/>
          </a:p>
        </p:txBody>
      </p:sp>
      <p:sp>
        <p:nvSpPr>
          <p:cNvPr id="16" name="Shape 14"/>
          <p:cNvSpPr/>
          <p:nvPr/>
        </p:nvSpPr>
        <p:spPr>
          <a:xfrm>
            <a:off x="548640" y="4096512"/>
            <a:ext cx="5422392" cy="1874520"/>
          </a:xfrm>
          <a:prstGeom prst="roundRect">
            <a:avLst>
              <a:gd name="adj" fmla="val 2927"/>
            </a:avLst>
          </a:prstGeom>
          <a:solidFill>
            <a:srgbClr val="FFFFFF"/>
          </a:solidFill>
          <a:ln w="12700">
            <a:solidFill>
              <a:srgbClr val="D2DBEC"/>
            </a:solidFill>
            <a:prstDash val="solid"/>
          </a:ln>
        </p:spPr>
      </p:sp>
      <p:sp>
        <p:nvSpPr>
          <p:cNvPr id="17" name="Shape 15"/>
          <p:cNvSpPr/>
          <p:nvPr/>
        </p:nvSpPr>
        <p:spPr>
          <a:xfrm>
            <a:off x="749808" y="4297680"/>
            <a:ext cx="658368" cy="402336"/>
          </a:xfrm>
          <a:prstGeom prst="roundRect">
            <a:avLst>
              <a:gd name="adj" fmla="val 13636"/>
            </a:avLst>
          </a:prstGeom>
          <a:solidFill>
            <a:srgbClr val="E6115E"/>
          </a:solidFill>
          <a:ln w="12700">
            <a:solidFill>
              <a:srgbClr val="E6115E"/>
            </a:solidFill>
            <a:prstDash val="solid"/>
          </a:ln>
        </p:spPr>
      </p:sp>
      <p:sp>
        <p:nvSpPr>
          <p:cNvPr id="18" name="Text 16"/>
          <p:cNvSpPr/>
          <p:nvPr/>
        </p:nvSpPr>
        <p:spPr>
          <a:xfrm>
            <a:off x="749808" y="4297680"/>
            <a:ext cx="65836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No</a:t>
            </a:r>
            <a:endParaRPr lang="en-US" sz="1500" dirty="0"/>
          </a:p>
        </p:txBody>
      </p:sp>
      <p:sp>
        <p:nvSpPr>
          <p:cNvPr id="19" name="Text 17"/>
          <p:cNvSpPr/>
          <p:nvPr/>
        </p:nvSpPr>
        <p:spPr>
          <a:xfrm>
            <a:off x="1517904" y="4279392"/>
            <a:ext cx="4251960" cy="43891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«aplica a máximos y percentiles extremos»</a:t>
            </a:r>
            <a:endParaRPr lang="en-US" sz="1400" dirty="0"/>
          </a:p>
        </p:txBody>
      </p:sp>
      <p:sp>
        <p:nvSpPr>
          <p:cNvPr id="20" name="Text 18"/>
          <p:cNvSpPr/>
          <p:nvPr/>
        </p:nvSpPr>
        <p:spPr>
          <a:xfrm>
            <a:off x="749808" y="4809744"/>
            <a:ext cx="5029200" cy="100584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El TLC habla de promedios. El máximo de una muestra tiene su propia teoría (valores extremos, Gumbel/Fréchet). Modelar la pérdida máxima con una normal es un error clásico y caro.</a:t>
            </a:r>
            <a:endParaRPr lang="en-US" sz="1200" dirty="0"/>
          </a:p>
        </p:txBody>
      </p:sp>
      <p:sp>
        <p:nvSpPr>
          <p:cNvPr id="21" name="Shape 19"/>
          <p:cNvSpPr/>
          <p:nvPr/>
        </p:nvSpPr>
        <p:spPr>
          <a:xfrm>
            <a:off x="6217920" y="4096512"/>
            <a:ext cx="5422392" cy="1874520"/>
          </a:xfrm>
          <a:prstGeom prst="roundRect">
            <a:avLst>
              <a:gd name="adj" fmla="val 2927"/>
            </a:avLst>
          </a:prstGeom>
          <a:solidFill>
            <a:srgbClr val="FFFFFF"/>
          </a:solidFill>
          <a:ln w="12700">
            <a:solidFill>
              <a:srgbClr val="D2DBEC"/>
            </a:solidFill>
            <a:prstDash val="solid"/>
          </a:ln>
        </p:spPr>
      </p:sp>
      <p:sp>
        <p:nvSpPr>
          <p:cNvPr id="22" name="Shape 20"/>
          <p:cNvSpPr/>
          <p:nvPr/>
        </p:nvSpPr>
        <p:spPr>
          <a:xfrm>
            <a:off x="6419088" y="4297680"/>
            <a:ext cx="658368" cy="402336"/>
          </a:xfrm>
          <a:prstGeom prst="roundRect">
            <a:avLst>
              <a:gd name="adj" fmla="val 13636"/>
            </a:avLst>
          </a:prstGeom>
          <a:solidFill>
            <a:srgbClr val="E6115E"/>
          </a:solidFill>
          <a:ln w="12700">
            <a:solidFill>
              <a:srgbClr val="E6115E"/>
            </a:solidFill>
            <a:prstDash val="solid"/>
          </a:ln>
        </p:spPr>
      </p:sp>
      <p:sp>
        <p:nvSpPr>
          <p:cNvPr id="23" name="Text 21"/>
          <p:cNvSpPr/>
          <p:nvPr/>
        </p:nvSpPr>
        <p:spPr>
          <a:xfrm>
            <a:off x="6419088" y="4297680"/>
            <a:ext cx="658368"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No</a:t>
            </a:r>
            <a:endParaRPr lang="en-US" sz="1500" dirty="0"/>
          </a:p>
        </p:txBody>
      </p:sp>
      <p:sp>
        <p:nvSpPr>
          <p:cNvPr id="24" name="Text 22"/>
          <p:cNvSpPr/>
          <p:nvPr/>
        </p:nvSpPr>
        <p:spPr>
          <a:xfrm>
            <a:off x="7187184" y="4279392"/>
            <a:ext cx="4251960" cy="43891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«funciona siempre»</a:t>
            </a:r>
            <a:endParaRPr lang="en-US" sz="1400" dirty="0"/>
          </a:p>
        </p:txBody>
      </p:sp>
      <p:sp>
        <p:nvSpPr>
          <p:cNvPr id="25" name="Text 23"/>
          <p:cNvSpPr/>
          <p:nvPr/>
        </p:nvSpPr>
        <p:spPr>
          <a:xfrm>
            <a:off x="6419088" y="4809744"/>
            <a:ext cx="5029200" cy="100584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Exige independencia y varianza finita. Con datos autocorrelacionados (series de tiempo) o colas muy pesadas, la convergencia es lentísima o no ocurre.</a:t>
            </a:r>
            <a:endParaRPr lang="en-US" sz="1200" dirty="0"/>
          </a:p>
        </p:txBody>
      </p:sp>
      <p:sp>
        <p:nvSpPr>
          <p:cNvPr id="26" name="Text 24"/>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Los cuatro se detectan igual: pregúntate si el enunciado habla de un promedio o de un dato individual. Si habla de un dato individual, el TLC no aplica.</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PUENTE CON LA CLASE 2</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Cuando no es normal, prueba con el logaritmo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Muchísimas variables de negocio no son normales — pero su logaritmo sí. Eso tiene nombre: lognormal.</a:t>
            </a:r>
            <a:endParaRPr lang="en-US" sz="1400" dirty="0"/>
          </a:p>
        </p:txBody>
      </p:sp>
      <p:graphicFrame>
        <p:nvGraphicFramePr>
          <p:cNvPr id="6" name="Chart 0"/>
          <p:cNvGraphicFramePr/>
          <p:nvPr/>
        </p:nvGraphicFramePr>
        <p:xfrm>
          <a:off x="548640" y="1965960"/>
          <a:ext cx="5852160"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629400" y="1965960"/>
            <a:ext cx="5010912" cy="1298448"/>
          </a:xfrm>
          <a:prstGeom prst="roundRect">
            <a:avLst>
              <a:gd name="adj" fmla="val 4225"/>
            </a:avLst>
          </a:prstGeom>
          <a:solidFill>
            <a:srgbClr val="0A2559"/>
          </a:solidFill>
          <a:ln w="12700">
            <a:solidFill>
              <a:srgbClr val="0A2559"/>
            </a:solidFill>
            <a:prstDash val="solid"/>
          </a:ln>
        </p:spPr>
      </p:sp>
      <p:sp>
        <p:nvSpPr>
          <p:cNvPr id="8" name="Shape 5"/>
          <p:cNvSpPr/>
          <p:nvPr/>
        </p:nvSpPr>
        <p:spPr>
          <a:xfrm>
            <a:off x="6876288"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7114032" y="2130552"/>
            <a:ext cx="43342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 definición</a:t>
            </a:r>
            <a:endParaRPr lang="en-US" sz="1400" dirty="0"/>
          </a:p>
        </p:txBody>
      </p:sp>
      <p:sp>
        <p:nvSpPr>
          <p:cNvPr id="10" name="Text 7"/>
          <p:cNvSpPr/>
          <p:nvPr/>
        </p:nvSpPr>
        <p:spPr>
          <a:xfrm>
            <a:off x="6876288" y="2487168"/>
            <a:ext cx="4526280" cy="292608"/>
          </a:xfrm>
          <a:prstGeom prst="rect">
            <a:avLst/>
          </a:prstGeom>
          <a:noFill/>
          <a:ln/>
        </p:spPr>
        <p:txBody>
          <a:bodyPr wrap="square" lIns="0" tIns="0" rIns="0" bIns="0" rtlCol="0" anchor="ctr"/>
          <a:lstStyle/>
          <a:p>
            <a:pPr marL="0" indent="0">
              <a:buNone/>
            </a:pPr>
            <a:r>
              <a:rPr lang="en-US" sz="1150" b="1" dirty="0">
                <a:solidFill>
                  <a:srgbClr val="4A82FF"/>
                </a:solidFill>
                <a:latin typeface="Courier New" pitchFamily="34" charset="0"/>
                <a:ea typeface="Courier New" pitchFamily="34" charset="-122"/>
                <a:cs typeface="Courier New" pitchFamily="34" charset="-120"/>
              </a:rPr>
              <a:t>log(X) ~ N(μ, σ²)   ⟺   X ~ Lognormal</a:t>
            </a:r>
            <a:endParaRPr lang="en-US" sz="1150" dirty="0"/>
          </a:p>
        </p:txBody>
      </p:sp>
      <p:sp>
        <p:nvSpPr>
          <p:cNvPr id="11" name="Text 8"/>
          <p:cNvSpPr/>
          <p:nvPr/>
        </p:nvSpPr>
        <p:spPr>
          <a:xfrm>
            <a:off x="6876288" y="2816352"/>
            <a:ext cx="4526280" cy="292608"/>
          </a:xfrm>
          <a:prstGeom prst="rect">
            <a:avLst/>
          </a:prstGeom>
          <a:noFill/>
          <a:ln/>
        </p:spPr>
        <p:txBody>
          <a:bodyPr wrap="square" lIns="0" tIns="0" rIns="0" bIns="0" rtlCol="0" anchor="t"/>
          <a:lstStyle/>
          <a:p>
            <a:pPr marL="0" indent="0" algn="l">
              <a:lnSpc>
                <a:spcPct val="108000"/>
              </a:lnSpc>
              <a:buNone/>
            </a:pPr>
            <a:r>
              <a:rPr lang="en-US" sz="1150" dirty="0">
                <a:solidFill>
                  <a:srgbClr val="C9D6F2"/>
                </a:solidFill>
                <a:latin typeface="Calibri" pitchFamily="34" charset="0"/>
                <a:ea typeface="Calibri" pitchFamily="34" charset="-122"/>
                <a:cs typeface="Calibri" pitchFamily="34" charset="-120"/>
              </a:rPr>
              <a:t>Ojo: μ y σ son los de la escala logarítmica, no los del monto.</a:t>
            </a:r>
            <a:endParaRPr lang="en-US" sz="1150" dirty="0"/>
          </a:p>
        </p:txBody>
      </p:sp>
      <p:sp>
        <p:nvSpPr>
          <p:cNvPr id="12" name="Shape 9"/>
          <p:cNvSpPr/>
          <p:nvPr/>
        </p:nvSpPr>
        <p:spPr>
          <a:xfrm>
            <a:off x="6629400" y="3401568"/>
            <a:ext cx="5010912" cy="1261872"/>
          </a:xfrm>
          <a:prstGeom prst="roundRect">
            <a:avLst>
              <a:gd name="adj" fmla="val 4348"/>
            </a:avLst>
          </a:prstGeom>
          <a:solidFill>
            <a:srgbClr val="FFFFFF"/>
          </a:solidFill>
          <a:ln w="12700">
            <a:solidFill>
              <a:srgbClr val="D2DBEC"/>
            </a:solidFill>
            <a:prstDash val="solid"/>
          </a:ln>
        </p:spPr>
      </p:sp>
      <p:sp>
        <p:nvSpPr>
          <p:cNvPr id="13" name="Shape 10"/>
          <p:cNvSpPr/>
          <p:nvPr/>
        </p:nvSpPr>
        <p:spPr>
          <a:xfrm>
            <a:off x="6876288" y="3648456"/>
            <a:ext cx="118872" cy="118872"/>
          </a:xfrm>
          <a:prstGeom prst="roundRect">
            <a:avLst>
              <a:gd name="adj" fmla="val 30769"/>
            </a:avLst>
          </a:prstGeom>
          <a:solidFill>
            <a:srgbClr val="E6115E"/>
          </a:solidFill>
          <a:ln w="12700">
            <a:solidFill>
              <a:srgbClr val="E6115E"/>
            </a:solidFill>
            <a:prstDash val="solid"/>
          </a:ln>
        </p:spPr>
      </p:sp>
      <p:sp>
        <p:nvSpPr>
          <p:cNvPr id="14" name="Text 11"/>
          <p:cNvSpPr/>
          <p:nvPr/>
        </p:nvSpPr>
        <p:spPr>
          <a:xfrm>
            <a:off x="7114032" y="3547872"/>
            <a:ext cx="43342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media ya no es el centro</a:t>
            </a:r>
            <a:endParaRPr lang="en-US" sz="1400" dirty="0"/>
          </a:p>
        </p:txBody>
      </p:sp>
      <p:sp>
        <p:nvSpPr>
          <p:cNvPr id="15" name="Text 12"/>
          <p:cNvSpPr/>
          <p:nvPr/>
        </p:nvSpPr>
        <p:spPr>
          <a:xfrm>
            <a:off x="6876288" y="3913632"/>
            <a:ext cx="4526280" cy="658368"/>
          </a:xfrm>
          <a:prstGeom prst="rect">
            <a:avLst/>
          </a:prstGeom>
          <a:noFill/>
          <a:ln/>
        </p:spPr>
        <p:txBody>
          <a:bodyPr wrap="square" lIns="0" tIns="0" rIns="0" bIns="0" rtlCol="0" anchor="t"/>
          <a:lstStyle/>
          <a:p>
            <a:pPr marL="0" indent="0" algn="l">
              <a:lnSpc>
                <a:spcPct val="106000"/>
              </a:lnSpc>
              <a:buNone/>
            </a:pPr>
            <a:r>
              <a:rPr lang="en-US" sz="1200" dirty="0">
                <a:solidFill>
                  <a:srgbClr val="2C3A55"/>
                </a:solidFill>
                <a:latin typeface="Calibri" pitchFamily="34" charset="0"/>
                <a:ea typeface="Calibri" pitchFamily="34" charset="-122"/>
                <a:cs typeface="Calibri" pitchFamily="34" charset="-120"/>
              </a:rPr>
              <a:t>Con estos parámetros: mediana = S/ 2 348, media = S/ 3 000. La media es mayor porque la cola derecha la arrastra. En variables lognormales, reportar la media sin la mediana da una impresión falsa.</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4800600"/>
          <a:ext cx="11091672" cy="914400"/>
        </p:xfrm>
        <a:graphic>
          <a:graphicData uri="http://schemas.openxmlformats.org/drawingml/2006/table">
            <a:tbl>
              <a:tblPr/>
              <a:tblGrid>
                <a:gridCol w="31089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5239512">
                  <a:extLst>
                    <a:ext uri="{9D8B030D-6E8A-4147-A177-3AD203B41FA5}">
                      <a16:colId xmlns:a16="http://schemas.microsoft.com/office/drawing/2014/main" val="20003"/>
                    </a:ext>
                  </a:extLst>
                </a:gridCol>
              </a:tblGrid>
              <a:tr h="27432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Variable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¿Normal?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¿Y su log?</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Por qué</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274320">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Monto de transacción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Sí, aprox.</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No puede ser negativo y tiene cola derecha larga.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Ingreso mensual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Sí, aprox.</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Efectos multiplicativos: los aumentos son porcentuales.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Tiempo de resolución de un caso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A menudo sí</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Muchos casos rápidos, unos pocos eternos.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Score de riesgo (logit)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Aprox. sí</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No aplica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Ya es una suma de muchos efectos: TLC en acción.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7" name="Text 13"/>
          <p:cNvSpPr/>
          <p:nvPr/>
        </p:nvSpPr>
        <p:spPr>
          <a:xfrm>
            <a:off x="548640" y="6309360"/>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Regla operativa: si la variable es un monto, un tiempo o una cuenta que no puede ser negativa, prueba log antes de asumir normalidad.</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LAS TRES HIJAS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χ², t y F: todas nacen de la normal</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No son tres temas nuevos. Son tres maneras de combinar normales, y cada una responde una pregunta distinta.</a:t>
            </a:r>
            <a:endParaRPr lang="en-US" sz="1400" dirty="0"/>
          </a:p>
        </p:txBody>
      </p:sp>
      <p:sp>
        <p:nvSpPr>
          <p:cNvPr id="6" name="Shape 4"/>
          <p:cNvSpPr/>
          <p:nvPr/>
        </p:nvSpPr>
        <p:spPr>
          <a:xfrm>
            <a:off x="548640" y="1993392"/>
            <a:ext cx="3520440" cy="4114800"/>
          </a:xfrm>
          <a:prstGeom prst="roundRect">
            <a:avLst>
              <a:gd name="adj" fmla="val 1558"/>
            </a:avLst>
          </a:prstGeom>
          <a:solidFill>
            <a:srgbClr val="FFFFFF"/>
          </a:solidFill>
          <a:ln w="12700">
            <a:solidFill>
              <a:srgbClr val="D2DBEC"/>
            </a:solidFill>
            <a:prstDash val="solid"/>
          </a:ln>
        </p:spPr>
      </p:sp>
      <p:sp>
        <p:nvSpPr>
          <p:cNvPr id="7" name="Shape 5"/>
          <p:cNvSpPr/>
          <p:nvPr/>
        </p:nvSpPr>
        <p:spPr>
          <a:xfrm>
            <a:off x="777240" y="2212848"/>
            <a:ext cx="3063240" cy="658368"/>
          </a:xfrm>
          <a:prstGeom prst="roundRect">
            <a:avLst>
              <a:gd name="adj" fmla="val 8333"/>
            </a:avLst>
          </a:prstGeom>
          <a:solidFill>
            <a:srgbClr val="1A56E8"/>
          </a:solidFill>
          <a:ln w="12700">
            <a:solidFill>
              <a:srgbClr val="1A56E8"/>
            </a:solidFill>
            <a:prstDash val="solid"/>
          </a:ln>
        </p:spPr>
      </p:sp>
      <p:sp>
        <p:nvSpPr>
          <p:cNvPr id="8" name="Text 6"/>
          <p:cNvSpPr/>
          <p:nvPr/>
        </p:nvSpPr>
        <p:spPr>
          <a:xfrm>
            <a:off x="777240" y="2212848"/>
            <a:ext cx="3063240"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χ²(ν)</a:t>
            </a:r>
            <a:endParaRPr lang="en-US" sz="2200" dirty="0"/>
          </a:p>
        </p:txBody>
      </p:sp>
      <p:sp>
        <p:nvSpPr>
          <p:cNvPr id="9" name="Text 7"/>
          <p:cNvSpPr/>
          <p:nvPr/>
        </p:nvSpPr>
        <p:spPr>
          <a:xfrm>
            <a:off x="777240" y="2944368"/>
            <a:ext cx="3063240" cy="237744"/>
          </a:xfrm>
          <a:prstGeom prst="rect">
            <a:avLst/>
          </a:prstGeom>
          <a:noFill/>
          <a:ln/>
        </p:spPr>
        <p:txBody>
          <a:bodyPr wrap="square" lIns="0" tIns="0" rIns="0" bIns="0" rtlCol="0" anchor="t"/>
          <a:lstStyle/>
          <a:p>
            <a:pPr marL="0" indent="0" algn="ctr">
              <a:lnSpc>
                <a:spcPct val="108000"/>
              </a:lnSpc>
              <a:buNone/>
            </a:pPr>
            <a:r>
              <a:rPr lang="en-US" sz="1100" i="1" dirty="0">
                <a:solidFill>
                  <a:srgbClr val="5B6B87"/>
                </a:solidFill>
                <a:latin typeface="Calibri" pitchFamily="34" charset="0"/>
                <a:ea typeface="Calibri" pitchFamily="34" charset="-122"/>
                <a:cs typeface="Calibri" pitchFamily="34" charset="-120"/>
              </a:rPr>
              <a:t>«chi cuadrado»</a:t>
            </a:r>
            <a:endParaRPr lang="en-US" sz="1100" dirty="0"/>
          </a:p>
        </p:txBody>
      </p:sp>
      <p:sp>
        <p:nvSpPr>
          <p:cNvPr id="10" name="Text 8"/>
          <p:cNvSpPr/>
          <p:nvPr/>
        </p:nvSpPr>
        <p:spPr>
          <a:xfrm>
            <a:off x="777240" y="3273552"/>
            <a:ext cx="3063240" cy="219456"/>
          </a:xfrm>
          <a:prstGeom prst="rect">
            <a:avLst/>
          </a:prstGeom>
          <a:noFill/>
          <a:ln/>
        </p:spPr>
        <p:txBody>
          <a:bodyPr wrap="square" lIns="0" tIns="0" rIns="0" bIns="0" rtlCol="0" anchor="ctr"/>
          <a:lstStyle/>
          <a:p>
            <a:pPr marL="0" indent="0">
              <a:buNone/>
            </a:pPr>
            <a:r>
              <a:rPr lang="en-US" sz="1050" b="1" kern="0" spc="60" dirty="0">
                <a:solidFill>
                  <a:srgbClr val="1A56E8"/>
                </a:solidFill>
                <a:latin typeface="Calibri" pitchFamily="34" charset="0"/>
                <a:ea typeface="Calibri" pitchFamily="34" charset="-122"/>
                <a:cs typeface="Calibri" pitchFamily="34" charset="-120"/>
              </a:rPr>
              <a:t>Qué es</a:t>
            </a:r>
            <a:endParaRPr lang="en-US" sz="1050" dirty="0"/>
          </a:p>
        </p:txBody>
      </p:sp>
      <p:sp>
        <p:nvSpPr>
          <p:cNvPr id="11" name="Text 9"/>
          <p:cNvSpPr/>
          <p:nvPr/>
        </p:nvSpPr>
        <p:spPr>
          <a:xfrm>
            <a:off x="777240" y="3511296"/>
            <a:ext cx="3063240" cy="65836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Suma de ν normales estándar al cuadrado.</a:t>
            </a:r>
            <a:endParaRPr lang="en-US" sz="1150" dirty="0"/>
          </a:p>
        </p:txBody>
      </p:sp>
      <p:sp>
        <p:nvSpPr>
          <p:cNvPr id="12" name="Text 10"/>
          <p:cNvSpPr/>
          <p:nvPr/>
        </p:nvSpPr>
        <p:spPr>
          <a:xfrm>
            <a:off x="777240" y="4206240"/>
            <a:ext cx="3063240" cy="219456"/>
          </a:xfrm>
          <a:prstGeom prst="rect">
            <a:avLst/>
          </a:prstGeom>
          <a:noFill/>
          <a:ln/>
        </p:spPr>
        <p:txBody>
          <a:bodyPr wrap="square" lIns="0" tIns="0" rIns="0" bIns="0" rtlCol="0" anchor="ctr"/>
          <a:lstStyle/>
          <a:p>
            <a:pPr marL="0" indent="0">
              <a:buNone/>
            </a:pPr>
            <a:r>
              <a:rPr lang="en-US" sz="1050" b="1" kern="0" spc="60" dirty="0">
                <a:solidFill>
                  <a:srgbClr val="1A56E8"/>
                </a:solidFill>
                <a:latin typeface="Calibri" pitchFamily="34" charset="0"/>
                <a:ea typeface="Calibri" pitchFamily="34" charset="-122"/>
                <a:cs typeface="Calibri" pitchFamily="34" charset="-120"/>
              </a:rPr>
              <a:t>Qué pregunta responde</a:t>
            </a:r>
            <a:endParaRPr lang="en-US" sz="1050" dirty="0"/>
          </a:p>
        </p:txBody>
      </p:sp>
      <p:sp>
        <p:nvSpPr>
          <p:cNvPr id="13" name="Text 11"/>
          <p:cNvSpPr/>
          <p:nvPr/>
        </p:nvSpPr>
        <p:spPr>
          <a:xfrm>
            <a:off x="777240" y="4443984"/>
            <a:ext cx="3063240" cy="65836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¿Cuánta varianza hay? ¿Las frecuencias observadas cuadran con las esperadas?</a:t>
            </a:r>
            <a:endParaRPr lang="en-US" sz="1150" dirty="0"/>
          </a:p>
        </p:txBody>
      </p:sp>
      <p:sp>
        <p:nvSpPr>
          <p:cNvPr id="14" name="Text 12"/>
          <p:cNvSpPr/>
          <p:nvPr/>
        </p:nvSpPr>
        <p:spPr>
          <a:xfrm>
            <a:off x="777240" y="5138928"/>
            <a:ext cx="3063240" cy="219456"/>
          </a:xfrm>
          <a:prstGeom prst="rect">
            <a:avLst/>
          </a:prstGeom>
          <a:noFill/>
          <a:ln/>
        </p:spPr>
        <p:txBody>
          <a:bodyPr wrap="square" lIns="0" tIns="0" rIns="0" bIns="0" rtlCol="0" anchor="ctr"/>
          <a:lstStyle/>
          <a:p>
            <a:pPr marL="0" indent="0">
              <a:buNone/>
            </a:pPr>
            <a:r>
              <a:rPr lang="en-US" sz="1050" b="1" kern="0" spc="60" dirty="0">
                <a:solidFill>
                  <a:srgbClr val="1A56E8"/>
                </a:solidFill>
                <a:latin typeface="Calibri" pitchFamily="34" charset="0"/>
                <a:ea typeface="Calibri" pitchFamily="34" charset="-122"/>
                <a:cs typeface="Calibri" pitchFamily="34" charset="-120"/>
              </a:rPr>
              <a:t>Dónde la vas a ver</a:t>
            </a:r>
            <a:endParaRPr lang="en-US" sz="1050" dirty="0"/>
          </a:p>
        </p:txBody>
      </p:sp>
      <p:sp>
        <p:nvSpPr>
          <p:cNvPr id="15" name="Text 13"/>
          <p:cNvSpPr/>
          <p:nvPr/>
        </p:nvSpPr>
        <p:spPr>
          <a:xfrm>
            <a:off x="777240" y="5376672"/>
            <a:ext cx="3063240" cy="65836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Pruebas de bondad de ajuste, tablas de contingencia, contraste de varianzas.</a:t>
            </a:r>
            <a:endParaRPr lang="en-US" sz="1150" dirty="0"/>
          </a:p>
        </p:txBody>
      </p:sp>
      <p:sp>
        <p:nvSpPr>
          <p:cNvPr id="16" name="Shape 14"/>
          <p:cNvSpPr/>
          <p:nvPr/>
        </p:nvSpPr>
        <p:spPr>
          <a:xfrm>
            <a:off x="4297680" y="1993392"/>
            <a:ext cx="3520440" cy="4114800"/>
          </a:xfrm>
          <a:prstGeom prst="roundRect">
            <a:avLst>
              <a:gd name="adj" fmla="val 1558"/>
            </a:avLst>
          </a:prstGeom>
          <a:solidFill>
            <a:srgbClr val="FFFFFF"/>
          </a:solidFill>
          <a:ln w="12700">
            <a:solidFill>
              <a:srgbClr val="D2DBEC"/>
            </a:solidFill>
            <a:prstDash val="solid"/>
          </a:ln>
        </p:spPr>
      </p:sp>
      <p:sp>
        <p:nvSpPr>
          <p:cNvPr id="17" name="Shape 15"/>
          <p:cNvSpPr/>
          <p:nvPr/>
        </p:nvSpPr>
        <p:spPr>
          <a:xfrm>
            <a:off x="4526280" y="2212848"/>
            <a:ext cx="3063240" cy="658368"/>
          </a:xfrm>
          <a:prstGeom prst="roundRect">
            <a:avLst>
              <a:gd name="adj" fmla="val 8333"/>
            </a:avLst>
          </a:prstGeom>
          <a:solidFill>
            <a:srgbClr val="E6115E"/>
          </a:solidFill>
          <a:ln w="12700">
            <a:solidFill>
              <a:srgbClr val="E6115E"/>
            </a:solidFill>
            <a:prstDash val="solid"/>
          </a:ln>
        </p:spPr>
      </p:sp>
      <p:sp>
        <p:nvSpPr>
          <p:cNvPr id="18" name="Text 16"/>
          <p:cNvSpPr/>
          <p:nvPr/>
        </p:nvSpPr>
        <p:spPr>
          <a:xfrm>
            <a:off x="4526280" y="2212848"/>
            <a:ext cx="3063240"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t(ν)</a:t>
            </a:r>
            <a:endParaRPr lang="en-US" sz="2200" dirty="0"/>
          </a:p>
        </p:txBody>
      </p:sp>
      <p:sp>
        <p:nvSpPr>
          <p:cNvPr id="19" name="Text 17"/>
          <p:cNvSpPr/>
          <p:nvPr/>
        </p:nvSpPr>
        <p:spPr>
          <a:xfrm>
            <a:off x="4526280" y="2944368"/>
            <a:ext cx="3063240" cy="237744"/>
          </a:xfrm>
          <a:prstGeom prst="rect">
            <a:avLst/>
          </a:prstGeom>
          <a:noFill/>
          <a:ln/>
        </p:spPr>
        <p:txBody>
          <a:bodyPr wrap="square" lIns="0" tIns="0" rIns="0" bIns="0" rtlCol="0" anchor="t"/>
          <a:lstStyle/>
          <a:p>
            <a:pPr marL="0" indent="0" algn="ctr">
              <a:lnSpc>
                <a:spcPct val="108000"/>
              </a:lnSpc>
              <a:buNone/>
            </a:pPr>
            <a:r>
              <a:rPr lang="en-US" sz="1100" i="1" dirty="0">
                <a:solidFill>
                  <a:srgbClr val="5B6B87"/>
                </a:solidFill>
                <a:latin typeface="Calibri" pitchFamily="34" charset="0"/>
                <a:ea typeface="Calibri" pitchFamily="34" charset="-122"/>
                <a:cs typeface="Calibri" pitchFamily="34" charset="-120"/>
              </a:rPr>
              <a:t>«t de Student»</a:t>
            </a:r>
            <a:endParaRPr lang="en-US" sz="1100" dirty="0"/>
          </a:p>
        </p:txBody>
      </p:sp>
      <p:sp>
        <p:nvSpPr>
          <p:cNvPr id="20" name="Text 18"/>
          <p:cNvSpPr/>
          <p:nvPr/>
        </p:nvSpPr>
        <p:spPr>
          <a:xfrm>
            <a:off x="4526280" y="3273552"/>
            <a:ext cx="3063240" cy="219456"/>
          </a:xfrm>
          <a:prstGeom prst="rect">
            <a:avLst/>
          </a:prstGeom>
          <a:noFill/>
          <a:ln/>
        </p:spPr>
        <p:txBody>
          <a:bodyPr wrap="square" lIns="0" tIns="0" rIns="0" bIns="0" rtlCol="0" anchor="ctr"/>
          <a:lstStyle/>
          <a:p>
            <a:pPr marL="0" indent="0">
              <a:buNone/>
            </a:pPr>
            <a:r>
              <a:rPr lang="en-US" sz="1050" b="1" kern="0" spc="60" dirty="0">
                <a:solidFill>
                  <a:srgbClr val="E6115E"/>
                </a:solidFill>
                <a:latin typeface="Calibri" pitchFamily="34" charset="0"/>
                <a:ea typeface="Calibri" pitchFamily="34" charset="-122"/>
                <a:cs typeface="Calibri" pitchFamily="34" charset="-120"/>
              </a:rPr>
              <a:t>Qué es</a:t>
            </a:r>
            <a:endParaRPr lang="en-US" sz="1050" dirty="0"/>
          </a:p>
        </p:txBody>
      </p:sp>
      <p:sp>
        <p:nvSpPr>
          <p:cNvPr id="21" name="Text 19"/>
          <p:cNvSpPr/>
          <p:nvPr/>
        </p:nvSpPr>
        <p:spPr>
          <a:xfrm>
            <a:off x="4526280" y="3511296"/>
            <a:ext cx="3063240" cy="65836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Una normal dividida entre la raíz de un χ²/ν.</a:t>
            </a:r>
            <a:endParaRPr lang="en-US" sz="1150" dirty="0"/>
          </a:p>
        </p:txBody>
      </p:sp>
      <p:sp>
        <p:nvSpPr>
          <p:cNvPr id="22" name="Text 20"/>
          <p:cNvSpPr/>
          <p:nvPr/>
        </p:nvSpPr>
        <p:spPr>
          <a:xfrm>
            <a:off x="4526280" y="4206240"/>
            <a:ext cx="3063240" cy="219456"/>
          </a:xfrm>
          <a:prstGeom prst="rect">
            <a:avLst/>
          </a:prstGeom>
          <a:noFill/>
          <a:ln/>
        </p:spPr>
        <p:txBody>
          <a:bodyPr wrap="square" lIns="0" tIns="0" rIns="0" bIns="0" rtlCol="0" anchor="ctr"/>
          <a:lstStyle/>
          <a:p>
            <a:pPr marL="0" indent="0">
              <a:buNone/>
            </a:pPr>
            <a:r>
              <a:rPr lang="en-US" sz="1050" b="1" kern="0" spc="60" dirty="0">
                <a:solidFill>
                  <a:srgbClr val="E6115E"/>
                </a:solidFill>
                <a:latin typeface="Calibri" pitchFamily="34" charset="0"/>
                <a:ea typeface="Calibri" pitchFamily="34" charset="-122"/>
                <a:cs typeface="Calibri" pitchFamily="34" charset="-120"/>
              </a:rPr>
              <a:t>Qué pregunta responde</a:t>
            </a:r>
            <a:endParaRPr lang="en-US" sz="1050" dirty="0"/>
          </a:p>
        </p:txBody>
      </p:sp>
      <p:sp>
        <p:nvSpPr>
          <p:cNvPr id="23" name="Text 21"/>
          <p:cNvSpPr/>
          <p:nvPr/>
        </p:nvSpPr>
        <p:spPr>
          <a:xfrm>
            <a:off x="4526280" y="4443984"/>
            <a:ext cx="3063240" cy="65836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¿La media es distinta de X, si no conozco σ y tengo poca muestra?</a:t>
            </a:r>
            <a:endParaRPr lang="en-US" sz="1150" dirty="0"/>
          </a:p>
        </p:txBody>
      </p:sp>
      <p:sp>
        <p:nvSpPr>
          <p:cNvPr id="24" name="Text 22"/>
          <p:cNvSpPr/>
          <p:nvPr/>
        </p:nvSpPr>
        <p:spPr>
          <a:xfrm>
            <a:off x="4526280" y="5138928"/>
            <a:ext cx="3063240" cy="219456"/>
          </a:xfrm>
          <a:prstGeom prst="rect">
            <a:avLst/>
          </a:prstGeom>
          <a:noFill/>
          <a:ln/>
        </p:spPr>
        <p:txBody>
          <a:bodyPr wrap="square" lIns="0" tIns="0" rIns="0" bIns="0" rtlCol="0" anchor="ctr"/>
          <a:lstStyle/>
          <a:p>
            <a:pPr marL="0" indent="0">
              <a:buNone/>
            </a:pPr>
            <a:r>
              <a:rPr lang="en-US" sz="1050" b="1" kern="0" spc="60" dirty="0">
                <a:solidFill>
                  <a:srgbClr val="E6115E"/>
                </a:solidFill>
                <a:latin typeface="Calibri" pitchFamily="34" charset="0"/>
                <a:ea typeface="Calibri" pitchFamily="34" charset="-122"/>
                <a:cs typeface="Calibri" pitchFamily="34" charset="-120"/>
              </a:rPr>
              <a:t>Dónde la vas a ver</a:t>
            </a:r>
            <a:endParaRPr lang="en-US" sz="1050" dirty="0"/>
          </a:p>
        </p:txBody>
      </p:sp>
      <p:sp>
        <p:nvSpPr>
          <p:cNvPr id="25" name="Text 23"/>
          <p:cNvSpPr/>
          <p:nvPr/>
        </p:nvSpPr>
        <p:spPr>
          <a:xfrm>
            <a:off x="4526280" y="5376672"/>
            <a:ext cx="3063240" cy="65836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Intervalos de confianza para la media, prueba t, coeficientes de una regresión.</a:t>
            </a:r>
            <a:endParaRPr lang="en-US" sz="1150" dirty="0"/>
          </a:p>
        </p:txBody>
      </p:sp>
      <p:sp>
        <p:nvSpPr>
          <p:cNvPr id="26" name="Shape 24"/>
          <p:cNvSpPr/>
          <p:nvPr/>
        </p:nvSpPr>
        <p:spPr>
          <a:xfrm>
            <a:off x="8046720" y="1993392"/>
            <a:ext cx="3520440" cy="4114800"/>
          </a:xfrm>
          <a:prstGeom prst="roundRect">
            <a:avLst>
              <a:gd name="adj" fmla="val 1558"/>
            </a:avLst>
          </a:prstGeom>
          <a:solidFill>
            <a:srgbClr val="FFFFFF"/>
          </a:solidFill>
          <a:ln w="12700">
            <a:solidFill>
              <a:srgbClr val="D2DBEC"/>
            </a:solidFill>
            <a:prstDash val="solid"/>
          </a:ln>
        </p:spPr>
      </p:sp>
      <p:sp>
        <p:nvSpPr>
          <p:cNvPr id="27" name="Shape 25"/>
          <p:cNvSpPr/>
          <p:nvPr/>
        </p:nvSpPr>
        <p:spPr>
          <a:xfrm>
            <a:off x="8275320" y="2212848"/>
            <a:ext cx="3063240" cy="658368"/>
          </a:xfrm>
          <a:prstGeom prst="roundRect">
            <a:avLst>
              <a:gd name="adj" fmla="val 8333"/>
            </a:avLst>
          </a:prstGeom>
          <a:solidFill>
            <a:srgbClr val="12B886"/>
          </a:solidFill>
          <a:ln w="12700">
            <a:solidFill>
              <a:srgbClr val="12B886"/>
            </a:solidFill>
            <a:prstDash val="solid"/>
          </a:ln>
        </p:spPr>
      </p:sp>
      <p:sp>
        <p:nvSpPr>
          <p:cNvPr id="28" name="Text 26"/>
          <p:cNvSpPr/>
          <p:nvPr/>
        </p:nvSpPr>
        <p:spPr>
          <a:xfrm>
            <a:off x="8275320" y="2212848"/>
            <a:ext cx="3063240" cy="658368"/>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F(ν₁, ν₂)</a:t>
            </a:r>
            <a:endParaRPr lang="en-US" sz="2200" dirty="0"/>
          </a:p>
        </p:txBody>
      </p:sp>
      <p:sp>
        <p:nvSpPr>
          <p:cNvPr id="29" name="Text 27"/>
          <p:cNvSpPr/>
          <p:nvPr/>
        </p:nvSpPr>
        <p:spPr>
          <a:xfrm>
            <a:off x="8275320" y="2944368"/>
            <a:ext cx="3063240" cy="237744"/>
          </a:xfrm>
          <a:prstGeom prst="rect">
            <a:avLst/>
          </a:prstGeom>
          <a:noFill/>
          <a:ln/>
        </p:spPr>
        <p:txBody>
          <a:bodyPr wrap="square" lIns="0" tIns="0" rIns="0" bIns="0" rtlCol="0" anchor="t"/>
          <a:lstStyle/>
          <a:p>
            <a:pPr marL="0" indent="0" algn="ctr">
              <a:lnSpc>
                <a:spcPct val="108000"/>
              </a:lnSpc>
              <a:buNone/>
            </a:pPr>
            <a:r>
              <a:rPr lang="en-US" sz="1100" i="1" dirty="0">
                <a:solidFill>
                  <a:srgbClr val="5B6B87"/>
                </a:solidFill>
                <a:latin typeface="Calibri" pitchFamily="34" charset="0"/>
                <a:ea typeface="Calibri" pitchFamily="34" charset="-122"/>
                <a:cs typeface="Calibri" pitchFamily="34" charset="-120"/>
              </a:rPr>
              <a:t>«F de Fisher»</a:t>
            </a:r>
            <a:endParaRPr lang="en-US" sz="1100" dirty="0"/>
          </a:p>
        </p:txBody>
      </p:sp>
      <p:sp>
        <p:nvSpPr>
          <p:cNvPr id="30" name="Text 28"/>
          <p:cNvSpPr/>
          <p:nvPr/>
        </p:nvSpPr>
        <p:spPr>
          <a:xfrm>
            <a:off x="8275320" y="3273552"/>
            <a:ext cx="3063240" cy="219456"/>
          </a:xfrm>
          <a:prstGeom prst="rect">
            <a:avLst/>
          </a:prstGeom>
          <a:noFill/>
          <a:ln/>
        </p:spPr>
        <p:txBody>
          <a:bodyPr wrap="square" lIns="0" tIns="0" rIns="0" bIns="0" rtlCol="0" anchor="ctr"/>
          <a:lstStyle/>
          <a:p>
            <a:pPr marL="0" indent="0">
              <a:buNone/>
            </a:pPr>
            <a:r>
              <a:rPr lang="en-US" sz="1050" b="1" kern="0" spc="60" dirty="0">
                <a:solidFill>
                  <a:srgbClr val="12B886"/>
                </a:solidFill>
                <a:latin typeface="Calibri" pitchFamily="34" charset="0"/>
                <a:ea typeface="Calibri" pitchFamily="34" charset="-122"/>
                <a:cs typeface="Calibri" pitchFamily="34" charset="-120"/>
              </a:rPr>
              <a:t>Qué es</a:t>
            </a:r>
            <a:endParaRPr lang="en-US" sz="1050" dirty="0"/>
          </a:p>
        </p:txBody>
      </p:sp>
      <p:sp>
        <p:nvSpPr>
          <p:cNvPr id="31" name="Text 29"/>
          <p:cNvSpPr/>
          <p:nvPr/>
        </p:nvSpPr>
        <p:spPr>
          <a:xfrm>
            <a:off x="8275320" y="3511296"/>
            <a:ext cx="3063240" cy="65836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El cociente de dos χ² con sus grados de libertad.</a:t>
            </a:r>
            <a:endParaRPr lang="en-US" sz="1150" dirty="0"/>
          </a:p>
        </p:txBody>
      </p:sp>
      <p:sp>
        <p:nvSpPr>
          <p:cNvPr id="32" name="Text 30"/>
          <p:cNvSpPr/>
          <p:nvPr/>
        </p:nvSpPr>
        <p:spPr>
          <a:xfrm>
            <a:off x="8275320" y="4206240"/>
            <a:ext cx="3063240" cy="219456"/>
          </a:xfrm>
          <a:prstGeom prst="rect">
            <a:avLst/>
          </a:prstGeom>
          <a:noFill/>
          <a:ln/>
        </p:spPr>
        <p:txBody>
          <a:bodyPr wrap="square" lIns="0" tIns="0" rIns="0" bIns="0" rtlCol="0" anchor="ctr"/>
          <a:lstStyle/>
          <a:p>
            <a:pPr marL="0" indent="0">
              <a:buNone/>
            </a:pPr>
            <a:r>
              <a:rPr lang="en-US" sz="1050" b="1" kern="0" spc="60" dirty="0">
                <a:solidFill>
                  <a:srgbClr val="12B886"/>
                </a:solidFill>
                <a:latin typeface="Calibri" pitchFamily="34" charset="0"/>
                <a:ea typeface="Calibri" pitchFamily="34" charset="-122"/>
                <a:cs typeface="Calibri" pitchFamily="34" charset="-120"/>
              </a:rPr>
              <a:t>Qué pregunta responde</a:t>
            </a:r>
            <a:endParaRPr lang="en-US" sz="1050" dirty="0"/>
          </a:p>
        </p:txBody>
      </p:sp>
      <p:sp>
        <p:nvSpPr>
          <p:cNvPr id="33" name="Text 31"/>
          <p:cNvSpPr/>
          <p:nvPr/>
        </p:nvSpPr>
        <p:spPr>
          <a:xfrm>
            <a:off x="8275320" y="4443984"/>
            <a:ext cx="3063240" cy="65836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¿Estas dos varianzas son iguales? ¿Este bloque de variables aporta algo?</a:t>
            </a:r>
            <a:endParaRPr lang="en-US" sz="1150" dirty="0"/>
          </a:p>
        </p:txBody>
      </p:sp>
      <p:sp>
        <p:nvSpPr>
          <p:cNvPr id="34" name="Text 32"/>
          <p:cNvSpPr/>
          <p:nvPr/>
        </p:nvSpPr>
        <p:spPr>
          <a:xfrm>
            <a:off x="8275320" y="5138928"/>
            <a:ext cx="3063240" cy="219456"/>
          </a:xfrm>
          <a:prstGeom prst="rect">
            <a:avLst/>
          </a:prstGeom>
          <a:noFill/>
          <a:ln/>
        </p:spPr>
        <p:txBody>
          <a:bodyPr wrap="square" lIns="0" tIns="0" rIns="0" bIns="0" rtlCol="0" anchor="ctr"/>
          <a:lstStyle/>
          <a:p>
            <a:pPr marL="0" indent="0">
              <a:buNone/>
            </a:pPr>
            <a:r>
              <a:rPr lang="en-US" sz="1050" b="1" kern="0" spc="60" dirty="0">
                <a:solidFill>
                  <a:srgbClr val="12B886"/>
                </a:solidFill>
                <a:latin typeface="Calibri" pitchFamily="34" charset="0"/>
                <a:ea typeface="Calibri" pitchFamily="34" charset="-122"/>
                <a:cs typeface="Calibri" pitchFamily="34" charset="-120"/>
              </a:rPr>
              <a:t>Dónde la vas a ver</a:t>
            </a:r>
            <a:endParaRPr lang="en-US" sz="1050" dirty="0"/>
          </a:p>
        </p:txBody>
      </p:sp>
      <p:sp>
        <p:nvSpPr>
          <p:cNvPr id="35" name="Text 33"/>
          <p:cNvSpPr/>
          <p:nvPr/>
        </p:nvSpPr>
        <p:spPr>
          <a:xfrm>
            <a:off x="8275320" y="5376672"/>
            <a:ext cx="3063240" cy="658368"/>
          </a:xfrm>
          <a:prstGeom prst="rect">
            <a:avLst/>
          </a:prstGeom>
          <a:noFill/>
          <a:ln/>
        </p:spPr>
        <p:txBody>
          <a:bodyPr wrap="square" lIns="0" tIns="0" rIns="0" bIns="0" rtlCol="0" anchor="t"/>
          <a:lstStyle/>
          <a:p>
            <a:pPr marL="0" indent="0" algn="l">
              <a:lnSpc>
                <a:spcPct val="105000"/>
              </a:lnSpc>
              <a:buNone/>
            </a:pPr>
            <a:r>
              <a:rPr lang="en-US" sz="1150" dirty="0">
                <a:solidFill>
                  <a:srgbClr val="2C3A55"/>
                </a:solidFill>
                <a:latin typeface="Calibri" pitchFamily="34" charset="0"/>
                <a:ea typeface="Calibri" pitchFamily="34" charset="-122"/>
                <a:cs typeface="Calibri" pitchFamily="34" charset="-120"/>
              </a:rPr>
              <a:t>ANOVA, comparación de modelos anidados, prueba global de una regresión.</a:t>
            </a:r>
            <a:endParaRPr lang="en-US" sz="1150" dirty="0"/>
          </a:p>
        </p:txBody>
      </p:sp>
      <p:sp>
        <p:nvSpPr>
          <p:cNvPr id="36" name="Text 34"/>
          <p:cNvSpPr/>
          <p:nvPr/>
        </p:nvSpPr>
        <p:spPr>
          <a:xfrm>
            <a:off x="548640" y="6217920"/>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Las tres reaparecen en el Módulo 2 con nombre y apellido. Hoy solo necesitas saber de dónde vienen y para qué sirve cada una.</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LA t EN DETALLE</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La t es la normal cuando no confías en tu σ</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Misma forma de campana, colas más gruesas. Esa diferencia es el precio de haber estimado σ en lugar de conocerla.</a:t>
            </a:r>
            <a:endParaRPr lang="en-US" sz="1400" dirty="0"/>
          </a:p>
        </p:txBody>
      </p:sp>
      <p:graphicFrame>
        <p:nvGraphicFramePr>
          <p:cNvPr id="6" name="Chart 0"/>
          <p:cNvGraphicFramePr/>
          <p:nvPr/>
        </p:nvGraphicFramePr>
        <p:xfrm>
          <a:off x="548640" y="1938528"/>
          <a:ext cx="64922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960120" y="2194560"/>
            <a:ext cx="2286000" cy="502920"/>
          </a:xfrm>
          <a:prstGeom prst="rect">
            <a:avLst/>
          </a:prstGeom>
          <a:noFill/>
          <a:ln/>
        </p:spPr>
        <p:txBody>
          <a:bodyPr wrap="square" lIns="0" tIns="0" rIns="0" bIns="0" rtlCol="0" anchor="t"/>
          <a:lstStyle/>
          <a:p>
            <a:pPr marL="0" indent="0">
              <a:lnSpc>
                <a:spcPct val="105000"/>
              </a:lnSpc>
              <a:buNone/>
            </a:pPr>
            <a:r>
              <a:rPr lang="en-US" sz="1150" b="1" i="1" dirty="0">
                <a:solidFill>
                  <a:srgbClr val="E6115E"/>
                </a:solidFill>
                <a:latin typeface="Calibri" pitchFamily="34" charset="0"/>
                <a:ea typeface="Calibri" pitchFamily="34" charset="-122"/>
                <a:cs typeface="Calibri" pitchFamily="34" charset="-120"/>
              </a:rPr>
              <a:t>La diferencia está en las colas,</a:t>
            </a:r>
            <a:endParaRPr lang="en-US" sz="1150" dirty="0"/>
          </a:p>
          <a:p>
            <a:pPr marL="0" indent="0">
              <a:lnSpc>
                <a:spcPct val="105000"/>
              </a:lnSpc>
              <a:buNone/>
            </a:pPr>
            <a:r>
              <a:rPr lang="en-US" sz="1150" b="1" i="1" dirty="0">
                <a:solidFill>
                  <a:srgbClr val="E6115E"/>
                </a:solidFill>
                <a:latin typeface="Calibri" pitchFamily="34" charset="0"/>
                <a:ea typeface="Calibri" pitchFamily="34" charset="-122"/>
                <a:cs typeface="Calibri" pitchFamily="34" charset="-120"/>
              </a:rPr>
              <a:t>no en el pico.</a:t>
            </a:r>
            <a:endParaRPr lang="en-US" sz="11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269480" y="1938528"/>
          <a:ext cx="4370832" cy="1536192"/>
        </p:xfrm>
        <a:graphic>
          <a:graphicData uri="http://schemas.openxmlformats.org/drawingml/2006/table">
            <a:tbl>
              <a:tblPr/>
              <a:tblGrid>
                <a:gridCol w="1691640">
                  <a:extLst>
                    <a:ext uri="{9D8B030D-6E8A-4147-A177-3AD203B41FA5}">
                      <a16:colId xmlns:a16="http://schemas.microsoft.com/office/drawing/2014/main" val="20000"/>
                    </a:ext>
                  </a:extLst>
                </a:gridCol>
                <a:gridCol w="1673352">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Distribución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Corte al 1 % (una cola)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Diferencia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Normal  N(0,1)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2.326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1"/>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 con ν = 10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2.764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+19 %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2"/>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 con ν = 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4.541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E6115E"/>
                          </a:solidFill>
                          <a:latin typeface="Calibri" pitchFamily="34" charset="0"/>
                          <a:ea typeface="Calibri" pitchFamily="34" charset="-122"/>
                          <a:cs typeface="Calibri" pitchFamily="34" charset="-120"/>
                        </a:rPr>
                        <a:t>+95 %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3"/>
                  </a:ext>
                </a:extLst>
              </a:tr>
            </a:tbl>
          </a:graphicData>
        </a:graphic>
      </p:graphicFrame>
      <p:sp>
        <p:nvSpPr>
          <p:cNvPr id="9" name="Shape 5"/>
          <p:cNvSpPr/>
          <p:nvPr/>
        </p:nvSpPr>
        <p:spPr>
          <a:xfrm>
            <a:off x="7269480" y="3657600"/>
            <a:ext cx="4370832" cy="1344168"/>
          </a:xfrm>
          <a:prstGeom prst="roundRect">
            <a:avLst>
              <a:gd name="adj" fmla="val 4082"/>
            </a:avLst>
          </a:prstGeom>
          <a:solidFill>
            <a:srgbClr val="0A2559"/>
          </a:solidFill>
          <a:ln w="12700">
            <a:solidFill>
              <a:srgbClr val="0A2559"/>
            </a:solidFill>
            <a:prstDash val="solid"/>
          </a:ln>
        </p:spPr>
      </p:sp>
      <p:sp>
        <p:nvSpPr>
          <p:cNvPr id="10" name="Shape 6"/>
          <p:cNvSpPr/>
          <p:nvPr/>
        </p:nvSpPr>
        <p:spPr>
          <a:xfrm>
            <a:off x="7516368" y="3922776"/>
            <a:ext cx="118872" cy="118872"/>
          </a:xfrm>
          <a:prstGeom prst="roundRect">
            <a:avLst>
              <a:gd name="adj" fmla="val 30769"/>
            </a:avLst>
          </a:prstGeom>
          <a:solidFill>
            <a:srgbClr val="E6115E"/>
          </a:solidFill>
          <a:ln w="12700">
            <a:solidFill>
              <a:srgbClr val="E6115E"/>
            </a:solidFill>
            <a:prstDash val="solid"/>
          </a:ln>
        </p:spPr>
      </p:sp>
      <p:sp>
        <p:nvSpPr>
          <p:cNvPr id="11" name="Text 7"/>
          <p:cNvSpPr/>
          <p:nvPr/>
        </p:nvSpPr>
        <p:spPr>
          <a:xfrm>
            <a:off x="7754112" y="3822192"/>
            <a:ext cx="369417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Qué significa esa diferencia</a:t>
            </a:r>
            <a:endParaRPr lang="en-US" sz="1400" dirty="0"/>
          </a:p>
        </p:txBody>
      </p:sp>
      <p:sp>
        <p:nvSpPr>
          <p:cNvPr id="12" name="Text 8"/>
          <p:cNvSpPr/>
          <p:nvPr/>
        </p:nvSpPr>
        <p:spPr>
          <a:xfrm>
            <a:off x="7516368" y="4187952"/>
            <a:ext cx="3886200" cy="731520"/>
          </a:xfrm>
          <a:prstGeom prst="rect">
            <a:avLst/>
          </a:prstGeom>
          <a:noFill/>
          <a:ln/>
        </p:spPr>
        <p:txBody>
          <a:bodyPr wrap="square" lIns="0" tIns="0" rIns="0" bIns="0" rtlCol="0" anchor="t"/>
          <a:lstStyle/>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Con n = 4 (ν = 3), el umbral honesto está casi al doble de distancia que el de la normal. Usar 2.326 ahí es declarar significativo algo que no lo es.</a:t>
            </a:r>
            <a:endParaRPr lang="en-US" sz="1200" dirty="0"/>
          </a:p>
        </p:txBody>
      </p:sp>
      <p:sp>
        <p:nvSpPr>
          <p:cNvPr id="13" name="Shape 9"/>
          <p:cNvSpPr/>
          <p:nvPr/>
        </p:nvSpPr>
        <p:spPr>
          <a:xfrm>
            <a:off x="548640" y="5138928"/>
            <a:ext cx="11091672" cy="1060704"/>
          </a:xfrm>
          <a:prstGeom prst="roundRect">
            <a:avLst>
              <a:gd name="adj" fmla="val 5172"/>
            </a:avLst>
          </a:prstGeom>
          <a:solidFill>
            <a:srgbClr val="E9EEF8"/>
          </a:solidFill>
          <a:ln w="12700">
            <a:solidFill>
              <a:srgbClr val="D2DBEC"/>
            </a:solidFill>
            <a:prstDash val="solid"/>
          </a:ln>
        </p:spPr>
      </p:sp>
      <p:sp>
        <p:nvSpPr>
          <p:cNvPr id="14" name="Shape 10"/>
          <p:cNvSpPr/>
          <p:nvPr/>
        </p:nvSpPr>
        <p:spPr>
          <a:xfrm>
            <a:off x="804672" y="5394960"/>
            <a:ext cx="118872" cy="118872"/>
          </a:xfrm>
          <a:prstGeom prst="roundRect">
            <a:avLst>
              <a:gd name="adj" fmla="val 30769"/>
            </a:avLst>
          </a:prstGeom>
          <a:solidFill>
            <a:srgbClr val="E6115E"/>
          </a:solidFill>
          <a:ln w="12700">
            <a:solidFill>
              <a:srgbClr val="E6115E"/>
            </a:solidFill>
            <a:prstDash val="solid"/>
          </a:ln>
        </p:spPr>
      </p:sp>
      <p:sp>
        <p:nvSpPr>
          <p:cNvPr id="15" name="Text 11"/>
          <p:cNvSpPr/>
          <p:nvPr/>
        </p:nvSpPr>
        <p:spPr>
          <a:xfrm>
            <a:off x="1042416" y="5294376"/>
            <a:ext cx="61630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regla de decisión, sin rodeos</a:t>
            </a:r>
            <a:endParaRPr lang="en-US" sz="1400" dirty="0"/>
          </a:p>
        </p:txBody>
      </p:sp>
      <p:sp>
        <p:nvSpPr>
          <p:cNvPr id="8" name="Text 12"/>
          <p:cNvSpPr/>
          <p:nvPr/>
        </p:nvSpPr>
        <p:spPr>
          <a:xfrm>
            <a:off x="804672" y="5641848"/>
            <a:ext cx="10607040" cy="457200"/>
          </a:xfrm>
          <a:prstGeom prst="rect">
            <a:avLst/>
          </a:prstGeom>
          <a:noFill/>
          <a:ln/>
        </p:spPr>
        <p:txBody>
          <a:bodyPr wrap="square" lIns="0" tIns="0" rIns="0" bIns="0" rtlCol="0" anchor="t"/>
          <a:lstStyle/>
          <a:p>
            <a:pPr marL="0" indent="0" algn="l">
              <a:lnSpc>
                <a:spcPct val="105000"/>
              </a:lnSpc>
              <a:buNone/>
            </a:pPr>
            <a:r>
              <a:rPr lang="en-US" sz="1200" dirty="0">
                <a:solidFill>
                  <a:srgbClr val="2C3A55"/>
                </a:solidFill>
                <a:latin typeface="Calibri" pitchFamily="34" charset="0"/>
                <a:ea typeface="Calibri" pitchFamily="34" charset="-122"/>
                <a:cs typeface="Calibri" pitchFamily="34" charset="-120"/>
              </a:rPr>
              <a:t>¿Conoces σ de la población? Usa z. ¿La estimaste con tu propia muestra? Usa t con ν = n − 1. Con n grande (digamos 100+) la diferencia es despreciable y da lo mismo, pero con muestras chicas es la diferencia entre un hallazgo y un falso positivo firmado con tu nombre.</a:t>
            </a:r>
            <a:endParaRPr lang="en-US" sz="1200" dirty="0"/>
          </a:p>
        </p:txBody>
      </p:sp>
      <p:sp>
        <p:nvSpPr>
          <p:cNvPr id="17" name="Text 13"/>
          <p:cNvSpPr/>
          <p:nvPr/>
        </p:nvSpPr>
        <p:spPr>
          <a:xfrm>
            <a:off x="548640" y="6272784"/>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Curvas calculadas con la densidad exacta de la t; los cortes al 1 % son los valores clásicos de tabla.</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8346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83464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CASO REAL · 1908</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El cervecero que publicó con seudónimo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t de Student salió de un problema de control de calidad en una fábrica de cerveza, no de un departamento de matemáticas.</a:t>
            </a:r>
            <a:endParaRPr lang="en-US" sz="1400" dirty="0"/>
          </a:p>
        </p:txBody>
      </p:sp>
      <p:sp>
        <p:nvSpPr>
          <p:cNvPr id="6" name="Shape 4"/>
          <p:cNvSpPr/>
          <p:nvPr/>
        </p:nvSpPr>
        <p:spPr>
          <a:xfrm>
            <a:off x="548640" y="1965960"/>
            <a:ext cx="6858000" cy="2834640"/>
          </a:xfrm>
          <a:prstGeom prst="roundRect">
            <a:avLst>
              <a:gd name="adj" fmla="val 1935"/>
            </a:avLst>
          </a:prstGeom>
          <a:solidFill>
            <a:srgbClr val="FFFFFF"/>
          </a:solidFill>
          <a:ln w="12700">
            <a:solidFill>
              <a:srgbClr val="D2DBEC"/>
            </a:solidFill>
            <a:prstDash val="solid"/>
          </a:ln>
        </p:spPr>
      </p:sp>
      <p:sp>
        <p:nvSpPr>
          <p:cNvPr id="7" name="Shape 5"/>
          <p:cNvSpPr/>
          <p:nvPr/>
        </p:nvSpPr>
        <p:spPr>
          <a:xfrm>
            <a:off x="804672" y="2249424"/>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48840"/>
            <a:ext cx="6163056" cy="292608"/>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Qué pasó</a:t>
            </a:r>
            <a:endParaRPr lang="en-US" sz="1500" dirty="0"/>
          </a:p>
        </p:txBody>
      </p:sp>
      <p:sp>
        <p:nvSpPr>
          <p:cNvPr id="9" name="Text 7"/>
          <p:cNvSpPr/>
          <p:nvPr/>
        </p:nvSpPr>
        <p:spPr>
          <a:xfrm>
            <a:off x="804672" y="2542032"/>
            <a:ext cx="6355080" cy="2103120"/>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William Sealy Gosset trabajaba en la cervecería Guinness de Dublín. Su problema era concreto: evaluar lotes de cebada y lúpulo con muestras muy pequeñas, porque analizar cada lote completo era imposible y caro.</a:t>
            </a:r>
            <a:endParaRPr lang="en-US" sz="1200" dirty="0"/>
          </a:p>
          <a:p>
            <a:pPr marL="0" indent="0" algn="l">
              <a:lnSpc>
                <a:spcPct val="110000"/>
              </a:lnSpc>
              <a:buNone/>
            </a:pPr>
            <a:endParaRPr lang="en-US" sz="1200" dirty="0"/>
          </a:p>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Con esas muestras, la teoría disponible fallaba: usaba σ como si fuera conocida, cuando en realidad se estimaba con cuatro o cinco observaciones. Gosset derivó la distribución correcta para ese caso y la publicó en Biometrika en 1908 bajo el seudónimo «Student», porque Guinness no permitía que sus empleados publicaran — la política existía para proteger secretos industriales.</a:t>
            </a:r>
            <a:endParaRPr lang="en-US" sz="1200" dirty="0"/>
          </a:p>
          <a:p>
            <a:pPr marL="0" indent="0" algn="l">
              <a:lnSpc>
                <a:spcPct val="110000"/>
              </a:lnSpc>
              <a:buNone/>
            </a:pPr>
            <a:endParaRPr lang="en-US" sz="1200" dirty="0"/>
          </a:p>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Fisher formalizó después el resultado, y el nombre del seudónimo se quedó para siempre.</a:t>
            </a:r>
            <a:endParaRPr lang="en-US" sz="1200" dirty="0"/>
          </a:p>
        </p:txBody>
      </p:sp>
      <p:sp>
        <p:nvSpPr>
          <p:cNvPr id="10" name="Shape 8"/>
          <p:cNvSpPr/>
          <p:nvPr/>
        </p:nvSpPr>
        <p:spPr>
          <a:xfrm>
            <a:off x="7635240" y="1965960"/>
            <a:ext cx="4005072" cy="1353312"/>
          </a:xfrm>
          <a:prstGeom prst="roundRect">
            <a:avLst>
              <a:gd name="adj" fmla="val 4054"/>
            </a:avLst>
          </a:prstGeom>
          <a:solidFill>
            <a:srgbClr val="0A2559"/>
          </a:solidFill>
          <a:ln w="12700">
            <a:solidFill>
              <a:srgbClr val="0A2559"/>
            </a:solidFill>
            <a:prstDash val="solid"/>
          </a:ln>
        </p:spPr>
      </p:sp>
      <p:sp>
        <p:nvSpPr>
          <p:cNvPr id="11" name="Shape 9"/>
          <p:cNvSpPr/>
          <p:nvPr/>
        </p:nvSpPr>
        <p:spPr>
          <a:xfrm>
            <a:off x="7882128" y="2231136"/>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8119872" y="2130552"/>
            <a:ext cx="332841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 lección</a:t>
            </a:r>
            <a:endParaRPr lang="en-US" sz="1400" dirty="0"/>
          </a:p>
        </p:txBody>
      </p:sp>
      <p:sp>
        <p:nvSpPr>
          <p:cNvPr id="13" name="Text 11"/>
          <p:cNvSpPr/>
          <p:nvPr/>
        </p:nvSpPr>
        <p:spPr>
          <a:xfrm>
            <a:off x="7882128" y="2496312"/>
            <a:ext cx="3520440" cy="749808"/>
          </a:xfrm>
          <a:prstGeom prst="rect">
            <a:avLst/>
          </a:prstGeom>
          <a:noFill/>
          <a:ln/>
        </p:spPr>
        <p:txBody>
          <a:bodyPr wrap="square" lIns="0" tIns="0" rIns="0" bIns="0" rtlCol="0" anchor="t"/>
          <a:lstStyle/>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El método más usado en inferencia nació de una restricción operativa: muestras chicas y presupuesto limitado. La misma restricción que tienes tú.</a:t>
            </a:r>
            <a:endParaRPr lang="en-US" sz="1200" dirty="0"/>
          </a:p>
        </p:txBody>
      </p:sp>
      <p:sp>
        <p:nvSpPr>
          <p:cNvPr id="14" name="Shape 12"/>
          <p:cNvSpPr/>
          <p:nvPr/>
        </p:nvSpPr>
        <p:spPr>
          <a:xfrm>
            <a:off x="7635240" y="3456432"/>
            <a:ext cx="4005072" cy="1344168"/>
          </a:xfrm>
          <a:prstGeom prst="roundRect">
            <a:avLst>
              <a:gd name="adj" fmla="val 4082"/>
            </a:avLst>
          </a:prstGeom>
          <a:solidFill>
            <a:srgbClr val="E9EEF8"/>
          </a:solidFill>
          <a:ln w="12700">
            <a:solidFill>
              <a:srgbClr val="D2DBEC"/>
            </a:solidFill>
            <a:prstDash val="solid"/>
          </a:ln>
        </p:spPr>
      </p:sp>
      <p:sp>
        <p:nvSpPr>
          <p:cNvPr id="15" name="Shape 13"/>
          <p:cNvSpPr/>
          <p:nvPr/>
        </p:nvSpPr>
        <p:spPr>
          <a:xfrm>
            <a:off x="7882128" y="3712464"/>
            <a:ext cx="118872" cy="118872"/>
          </a:xfrm>
          <a:prstGeom prst="roundRect">
            <a:avLst>
              <a:gd name="adj" fmla="val 30769"/>
            </a:avLst>
          </a:prstGeom>
          <a:solidFill>
            <a:srgbClr val="1A56E8"/>
          </a:solidFill>
          <a:ln w="12700">
            <a:solidFill>
              <a:srgbClr val="1A56E8"/>
            </a:solidFill>
            <a:prstDash val="solid"/>
          </a:ln>
        </p:spPr>
      </p:sp>
      <p:sp>
        <p:nvSpPr>
          <p:cNvPr id="16" name="Text 14"/>
          <p:cNvSpPr/>
          <p:nvPr/>
        </p:nvSpPr>
        <p:spPr>
          <a:xfrm>
            <a:off x="8119872" y="3611880"/>
            <a:ext cx="332841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Dónde te toca hoy</a:t>
            </a:r>
            <a:endParaRPr lang="en-US" sz="1400" dirty="0"/>
          </a:p>
        </p:txBody>
      </p:sp>
      <p:sp>
        <p:nvSpPr>
          <p:cNvPr id="17" name="Text 15"/>
          <p:cNvSpPr/>
          <p:nvPr/>
        </p:nvSpPr>
        <p:spPr>
          <a:xfrm>
            <a:off x="7882128" y="3986784"/>
            <a:ext cx="3520440" cy="749808"/>
          </a:xfrm>
          <a:prstGeom prst="rect">
            <a:avLst/>
          </a:prstGeom>
          <a:noFill/>
          <a:ln/>
        </p:spPr>
        <p:txBody>
          <a:bodyPr wrap="square" lIns="0" tIns="0" rIns="0" bIns="0" rtlCol="0" anchor="t"/>
          <a:lstStyle/>
          <a:p>
            <a:pPr marL="0" indent="0" algn="l">
              <a:lnSpc>
                <a:spcPct val="108000"/>
              </a:lnSpc>
              <a:buNone/>
            </a:pPr>
            <a:r>
              <a:rPr lang="en-US" sz="1200" dirty="0">
                <a:solidFill>
                  <a:srgbClr val="2C3A55"/>
                </a:solidFill>
                <a:latin typeface="Calibri" pitchFamily="34" charset="0"/>
                <a:ea typeface="Calibri" pitchFamily="34" charset="-122"/>
                <a:cs typeface="Calibri" pitchFamily="34" charset="-120"/>
              </a:rPr>
              <a:t>Cada vez que validas un modelo con una muestra de 30 casos revisados manualmente, estás en el mundo de Gosset, no en el de la normal.</a:t>
            </a:r>
            <a:endParaRPr lang="en-US" sz="1200" dirty="0"/>
          </a:p>
        </p:txBody>
      </p:sp>
      <p:sp>
        <p:nvSpPr>
          <p:cNvPr id="18" name="Shape 16"/>
          <p:cNvSpPr/>
          <p:nvPr/>
        </p:nvSpPr>
        <p:spPr>
          <a:xfrm>
            <a:off x="548640" y="4956048"/>
            <a:ext cx="11091672" cy="1243584"/>
          </a:xfrm>
          <a:prstGeom prst="roundRect">
            <a:avLst>
              <a:gd name="adj" fmla="val 4412"/>
            </a:avLst>
          </a:prstGeom>
          <a:solidFill>
            <a:srgbClr val="FFFFFF"/>
          </a:solidFill>
          <a:ln w="12700">
            <a:solidFill>
              <a:srgbClr val="D2DBEC"/>
            </a:solidFill>
            <a:prstDash val="solid"/>
          </a:ln>
        </p:spPr>
      </p:sp>
      <p:sp>
        <p:nvSpPr>
          <p:cNvPr id="19" name="Shape 17"/>
          <p:cNvSpPr/>
          <p:nvPr/>
        </p:nvSpPr>
        <p:spPr>
          <a:xfrm>
            <a:off x="804672" y="5221224"/>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5120640"/>
            <a:ext cx="61630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Nota de método que vale más que la anécdota</a:t>
            </a:r>
            <a:endParaRPr lang="en-US" sz="1400" dirty="0"/>
          </a:p>
        </p:txBody>
      </p:sp>
      <p:sp>
        <p:nvSpPr>
          <p:cNvPr id="21" name="Text 19"/>
          <p:cNvSpPr/>
          <p:nvPr/>
        </p:nvSpPr>
        <p:spPr>
          <a:xfrm>
            <a:off x="804672" y="5468112"/>
            <a:ext cx="10607040" cy="566928"/>
          </a:xfrm>
          <a:prstGeom prst="rect">
            <a:avLst/>
          </a:prstGeom>
          <a:noFill/>
          <a:ln/>
        </p:spPr>
        <p:txBody>
          <a:bodyPr wrap="square" lIns="0" tIns="0" rIns="0" bIns="0" rtlCol="0" anchor="t"/>
          <a:lstStyle/>
          <a:p>
            <a:pPr marL="0" indent="0" algn="l">
              <a:lnSpc>
                <a:spcPct val="106000"/>
              </a:lnSpc>
              <a:buNone/>
            </a:pPr>
            <a:r>
              <a:rPr lang="en-US" sz="1200" dirty="0">
                <a:solidFill>
                  <a:srgbClr val="2C3A55"/>
                </a:solidFill>
                <a:latin typeface="Calibri" pitchFamily="34" charset="0"/>
                <a:ea typeface="Calibri" pitchFamily="34" charset="-122"/>
                <a:cs typeface="Calibri" pitchFamily="34" charset="-120"/>
              </a:rPr>
              <a:t>Gosset no inventó una distribución para tener una distribución nueva. La derivó porque midió que el procedimiento anterior fallaba con n pequeño. Ese orden — problema medido primero, herramienta después — es la diferencia entre estadística aplicada y adorno metodológico en un informe.</a:t>
            </a:r>
            <a:endParaRPr lang="en-US" sz="1200" dirty="0"/>
          </a:p>
        </p:txBody>
      </p:sp>
      <p:sp>
        <p:nvSpPr>
          <p:cNvPr id="22" name="Text 20"/>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Fuente: «Student» (W. S. Gosset), «The Probable Error of a Mean», Biometrika 6(1), 1908.</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3774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37744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COLAS PESADAS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Cuando la normal falla, falla en la cola — y ahí está el dinero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centro de la distribución casi nunca es el problema. El problema es lo que la normal declara imposible.</a:t>
            </a:r>
            <a:endParaRPr lang="en-US" sz="1400" dirty="0"/>
          </a:p>
        </p:txBody>
      </p:sp>
      <p:sp>
        <p:nvSpPr>
          <p:cNvPr id="6" name="Text 4"/>
          <p:cNvSpPr/>
          <p:nvPr/>
        </p:nvSpPr>
        <p:spPr>
          <a:xfrm>
            <a:off x="777240" y="2103120"/>
            <a:ext cx="2926080" cy="603504"/>
          </a:xfrm>
          <a:prstGeom prst="rect">
            <a:avLst/>
          </a:prstGeom>
          <a:noFill/>
          <a:ln/>
        </p:spPr>
        <p:txBody>
          <a:bodyPr wrap="square" lIns="0" tIns="0" rIns="0" bIns="0" rtlCol="0" anchor="ctr"/>
          <a:lstStyle/>
          <a:p>
            <a:pPr marL="0" indent="0" algn="l">
              <a:buNone/>
            </a:pPr>
            <a:r>
              <a:rPr lang="en-US" sz="3800" b="1" dirty="0">
                <a:solidFill>
                  <a:srgbClr val="E6115E"/>
                </a:solidFill>
                <a:latin typeface="Calibri" pitchFamily="34" charset="0"/>
                <a:ea typeface="Calibri" pitchFamily="34" charset="-122"/>
                <a:cs typeface="Calibri" pitchFamily="34" charset="-120"/>
              </a:rPr>
              <a:t>−22.6 %</a:t>
            </a:r>
            <a:endParaRPr lang="en-US" sz="3800" dirty="0"/>
          </a:p>
        </p:txBody>
      </p:sp>
      <p:sp>
        <p:nvSpPr>
          <p:cNvPr id="7" name="Text 5"/>
          <p:cNvSpPr/>
          <p:nvPr/>
        </p:nvSpPr>
        <p:spPr>
          <a:xfrm>
            <a:off x="777240" y="2670048"/>
            <a:ext cx="292608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Caída del Dow Jones en un solo día:</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19 de octubre de 1987</a:t>
            </a:r>
            <a:endParaRPr lang="en-US" sz="1150" dirty="0"/>
          </a:p>
        </p:txBody>
      </p:sp>
      <p:sp>
        <p:nvSpPr>
          <p:cNvPr id="8" name="Text 6"/>
          <p:cNvSpPr/>
          <p:nvPr/>
        </p:nvSpPr>
        <p:spPr>
          <a:xfrm>
            <a:off x="3977640" y="2103120"/>
            <a:ext cx="2926080" cy="603504"/>
          </a:xfrm>
          <a:prstGeom prst="rect">
            <a:avLst/>
          </a:prstGeom>
          <a:noFill/>
          <a:ln/>
        </p:spPr>
        <p:txBody>
          <a:bodyPr wrap="square" lIns="0" tIns="0" rIns="0" bIns="0" rtlCol="0" anchor="ctr"/>
          <a:lstStyle/>
          <a:p>
            <a:pPr marL="0" indent="0" algn="l">
              <a:buNone/>
            </a:pPr>
            <a:r>
              <a:rPr lang="en-US" sz="3800" b="1" dirty="0">
                <a:solidFill>
                  <a:srgbClr val="1A56E8"/>
                </a:solidFill>
                <a:latin typeface="Calibri" pitchFamily="34" charset="0"/>
                <a:ea typeface="Calibri" pitchFamily="34" charset="-122"/>
                <a:cs typeface="Calibri" pitchFamily="34" charset="-120"/>
              </a:rPr>
              <a:t>≈ 20 σ</a:t>
            </a:r>
            <a:endParaRPr lang="en-US" sz="3800" dirty="0"/>
          </a:p>
        </p:txBody>
      </p:sp>
      <p:sp>
        <p:nvSpPr>
          <p:cNvPr id="9" name="Text 7"/>
          <p:cNvSpPr/>
          <p:nvPr/>
        </p:nvSpPr>
        <p:spPr>
          <a:xfrm>
            <a:off x="3977640" y="2670048"/>
            <a:ext cx="292608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Lo que representaba ese día bajo un</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modelo normal de volatilidad diaria</a:t>
            </a:r>
            <a:endParaRPr lang="en-US" sz="1150" dirty="0"/>
          </a:p>
        </p:txBody>
      </p:sp>
      <p:sp>
        <p:nvSpPr>
          <p:cNvPr id="10" name="Text 8"/>
          <p:cNvSpPr/>
          <p:nvPr/>
        </p:nvSpPr>
        <p:spPr>
          <a:xfrm>
            <a:off x="7178040" y="2103120"/>
            <a:ext cx="4023360" cy="603504"/>
          </a:xfrm>
          <a:prstGeom prst="rect">
            <a:avLst/>
          </a:prstGeom>
          <a:noFill/>
          <a:ln/>
        </p:spPr>
        <p:txBody>
          <a:bodyPr wrap="square" lIns="0" tIns="0" rIns="0" bIns="0" rtlCol="0" anchor="ctr"/>
          <a:lstStyle/>
          <a:p>
            <a:pPr marL="0" indent="0" algn="l">
              <a:buNone/>
            </a:pPr>
            <a:r>
              <a:rPr lang="en-US" sz="3800" b="1" dirty="0">
                <a:solidFill>
                  <a:srgbClr val="E6115E"/>
                </a:solidFill>
                <a:latin typeface="Calibri" pitchFamily="34" charset="0"/>
                <a:ea typeface="Calibri" pitchFamily="34" charset="-122"/>
                <a:cs typeface="Calibri" pitchFamily="34" charset="-120"/>
              </a:rPr>
              <a:t>3 × 10⁻⁸⁹</a:t>
            </a:r>
            <a:endParaRPr lang="en-US" sz="3800" dirty="0"/>
          </a:p>
        </p:txBody>
      </p:sp>
      <p:sp>
        <p:nvSpPr>
          <p:cNvPr id="11" name="Text 9"/>
          <p:cNvSpPr/>
          <p:nvPr/>
        </p:nvSpPr>
        <p:spPr>
          <a:xfrm>
            <a:off x="7178040" y="2670048"/>
            <a:ext cx="4023360" cy="457200"/>
          </a:xfrm>
          <a:prstGeom prst="rect">
            <a:avLst/>
          </a:prstGeom>
          <a:noFill/>
          <a:ln/>
        </p:spPr>
        <p:txBody>
          <a:bodyPr wrap="square" lIns="0" tIns="0" rIns="0" bIns="0" rtlCol="0" anchor="t"/>
          <a:lstStyle/>
          <a:p>
            <a:pPr marL="0" indent="0">
              <a:buNone/>
            </a:pPr>
            <a:r>
              <a:rPr lang="en-US" sz="1150" dirty="0">
                <a:solidFill>
                  <a:srgbClr val="5B6B87"/>
                </a:solidFill>
                <a:latin typeface="Calibri" pitchFamily="34" charset="0"/>
                <a:ea typeface="Calibri" pitchFamily="34" charset="-122"/>
                <a:cs typeface="Calibri" pitchFamily="34" charset="-120"/>
              </a:rPr>
              <a:t>Probabilidad que la normal le asigna.</a:t>
            </a:r>
            <a:endParaRPr lang="en-US" sz="1150" dirty="0"/>
          </a:p>
          <a:p>
            <a:pPr marL="0" indent="0">
              <a:buNone/>
            </a:pPr>
            <a:r>
              <a:rPr lang="en-US" sz="1150" dirty="0">
                <a:solidFill>
                  <a:srgbClr val="5B6B87"/>
                </a:solidFill>
                <a:latin typeface="Calibri" pitchFamily="34" charset="0"/>
                <a:ea typeface="Calibri" pitchFamily="34" charset="-122"/>
                <a:cs typeface="Calibri" pitchFamily="34" charset="-120"/>
              </a:rPr>
              <a:t>Menos de una vez en 10⁸⁰ años.</a:t>
            </a:r>
            <a:endParaRPr lang="en-US" sz="1150" dirty="0"/>
          </a:p>
        </p:txBody>
      </p:sp>
      <p:sp>
        <p:nvSpPr>
          <p:cNvPr id="12" name="Shape 10"/>
          <p:cNvSpPr/>
          <p:nvPr/>
        </p:nvSpPr>
        <p:spPr>
          <a:xfrm>
            <a:off x="777240" y="3401568"/>
            <a:ext cx="10607040" cy="0"/>
          </a:xfrm>
          <a:prstGeom prst="line">
            <a:avLst/>
          </a:prstGeom>
          <a:noFill/>
          <a:ln w="12700">
            <a:solidFill>
              <a:srgbClr val="D2DBEC"/>
            </a:solidFill>
            <a:prstDash val="solid"/>
          </a:ln>
        </p:spPr>
      </p:sp>
      <p:sp>
        <p:nvSpPr>
          <p:cNvPr id="13" name="Shape 11"/>
          <p:cNvSpPr/>
          <p:nvPr/>
        </p:nvSpPr>
        <p:spPr>
          <a:xfrm>
            <a:off x="548640" y="3611880"/>
            <a:ext cx="5468112" cy="1444752"/>
          </a:xfrm>
          <a:prstGeom prst="roundRect">
            <a:avLst>
              <a:gd name="adj" fmla="val 3797"/>
            </a:avLst>
          </a:prstGeom>
          <a:solidFill>
            <a:srgbClr val="0A2559"/>
          </a:solidFill>
          <a:ln w="12700">
            <a:solidFill>
              <a:srgbClr val="0A2559"/>
            </a:solidFill>
            <a:prstDash val="solid"/>
          </a:ln>
        </p:spPr>
      </p:sp>
      <p:sp>
        <p:nvSpPr>
          <p:cNvPr id="14" name="Shape 12"/>
          <p:cNvSpPr/>
          <p:nvPr/>
        </p:nvSpPr>
        <p:spPr>
          <a:xfrm>
            <a:off x="804672" y="3858768"/>
            <a:ext cx="118872" cy="118872"/>
          </a:xfrm>
          <a:prstGeom prst="roundRect">
            <a:avLst>
              <a:gd name="adj" fmla="val 30769"/>
            </a:avLst>
          </a:prstGeom>
          <a:solidFill>
            <a:srgbClr val="E6115E"/>
          </a:solidFill>
          <a:ln w="12700">
            <a:solidFill>
              <a:srgbClr val="E6115E"/>
            </a:solidFill>
            <a:prstDash val="solid"/>
          </a:ln>
        </p:spPr>
      </p:sp>
      <p:sp>
        <p:nvSpPr>
          <p:cNvPr id="15" name="Text 13"/>
          <p:cNvSpPr/>
          <p:nvPr/>
        </p:nvSpPr>
        <p:spPr>
          <a:xfrm>
            <a:off x="1042416" y="3758184"/>
            <a:ext cx="4791456"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Y volvió a pasar: LTCM, 1998</a:t>
            </a:r>
            <a:endParaRPr lang="en-US" sz="1400" dirty="0"/>
          </a:p>
        </p:txBody>
      </p:sp>
      <p:sp>
        <p:nvSpPr>
          <p:cNvPr id="16" name="Text 14"/>
          <p:cNvSpPr/>
          <p:nvPr/>
        </p:nvSpPr>
        <p:spPr>
          <a:xfrm>
            <a:off x="804672" y="4123944"/>
            <a:ext cx="4983480" cy="859536"/>
          </a:xfrm>
          <a:prstGeom prst="rect">
            <a:avLst/>
          </a:prstGeom>
          <a:noFill/>
          <a:ln/>
        </p:spPr>
        <p:txBody>
          <a:bodyPr wrap="square" lIns="0" tIns="0" rIns="0" bIns="0" rtlCol="0" anchor="t"/>
          <a:lstStyle/>
          <a:p>
            <a:pPr marL="0" indent="0" algn="l">
              <a:lnSpc>
                <a:spcPct val="106000"/>
              </a:lnSpc>
              <a:buNone/>
            </a:pPr>
            <a:r>
              <a:rPr lang="en-US" sz="1200" dirty="0">
                <a:solidFill>
                  <a:srgbClr val="C9D6F2"/>
                </a:solidFill>
                <a:latin typeface="Calibri" pitchFamily="34" charset="0"/>
                <a:ea typeface="Calibri" pitchFamily="34" charset="-122"/>
                <a:cs typeface="Calibri" pitchFamily="34" charset="-120"/>
              </a:rPr>
              <a:t>Un fondo dirigido por dos premios Nobel de economía perdió más de 4 000 millones de dólares en cuatro meses. Sus modelos trataban los eventos extremos como prácticamente imposibles; el default ruso de agosto de 1998 no era imposible.</a:t>
            </a:r>
            <a:endParaRPr lang="en-US" sz="1200" dirty="0"/>
          </a:p>
        </p:txBody>
      </p:sp>
      <p:sp>
        <p:nvSpPr>
          <p:cNvPr id="17" name="Shape 15"/>
          <p:cNvSpPr/>
          <p:nvPr/>
        </p:nvSpPr>
        <p:spPr>
          <a:xfrm>
            <a:off x="6172200" y="3611880"/>
            <a:ext cx="5468112" cy="1444752"/>
          </a:xfrm>
          <a:prstGeom prst="roundRect">
            <a:avLst>
              <a:gd name="adj" fmla="val 3797"/>
            </a:avLst>
          </a:prstGeom>
          <a:solidFill>
            <a:srgbClr val="FFFFFF"/>
          </a:solidFill>
          <a:ln w="12700">
            <a:solidFill>
              <a:srgbClr val="D2DBEC"/>
            </a:solidFill>
            <a:prstDash val="solid"/>
          </a:ln>
        </p:spPr>
      </p:sp>
      <p:sp>
        <p:nvSpPr>
          <p:cNvPr id="18" name="Shape 16"/>
          <p:cNvSpPr/>
          <p:nvPr/>
        </p:nvSpPr>
        <p:spPr>
          <a:xfrm>
            <a:off x="6419088" y="3858768"/>
            <a:ext cx="118872" cy="118872"/>
          </a:xfrm>
          <a:prstGeom prst="roundRect">
            <a:avLst>
              <a:gd name="adj" fmla="val 30769"/>
            </a:avLst>
          </a:prstGeom>
          <a:solidFill>
            <a:srgbClr val="E6115E"/>
          </a:solidFill>
          <a:ln w="12700">
            <a:solidFill>
              <a:srgbClr val="E6115E"/>
            </a:solidFill>
            <a:prstDash val="solid"/>
          </a:ln>
        </p:spPr>
      </p:sp>
      <p:sp>
        <p:nvSpPr>
          <p:cNvPr id="19" name="Text 17"/>
          <p:cNvSpPr/>
          <p:nvPr/>
        </p:nvSpPr>
        <p:spPr>
          <a:xfrm>
            <a:off x="6656832" y="3758184"/>
            <a:ext cx="47914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Cómo se detecta antes de que duela</a:t>
            </a:r>
            <a:endParaRPr lang="en-US" sz="1400" dirty="0"/>
          </a:p>
        </p:txBody>
      </p:sp>
      <p:sp>
        <p:nvSpPr>
          <p:cNvPr id="20" name="Text 18"/>
          <p:cNvSpPr/>
          <p:nvPr/>
        </p:nvSpPr>
        <p:spPr>
          <a:xfrm>
            <a:off x="6419088" y="4123944"/>
            <a:ext cx="4983480" cy="859536"/>
          </a:xfrm>
          <a:prstGeom prst="rect">
            <a:avLst/>
          </a:prstGeom>
          <a:noFill/>
          <a:ln/>
        </p:spPr>
        <p:txBody>
          <a:bodyPr wrap="square" lIns="0" tIns="0" rIns="0" bIns="0" rtlCol="0" anchor="t"/>
          <a:lstStyle/>
          <a:p>
            <a:pPr marL="0" indent="0" algn="l">
              <a:lnSpc>
                <a:spcPct val="106000"/>
              </a:lnSpc>
              <a:buNone/>
            </a:pPr>
            <a:r>
              <a:rPr lang="en-US" sz="1200" dirty="0">
                <a:solidFill>
                  <a:srgbClr val="2C3A55"/>
                </a:solidFill>
                <a:latin typeface="Calibri" pitchFamily="34" charset="0"/>
                <a:ea typeface="Calibri" pitchFamily="34" charset="-122"/>
                <a:cs typeface="Calibri" pitchFamily="34" charset="-120"/>
              </a:rPr>
              <a:t>La curtosis. Una normal tiene curtosis 3 (exceso 0). Los retornos diarios de casi cualquier activo dan exceso de curtosis muy por encima de 0: más masa en las colas de lo que la normal admite. Es una línea de código y casi nadie la corre.</a:t>
            </a:r>
            <a:endParaRPr lang="en-US" sz="1200" dirty="0"/>
          </a:p>
        </p:txBody>
      </p:sp>
      <p:sp>
        <p:nvSpPr>
          <p:cNvPr id="21" name="Shape 19"/>
          <p:cNvSpPr/>
          <p:nvPr/>
        </p:nvSpPr>
        <p:spPr>
          <a:xfrm>
            <a:off x="548640" y="5230368"/>
            <a:ext cx="11091672" cy="1097280"/>
          </a:xfrm>
          <a:prstGeom prst="roundRect">
            <a:avLst>
              <a:gd name="adj" fmla="val 5000"/>
            </a:avLst>
          </a:prstGeom>
          <a:solidFill>
            <a:srgbClr val="E9EEF8"/>
          </a:solidFill>
          <a:ln w="12700">
            <a:solidFill>
              <a:srgbClr val="D2DBEC"/>
            </a:solidFill>
            <a:prstDash val="solid"/>
          </a:ln>
        </p:spPr>
      </p:sp>
      <p:sp>
        <p:nvSpPr>
          <p:cNvPr id="22" name="Shape 20"/>
          <p:cNvSpPr/>
          <p:nvPr/>
        </p:nvSpPr>
        <p:spPr>
          <a:xfrm>
            <a:off x="804672" y="5486400"/>
            <a:ext cx="118872" cy="118872"/>
          </a:xfrm>
          <a:prstGeom prst="roundRect">
            <a:avLst>
              <a:gd name="adj" fmla="val 30769"/>
            </a:avLst>
          </a:prstGeom>
          <a:solidFill>
            <a:srgbClr val="E6115E"/>
          </a:solidFill>
          <a:ln w="12700">
            <a:solidFill>
              <a:srgbClr val="E6115E"/>
            </a:solidFill>
            <a:prstDash val="solid"/>
          </a:ln>
        </p:spPr>
      </p:sp>
      <p:sp>
        <p:nvSpPr>
          <p:cNvPr id="23" name="Text 21"/>
          <p:cNvSpPr/>
          <p:nvPr/>
        </p:nvSpPr>
        <p:spPr>
          <a:xfrm>
            <a:off x="1042416" y="5385816"/>
            <a:ext cx="6163056" cy="29260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hacer en su lugar</a:t>
            </a:r>
            <a:endParaRPr lang="en-US" sz="1400" dirty="0"/>
          </a:p>
        </p:txBody>
      </p:sp>
      <p:sp>
        <p:nvSpPr>
          <p:cNvPr id="24" name="Text 22"/>
          <p:cNvSpPr/>
          <p:nvPr/>
        </p:nvSpPr>
        <p:spPr>
          <a:xfrm>
            <a:off x="804672" y="5733288"/>
            <a:ext cx="10607040" cy="502920"/>
          </a:xfrm>
          <a:prstGeom prst="rect">
            <a:avLst/>
          </a:prstGeom>
          <a:noFill/>
          <a:ln/>
        </p:spPr>
        <p:txBody>
          <a:bodyPr wrap="square" lIns="0" tIns="0" rIns="0" bIns="0" rtlCol="0" anchor="t"/>
          <a:lstStyle/>
          <a:p>
            <a:pPr marL="0" indent="0" algn="l">
              <a:lnSpc>
                <a:spcPct val="105000"/>
              </a:lnSpc>
              <a:buNone/>
            </a:pPr>
            <a:r>
              <a:rPr lang="en-US" sz="1200" dirty="0">
                <a:solidFill>
                  <a:srgbClr val="2C3A55"/>
                </a:solidFill>
                <a:latin typeface="Calibri" pitchFamily="34" charset="0"/>
                <a:ea typeface="Calibri" pitchFamily="34" charset="-122"/>
                <a:cs typeface="Calibri" pitchFamily="34" charset="-120"/>
              </a:rPr>
              <a:t>Tres salidas, en orden de esfuerzo: (1) usar una t con pocos grados de libertad, que tiene colas más gruesas por construcción; (2) modelar la cola aparte con teoría de valores extremos; (3) usar cuantiles empíricos y no una fórmula cerrada. Ninguna es gratis — pero asumir normalidad en la cola tampoco lo fue.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DIAGNÓSTICO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¿Y cómo sé si mi variable es normal?</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Tres herramientas, en el orden en que se usan. La tercera es la más citada y la más mal usada.</a:t>
            </a:r>
            <a:endParaRPr lang="en-US" sz="1400" dirty="0"/>
          </a:p>
        </p:txBody>
      </p:sp>
      <p:sp>
        <p:nvSpPr>
          <p:cNvPr id="6" name="Shape 4"/>
          <p:cNvSpPr/>
          <p:nvPr/>
        </p:nvSpPr>
        <p:spPr>
          <a:xfrm>
            <a:off x="548640" y="1938528"/>
            <a:ext cx="3520440" cy="2103120"/>
          </a:xfrm>
          <a:prstGeom prst="roundRect">
            <a:avLst>
              <a:gd name="adj" fmla="val 2609"/>
            </a:avLst>
          </a:prstGeom>
          <a:solidFill>
            <a:srgbClr val="FFFFFF"/>
          </a:solidFill>
          <a:ln w="12700">
            <a:solidFill>
              <a:srgbClr val="D2DBEC"/>
            </a:solidFill>
            <a:prstDash val="solid"/>
          </a:ln>
        </p:spPr>
      </p:sp>
      <p:sp>
        <p:nvSpPr>
          <p:cNvPr id="7" name="Shape 5"/>
          <p:cNvSpPr/>
          <p:nvPr/>
        </p:nvSpPr>
        <p:spPr>
          <a:xfrm>
            <a:off x="777240" y="2121408"/>
            <a:ext cx="384048" cy="384048"/>
          </a:xfrm>
          <a:prstGeom prst="roundRect">
            <a:avLst>
              <a:gd name="adj" fmla="val 50000"/>
            </a:avLst>
          </a:prstGeom>
          <a:solidFill>
            <a:srgbClr val="1A56E8"/>
          </a:solidFill>
          <a:ln w="12700">
            <a:solidFill>
              <a:srgbClr val="1A56E8"/>
            </a:solidFill>
            <a:prstDash val="solid"/>
          </a:ln>
        </p:spPr>
      </p:sp>
      <p:sp>
        <p:nvSpPr>
          <p:cNvPr id="8" name="Text 6"/>
          <p:cNvSpPr/>
          <p:nvPr/>
        </p:nvSpPr>
        <p:spPr>
          <a:xfrm>
            <a:off x="777240" y="212140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80160" y="2121408"/>
            <a:ext cx="2606040" cy="384048"/>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Histograma</a:t>
            </a:r>
            <a:endParaRPr lang="en-US" sz="1600" dirty="0"/>
          </a:p>
        </p:txBody>
      </p:sp>
      <p:sp>
        <p:nvSpPr>
          <p:cNvPr id="10" name="Text 8"/>
          <p:cNvSpPr/>
          <p:nvPr/>
        </p:nvSpPr>
        <p:spPr>
          <a:xfrm>
            <a:off x="777240" y="2596896"/>
            <a:ext cx="3063240" cy="237744"/>
          </a:xfrm>
          <a:prstGeom prst="rect">
            <a:avLst/>
          </a:prstGeom>
          <a:noFill/>
          <a:ln/>
        </p:spPr>
        <p:txBody>
          <a:bodyPr wrap="square" lIns="0" tIns="0" rIns="0" bIns="0" rtlCol="0" anchor="ctr"/>
          <a:lstStyle/>
          <a:p>
            <a:pPr marL="0" indent="0">
              <a:buNone/>
            </a:pPr>
            <a:r>
              <a:rPr lang="en-US" sz="1000" b="1" kern="0" spc="80" dirty="0">
                <a:solidFill>
                  <a:srgbClr val="1A56E8"/>
                </a:solidFill>
                <a:latin typeface="Calibri" pitchFamily="34" charset="0"/>
                <a:ea typeface="Calibri" pitchFamily="34" charset="-122"/>
                <a:cs typeface="Calibri" pitchFamily="34" charset="-120"/>
              </a:rPr>
              <a:t>MIRA LA FORMA</a:t>
            </a:r>
            <a:endParaRPr lang="en-US" sz="1000" dirty="0"/>
          </a:p>
        </p:txBody>
      </p:sp>
      <p:sp>
        <p:nvSpPr>
          <p:cNvPr id="11" name="Text 9"/>
          <p:cNvSpPr/>
          <p:nvPr/>
        </p:nvSpPr>
        <p:spPr>
          <a:xfrm>
            <a:off x="777240" y="2889504"/>
            <a:ext cx="3063240" cy="1097280"/>
          </a:xfrm>
          <a:prstGeom prst="rect">
            <a:avLst/>
          </a:prstGeom>
          <a:noFill/>
          <a:ln/>
        </p:spPr>
        <p:txBody>
          <a:bodyPr wrap="square" lIns="0" tIns="0" rIns="0" bIns="0" rtlCol="0" anchor="t"/>
          <a:lstStyle/>
          <a:p>
            <a:pPr marL="0" indent="0" algn="l">
              <a:lnSpc>
                <a:spcPct val="106000"/>
              </a:lnSpc>
              <a:buNone/>
            </a:pPr>
            <a:r>
              <a:rPr lang="en-US" sz="1200" dirty="0">
                <a:solidFill>
                  <a:srgbClr val="2C3A55"/>
                </a:solidFill>
                <a:latin typeface="Calibri" pitchFamily="34" charset="0"/>
                <a:ea typeface="Calibri" pitchFamily="34" charset="-122"/>
                <a:cs typeface="Calibri" pitchFamily="34" charset="-120"/>
              </a:rPr>
              <a:t>Sirve para descartar lo evidente: asimetría fuerte, dos picos, valores imposibles. No sirve para decidir: cambias el número de bins y cambias la conclusión.</a:t>
            </a:r>
            <a:endParaRPr lang="en-US" sz="1200" dirty="0"/>
          </a:p>
        </p:txBody>
      </p:sp>
      <p:sp>
        <p:nvSpPr>
          <p:cNvPr id="12" name="Shape 10"/>
          <p:cNvSpPr/>
          <p:nvPr/>
        </p:nvSpPr>
        <p:spPr>
          <a:xfrm>
            <a:off x="4297680" y="1938528"/>
            <a:ext cx="3520440" cy="2103120"/>
          </a:xfrm>
          <a:prstGeom prst="roundRect">
            <a:avLst>
              <a:gd name="adj" fmla="val 2609"/>
            </a:avLst>
          </a:prstGeom>
          <a:solidFill>
            <a:srgbClr val="FFFFFF"/>
          </a:solidFill>
          <a:ln w="12700">
            <a:solidFill>
              <a:srgbClr val="D2DBEC"/>
            </a:solidFill>
            <a:prstDash val="solid"/>
          </a:ln>
        </p:spPr>
      </p:sp>
      <p:sp>
        <p:nvSpPr>
          <p:cNvPr id="13" name="Shape 11"/>
          <p:cNvSpPr/>
          <p:nvPr/>
        </p:nvSpPr>
        <p:spPr>
          <a:xfrm>
            <a:off x="4526280" y="2121408"/>
            <a:ext cx="384048" cy="384048"/>
          </a:xfrm>
          <a:prstGeom prst="roundRect">
            <a:avLst>
              <a:gd name="adj" fmla="val 50000"/>
            </a:avLst>
          </a:prstGeom>
          <a:solidFill>
            <a:srgbClr val="E6115E"/>
          </a:solidFill>
          <a:ln w="12700">
            <a:solidFill>
              <a:srgbClr val="E6115E"/>
            </a:solidFill>
            <a:prstDash val="solid"/>
          </a:ln>
        </p:spPr>
      </p:sp>
      <p:sp>
        <p:nvSpPr>
          <p:cNvPr id="14" name="Text 12"/>
          <p:cNvSpPr/>
          <p:nvPr/>
        </p:nvSpPr>
        <p:spPr>
          <a:xfrm>
            <a:off x="4526280" y="212140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029200" y="2121408"/>
            <a:ext cx="2606040" cy="384048"/>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QQ-plot</a:t>
            </a:r>
            <a:endParaRPr lang="en-US" sz="1600" dirty="0"/>
          </a:p>
        </p:txBody>
      </p:sp>
      <p:sp>
        <p:nvSpPr>
          <p:cNvPr id="16" name="Text 14"/>
          <p:cNvSpPr/>
          <p:nvPr/>
        </p:nvSpPr>
        <p:spPr>
          <a:xfrm>
            <a:off x="4526280" y="2596896"/>
            <a:ext cx="3063240" cy="237744"/>
          </a:xfrm>
          <a:prstGeom prst="rect">
            <a:avLst/>
          </a:prstGeom>
          <a:noFill/>
          <a:ln/>
        </p:spPr>
        <p:txBody>
          <a:bodyPr wrap="square" lIns="0" tIns="0" rIns="0" bIns="0" rtlCol="0" anchor="ctr"/>
          <a:lstStyle/>
          <a:p>
            <a:pPr marL="0" indent="0">
              <a:buNone/>
            </a:pPr>
            <a:r>
              <a:rPr lang="en-US" sz="1000" b="1" kern="0" spc="80" dirty="0">
                <a:solidFill>
                  <a:srgbClr val="E6115E"/>
                </a:solidFill>
                <a:latin typeface="Calibri" pitchFamily="34" charset="0"/>
                <a:ea typeface="Calibri" pitchFamily="34" charset="-122"/>
                <a:cs typeface="Calibri" pitchFamily="34" charset="-120"/>
              </a:rPr>
              <a:t>LA HERRAMIENTA REAL</a:t>
            </a:r>
            <a:endParaRPr lang="en-US" sz="1000" dirty="0"/>
          </a:p>
        </p:txBody>
      </p:sp>
      <p:sp>
        <p:nvSpPr>
          <p:cNvPr id="17" name="Text 15"/>
          <p:cNvSpPr/>
          <p:nvPr/>
        </p:nvSpPr>
        <p:spPr>
          <a:xfrm>
            <a:off x="4526280" y="2889504"/>
            <a:ext cx="3063240" cy="1097280"/>
          </a:xfrm>
          <a:prstGeom prst="rect">
            <a:avLst/>
          </a:prstGeom>
          <a:noFill/>
          <a:ln/>
        </p:spPr>
        <p:txBody>
          <a:bodyPr wrap="square" lIns="0" tIns="0" rIns="0" bIns="0" rtlCol="0" anchor="t"/>
          <a:lstStyle/>
          <a:p>
            <a:pPr marL="0" indent="0" algn="l">
              <a:lnSpc>
                <a:spcPct val="106000"/>
              </a:lnSpc>
              <a:buNone/>
            </a:pPr>
            <a:r>
              <a:rPr lang="en-US" sz="1200" dirty="0">
                <a:solidFill>
                  <a:srgbClr val="2C3A55"/>
                </a:solidFill>
                <a:latin typeface="Calibri" pitchFamily="34" charset="0"/>
                <a:ea typeface="Calibri" pitchFamily="34" charset="-122"/>
                <a:cs typeface="Calibri" pitchFamily="34" charset="-120"/>
              </a:rPr>
              <a:t>Grafica tus cuantiles contra los de una normal. Si es normal, los puntos caen sobre la diagonal. Las colas se ven como una S en los extremos, que es justo donde importa.</a:t>
            </a:r>
            <a:endParaRPr lang="en-US" sz="1200" dirty="0"/>
          </a:p>
        </p:txBody>
      </p:sp>
      <p:sp>
        <p:nvSpPr>
          <p:cNvPr id="18" name="Shape 16"/>
          <p:cNvSpPr/>
          <p:nvPr/>
        </p:nvSpPr>
        <p:spPr>
          <a:xfrm>
            <a:off x="8046720" y="1938528"/>
            <a:ext cx="3520440" cy="2103120"/>
          </a:xfrm>
          <a:prstGeom prst="roundRect">
            <a:avLst>
              <a:gd name="adj" fmla="val 2609"/>
            </a:avLst>
          </a:prstGeom>
          <a:solidFill>
            <a:srgbClr val="FFFFFF"/>
          </a:solidFill>
          <a:ln w="12700">
            <a:solidFill>
              <a:srgbClr val="D2DBEC"/>
            </a:solidFill>
            <a:prstDash val="solid"/>
          </a:ln>
        </p:spPr>
      </p:sp>
      <p:sp>
        <p:nvSpPr>
          <p:cNvPr id="19" name="Shape 17"/>
          <p:cNvSpPr/>
          <p:nvPr/>
        </p:nvSpPr>
        <p:spPr>
          <a:xfrm>
            <a:off x="8275320" y="2121408"/>
            <a:ext cx="384048" cy="384048"/>
          </a:xfrm>
          <a:prstGeom prst="roundRect">
            <a:avLst>
              <a:gd name="adj" fmla="val 50000"/>
            </a:avLst>
          </a:prstGeom>
          <a:solidFill>
            <a:srgbClr val="12B886"/>
          </a:solidFill>
          <a:ln w="12700">
            <a:solidFill>
              <a:srgbClr val="12B886"/>
            </a:solidFill>
            <a:prstDash val="solid"/>
          </a:ln>
        </p:spPr>
      </p:sp>
      <p:sp>
        <p:nvSpPr>
          <p:cNvPr id="20" name="Text 18"/>
          <p:cNvSpPr/>
          <p:nvPr/>
        </p:nvSpPr>
        <p:spPr>
          <a:xfrm>
            <a:off x="8275320" y="212140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8778240" y="2121408"/>
            <a:ext cx="2606040" cy="384048"/>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Shapiro-Wilk</a:t>
            </a:r>
            <a:endParaRPr lang="en-US" sz="1600" dirty="0"/>
          </a:p>
        </p:txBody>
      </p:sp>
      <p:sp>
        <p:nvSpPr>
          <p:cNvPr id="22" name="Text 20"/>
          <p:cNvSpPr/>
          <p:nvPr/>
        </p:nvSpPr>
        <p:spPr>
          <a:xfrm>
            <a:off x="8275320" y="2596896"/>
            <a:ext cx="3063240" cy="237744"/>
          </a:xfrm>
          <a:prstGeom prst="rect">
            <a:avLst/>
          </a:prstGeom>
          <a:noFill/>
          <a:ln/>
        </p:spPr>
        <p:txBody>
          <a:bodyPr wrap="square" lIns="0" tIns="0" rIns="0" bIns="0" rtlCol="0" anchor="ctr"/>
          <a:lstStyle/>
          <a:p>
            <a:pPr marL="0" indent="0">
              <a:buNone/>
            </a:pPr>
            <a:r>
              <a:rPr lang="en-US" sz="1000" b="1" kern="0" spc="80" dirty="0">
                <a:solidFill>
                  <a:srgbClr val="12B886"/>
                </a:solidFill>
                <a:latin typeface="Calibri" pitchFamily="34" charset="0"/>
                <a:ea typeface="Calibri" pitchFamily="34" charset="-122"/>
                <a:cs typeface="Calibri" pitchFamily="34" charset="-120"/>
              </a:rPr>
              <a:t>EL TEST FORMAL</a:t>
            </a:r>
            <a:endParaRPr lang="en-US" sz="1000" dirty="0"/>
          </a:p>
        </p:txBody>
      </p:sp>
      <p:sp>
        <p:nvSpPr>
          <p:cNvPr id="23" name="Text 21"/>
          <p:cNvSpPr/>
          <p:nvPr/>
        </p:nvSpPr>
        <p:spPr>
          <a:xfrm>
            <a:off x="8275320" y="2889504"/>
            <a:ext cx="3063240" cy="1097280"/>
          </a:xfrm>
          <a:prstGeom prst="rect">
            <a:avLst/>
          </a:prstGeom>
          <a:noFill/>
          <a:ln/>
        </p:spPr>
        <p:txBody>
          <a:bodyPr wrap="square" lIns="0" tIns="0" rIns="0" bIns="0" rtlCol="0" anchor="t"/>
          <a:lstStyle/>
          <a:p>
            <a:pPr marL="0" indent="0" algn="l">
              <a:lnSpc>
                <a:spcPct val="106000"/>
              </a:lnSpc>
              <a:buNone/>
            </a:pPr>
            <a:r>
              <a:rPr lang="en-US" sz="1200" dirty="0">
                <a:solidFill>
                  <a:srgbClr val="2C3A55"/>
                </a:solidFill>
                <a:latin typeface="Calibri" pitchFamily="34" charset="0"/>
                <a:ea typeface="Calibri" pitchFamily="34" charset="-122"/>
                <a:cs typeface="Calibri" pitchFamily="34" charset="-120"/>
              </a:rPr>
              <a:t>Devuelve un p-valor. Es útil con n pequeño o moderado. Con n grande rechaza casi siempre, porque detecta desvíos reales pero irrelevantes para tu decisión.</a:t>
            </a:r>
            <a:endParaRPr lang="en-US" sz="1200" dirty="0"/>
          </a:p>
        </p:txBody>
      </p:sp>
      <p:sp>
        <p:nvSpPr>
          <p:cNvPr id="24" name="Shape 22"/>
          <p:cNvSpPr/>
          <p:nvPr/>
        </p:nvSpPr>
        <p:spPr>
          <a:xfrm>
            <a:off x="548640" y="4224528"/>
            <a:ext cx="5486400" cy="1975104"/>
          </a:xfrm>
          <a:prstGeom prst="roundRect">
            <a:avLst>
              <a:gd name="adj" fmla="val 2778"/>
            </a:avLst>
          </a:prstGeom>
          <a:solidFill>
            <a:srgbClr val="0A2559"/>
          </a:solidFill>
          <a:ln w="12700">
            <a:solidFill>
              <a:srgbClr val="0A2559"/>
            </a:solidFill>
            <a:prstDash val="solid"/>
          </a:ln>
        </p:spPr>
      </p:sp>
      <p:sp>
        <p:nvSpPr>
          <p:cNvPr id="25" name="Shape 23"/>
          <p:cNvSpPr/>
          <p:nvPr/>
        </p:nvSpPr>
        <p:spPr>
          <a:xfrm>
            <a:off x="804672" y="4489704"/>
            <a:ext cx="118872" cy="118872"/>
          </a:xfrm>
          <a:prstGeom prst="roundRect">
            <a:avLst>
              <a:gd name="adj" fmla="val 30769"/>
            </a:avLst>
          </a:prstGeom>
          <a:solidFill>
            <a:srgbClr val="E6115E"/>
          </a:solidFill>
          <a:ln w="12700">
            <a:solidFill>
              <a:srgbClr val="E6115E"/>
            </a:solidFill>
            <a:prstDash val="solid"/>
          </a:ln>
        </p:spPr>
      </p:sp>
      <p:sp>
        <p:nvSpPr>
          <p:cNvPr id="26" name="Text 24"/>
          <p:cNvSpPr/>
          <p:nvPr/>
        </p:nvSpPr>
        <p:spPr>
          <a:xfrm>
            <a:off x="1042416" y="4389120"/>
            <a:ext cx="4791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La trampa del n grande</a:t>
            </a:r>
            <a:endParaRPr lang="en-US" sz="1500" dirty="0"/>
          </a:p>
        </p:txBody>
      </p:sp>
      <p:sp>
        <p:nvSpPr>
          <p:cNvPr id="27" name="Text 25"/>
          <p:cNvSpPr/>
          <p:nvPr/>
        </p:nvSpPr>
        <p:spPr>
          <a:xfrm>
            <a:off x="804672" y="4773168"/>
            <a:ext cx="4983480" cy="1335024"/>
          </a:xfrm>
          <a:prstGeom prst="rect">
            <a:avLst/>
          </a:prstGeom>
          <a:noFill/>
          <a:ln/>
        </p:spPr>
        <p:txBody>
          <a:bodyPr wrap="square" lIns="0" tIns="0" rIns="0" bIns="0" rtlCol="0" anchor="t"/>
          <a:lstStyle/>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Con 40 000 registros, Shapiro-Wilk va a rechazar la normalidad de casi cualquier variable real. No porque el desvío sea grave: porque el test tiene tanta potencia que detecta desvíos de tamaño irrelevante.</a:t>
            </a:r>
            <a:endParaRPr lang="en-US" sz="1200" dirty="0"/>
          </a:p>
          <a:p>
            <a:pPr marL="0" indent="0" algn="l">
              <a:lnSpc>
                <a:spcPct val="108000"/>
              </a:lnSpc>
              <a:buNone/>
            </a:pPr>
            <a:endParaRPr lang="en-US" sz="1200" dirty="0"/>
          </a:p>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Con n grande la pregunta correcta no es «¿es exactamente normal?» — la respuesta es no, siempre. Es «¿el desvío alcanza para cambiar mi decisión?», y eso lo contesta un QQ-plot.</a:t>
            </a:r>
            <a:endParaRPr lang="en-US" sz="1200" dirty="0"/>
          </a:p>
        </p:txBody>
      </p:sp>
      <p:sp>
        <p:nvSpPr>
          <p:cNvPr id="28" name="Shape 26"/>
          <p:cNvSpPr/>
          <p:nvPr/>
        </p:nvSpPr>
        <p:spPr>
          <a:xfrm>
            <a:off x="6172200" y="4224528"/>
            <a:ext cx="5468112" cy="1975104"/>
          </a:xfrm>
          <a:prstGeom prst="roundRect">
            <a:avLst>
              <a:gd name="adj" fmla="val 2778"/>
            </a:avLst>
          </a:prstGeom>
          <a:solidFill>
            <a:srgbClr val="E9EEF8"/>
          </a:solidFill>
          <a:ln w="12700">
            <a:solidFill>
              <a:srgbClr val="D2DBEC"/>
            </a:solidFill>
            <a:prstDash val="solid"/>
          </a:ln>
        </p:spPr>
      </p:sp>
      <p:sp>
        <p:nvSpPr>
          <p:cNvPr id="29" name="Shape 27"/>
          <p:cNvSpPr/>
          <p:nvPr/>
        </p:nvSpPr>
        <p:spPr>
          <a:xfrm>
            <a:off x="6419088" y="4489704"/>
            <a:ext cx="118872" cy="118872"/>
          </a:xfrm>
          <a:prstGeom prst="roundRect">
            <a:avLst>
              <a:gd name="adj" fmla="val 30769"/>
            </a:avLst>
          </a:prstGeom>
          <a:solidFill>
            <a:srgbClr val="E6115E"/>
          </a:solidFill>
          <a:ln w="12700">
            <a:solidFill>
              <a:srgbClr val="E6115E"/>
            </a:solidFill>
            <a:prstDash val="solid"/>
          </a:ln>
        </p:spPr>
      </p:sp>
      <p:sp>
        <p:nvSpPr>
          <p:cNvPr id="30" name="Text 28"/>
          <p:cNvSpPr/>
          <p:nvPr/>
        </p:nvSpPr>
        <p:spPr>
          <a:xfrm>
            <a:off x="6656832" y="4389120"/>
            <a:ext cx="4791456" cy="292608"/>
          </a:xfrm>
          <a:prstGeom prst="rect">
            <a:avLst/>
          </a:prstGeom>
          <a:noFill/>
          <a:ln/>
        </p:spPr>
        <p:txBody>
          <a:bodyPr wrap="square" lIns="0" tIns="0" rIns="0" bIns="0" rtlCol="0" anchor="ctr"/>
          <a:lstStyle/>
          <a:p>
            <a:pPr marL="0" indent="0">
              <a:buNone/>
            </a:pPr>
            <a:r>
              <a:rPr lang="en-US" sz="1500" b="1" dirty="0">
                <a:solidFill>
                  <a:srgbClr val="0A2559"/>
                </a:solidFill>
                <a:latin typeface="Calibri" pitchFamily="34" charset="0"/>
                <a:ea typeface="Calibri" pitchFamily="34" charset="-122"/>
                <a:cs typeface="Calibri" pitchFamily="34" charset="-120"/>
              </a:rPr>
              <a:t>Protocolo que te recomiendo</a:t>
            </a:r>
            <a:endParaRPr lang="en-US" sz="1500" dirty="0"/>
          </a:p>
        </p:txBody>
      </p:sp>
      <p:sp>
        <p:nvSpPr>
          <p:cNvPr id="31" name="Text 29"/>
          <p:cNvSpPr/>
          <p:nvPr/>
        </p:nvSpPr>
        <p:spPr>
          <a:xfrm>
            <a:off x="6419088" y="4773168"/>
            <a:ext cx="4983480" cy="1335024"/>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C3A55"/>
                </a:solidFill>
                <a:latin typeface="Calibri" pitchFamily="34" charset="0"/>
                <a:ea typeface="Calibri" pitchFamily="34" charset="-122"/>
                <a:cs typeface="Calibri" pitchFamily="34" charset="-120"/>
              </a:rPr>
              <a:t>n &lt; 50: histograma + QQ-plot + Shapiro. Los tres coinciden o algo raro pasa.</a:t>
            </a:r>
            <a:endParaRPr lang="en-US" sz="1150" dirty="0"/>
          </a:p>
          <a:p>
            <a:pPr marL="342900" indent="-342900">
              <a:spcAft>
                <a:spcPts val="500"/>
              </a:spcAft>
              <a:buSzPct val="100000"/>
              <a:buChar char="•"/>
            </a:pPr>
            <a:r>
              <a:rPr lang="en-US" sz="1150" dirty="0">
                <a:solidFill>
                  <a:srgbClr val="2C3A55"/>
                </a:solidFill>
                <a:latin typeface="Calibri" pitchFamily="34" charset="0"/>
                <a:ea typeface="Calibri" pitchFamily="34" charset="-122"/>
                <a:cs typeface="Calibri" pitchFamily="34" charset="-120"/>
              </a:rPr>
              <a:t>n entre 50 y 5 000: QQ-plot primero; Shapiro como apoyo, no como veredicto.</a:t>
            </a:r>
            <a:endParaRPr lang="en-US" sz="1150" dirty="0"/>
          </a:p>
          <a:p>
            <a:pPr marL="342900" indent="-342900">
              <a:spcAft>
                <a:spcPts val="500"/>
              </a:spcAft>
              <a:buSzPct val="100000"/>
              <a:buChar char="•"/>
            </a:pPr>
            <a:r>
              <a:rPr lang="en-US" sz="1150" dirty="0">
                <a:solidFill>
                  <a:srgbClr val="2C3A55"/>
                </a:solidFill>
                <a:latin typeface="Calibri" pitchFamily="34" charset="0"/>
                <a:ea typeface="Calibri" pitchFamily="34" charset="-122"/>
                <a:cs typeface="Calibri" pitchFamily="34" charset="-120"/>
              </a:rPr>
              <a:t>n &gt; 5 000: QQ-plot + asimetría + exceso de curtosis. Ignora el p-valor.</a:t>
            </a:r>
            <a:endParaRPr lang="en-US" sz="1150" dirty="0"/>
          </a:p>
          <a:p>
            <a:pPr marL="342900" indent="-342900">
              <a:spcAft>
                <a:spcPts val="500"/>
              </a:spcAft>
              <a:buSzPct val="100000"/>
              <a:buChar char="•"/>
            </a:pPr>
            <a:r>
              <a:rPr lang="en-US" sz="1150" dirty="0">
                <a:solidFill>
                  <a:srgbClr val="2C3A55"/>
                </a:solidFill>
                <a:latin typeface="Calibri" pitchFamily="34" charset="0"/>
                <a:ea typeface="Calibri" pitchFamily="34" charset="-122"/>
                <a:cs typeface="Calibri" pitchFamily="34" charset="-120"/>
              </a:rPr>
              <a:t>Siempre: pregúntate para qué necesitas la normalidad. A veces no la necesitas.</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CHULETA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De la pregunta de negocio a la distribución</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Acumulada de las tres clases. Esta slide es la que vas a fotografiar.</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3840480"/>
        </p:xfrm>
        <a:graphic>
          <a:graphicData uri="http://schemas.openxmlformats.org/drawingml/2006/table">
            <a:tbl>
              <a:tblPr/>
              <a:tblGrid>
                <a:gridCol w="3657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4507992">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Lo que estás midiendo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Distribución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Clase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Señal que la delata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N.º de alertas de fraude en un día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Poisson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Conteo de eventos raros en una ventana fija.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¿El cliente incumple, sí o 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Bernoulli / Binomial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Éxito o fracaso, repetido n veces.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Días hasta la próxima alerta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Exponencial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Tiempo de espera, sin memoria.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Tiempo de vida hasta el default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Weibull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Tiempo de espera con riesgo que cambia.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Monto de una transacción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Lognormal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Positiva, asimétrica, cola derecha larga.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Score de riesgo de la cartera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Normal (aprox.)</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Suma de muchos efectos pequeños.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Promedio de una muestra grande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Normal por TLC</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Es un promedio, no un dato individual.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Retorno diario de un activo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t con ν bajo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Simétrica pero con exceso de curtosis.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84048">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 pérdida máxima del mes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9A6B00"/>
                          </a:solidFill>
                          <a:latin typeface="Calibri" pitchFamily="34" charset="0"/>
                          <a:ea typeface="Calibri" pitchFamily="34" charset="-122"/>
                          <a:cs typeface="Calibri" pitchFamily="34" charset="-120"/>
                        </a:rPr>
                        <a:t>Valores extremos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Es un máximo. Ni normal ni TLC aplican.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7" name="Text 4"/>
          <p:cNvSpPr/>
          <p:nvPr/>
        </p:nvSpPr>
        <p:spPr>
          <a:xfrm>
            <a:off x="548640" y="6272784"/>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Ninguna de estas asignaciones es automática: son hipótesis de arranque que se verifican con los datos. La última fila está acá para que no la olvides.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329184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29184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ANTES DEL LABORATORIO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Cuatro errores que vas a ver en informes reales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Tres son de concepto y se corrigen leyendo. El cuarto es de criterio y solo se corrige mirando datos.</a:t>
            </a:r>
            <a:endParaRPr lang="en-US" sz="1400" dirty="0"/>
          </a:p>
        </p:txBody>
      </p:sp>
      <p:sp>
        <p:nvSpPr>
          <p:cNvPr id="6" name="Shape 4"/>
          <p:cNvSpPr/>
          <p:nvPr/>
        </p:nvSpPr>
        <p:spPr>
          <a:xfrm>
            <a:off x="548640" y="2011680"/>
            <a:ext cx="5422392" cy="1828800"/>
          </a:xfrm>
          <a:prstGeom prst="roundRect">
            <a:avLst>
              <a:gd name="adj" fmla="val 3000"/>
            </a:avLst>
          </a:prstGeom>
          <a:solidFill>
            <a:srgbClr val="0A2559"/>
          </a:solidFill>
          <a:ln w="12700">
            <a:solidFill>
              <a:srgbClr val="0A2559"/>
            </a:solidFill>
            <a:prstDash val="solid"/>
          </a:ln>
        </p:spPr>
      </p:sp>
      <p:sp>
        <p:nvSpPr>
          <p:cNvPr id="7" name="Shape 5"/>
          <p:cNvSpPr/>
          <p:nvPr/>
        </p:nvSpPr>
        <p:spPr>
          <a:xfrm>
            <a:off x="777240" y="2212848"/>
            <a:ext cx="384048" cy="384048"/>
          </a:xfrm>
          <a:prstGeom prst="roundRect">
            <a:avLst>
              <a:gd name="adj" fmla="val 50000"/>
            </a:avLst>
          </a:prstGeom>
          <a:solidFill>
            <a:srgbClr val="E6115E"/>
          </a:solidFill>
          <a:ln w="12700">
            <a:solidFill>
              <a:srgbClr val="E6115E"/>
            </a:solidFill>
            <a:prstDash val="solid"/>
          </a:ln>
        </p:spPr>
      </p:sp>
      <p:sp>
        <p:nvSpPr>
          <p:cNvPr id="8" name="Text 6"/>
          <p:cNvSpPr/>
          <p:nvPr/>
        </p:nvSpPr>
        <p:spPr>
          <a:xfrm>
            <a:off x="777240" y="221284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194560"/>
            <a:ext cx="4480560" cy="420624"/>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«Los datos son normales porque n es grande»</a:t>
            </a:r>
            <a:endParaRPr lang="en-US" sz="1350" dirty="0"/>
          </a:p>
        </p:txBody>
      </p:sp>
      <p:sp>
        <p:nvSpPr>
          <p:cNvPr id="10" name="Text 8"/>
          <p:cNvSpPr/>
          <p:nvPr/>
        </p:nvSpPr>
        <p:spPr>
          <a:xfrm>
            <a:off x="777240" y="2724912"/>
            <a:ext cx="4983480" cy="987552"/>
          </a:xfrm>
          <a:prstGeom prst="rect">
            <a:avLst/>
          </a:prstGeom>
          <a:noFill/>
          <a:ln/>
        </p:spPr>
        <p:txBody>
          <a:bodyPr wrap="square" lIns="0" tIns="0" rIns="0" bIns="0" rtlCol="0" anchor="t"/>
          <a:lstStyle/>
          <a:p>
            <a:pPr marL="0" indent="0" algn="l">
              <a:lnSpc>
                <a:spcPct val="110000"/>
              </a:lnSpc>
              <a:buNone/>
            </a:pPr>
            <a:r>
              <a:rPr lang="en-US" sz="1200" dirty="0">
                <a:solidFill>
                  <a:srgbClr val="C9D6F2"/>
                </a:solidFill>
                <a:latin typeface="Calibri" pitchFamily="34" charset="0"/>
                <a:ea typeface="Calibri" pitchFamily="34" charset="-122"/>
                <a:cs typeface="Calibri" pitchFamily="34" charset="-120"/>
              </a:rPr>
              <a:t>Confunde el TLC con una propiedad de los datos. El TLC habla de la media muestral. Con n grande tus datos torcidos siguen igual de torcidos — solo tienes más de ellos.</a:t>
            </a:r>
            <a:endParaRPr lang="en-US" sz="1200" dirty="0"/>
          </a:p>
        </p:txBody>
      </p:sp>
      <p:sp>
        <p:nvSpPr>
          <p:cNvPr id="11" name="Shape 9"/>
          <p:cNvSpPr/>
          <p:nvPr/>
        </p:nvSpPr>
        <p:spPr>
          <a:xfrm>
            <a:off x="6217920" y="2011680"/>
            <a:ext cx="5422392" cy="1828800"/>
          </a:xfrm>
          <a:prstGeom prst="roundRect">
            <a:avLst>
              <a:gd name="adj" fmla="val 3000"/>
            </a:avLst>
          </a:prstGeom>
          <a:solidFill>
            <a:srgbClr val="FFFFFF"/>
          </a:solidFill>
          <a:ln w="12700">
            <a:solidFill>
              <a:srgbClr val="D2DBEC"/>
            </a:solidFill>
            <a:prstDash val="solid"/>
          </a:ln>
        </p:spPr>
      </p:sp>
      <p:sp>
        <p:nvSpPr>
          <p:cNvPr id="12" name="Shape 10"/>
          <p:cNvSpPr/>
          <p:nvPr/>
        </p:nvSpPr>
        <p:spPr>
          <a:xfrm>
            <a:off x="6446520" y="2212848"/>
            <a:ext cx="384048" cy="384048"/>
          </a:xfrm>
          <a:prstGeom prst="roundRect">
            <a:avLst>
              <a:gd name="adj" fmla="val 50000"/>
            </a:avLst>
          </a:prstGeom>
          <a:solidFill>
            <a:srgbClr val="0A2559"/>
          </a:solidFill>
          <a:ln w="12700">
            <a:solidFill>
              <a:srgbClr val="0A2559"/>
            </a:solidFill>
            <a:prstDash val="solid"/>
          </a:ln>
        </p:spPr>
      </p:sp>
      <p:sp>
        <p:nvSpPr>
          <p:cNvPr id="13" name="Text 11"/>
          <p:cNvSpPr/>
          <p:nvPr/>
        </p:nvSpPr>
        <p:spPr>
          <a:xfrm>
            <a:off x="6446520" y="2212848"/>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967728" y="2194560"/>
            <a:ext cx="4480560" cy="420624"/>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Usar z cuando σ se estimó de la muestra</a:t>
            </a:r>
            <a:endParaRPr lang="en-US" sz="1350" dirty="0"/>
          </a:p>
        </p:txBody>
      </p:sp>
      <p:sp>
        <p:nvSpPr>
          <p:cNvPr id="15" name="Text 13"/>
          <p:cNvSpPr/>
          <p:nvPr/>
        </p:nvSpPr>
        <p:spPr>
          <a:xfrm>
            <a:off x="6446520" y="2724912"/>
            <a:ext cx="4983480" cy="987552"/>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Si calculaste s con tus propios datos, el umbral correcto es de la t con ν = n − 1. Con n pequeño la diferencia es enorme: 2.326 contra 4.541 en el 1 %.</a:t>
            </a:r>
            <a:endParaRPr lang="en-US" sz="1200" dirty="0"/>
          </a:p>
        </p:txBody>
      </p:sp>
      <p:sp>
        <p:nvSpPr>
          <p:cNvPr id="16" name="Shape 14"/>
          <p:cNvSpPr/>
          <p:nvPr/>
        </p:nvSpPr>
        <p:spPr>
          <a:xfrm>
            <a:off x="548640" y="4059936"/>
            <a:ext cx="5422392" cy="1828800"/>
          </a:xfrm>
          <a:prstGeom prst="roundRect">
            <a:avLst>
              <a:gd name="adj" fmla="val 3000"/>
            </a:avLst>
          </a:prstGeom>
          <a:solidFill>
            <a:srgbClr val="FFFFFF"/>
          </a:solidFill>
          <a:ln w="12700">
            <a:solidFill>
              <a:srgbClr val="D2DBEC"/>
            </a:solidFill>
            <a:prstDash val="solid"/>
          </a:ln>
        </p:spPr>
      </p:sp>
      <p:sp>
        <p:nvSpPr>
          <p:cNvPr id="17" name="Shape 15"/>
          <p:cNvSpPr/>
          <p:nvPr/>
        </p:nvSpPr>
        <p:spPr>
          <a:xfrm>
            <a:off x="777240" y="4261104"/>
            <a:ext cx="384048" cy="384048"/>
          </a:xfrm>
          <a:prstGeom prst="roundRect">
            <a:avLst>
              <a:gd name="adj" fmla="val 50000"/>
            </a:avLst>
          </a:prstGeom>
          <a:solidFill>
            <a:srgbClr val="0A2559"/>
          </a:solidFill>
          <a:ln w="12700">
            <a:solidFill>
              <a:srgbClr val="0A2559"/>
            </a:solidFill>
            <a:prstDash val="solid"/>
          </a:ln>
        </p:spPr>
      </p:sp>
      <p:sp>
        <p:nvSpPr>
          <p:cNvPr id="18" name="Text 16"/>
          <p:cNvSpPr/>
          <p:nvPr/>
        </p:nvSpPr>
        <p:spPr>
          <a:xfrm>
            <a:off x="777240" y="4261104"/>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298448" y="4242816"/>
            <a:ext cx="4480560" cy="420624"/>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Leer z = 3 como «imposible»</a:t>
            </a:r>
            <a:endParaRPr lang="en-US" sz="1350" dirty="0"/>
          </a:p>
        </p:txBody>
      </p:sp>
      <p:sp>
        <p:nvSpPr>
          <p:cNvPr id="20" name="Text 18"/>
          <p:cNvSpPr/>
          <p:nvPr/>
        </p:nvSpPr>
        <p:spPr>
          <a:xfrm>
            <a:off x="777240" y="4773168"/>
            <a:ext cx="4983480" cy="987552"/>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Es 1 en 741. Con 40 000 transacciones al mes, ocurre unas 54 veces por azar puro. «Improbable» e «imposible» no son sinónimos y la diferencia se paga en falsos positivos.</a:t>
            </a:r>
            <a:endParaRPr lang="en-US" sz="1200" dirty="0"/>
          </a:p>
        </p:txBody>
      </p:sp>
      <p:sp>
        <p:nvSpPr>
          <p:cNvPr id="21" name="Shape 19"/>
          <p:cNvSpPr/>
          <p:nvPr/>
        </p:nvSpPr>
        <p:spPr>
          <a:xfrm>
            <a:off x="6217920" y="4059936"/>
            <a:ext cx="5422392" cy="1828800"/>
          </a:xfrm>
          <a:prstGeom prst="roundRect">
            <a:avLst>
              <a:gd name="adj" fmla="val 3000"/>
            </a:avLst>
          </a:prstGeom>
          <a:solidFill>
            <a:srgbClr val="FFFFFF"/>
          </a:solidFill>
          <a:ln w="12700">
            <a:solidFill>
              <a:srgbClr val="D2DBEC"/>
            </a:solidFill>
            <a:prstDash val="solid"/>
          </a:ln>
        </p:spPr>
      </p:sp>
      <p:sp>
        <p:nvSpPr>
          <p:cNvPr id="22" name="Shape 20"/>
          <p:cNvSpPr/>
          <p:nvPr/>
        </p:nvSpPr>
        <p:spPr>
          <a:xfrm>
            <a:off x="6446520" y="4261104"/>
            <a:ext cx="384048" cy="384048"/>
          </a:xfrm>
          <a:prstGeom prst="roundRect">
            <a:avLst>
              <a:gd name="adj" fmla="val 50000"/>
            </a:avLst>
          </a:prstGeom>
          <a:solidFill>
            <a:srgbClr val="0A2559"/>
          </a:solidFill>
          <a:ln w="12700">
            <a:solidFill>
              <a:srgbClr val="0A2559"/>
            </a:solidFill>
            <a:prstDash val="solid"/>
          </a:ln>
        </p:spPr>
      </p:sp>
      <p:sp>
        <p:nvSpPr>
          <p:cNvPr id="23" name="Text 21"/>
          <p:cNvSpPr/>
          <p:nvPr/>
        </p:nvSpPr>
        <p:spPr>
          <a:xfrm>
            <a:off x="6446520" y="4261104"/>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6967728" y="4242816"/>
            <a:ext cx="4480560" cy="420624"/>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Aplicar 68-95-99.7 a datos asimétricos</a:t>
            </a:r>
            <a:endParaRPr lang="en-US" sz="1350" dirty="0"/>
          </a:p>
        </p:txBody>
      </p:sp>
      <p:sp>
        <p:nvSpPr>
          <p:cNvPr id="25" name="Text 23"/>
          <p:cNvSpPr/>
          <p:nvPr/>
        </p:nvSpPr>
        <p:spPr>
          <a:xfrm>
            <a:off x="6446520" y="4773168"/>
            <a:ext cx="4983480" cy="987552"/>
          </a:xfrm>
          <a:prstGeom prst="rect">
            <a:avLst/>
          </a:prstGeom>
          <a:noFill/>
          <a:ln/>
        </p:spPr>
        <p:txBody>
          <a:bodyPr wrap="square" lIns="0" tIns="0" rIns="0" bIns="0" rtlCol="0" anchor="t"/>
          <a:lstStyle/>
          <a:p>
            <a:pPr marL="0" indent="0" algn="l">
              <a:lnSpc>
                <a:spcPct val="110000"/>
              </a:lnSpc>
              <a:buNone/>
            </a:pPr>
            <a:r>
              <a:rPr lang="en-US" sz="1200" dirty="0">
                <a:solidFill>
                  <a:srgbClr val="2C3A55"/>
                </a:solidFill>
                <a:latin typeface="Calibri" pitchFamily="34" charset="0"/>
                <a:ea typeface="Calibri" pitchFamily="34" charset="-122"/>
                <a:cs typeface="Calibri" pitchFamily="34" charset="-120"/>
              </a:rPr>
              <a:t>La regla vale para la normal. En montos o tiempos subestima la cola derecha y sobreestima la izquierda. Antes de usarla, mira el QQ-plot: cuesta 10 segundos.</a:t>
            </a:r>
            <a:endParaRPr lang="en-US" sz="1200" dirty="0"/>
          </a:p>
        </p:txBody>
      </p:sp>
      <p:sp>
        <p:nvSpPr>
          <p:cNvPr id="26" name="Text 24"/>
          <p:cNvSpPr/>
          <p:nvPr/>
        </p:nvSpPr>
        <p:spPr>
          <a:xfrm>
            <a:off x="548640" y="6345936"/>
            <a:ext cx="11064240" cy="292608"/>
          </a:xfrm>
          <a:prstGeom prst="rect">
            <a:avLst/>
          </a:prstGeom>
          <a:noFill/>
          <a:ln/>
        </p:spPr>
        <p:txBody>
          <a:bodyPr wrap="square" lIns="0" tIns="0" rIns="0" bIns="0" rtlCol="0" anchor="ctr"/>
          <a:lstStyle/>
          <a:p>
            <a:pPr marL="0" indent="0">
              <a:buNone/>
            </a:pPr>
            <a:r>
              <a:rPr lang="en-US" sz="1050" i="1" dirty="0">
                <a:solidFill>
                  <a:srgbClr val="5B6B87"/>
                </a:solidFill>
                <a:latin typeface="Calibri" pitchFamily="34" charset="0"/>
                <a:ea typeface="Calibri" pitchFamily="34" charset="-122"/>
                <a:cs typeface="Calibri" pitchFamily="34" charset="-120"/>
              </a:rPr>
              <a:t>Los cuatro tienen la misma raíz: tratar la normal como un hecho sobre el mundo en lugar de como un supuesto que uno decide y verifica.</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LABORATORIO · 65 MIN</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marL="0" indent="0">
              <a:buNone/>
            </a:pPr>
            <a:r>
              <a:rPr lang="en-US" sz="3200" b="1" dirty="0">
                <a:solidFill>
                  <a:srgbClr val="0A2559"/>
                </a:solidFill>
                <a:latin typeface="Calibri" pitchFamily="34" charset="0"/>
                <a:ea typeface="Calibri" pitchFamily="34" charset="-122"/>
                <a:cs typeface="Calibri" pitchFamily="34" charset="-120"/>
              </a:rPr>
              <a:t>Los cinco bloques del notebook</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Cada bloque termina con una celda de verificación automática: si el número no coincide, te avisa antes de seguir.</a:t>
            </a:r>
            <a:endParaRPr lang="en-US" sz="1400" dirty="0"/>
          </a:p>
        </p:txBody>
      </p:sp>
      <p:sp>
        <p:nvSpPr>
          <p:cNvPr id="6" name="Shape 4"/>
          <p:cNvSpPr/>
          <p:nvPr/>
        </p:nvSpPr>
        <p:spPr>
          <a:xfrm>
            <a:off x="548640" y="1993392"/>
            <a:ext cx="11091672" cy="731520"/>
          </a:xfrm>
          <a:prstGeom prst="roundRect">
            <a:avLst>
              <a:gd name="adj" fmla="val 7500"/>
            </a:avLst>
          </a:prstGeom>
          <a:solidFill>
            <a:srgbClr val="FFFFFF"/>
          </a:solidFill>
          <a:ln w="12700">
            <a:solidFill>
              <a:srgbClr val="D2DBEC"/>
            </a:solidFill>
            <a:prstDash val="solid"/>
          </a:ln>
        </p:spPr>
      </p:sp>
      <p:sp>
        <p:nvSpPr>
          <p:cNvPr id="7" name="Shape 5"/>
          <p:cNvSpPr/>
          <p:nvPr/>
        </p:nvSpPr>
        <p:spPr>
          <a:xfrm>
            <a:off x="777240" y="2176272"/>
            <a:ext cx="384048" cy="384048"/>
          </a:xfrm>
          <a:prstGeom prst="roundRect">
            <a:avLst>
              <a:gd name="adj" fmla="val 50000"/>
            </a:avLst>
          </a:prstGeom>
          <a:solidFill>
            <a:srgbClr val="0A2559"/>
          </a:solidFill>
          <a:ln w="12700">
            <a:solidFill>
              <a:srgbClr val="0A2559"/>
            </a:solidFill>
            <a:prstDash val="solid"/>
          </a:ln>
        </p:spPr>
      </p:sp>
      <p:sp>
        <p:nvSpPr>
          <p:cNvPr id="8" name="Text 6"/>
          <p:cNvSpPr/>
          <p:nvPr/>
        </p:nvSpPr>
        <p:spPr>
          <a:xfrm>
            <a:off x="777240" y="217627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98448" y="2075688"/>
            <a:ext cx="3017520" cy="56692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La normal en código</a:t>
            </a:r>
            <a:endParaRPr lang="en-US" sz="1400" dirty="0"/>
          </a:p>
        </p:txBody>
      </p:sp>
      <p:sp>
        <p:nvSpPr>
          <p:cNvPr id="10" name="Text 8"/>
          <p:cNvSpPr/>
          <p:nvPr/>
        </p:nvSpPr>
        <p:spPr>
          <a:xfrm>
            <a:off x="4343400" y="207568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12 min</a:t>
            </a:r>
            <a:endParaRPr lang="en-US" sz="1200" dirty="0"/>
          </a:p>
        </p:txBody>
      </p:sp>
      <p:sp>
        <p:nvSpPr>
          <p:cNvPr id="11" name="Text 9"/>
          <p:cNvSpPr/>
          <p:nvPr/>
        </p:nvSpPr>
        <p:spPr>
          <a:xfrm>
            <a:off x="5303520" y="2121408"/>
            <a:ext cx="6172200" cy="502920"/>
          </a:xfrm>
          <a:prstGeom prst="rect">
            <a:avLst/>
          </a:prstGeom>
          <a:noFill/>
          <a:ln/>
        </p:spPr>
        <p:txBody>
          <a:bodyPr wrap="square" lIns="0" tIns="0" rIns="0" bIns="0" rtlCol="0" anchor="ctr"/>
          <a:lstStyle/>
          <a:p>
            <a:pPr marL="0" indent="0" algn="l">
              <a:lnSpc>
                <a:spcPct val="104000"/>
              </a:lnSpc>
              <a:buNone/>
            </a:pPr>
            <a:r>
              <a:rPr lang="en-US" sz="1150" dirty="0">
                <a:solidFill>
                  <a:srgbClr val="2C3A55"/>
                </a:solidFill>
                <a:latin typeface="Calibri" pitchFamily="34" charset="0"/>
                <a:ea typeface="Calibri" pitchFamily="34" charset="-122"/>
                <a:cs typeface="Calibri" pitchFamily="34" charset="-120"/>
              </a:rPr>
              <a:t>pdf, cdf y ppf con scipy. Reproduces la regla 68-95-99.7 y la verificas con tres decimales.</a:t>
            </a:r>
            <a:endParaRPr lang="en-US" sz="1150" dirty="0"/>
          </a:p>
        </p:txBody>
      </p:sp>
      <p:sp>
        <p:nvSpPr>
          <p:cNvPr id="12" name="Shape 10"/>
          <p:cNvSpPr/>
          <p:nvPr/>
        </p:nvSpPr>
        <p:spPr>
          <a:xfrm>
            <a:off x="548640" y="2816352"/>
            <a:ext cx="11091672" cy="731520"/>
          </a:xfrm>
          <a:prstGeom prst="roundRect">
            <a:avLst>
              <a:gd name="adj" fmla="val 7500"/>
            </a:avLst>
          </a:prstGeom>
          <a:solidFill>
            <a:srgbClr val="E9EEF8"/>
          </a:solidFill>
          <a:ln w="12700">
            <a:solidFill>
              <a:srgbClr val="D2DBEC"/>
            </a:solidFill>
            <a:prstDash val="solid"/>
          </a:ln>
        </p:spPr>
      </p:sp>
      <p:sp>
        <p:nvSpPr>
          <p:cNvPr id="13" name="Shape 11"/>
          <p:cNvSpPr/>
          <p:nvPr/>
        </p:nvSpPr>
        <p:spPr>
          <a:xfrm>
            <a:off x="777240" y="2999232"/>
            <a:ext cx="384048" cy="384048"/>
          </a:xfrm>
          <a:prstGeom prst="roundRect">
            <a:avLst>
              <a:gd name="adj" fmla="val 50000"/>
            </a:avLst>
          </a:prstGeom>
          <a:solidFill>
            <a:srgbClr val="0A2559"/>
          </a:solidFill>
          <a:ln w="12700">
            <a:solidFill>
              <a:srgbClr val="0A2559"/>
            </a:solidFill>
            <a:prstDash val="solid"/>
          </a:ln>
        </p:spPr>
      </p:sp>
      <p:sp>
        <p:nvSpPr>
          <p:cNvPr id="14" name="Text 12"/>
          <p:cNvSpPr/>
          <p:nvPr/>
        </p:nvSpPr>
        <p:spPr>
          <a:xfrm>
            <a:off x="777240" y="299923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298448" y="2898648"/>
            <a:ext cx="3017520" cy="56692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Estandarización y detección</a:t>
            </a:r>
            <a:endParaRPr lang="en-US" sz="1400" dirty="0"/>
          </a:p>
        </p:txBody>
      </p:sp>
      <p:sp>
        <p:nvSpPr>
          <p:cNvPr id="16" name="Text 14"/>
          <p:cNvSpPr/>
          <p:nvPr/>
        </p:nvSpPr>
        <p:spPr>
          <a:xfrm>
            <a:off x="4343400" y="289864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14 min</a:t>
            </a:r>
            <a:endParaRPr lang="en-US" sz="1200" dirty="0"/>
          </a:p>
        </p:txBody>
      </p:sp>
      <p:sp>
        <p:nvSpPr>
          <p:cNvPr id="17" name="Text 15"/>
          <p:cNvSpPr/>
          <p:nvPr/>
        </p:nvSpPr>
        <p:spPr>
          <a:xfrm>
            <a:off x="5303520" y="2944368"/>
            <a:ext cx="6172200" cy="502920"/>
          </a:xfrm>
          <a:prstGeom prst="rect">
            <a:avLst/>
          </a:prstGeom>
          <a:noFill/>
          <a:ln/>
        </p:spPr>
        <p:txBody>
          <a:bodyPr wrap="square" lIns="0" tIns="0" rIns="0" bIns="0" rtlCol="0" anchor="ctr"/>
          <a:lstStyle/>
          <a:p>
            <a:pPr marL="0" indent="0" algn="l">
              <a:lnSpc>
                <a:spcPct val="104000"/>
              </a:lnSpc>
              <a:buNone/>
            </a:pPr>
            <a:r>
              <a:rPr lang="en-US" sz="1150" dirty="0">
                <a:solidFill>
                  <a:srgbClr val="2C3A55"/>
                </a:solidFill>
                <a:latin typeface="Calibri" pitchFamily="34" charset="0"/>
                <a:ea typeface="Calibri" pitchFamily="34" charset="-122"/>
                <a:cs typeface="Calibri" pitchFamily="34" charset="-120"/>
              </a:rPr>
              <a:t>Calculas z sobre montos simulados, marcas los que pasan ±3σ y cuentas cuántos son. Comparas con los 108 esperados.</a:t>
            </a:r>
            <a:endParaRPr lang="en-US" sz="1150" dirty="0"/>
          </a:p>
        </p:txBody>
      </p:sp>
      <p:sp>
        <p:nvSpPr>
          <p:cNvPr id="18" name="Shape 16"/>
          <p:cNvSpPr/>
          <p:nvPr/>
        </p:nvSpPr>
        <p:spPr>
          <a:xfrm>
            <a:off x="548640" y="3639312"/>
            <a:ext cx="11091672" cy="731520"/>
          </a:xfrm>
          <a:prstGeom prst="roundRect">
            <a:avLst>
              <a:gd name="adj" fmla="val 7500"/>
            </a:avLst>
          </a:prstGeom>
          <a:solidFill>
            <a:srgbClr val="FFFFFF"/>
          </a:solidFill>
          <a:ln w="12700">
            <a:solidFill>
              <a:srgbClr val="D2DBEC"/>
            </a:solidFill>
            <a:prstDash val="solid"/>
          </a:ln>
        </p:spPr>
      </p:sp>
      <p:sp>
        <p:nvSpPr>
          <p:cNvPr id="19" name="Shape 17"/>
          <p:cNvSpPr/>
          <p:nvPr/>
        </p:nvSpPr>
        <p:spPr>
          <a:xfrm>
            <a:off x="777240" y="3822192"/>
            <a:ext cx="384048" cy="384048"/>
          </a:xfrm>
          <a:prstGeom prst="roundRect">
            <a:avLst>
              <a:gd name="adj" fmla="val 50000"/>
            </a:avLst>
          </a:prstGeom>
          <a:solidFill>
            <a:srgbClr val="0A2559"/>
          </a:solidFill>
          <a:ln w="12700">
            <a:solidFill>
              <a:srgbClr val="0A2559"/>
            </a:solidFill>
            <a:prstDash val="solid"/>
          </a:ln>
        </p:spPr>
      </p:sp>
      <p:sp>
        <p:nvSpPr>
          <p:cNvPr id="20" name="Text 18"/>
          <p:cNvSpPr/>
          <p:nvPr/>
        </p:nvSpPr>
        <p:spPr>
          <a:xfrm>
            <a:off x="777240" y="382219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1298448" y="3721608"/>
            <a:ext cx="3017520" cy="56692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TLC en vivo</a:t>
            </a:r>
            <a:endParaRPr lang="en-US" sz="1400" dirty="0"/>
          </a:p>
        </p:txBody>
      </p:sp>
      <p:sp>
        <p:nvSpPr>
          <p:cNvPr id="22" name="Text 20"/>
          <p:cNvSpPr/>
          <p:nvPr/>
        </p:nvSpPr>
        <p:spPr>
          <a:xfrm>
            <a:off x="4343400" y="372160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15 min</a:t>
            </a:r>
            <a:endParaRPr lang="en-US" sz="1200" dirty="0"/>
          </a:p>
        </p:txBody>
      </p:sp>
      <p:sp>
        <p:nvSpPr>
          <p:cNvPr id="23" name="Text 21"/>
          <p:cNvSpPr/>
          <p:nvPr/>
        </p:nvSpPr>
        <p:spPr>
          <a:xfrm>
            <a:off x="5303520" y="3767328"/>
            <a:ext cx="6172200" cy="502920"/>
          </a:xfrm>
          <a:prstGeom prst="rect">
            <a:avLst/>
          </a:prstGeom>
          <a:noFill/>
          <a:ln/>
        </p:spPr>
        <p:txBody>
          <a:bodyPr wrap="square" lIns="0" tIns="0" rIns="0" bIns="0" rtlCol="0" anchor="ctr"/>
          <a:lstStyle/>
          <a:p>
            <a:pPr marL="0" indent="0" algn="l">
              <a:lnSpc>
                <a:spcPct val="104000"/>
              </a:lnSpc>
              <a:buNone/>
            </a:pPr>
            <a:r>
              <a:rPr lang="en-US" sz="1150" dirty="0">
                <a:solidFill>
                  <a:srgbClr val="2C3A55"/>
                </a:solidFill>
                <a:latin typeface="Calibri" pitchFamily="34" charset="0"/>
                <a:ea typeface="Calibri" pitchFamily="34" charset="-122"/>
                <a:cs typeface="Calibri" pitchFamily="34" charset="-120"/>
              </a:rPr>
              <a:t>Simulas medias de una exponencial con n = 1, 5, 30 y 100. Reproduces la slide 11 y compruebas σ/√n.</a:t>
            </a:r>
            <a:endParaRPr lang="en-US" sz="1150" dirty="0"/>
          </a:p>
        </p:txBody>
      </p:sp>
      <p:sp>
        <p:nvSpPr>
          <p:cNvPr id="24" name="Shape 22"/>
          <p:cNvSpPr/>
          <p:nvPr/>
        </p:nvSpPr>
        <p:spPr>
          <a:xfrm>
            <a:off x="548640" y="4462272"/>
            <a:ext cx="11091672" cy="731520"/>
          </a:xfrm>
          <a:prstGeom prst="roundRect">
            <a:avLst>
              <a:gd name="adj" fmla="val 7500"/>
            </a:avLst>
          </a:prstGeom>
          <a:solidFill>
            <a:srgbClr val="E9EEF8"/>
          </a:solidFill>
          <a:ln w="12700">
            <a:solidFill>
              <a:srgbClr val="D2DBEC"/>
            </a:solidFill>
            <a:prstDash val="solid"/>
          </a:ln>
        </p:spPr>
      </p:sp>
      <p:sp>
        <p:nvSpPr>
          <p:cNvPr id="25" name="Shape 23"/>
          <p:cNvSpPr/>
          <p:nvPr/>
        </p:nvSpPr>
        <p:spPr>
          <a:xfrm>
            <a:off x="777240" y="4645152"/>
            <a:ext cx="384048" cy="384048"/>
          </a:xfrm>
          <a:prstGeom prst="roundRect">
            <a:avLst>
              <a:gd name="adj" fmla="val 50000"/>
            </a:avLst>
          </a:prstGeom>
          <a:solidFill>
            <a:srgbClr val="0A2559"/>
          </a:solidFill>
          <a:ln w="12700">
            <a:solidFill>
              <a:srgbClr val="0A2559"/>
            </a:solidFill>
            <a:prstDash val="solid"/>
          </a:ln>
        </p:spPr>
      </p:sp>
      <p:sp>
        <p:nvSpPr>
          <p:cNvPr id="26" name="Text 24"/>
          <p:cNvSpPr/>
          <p:nvPr/>
        </p:nvSpPr>
        <p:spPr>
          <a:xfrm>
            <a:off x="777240" y="464515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1298448" y="4544568"/>
            <a:ext cx="3017520" cy="56692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¿Es normal?</a:t>
            </a:r>
            <a:endParaRPr lang="en-US" sz="1400" dirty="0"/>
          </a:p>
        </p:txBody>
      </p:sp>
      <p:sp>
        <p:nvSpPr>
          <p:cNvPr id="28" name="Text 26"/>
          <p:cNvSpPr/>
          <p:nvPr/>
        </p:nvSpPr>
        <p:spPr>
          <a:xfrm>
            <a:off x="4343400" y="454456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14 min</a:t>
            </a:r>
            <a:endParaRPr lang="en-US" sz="1200" dirty="0"/>
          </a:p>
        </p:txBody>
      </p:sp>
      <p:sp>
        <p:nvSpPr>
          <p:cNvPr id="29" name="Text 27"/>
          <p:cNvSpPr/>
          <p:nvPr/>
        </p:nvSpPr>
        <p:spPr>
          <a:xfrm>
            <a:off x="5303520" y="4590288"/>
            <a:ext cx="6172200" cy="502920"/>
          </a:xfrm>
          <a:prstGeom prst="rect">
            <a:avLst/>
          </a:prstGeom>
          <a:noFill/>
          <a:ln/>
        </p:spPr>
        <p:txBody>
          <a:bodyPr wrap="square" lIns="0" tIns="0" rIns="0" bIns="0" rtlCol="0" anchor="ctr"/>
          <a:lstStyle/>
          <a:p>
            <a:pPr marL="0" indent="0" algn="l">
              <a:lnSpc>
                <a:spcPct val="104000"/>
              </a:lnSpc>
              <a:buNone/>
            </a:pPr>
            <a:r>
              <a:rPr lang="en-US" sz="1150" dirty="0">
                <a:solidFill>
                  <a:srgbClr val="2C3A55"/>
                </a:solidFill>
                <a:latin typeface="Calibri" pitchFamily="34" charset="0"/>
                <a:ea typeface="Calibri" pitchFamily="34" charset="-122"/>
                <a:cs typeface="Calibri" pitchFamily="34" charset="-120"/>
              </a:rPr>
              <a:t>QQ-plot y Shapiro sobre tres variables: una normal, una lognormal y una con cola pesada. Ves la trampa del n grande con tus propios ojos.</a:t>
            </a:r>
            <a:endParaRPr lang="en-US" sz="1150" dirty="0"/>
          </a:p>
        </p:txBody>
      </p:sp>
      <p:sp>
        <p:nvSpPr>
          <p:cNvPr id="30" name="Shape 28"/>
          <p:cNvSpPr/>
          <p:nvPr/>
        </p:nvSpPr>
        <p:spPr>
          <a:xfrm>
            <a:off x="548640" y="5285232"/>
            <a:ext cx="11091672" cy="731520"/>
          </a:xfrm>
          <a:prstGeom prst="roundRect">
            <a:avLst>
              <a:gd name="adj" fmla="val 7500"/>
            </a:avLst>
          </a:prstGeom>
          <a:solidFill>
            <a:srgbClr val="FFFFFF"/>
          </a:solidFill>
          <a:ln w="12700">
            <a:solidFill>
              <a:srgbClr val="D2DBEC"/>
            </a:solidFill>
            <a:prstDash val="solid"/>
          </a:ln>
        </p:spPr>
      </p:sp>
      <p:sp>
        <p:nvSpPr>
          <p:cNvPr id="31" name="Shape 29"/>
          <p:cNvSpPr/>
          <p:nvPr/>
        </p:nvSpPr>
        <p:spPr>
          <a:xfrm>
            <a:off x="777240" y="5468112"/>
            <a:ext cx="384048" cy="384048"/>
          </a:xfrm>
          <a:prstGeom prst="roundRect">
            <a:avLst>
              <a:gd name="adj" fmla="val 50000"/>
            </a:avLst>
          </a:prstGeom>
          <a:solidFill>
            <a:srgbClr val="0A2559"/>
          </a:solidFill>
          <a:ln w="12700">
            <a:solidFill>
              <a:srgbClr val="0A2559"/>
            </a:solidFill>
            <a:prstDash val="solid"/>
          </a:ln>
        </p:spPr>
      </p:sp>
      <p:sp>
        <p:nvSpPr>
          <p:cNvPr id="32" name="Text 30"/>
          <p:cNvSpPr/>
          <p:nvPr/>
        </p:nvSpPr>
        <p:spPr>
          <a:xfrm>
            <a:off x="777240" y="5468112"/>
            <a:ext cx="384048" cy="384048"/>
          </a:xfrm>
          <a:prstGeom prst="rect">
            <a:avLst/>
          </a:prstGeom>
          <a:noFill/>
          <a:ln/>
        </p:spPr>
        <p:txBody>
          <a:bodyPr wrap="square" lIns="0" tIns="0" rIns="0" bIns="0"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1298448" y="5367528"/>
            <a:ext cx="3017520" cy="566928"/>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t contra normal</a:t>
            </a:r>
            <a:endParaRPr lang="en-US" sz="1400" dirty="0"/>
          </a:p>
        </p:txBody>
      </p:sp>
      <p:sp>
        <p:nvSpPr>
          <p:cNvPr id="34" name="Text 32"/>
          <p:cNvSpPr/>
          <p:nvPr/>
        </p:nvSpPr>
        <p:spPr>
          <a:xfrm>
            <a:off x="4343400" y="5367528"/>
            <a:ext cx="868680" cy="566928"/>
          </a:xfrm>
          <a:prstGeom prst="rect">
            <a:avLst/>
          </a:prstGeom>
          <a:noFill/>
          <a:ln/>
        </p:spPr>
        <p:txBody>
          <a:bodyPr wrap="square" lIns="0" tIns="0" rIns="0" bIns="0" rtlCol="0" anchor="ctr"/>
          <a:lstStyle/>
          <a:p>
            <a:pPr marL="0" indent="0">
              <a:buNone/>
            </a:pPr>
            <a:r>
              <a:rPr lang="en-US" sz="1200" b="1" dirty="0">
                <a:solidFill>
                  <a:srgbClr val="E6115E"/>
                </a:solidFill>
                <a:latin typeface="Calibri" pitchFamily="34" charset="0"/>
                <a:ea typeface="Calibri" pitchFamily="34" charset="-122"/>
                <a:cs typeface="Calibri" pitchFamily="34" charset="-120"/>
              </a:rPr>
              <a:t>10 min</a:t>
            </a:r>
            <a:endParaRPr lang="en-US" sz="1200" dirty="0"/>
          </a:p>
        </p:txBody>
      </p:sp>
      <p:sp>
        <p:nvSpPr>
          <p:cNvPr id="35" name="Text 33"/>
          <p:cNvSpPr/>
          <p:nvPr/>
        </p:nvSpPr>
        <p:spPr>
          <a:xfrm>
            <a:off x="5303520" y="5413248"/>
            <a:ext cx="6172200" cy="502920"/>
          </a:xfrm>
          <a:prstGeom prst="rect">
            <a:avLst/>
          </a:prstGeom>
          <a:noFill/>
          <a:ln/>
        </p:spPr>
        <p:txBody>
          <a:bodyPr wrap="square" lIns="0" tIns="0" rIns="0" bIns="0" rtlCol="0" anchor="ctr"/>
          <a:lstStyle/>
          <a:p>
            <a:pPr marL="0" indent="0" algn="l">
              <a:lnSpc>
                <a:spcPct val="104000"/>
              </a:lnSpc>
              <a:buNone/>
            </a:pPr>
            <a:r>
              <a:rPr lang="en-US" sz="1150" dirty="0">
                <a:solidFill>
                  <a:srgbClr val="2C3A55"/>
                </a:solidFill>
                <a:latin typeface="Calibri" pitchFamily="34" charset="0"/>
                <a:ea typeface="Calibri" pitchFamily="34" charset="-122"/>
                <a:cs typeface="Calibri" pitchFamily="34" charset="-120"/>
              </a:rPr>
              <a:t>Comparas umbrales al 95 % y al 99 % con distintos ν y mides el error de usar z donde va t.</a:t>
            </a:r>
            <a:endParaRPr lang="en-US" sz="1150" dirty="0"/>
          </a:p>
        </p:txBody>
      </p:sp>
      <p:sp>
        <p:nvSpPr>
          <p:cNvPr id="36" name="Shape 34"/>
          <p:cNvSpPr/>
          <p:nvPr/>
        </p:nvSpPr>
        <p:spPr>
          <a:xfrm>
            <a:off x="548640" y="6144768"/>
            <a:ext cx="11091672" cy="502920"/>
          </a:xfrm>
          <a:prstGeom prst="roundRect">
            <a:avLst>
              <a:gd name="adj" fmla="val 10909"/>
            </a:avLst>
          </a:prstGeom>
          <a:solidFill>
            <a:srgbClr val="0A2559"/>
          </a:solidFill>
          <a:ln w="12700">
            <a:solidFill>
              <a:srgbClr val="0A2559"/>
            </a:solidFill>
            <a:prstDash val="solid"/>
          </a:ln>
        </p:spPr>
      </p:sp>
      <p:sp>
        <p:nvSpPr>
          <p:cNvPr id="37" name="Text 35"/>
          <p:cNvSpPr/>
          <p:nvPr/>
        </p:nvSpPr>
        <p:spPr>
          <a:xfrm>
            <a:off x="822960" y="6144768"/>
            <a:ext cx="10607040" cy="502920"/>
          </a:xfrm>
          <a:prstGeom prst="rect">
            <a:avLst/>
          </a:prstGeom>
          <a:noFill/>
          <a:ln/>
        </p:spPr>
        <p:txBody>
          <a:bodyPr wrap="square" lIns="0" tIns="0" rIns="0" bIns="0" rtlCol="0" anchor="ctr"/>
          <a:lstStyle/>
          <a:p>
            <a:pPr marL="0" indent="0" algn="l">
              <a:lnSpc>
                <a:spcPct val="108000"/>
              </a:lnSpc>
              <a:buNone/>
            </a:pPr>
            <a:r>
              <a:rPr lang="en-US" sz="1200" dirty="0">
                <a:solidFill>
                  <a:srgbClr val="C9D6F2"/>
                </a:solidFill>
                <a:latin typeface="Calibri" pitchFamily="34" charset="0"/>
                <a:ea typeface="Calibri" pitchFamily="34" charset="-122"/>
                <a:cs typeface="Calibri" pitchFamily="34" charset="-120"/>
              </a:rPr>
              <a:t>SEED = 42 en la primera celda. Si tu número no coincide con el mío, revisa que no la hayas cambiado antes de reportar un error.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8732520" y="1867762"/>
            <a:ext cx="73152" cy="73152"/>
          </a:xfrm>
          <a:prstGeom prst="roundRect">
            <a:avLst>
              <a:gd name="adj" fmla="val 50000"/>
            </a:avLst>
          </a:prstGeom>
          <a:solidFill>
            <a:srgbClr val="E6115E"/>
          </a:solidFill>
          <a:ln w="12700">
            <a:solidFill>
              <a:srgbClr val="E6115E"/>
            </a:solidFill>
            <a:prstDash val="solid"/>
          </a:ln>
        </p:spPr>
      </p:sp>
      <p:sp>
        <p:nvSpPr>
          <p:cNvPr id="3" name="Shape 1"/>
          <p:cNvSpPr/>
          <p:nvPr/>
        </p:nvSpPr>
        <p:spPr>
          <a:xfrm>
            <a:off x="8813202" y="1862394"/>
            <a:ext cx="73152" cy="73152"/>
          </a:xfrm>
          <a:prstGeom prst="roundRect">
            <a:avLst>
              <a:gd name="adj" fmla="val 50000"/>
            </a:avLst>
          </a:prstGeom>
          <a:solidFill>
            <a:srgbClr val="4A82FF"/>
          </a:solidFill>
          <a:ln w="12700">
            <a:solidFill>
              <a:srgbClr val="4A82FF"/>
            </a:solidFill>
            <a:prstDash val="solid"/>
          </a:ln>
        </p:spPr>
      </p:sp>
      <p:sp>
        <p:nvSpPr>
          <p:cNvPr id="4" name="Shape 2"/>
          <p:cNvSpPr/>
          <p:nvPr/>
        </p:nvSpPr>
        <p:spPr>
          <a:xfrm>
            <a:off x="8893885" y="1853519"/>
            <a:ext cx="73152" cy="73152"/>
          </a:xfrm>
          <a:prstGeom prst="roundRect">
            <a:avLst>
              <a:gd name="adj" fmla="val 50000"/>
            </a:avLst>
          </a:prstGeom>
          <a:solidFill>
            <a:srgbClr val="4A82FF"/>
          </a:solidFill>
          <a:ln w="12700">
            <a:solidFill>
              <a:srgbClr val="4A82FF"/>
            </a:solidFill>
            <a:prstDash val="solid"/>
          </a:ln>
        </p:spPr>
      </p:sp>
      <p:sp>
        <p:nvSpPr>
          <p:cNvPr id="5" name="Shape 3"/>
          <p:cNvSpPr/>
          <p:nvPr/>
        </p:nvSpPr>
        <p:spPr>
          <a:xfrm>
            <a:off x="8974567" y="1839415"/>
            <a:ext cx="73152" cy="73152"/>
          </a:xfrm>
          <a:prstGeom prst="roundRect">
            <a:avLst>
              <a:gd name="adj" fmla="val 50000"/>
            </a:avLst>
          </a:prstGeom>
          <a:solidFill>
            <a:srgbClr val="4A82FF"/>
          </a:solidFill>
          <a:ln w="12700">
            <a:solidFill>
              <a:srgbClr val="4A82FF"/>
            </a:solidFill>
            <a:prstDash val="solid"/>
          </a:ln>
        </p:spPr>
      </p:sp>
      <p:sp>
        <p:nvSpPr>
          <p:cNvPr id="6" name="Shape 4"/>
          <p:cNvSpPr/>
          <p:nvPr/>
        </p:nvSpPr>
        <p:spPr>
          <a:xfrm>
            <a:off x="9055249" y="1817882"/>
            <a:ext cx="73152" cy="73152"/>
          </a:xfrm>
          <a:prstGeom prst="roundRect">
            <a:avLst>
              <a:gd name="adj" fmla="val 50000"/>
            </a:avLst>
          </a:prstGeom>
          <a:solidFill>
            <a:srgbClr val="4A82FF"/>
          </a:solidFill>
          <a:ln w="12700">
            <a:solidFill>
              <a:srgbClr val="4A82FF"/>
            </a:solidFill>
            <a:prstDash val="solid"/>
          </a:ln>
        </p:spPr>
      </p:sp>
      <p:sp>
        <p:nvSpPr>
          <p:cNvPr id="7" name="Shape 5"/>
          <p:cNvSpPr/>
          <p:nvPr/>
        </p:nvSpPr>
        <p:spPr>
          <a:xfrm>
            <a:off x="9135932" y="1786322"/>
            <a:ext cx="73152" cy="73152"/>
          </a:xfrm>
          <a:prstGeom prst="roundRect">
            <a:avLst>
              <a:gd name="adj" fmla="val 50000"/>
            </a:avLst>
          </a:prstGeom>
          <a:solidFill>
            <a:srgbClr val="E6115E"/>
          </a:solidFill>
          <a:ln w="12700">
            <a:solidFill>
              <a:srgbClr val="E6115E"/>
            </a:solidFill>
            <a:prstDash val="solid"/>
          </a:ln>
        </p:spPr>
      </p:sp>
      <p:sp>
        <p:nvSpPr>
          <p:cNvPr id="8" name="Shape 6"/>
          <p:cNvSpPr/>
          <p:nvPr/>
        </p:nvSpPr>
        <p:spPr>
          <a:xfrm>
            <a:off x="9216614" y="1741956"/>
            <a:ext cx="73152" cy="73152"/>
          </a:xfrm>
          <a:prstGeom prst="roundRect">
            <a:avLst>
              <a:gd name="adj" fmla="val 50000"/>
            </a:avLst>
          </a:prstGeom>
          <a:solidFill>
            <a:srgbClr val="4A82FF"/>
          </a:solidFill>
          <a:ln w="12700">
            <a:solidFill>
              <a:srgbClr val="4A82FF"/>
            </a:solidFill>
            <a:prstDash val="solid"/>
          </a:ln>
        </p:spPr>
      </p:sp>
      <p:sp>
        <p:nvSpPr>
          <p:cNvPr id="9" name="Shape 7"/>
          <p:cNvSpPr/>
          <p:nvPr/>
        </p:nvSpPr>
        <p:spPr>
          <a:xfrm>
            <a:off x="9297296" y="1682211"/>
            <a:ext cx="73152" cy="73152"/>
          </a:xfrm>
          <a:prstGeom prst="roundRect">
            <a:avLst>
              <a:gd name="adj" fmla="val 50000"/>
            </a:avLst>
          </a:prstGeom>
          <a:solidFill>
            <a:srgbClr val="4A82FF"/>
          </a:solidFill>
          <a:ln w="12700">
            <a:solidFill>
              <a:srgbClr val="4A82FF"/>
            </a:solidFill>
            <a:prstDash val="solid"/>
          </a:ln>
        </p:spPr>
      </p:sp>
      <p:sp>
        <p:nvSpPr>
          <p:cNvPr id="10" name="Shape 8"/>
          <p:cNvSpPr/>
          <p:nvPr/>
        </p:nvSpPr>
        <p:spPr>
          <a:xfrm>
            <a:off x="9377979" y="1605250"/>
            <a:ext cx="73152" cy="73152"/>
          </a:xfrm>
          <a:prstGeom prst="roundRect">
            <a:avLst>
              <a:gd name="adj" fmla="val 50000"/>
            </a:avLst>
          </a:prstGeom>
          <a:solidFill>
            <a:srgbClr val="4A82FF"/>
          </a:solidFill>
          <a:ln w="12700">
            <a:solidFill>
              <a:srgbClr val="4A82FF"/>
            </a:solidFill>
            <a:prstDash val="solid"/>
          </a:ln>
        </p:spPr>
      </p:sp>
      <p:sp>
        <p:nvSpPr>
          <p:cNvPr id="11" name="Shape 9"/>
          <p:cNvSpPr/>
          <p:nvPr/>
        </p:nvSpPr>
        <p:spPr>
          <a:xfrm>
            <a:off x="9458661" y="1510616"/>
            <a:ext cx="73152" cy="73152"/>
          </a:xfrm>
          <a:prstGeom prst="roundRect">
            <a:avLst>
              <a:gd name="adj" fmla="val 50000"/>
            </a:avLst>
          </a:prstGeom>
          <a:solidFill>
            <a:srgbClr val="4A82FF"/>
          </a:solidFill>
          <a:ln w="12700">
            <a:solidFill>
              <a:srgbClr val="4A82FF"/>
            </a:solidFill>
            <a:prstDash val="solid"/>
          </a:ln>
        </p:spPr>
      </p:sp>
      <p:sp>
        <p:nvSpPr>
          <p:cNvPr id="12" name="Shape 10"/>
          <p:cNvSpPr/>
          <p:nvPr/>
        </p:nvSpPr>
        <p:spPr>
          <a:xfrm>
            <a:off x="9539344" y="1399843"/>
            <a:ext cx="73152" cy="73152"/>
          </a:xfrm>
          <a:prstGeom prst="roundRect">
            <a:avLst>
              <a:gd name="adj" fmla="val 50000"/>
            </a:avLst>
          </a:prstGeom>
          <a:solidFill>
            <a:srgbClr val="E6115E"/>
          </a:solidFill>
          <a:ln w="12700">
            <a:solidFill>
              <a:srgbClr val="E6115E"/>
            </a:solidFill>
            <a:prstDash val="solid"/>
          </a:ln>
        </p:spPr>
      </p:sp>
      <p:sp>
        <p:nvSpPr>
          <p:cNvPr id="13" name="Shape 11"/>
          <p:cNvSpPr/>
          <p:nvPr/>
        </p:nvSpPr>
        <p:spPr>
          <a:xfrm>
            <a:off x="9620026" y="1276905"/>
            <a:ext cx="73152" cy="73152"/>
          </a:xfrm>
          <a:prstGeom prst="roundRect">
            <a:avLst>
              <a:gd name="adj" fmla="val 50000"/>
            </a:avLst>
          </a:prstGeom>
          <a:solidFill>
            <a:srgbClr val="4A82FF"/>
          </a:solidFill>
          <a:ln w="12700">
            <a:solidFill>
              <a:srgbClr val="4A82FF"/>
            </a:solidFill>
            <a:prstDash val="solid"/>
          </a:ln>
        </p:spPr>
      </p:sp>
      <p:sp>
        <p:nvSpPr>
          <p:cNvPr id="14" name="Shape 12"/>
          <p:cNvSpPr/>
          <p:nvPr/>
        </p:nvSpPr>
        <p:spPr>
          <a:xfrm>
            <a:off x="9700708" y="1148320"/>
            <a:ext cx="73152" cy="73152"/>
          </a:xfrm>
          <a:prstGeom prst="roundRect">
            <a:avLst>
              <a:gd name="adj" fmla="val 50000"/>
            </a:avLst>
          </a:prstGeom>
          <a:solidFill>
            <a:srgbClr val="4A82FF"/>
          </a:solidFill>
          <a:ln w="12700">
            <a:solidFill>
              <a:srgbClr val="4A82FF"/>
            </a:solidFill>
            <a:prstDash val="solid"/>
          </a:ln>
        </p:spPr>
      </p:sp>
      <p:sp>
        <p:nvSpPr>
          <p:cNvPr id="15" name="Shape 13"/>
          <p:cNvSpPr/>
          <p:nvPr/>
        </p:nvSpPr>
        <p:spPr>
          <a:xfrm>
            <a:off x="9781391" y="1022788"/>
            <a:ext cx="73152" cy="73152"/>
          </a:xfrm>
          <a:prstGeom prst="roundRect">
            <a:avLst>
              <a:gd name="adj" fmla="val 50000"/>
            </a:avLst>
          </a:prstGeom>
          <a:solidFill>
            <a:srgbClr val="4A82FF"/>
          </a:solidFill>
          <a:ln w="12700">
            <a:solidFill>
              <a:srgbClr val="4A82FF"/>
            </a:solidFill>
            <a:prstDash val="solid"/>
          </a:ln>
        </p:spPr>
      </p:sp>
      <p:sp>
        <p:nvSpPr>
          <p:cNvPr id="16" name="Shape 14"/>
          <p:cNvSpPr/>
          <p:nvPr/>
        </p:nvSpPr>
        <p:spPr>
          <a:xfrm>
            <a:off x="9862073" y="910333"/>
            <a:ext cx="73152" cy="73152"/>
          </a:xfrm>
          <a:prstGeom prst="roundRect">
            <a:avLst>
              <a:gd name="adj" fmla="val 50000"/>
            </a:avLst>
          </a:prstGeom>
          <a:solidFill>
            <a:srgbClr val="4A82FF"/>
          </a:solidFill>
          <a:ln w="12700">
            <a:solidFill>
              <a:srgbClr val="4A82FF"/>
            </a:solidFill>
            <a:prstDash val="solid"/>
          </a:ln>
        </p:spPr>
      </p:sp>
      <p:sp>
        <p:nvSpPr>
          <p:cNvPr id="17" name="Shape 15"/>
          <p:cNvSpPr/>
          <p:nvPr/>
        </p:nvSpPr>
        <p:spPr>
          <a:xfrm>
            <a:off x="9942755" y="821027"/>
            <a:ext cx="73152" cy="73152"/>
          </a:xfrm>
          <a:prstGeom prst="roundRect">
            <a:avLst>
              <a:gd name="adj" fmla="val 50000"/>
            </a:avLst>
          </a:prstGeom>
          <a:solidFill>
            <a:srgbClr val="E6115E"/>
          </a:solidFill>
          <a:ln w="12700">
            <a:solidFill>
              <a:srgbClr val="E6115E"/>
            </a:solidFill>
            <a:prstDash val="solid"/>
          </a:ln>
        </p:spPr>
      </p:sp>
      <p:sp>
        <p:nvSpPr>
          <p:cNvPr id="18" name="Shape 16"/>
          <p:cNvSpPr/>
          <p:nvPr/>
        </p:nvSpPr>
        <p:spPr>
          <a:xfrm>
            <a:off x="10023438" y="763520"/>
            <a:ext cx="73152" cy="73152"/>
          </a:xfrm>
          <a:prstGeom prst="roundRect">
            <a:avLst>
              <a:gd name="adj" fmla="val 50000"/>
            </a:avLst>
          </a:prstGeom>
          <a:solidFill>
            <a:srgbClr val="4A82FF"/>
          </a:solidFill>
          <a:ln w="12700">
            <a:solidFill>
              <a:srgbClr val="4A82FF"/>
            </a:solidFill>
            <a:prstDash val="solid"/>
          </a:ln>
        </p:spPr>
      </p:sp>
      <p:sp>
        <p:nvSpPr>
          <p:cNvPr id="19" name="Shape 17"/>
          <p:cNvSpPr/>
          <p:nvPr/>
        </p:nvSpPr>
        <p:spPr>
          <a:xfrm>
            <a:off x="10104120" y="743662"/>
            <a:ext cx="73152" cy="73152"/>
          </a:xfrm>
          <a:prstGeom prst="roundRect">
            <a:avLst>
              <a:gd name="adj" fmla="val 50000"/>
            </a:avLst>
          </a:prstGeom>
          <a:solidFill>
            <a:srgbClr val="4A82FF"/>
          </a:solidFill>
          <a:ln w="12700">
            <a:solidFill>
              <a:srgbClr val="4A82FF"/>
            </a:solidFill>
            <a:prstDash val="solid"/>
          </a:ln>
        </p:spPr>
      </p:sp>
      <p:sp>
        <p:nvSpPr>
          <p:cNvPr id="20" name="Shape 18"/>
          <p:cNvSpPr/>
          <p:nvPr/>
        </p:nvSpPr>
        <p:spPr>
          <a:xfrm>
            <a:off x="10184802" y="763520"/>
            <a:ext cx="73152" cy="73152"/>
          </a:xfrm>
          <a:prstGeom prst="roundRect">
            <a:avLst>
              <a:gd name="adj" fmla="val 50000"/>
            </a:avLst>
          </a:prstGeom>
          <a:solidFill>
            <a:srgbClr val="4A82FF"/>
          </a:solidFill>
          <a:ln w="12700">
            <a:solidFill>
              <a:srgbClr val="4A82FF"/>
            </a:solidFill>
            <a:prstDash val="solid"/>
          </a:ln>
        </p:spPr>
      </p:sp>
      <p:sp>
        <p:nvSpPr>
          <p:cNvPr id="21" name="Shape 19"/>
          <p:cNvSpPr/>
          <p:nvPr/>
        </p:nvSpPr>
        <p:spPr>
          <a:xfrm>
            <a:off x="10265485" y="821027"/>
            <a:ext cx="73152" cy="73152"/>
          </a:xfrm>
          <a:prstGeom prst="roundRect">
            <a:avLst>
              <a:gd name="adj" fmla="val 50000"/>
            </a:avLst>
          </a:prstGeom>
          <a:solidFill>
            <a:srgbClr val="4A82FF"/>
          </a:solidFill>
          <a:ln w="12700">
            <a:solidFill>
              <a:srgbClr val="4A82FF"/>
            </a:solidFill>
            <a:prstDash val="solid"/>
          </a:ln>
        </p:spPr>
      </p:sp>
      <p:sp>
        <p:nvSpPr>
          <p:cNvPr id="22" name="Shape 20"/>
          <p:cNvSpPr/>
          <p:nvPr/>
        </p:nvSpPr>
        <p:spPr>
          <a:xfrm>
            <a:off x="10346167" y="910333"/>
            <a:ext cx="73152" cy="73152"/>
          </a:xfrm>
          <a:prstGeom prst="roundRect">
            <a:avLst>
              <a:gd name="adj" fmla="val 50000"/>
            </a:avLst>
          </a:prstGeom>
          <a:solidFill>
            <a:srgbClr val="E6115E"/>
          </a:solidFill>
          <a:ln w="12700">
            <a:solidFill>
              <a:srgbClr val="E6115E"/>
            </a:solidFill>
            <a:prstDash val="solid"/>
          </a:ln>
        </p:spPr>
      </p:sp>
      <p:sp>
        <p:nvSpPr>
          <p:cNvPr id="23" name="Shape 21"/>
          <p:cNvSpPr/>
          <p:nvPr/>
        </p:nvSpPr>
        <p:spPr>
          <a:xfrm>
            <a:off x="10426849" y="1022788"/>
            <a:ext cx="73152" cy="73152"/>
          </a:xfrm>
          <a:prstGeom prst="roundRect">
            <a:avLst>
              <a:gd name="adj" fmla="val 50000"/>
            </a:avLst>
          </a:prstGeom>
          <a:solidFill>
            <a:srgbClr val="4A82FF"/>
          </a:solidFill>
          <a:ln w="12700">
            <a:solidFill>
              <a:srgbClr val="4A82FF"/>
            </a:solidFill>
            <a:prstDash val="solid"/>
          </a:ln>
        </p:spPr>
      </p:sp>
      <p:sp>
        <p:nvSpPr>
          <p:cNvPr id="24" name="Shape 22"/>
          <p:cNvSpPr/>
          <p:nvPr/>
        </p:nvSpPr>
        <p:spPr>
          <a:xfrm>
            <a:off x="10507532" y="1148320"/>
            <a:ext cx="73152" cy="73152"/>
          </a:xfrm>
          <a:prstGeom prst="roundRect">
            <a:avLst>
              <a:gd name="adj" fmla="val 50000"/>
            </a:avLst>
          </a:prstGeom>
          <a:solidFill>
            <a:srgbClr val="4A82FF"/>
          </a:solidFill>
          <a:ln w="12700">
            <a:solidFill>
              <a:srgbClr val="4A82FF"/>
            </a:solidFill>
            <a:prstDash val="solid"/>
          </a:ln>
        </p:spPr>
      </p:sp>
      <p:sp>
        <p:nvSpPr>
          <p:cNvPr id="25" name="Shape 23"/>
          <p:cNvSpPr/>
          <p:nvPr/>
        </p:nvSpPr>
        <p:spPr>
          <a:xfrm>
            <a:off x="10588214" y="1276905"/>
            <a:ext cx="73152" cy="73152"/>
          </a:xfrm>
          <a:prstGeom prst="roundRect">
            <a:avLst>
              <a:gd name="adj" fmla="val 50000"/>
            </a:avLst>
          </a:prstGeom>
          <a:solidFill>
            <a:srgbClr val="4A82FF"/>
          </a:solidFill>
          <a:ln w="12700">
            <a:solidFill>
              <a:srgbClr val="4A82FF"/>
            </a:solidFill>
            <a:prstDash val="solid"/>
          </a:ln>
        </p:spPr>
      </p:sp>
      <p:sp>
        <p:nvSpPr>
          <p:cNvPr id="26" name="Shape 24"/>
          <p:cNvSpPr/>
          <p:nvPr/>
        </p:nvSpPr>
        <p:spPr>
          <a:xfrm>
            <a:off x="10668896" y="1399843"/>
            <a:ext cx="73152" cy="73152"/>
          </a:xfrm>
          <a:prstGeom prst="roundRect">
            <a:avLst>
              <a:gd name="adj" fmla="val 50000"/>
            </a:avLst>
          </a:prstGeom>
          <a:solidFill>
            <a:srgbClr val="4A82FF"/>
          </a:solidFill>
          <a:ln w="12700">
            <a:solidFill>
              <a:srgbClr val="4A82FF"/>
            </a:solidFill>
            <a:prstDash val="solid"/>
          </a:ln>
        </p:spPr>
      </p:sp>
      <p:sp>
        <p:nvSpPr>
          <p:cNvPr id="27" name="Shape 25"/>
          <p:cNvSpPr/>
          <p:nvPr/>
        </p:nvSpPr>
        <p:spPr>
          <a:xfrm>
            <a:off x="10749579" y="1510616"/>
            <a:ext cx="73152" cy="73152"/>
          </a:xfrm>
          <a:prstGeom prst="roundRect">
            <a:avLst>
              <a:gd name="adj" fmla="val 50000"/>
            </a:avLst>
          </a:prstGeom>
          <a:solidFill>
            <a:srgbClr val="E6115E"/>
          </a:solidFill>
          <a:ln w="12700">
            <a:solidFill>
              <a:srgbClr val="E6115E"/>
            </a:solidFill>
            <a:prstDash val="solid"/>
          </a:ln>
        </p:spPr>
      </p:sp>
      <p:sp>
        <p:nvSpPr>
          <p:cNvPr id="28" name="Shape 26"/>
          <p:cNvSpPr/>
          <p:nvPr/>
        </p:nvSpPr>
        <p:spPr>
          <a:xfrm>
            <a:off x="10830261" y="1605250"/>
            <a:ext cx="73152" cy="73152"/>
          </a:xfrm>
          <a:prstGeom prst="roundRect">
            <a:avLst>
              <a:gd name="adj" fmla="val 50000"/>
            </a:avLst>
          </a:prstGeom>
          <a:solidFill>
            <a:srgbClr val="4A82FF"/>
          </a:solidFill>
          <a:ln w="12700">
            <a:solidFill>
              <a:srgbClr val="4A82FF"/>
            </a:solidFill>
            <a:prstDash val="solid"/>
          </a:ln>
        </p:spPr>
      </p:sp>
      <p:sp>
        <p:nvSpPr>
          <p:cNvPr id="29" name="Shape 27"/>
          <p:cNvSpPr/>
          <p:nvPr/>
        </p:nvSpPr>
        <p:spPr>
          <a:xfrm>
            <a:off x="10910944" y="1682211"/>
            <a:ext cx="73152" cy="73152"/>
          </a:xfrm>
          <a:prstGeom prst="roundRect">
            <a:avLst>
              <a:gd name="adj" fmla="val 50000"/>
            </a:avLst>
          </a:prstGeom>
          <a:solidFill>
            <a:srgbClr val="4A82FF"/>
          </a:solidFill>
          <a:ln w="12700">
            <a:solidFill>
              <a:srgbClr val="4A82FF"/>
            </a:solidFill>
            <a:prstDash val="solid"/>
          </a:ln>
        </p:spPr>
      </p:sp>
      <p:sp>
        <p:nvSpPr>
          <p:cNvPr id="30" name="Shape 28"/>
          <p:cNvSpPr/>
          <p:nvPr/>
        </p:nvSpPr>
        <p:spPr>
          <a:xfrm>
            <a:off x="10991626" y="1741956"/>
            <a:ext cx="73152" cy="73152"/>
          </a:xfrm>
          <a:prstGeom prst="roundRect">
            <a:avLst>
              <a:gd name="adj" fmla="val 50000"/>
            </a:avLst>
          </a:prstGeom>
          <a:solidFill>
            <a:srgbClr val="4A82FF"/>
          </a:solidFill>
          <a:ln w="12700">
            <a:solidFill>
              <a:srgbClr val="4A82FF"/>
            </a:solidFill>
            <a:prstDash val="solid"/>
          </a:ln>
        </p:spPr>
      </p:sp>
      <p:sp>
        <p:nvSpPr>
          <p:cNvPr id="31" name="Shape 29"/>
          <p:cNvSpPr/>
          <p:nvPr/>
        </p:nvSpPr>
        <p:spPr>
          <a:xfrm>
            <a:off x="11072308" y="1786322"/>
            <a:ext cx="73152" cy="73152"/>
          </a:xfrm>
          <a:prstGeom prst="roundRect">
            <a:avLst>
              <a:gd name="adj" fmla="val 50000"/>
            </a:avLst>
          </a:prstGeom>
          <a:solidFill>
            <a:srgbClr val="4A82FF"/>
          </a:solidFill>
          <a:ln w="12700">
            <a:solidFill>
              <a:srgbClr val="4A82FF"/>
            </a:solidFill>
            <a:prstDash val="solid"/>
          </a:ln>
        </p:spPr>
      </p:sp>
      <p:sp>
        <p:nvSpPr>
          <p:cNvPr id="32" name="Shape 30"/>
          <p:cNvSpPr/>
          <p:nvPr/>
        </p:nvSpPr>
        <p:spPr>
          <a:xfrm>
            <a:off x="11152991" y="1817882"/>
            <a:ext cx="73152" cy="73152"/>
          </a:xfrm>
          <a:prstGeom prst="roundRect">
            <a:avLst>
              <a:gd name="adj" fmla="val 50000"/>
            </a:avLst>
          </a:prstGeom>
          <a:solidFill>
            <a:srgbClr val="E6115E"/>
          </a:solidFill>
          <a:ln w="12700">
            <a:solidFill>
              <a:srgbClr val="E6115E"/>
            </a:solidFill>
            <a:prstDash val="solid"/>
          </a:ln>
        </p:spPr>
      </p:sp>
      <p:sp>
        <p:nvSpPr>
          <p:cNvPr id="33" name="Shape 31"/>
          <p:cNvSpPr/>
          <p:nvPr/>
        </p:nvSpPr>
        <p:spPr>
          <a:xfrm>
            <a:off x="11233673" y="1839415"/>
            <a:ext cx="73152" cy="73152"/>
          </a:xfrm>
          <a:prstGeom prst="roundRect">
            <a:avLst>
              <a:gd name="adj" fmla="val 50000"/>
            </a:avLst>
          </a:prstGeom>
          <a:solidFill>
            <a:srgbClr val="4A82FF"/>
          </a:solidFill>
          <a:ln w="12700">
            <a:solidFill>
              <a:srgbClr val="4A82FF"/>
            </a:solidFill>
            <a:prstDash val="solid"/>
          </a:ln>
        </p:spPr>
      </p:sp>
      <p:sp>
        <p:nvSpPr>
          <p:cNvPr id="34" name="Shape 32"/>
          <p:cNvSpPr/>
          <p:nvPr/>
        </p:nvSpPr>
        <p:spPr>
          <a:xfrm>
            <a:off x="11314355" y="1853519"/>
            <a:ext cx="73152" cy="73152"/>
          </a:xfrm>
          <a:prstGeom prst="roundRect">
            <a:avLst>
              <a:gd name="adj" fmla="val 50000"/>
            </a:avLst>
          </a:prstGeom>
          <a:solidFill>
            <a:srgbClr val="4A82FF"/>
          </a:solidFill>
          <a:ln w="12700">
            <a:solidFill>
              <a:srgbClr val="4A82FF"/>
            </a:solidFill>
            <a:prstDash val="solid"/>
          </a:ln>
        </p:spPr>
      </p:sp>
      <p:sp>
        <p:nvSpPr>
          <p:cNvPr id="35" name="Shape 33"/>
          <p:cNvSpPr/>
          <p:nvPr/>
        </p:nvSpPr>
        <p:spPr>
          <a:xfrm>
            <a:off x="11395038" y="1862394"/>
            <a:ext cx="73152" cy="73152"/>
          </a:xfrm>
          <a:prstGeom prst="roundRect">
            <a:avLst>
              <a:gd name="adj" fmla="val 50000"/>
            </a:avLst>
          </a:prstGeom>
          <a:solidFill>
            <a:srgbClr val="4A82FF"/>
          </a:solidFill>
          <a:ln w="12700">
            <a:solidFill>
              <a:srgbClr val="4A82FF"/>
            </a:solidFill>
            <a:prstDash val="solid"/>
          </a:ln>
        </p:spPr>
      </p:sp>
      <p:sp>
        <p:nvSpPr>
          <p:cNvPr id="36" name="Shape 34"/>
          <p:cNvSpPr/>
          <p:nvPr/>
        </p:nvSpPr>
        <p:spPr>
          <a:xfrm>
            <a:off x="11475720" y="1867762"/>
            <a:ext cx="73152" cy="73152"/>
          </a:xfrm>
          <a:prstGeom prst="roundRect">
            <a:avLst>
              <a:gd name="adj" fmla="val 50000"/>
            </a:avLst>
          </a:prstGeom>
          <a:solidFill>
            <a:srgbClr val="4A82FF"/>
          </a:solidFill>
          <a:ln w="12700">
            <a:solidFill>
              <a:srgbClr val="4A82FF"/>
            </a:solidFill>
            <a:prstDash val="solid"/>
          </a:ln>
        </p:spPr>
      </p:sp>
      <p:sp>
        <p:nvSpPr>
          <p:cNvPr id="37" name="Shape 35"/>
          <p:cNvSpPr/>
          <p:nvPr/>
        </p:nvSpPr>
        <p:spPr>
          <a:xfrm>
            <a:off x="548640" y="457200"/>
            <a:ext cx="2194560" cy="347472"/>
          </a:xfrm>
          <a:prstGeom prst="roundRect">
            <a:avLst>
              <a:gd name="adj" fmla="val 50000"/>
            </a:avLst>
          </a:prstGeom>
          <a:solidFill>
            <a:srgbClr val="E6115E"/>
          </a:solidFill>
          <a:ln w="12700">
            <a:solidFill>
              <a:srgbClr val="E6115E"/>
            </a:solidFill>
            <a:prstDash val="solid"/>
          </a:ln>
        </p:spPr>
      </p:sp>
      <p:sp>
        <p:nvSpPr>
          <p:cNvPr id="38" name="Text 36"/>
          <p:cNvSpPr/>
          <p:nvPr/>
        </p:nvSpPr>
        <p:spPr>
          <a:xfrm>
            <a:off x="548640" y="457200"/>
            <a:ext cx="2194560" cy="347472"/>
          </a:xfrm>
          <a:prstGeom prst="rect">
            <a:avLst/>
          </a:prstGeom>
          <a:noFill/>
          <a:ln/>
        </p:spPr>
        <p:txBody>
          <a:bodyPr wrap="square" lIns="0" tIns="0" rIns="0" bIns="0" rtlCol="0" anchor="ctr"/>
          <a:lstStyle/>
          <a:p>
            <a:pPr marL="0" indent="0" algn="ctr">
              <a:buNone/>
            </a:pPr>
            <a:r>
              <a:rPr lang="en-US" sz="1150" b="1" kern="0" spc="100" dirty="0">
                <a:solidFill>
                  <a:srgbClr val="FFFFFF"/>
                </a:solidFill>
                <a:latin typeface="Calibri" pitchFamily="34" charset="0"/>
                <a:ea typeface="Calibri" pitchFamily="34" charset="-122"/>
                <a:cs typeface="Calibri" pitchFamily="34" charset="-120"/>
              </a:rPr>
              <a:t>CIERRE · 10 MIN</a:t>
            </a:r>
            <a:endParaRPr lang="en-US" sz="1150" dirty="0"/>
          </a:p>
        </p:txBody>
      </p:sp>
      <p:sp>
        <p:nvSpPr>
          <p:cNvPr id="39" name="Text 37"/>
          <p:cNvSpPr/>
          <p:nvPr/>
        </p:nvSpPr>
        <p:spPr>
          <a:xfrm>
            <a:off x="548640" y="914400"/>
            <a:ext cx="786384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Si te llevas una sola cosa</a:t>
            </a:r>
            <a:endParaRPr lang="en-US" sz="3400" dirty="0"/>
          </a:p>
        </p:txBody>
      </p:sp>
      <p:sp>
        <p:nvSpPr>
          <p:cNvPr id="40" name="Text 38"/>
          <p:cNvSpPr/>
          <p:nvPr/>
        </p:nvSpPr>
        <p:spPr>
          <a:xfrm>
            <a:off x="548640" y="1572768"/>
            <a:ext cx="7863840" cy="457200"/>
          </a:xfrm>
          <a:prstGeom prst="rect">
            <a:avLst/>
          </a:prstGeom>
          <a:noFill/>
          <a:ln/>
        </p:spPr>
        <p:txBody>
          <a:bodyPr wrap="square" lIns="0" tIns="0" rIns="0" bIns="0" rtlCol="0" anchor="t"/>
          <a:lstStyle/>
          <a:p>
            <a:pPr marL="0" indent="0" algn="l">
              <a:lnSpc>
                <a:spcPct val="108000"/>
              </a:lnSpc>
              <a:buNone/>
            </a:pPr>
            <a:r>
              <a:rPr lang="en-US" sz="1500" i="1" dirty="0">
                <a:solidFill>
                  <a:srgbClr val="C9D6F2"/>
                </a:solidFill>
                <a:latin typeface="Calibri" pitchFamily="34" charset="0"/>
                <a:ea typeface="Calibri" pitchFamily="34" charset="-122"/>
                <a:cs typeface="Calibri" pitchFamily="34" charset="-120"/>
              </a:rPr>
              <a:t>«Raro» dejó de ser una opinión. Ahora es un número que cualquiera puede recalcular — y sabes cuándo ese número no es de fiar.</a:t>
            </a:r>
            <a:endParaRPr lang="en-US" sz="1500" dirty="0"/>
          </a:p>
        </p:txBody>
      </p:sp>
      <p:sp>
        <p:nvSpPr>
          <p:cNvPr id="41" name="Shape 39"/>
          <p:cNvSpPr/>
          <p:nvPr/>
        </p:nvSpPr>
        <p:spPr>
          <a:xfrm>
            <a:off x="548640" y="2212848"/>
            <a:ext cx="5468112" cy="2487168"/>
          </a:xfrm>
          <a:prstGeom prst="roundRect">
            <a:avLst>
              <a:gd name="adj" fmla="val 2206"/>
            </a:avLst>
          </a:prstGeom>
          <a:solidFill>
            <a:srgbClr val="061834"/>
          </a:solidFill>
          <a:ln w="12700">
            <a:solidFill>
              <a:srgbClr val="1A3B72"/>
            </a:solidFill>
            <a:prstDash val="solid"/>
          </a:ln>
        </p:spPr>
      </p:sp>
      <p:sp>
        <p:nvSpPr>
          <p:cNvPr id="42" name="Shape 40"/>
          <p:cNvSpPr/>
          <p:nvPr/>
        </p:nvSpPr>
        <p:spPr>
          <a:xfrm>
            <a:off x="804672" y="2496312"/>
            <a:ext cx="118872" cy="118872"/>
          </a:xfrm>
          <a:prstGeom prst="roundRect">
            <a:avLst>
              <a:gd name="adj" fmla="val 30769"/>
            </a:avLst>
          </a:prstGeom>
          <a:solidFill>
            <a:srgbClr val="E6115E"/>
          </a:solidFill>
          <a:ln w="12700">
            <a:solidFill>
              <a:srgbClr val="E6115E"/>
            </a:solidFill>
            <a:prstDash val="solid"/>
          </a:ln>
        </p:spPr>
      </p:sp>
      <p:sp>
        <p:nvSpPr>
          <p:cNvPr id="43" name="Text 41"/>
          <p:cNvSpPr/>
          <p:nvPr/>
        </p:nvSpPr>
        <p:spPr>
          <a:xfrm>
            <a:off x="1042416" y="2395728"/>
            <a:ext cx="4791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Checklist de salida</a:t>
            </a:r>
            <a:endParaRPr lang="en-US" sz="1500" dirty="0"/>
          </a:p>
        </p:txBody>
      </p:sp>
      <p:sp>
        <p:nvSpPr>
          <p:cNvPr id="44" name="Text 42"/>
          <p:cNvSpPr/>
          <p:nvPr/>
        </p:nvSpPr>
        <p:spPr>
          <a:xfrm>
            <a:off x="804672" y="2798064"/>
            <a:ext cx="4983480" cy="1783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C9D6F2"/>
                </a:solidFill>
                <a:latin typeface="Calibri" pitchFamily="34" charset="0"/>
                <a:ea typeface="Calibri" pitchFamily="34" charset="-122"/>
                <a:cs typeface="Calibri" pitchFamily="34" charset="-120"/>
              </a:rPr>
              <a:t>Sé calcular un z a mano y decir qué significa.</a:t>
            </a:r>
            <a:endParaRPr lang="en-US" sz="1200" dirty="0"/>
          </a:p>
          <a:p>
            <a:pPr marL="342900" indent="-342900">
              <a:spcAft>
                <a:spcPts val="600"/>
              </a:spcAft>
              <a:buSzPct val="100000"/>
              <a:buChar char="•"/>
            </a:pPr>
            <a:r>
              <a:rPr lang="en-US" sz="1200" dirty="0">
                <a:solidFill>
                  <a:srgbClr val="C9D6F2"/>
                </a:solidFill>
                <a:latin typeface="Calibri" pitchFamily="34" charset="0"/>
                <a:ea typeface="Calibri" pitchFamily="34" charset="-122"/>
                <a:cs typeface="Calibri" pitchFamily="34" charset="-120"/>
              </a:rPr>
              <a:t>Sé traducir una cola en «1 caso cada N».</a:t>
            </a:r>
            <a:endParaRPr lang="en-US" sz="1200" dirty="0"/>
          </a:p>
          <a:p>
            <a:pPr marL="342900" indent="-342900">
              <a:spcAft>
                <a:spcPts val="600"/>
              </a:spcAft>
              <a:buSzPct val="100000"/>
              <a:buChar char="•"/>
            </a:pPr>
            <a:r>
              <a:rPr lang="en-US" sz="1200" dirty="0">
                <a:solidFill>
                  <a:srgbClr val="C9D6F2"/>
                </a:solidFill>
                <a:latin typeface="Calibri" pitchFamily="34" charset="0"/>
                <a:ea typeface="Calibri" pitchFamily="34" charset="-122"/>
                <a:cs typeface="Calibri" pitchFamily="34" charset="-120"/>
              </a:rPr>
              <a:t>Puedo explicar el TLC sin decir que los datos se vuelven normales.</a:t>
            </a:r>
            <a:endParaRPr lang="en-US" sz="1200" dirty="0"/>
          </a:p>
          <a:p>
            <a:pPr marL="342900" indent="-342900">
              <a:spcAft>
                <a:spcPts val="600"/>
              </a:spcAft>
              <a:buSzPct val="100000"/>
              <a:buChar char="•"/>
            </a:pPr>
            <a:r>
              <a:rPr lang="en-US" sz="1200" dirty="0">
                <a:solidFill>
                  <a:srgbClr val="C9D6F2"/>
                </a:solidFill>
                <a:latin typeface="Calibri" pitchFamily="34" charset="0"/>
                <a:ea typeface="Calibri" pitchFamily="34" charset="-122"/>
                <a:cs typeface="Calibri" pitchFamily="34" charset="-120"/>
              </a:rPr>
              <a:t>Sé cuándo va t y cuándo va z.</a:t>
            </a:r>
            <a:endParaRPr lang="en-US" sz="1200" dirty="0"/>
          </a:p>
          <a:p>
            <a:pPr marL="342900" indent="-342900">
              <a:spcAft>
                <a:spcPts val="600"/>
              </a:spcAft>
              <a:buSzPct val="100000"/>
              <a:buChar char="•"/>
            </a:pPr>
            <a:r>
              <a:rPr lang="en-US" sz="1200" dirty="0">
                <a:solidFill>
                  <a:srgbClr val="C9D6F2"/>
                </a:solidFill>
                <a:latin typeface="Calibri" pitchFamily="34" charset="0"/>
                <a:ea typeface="Calibri" pitchFamily="34" charset="-122"/>
                <a:cs typeface="Calibri" pitchFamily="34" charset="-120"/>
              </a:rPr>
              <a:t>Sé qué mirar antes de asumir normalidad.</a:t>
            </a:r>
            <a:endParaRPr lang="en-US" sz="1200" dirty="0"/>
          </a:p>
        </p:txBody>
      </p:sp>
      <p:sp>
        <p:nvSpPr>
          <p:cNvPr id="45" name="Shape 43"/>
          <p:cNvSpPr/>
          <p:nvPr/>
        </p:nvSpPr>
        <p:spPr>
          <a:xfrm>
            <a:off x="6172200" y="2212848"/>
            <a:ext cx="5468112" cy="2487168"/>
          </a:xfrm>
          <a:prstGeom prst="roundRect">
            <a:avLst>
              <a:gd name="adj" fmla="val 2206"/>
            </a:avLst>
          </a:prstGeom>
          <a:solidFill>
            <a:srgbClr val="061834"/>
          </a:solidFill>
          <a:ln w="12700">
            <a:solidFill>
              <a:srgbClr val="1A3B72"/>
            </a:solidFill>
            <a:prstDash val="solid"/>
          </a:ln>
        </p:spPr>
      </p:sp>
      <p:sp>
        <p:nvSpPr>
          <p:cNvPr id="46" name="Shape 44"/>
          <p:cNvSpPr/>
          <p:nvPr/>
        </p:nvSpPr>
        <p:spPr>
          <a:xfrm>
            <a:off x="6419088" y="2496312"/>
            <a:ext cx="118872" cy="118872"/>
          </a:xfrm>
          <a:prstGeom prst="roundRect">
            <a:avLst>
              <a:gd name="adj" fmla="val 30769"/>
            </a:avLst>
          </a:prstGeom>
          <a:solidFill>
            <a:srgbClr val="E6115E"/>
          </a:solidFill>
          <a:ln w="12700">
            <a:solidFill>
              <a:srgbClr val="E6115E"/>
            </a:solidFill>
            <a:prstDash val="solid"/>
          </a:ln>
        </p:spPr>
      </p:sp>
      <p:sp>
        <p:nvSpPr>
          <p:cNvPr id="47" name="Text 45"/>
          <p:cNvSpPr/>
          <p:nvPr/>
        </p:nvSpPr>
        <p:spPr>
          <a:xfrm>
            <a:off x="6656832" y="2395728"/>
            <a:ext cx="47914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Reto para la próxima clase</a:t>
            </a:r>
            <a:endParaRPr lang="en-US" sz="1500" dirty="0"/>
          </a:p>
        </p:txBody>
      </p:sp>
      <p:sp>
        <p:nvSpPr>
          <p:cNvPr id="48" name="Text 46"/>
          <p:cNvSpPr/>
          <p:nvPr/>
        </p:nvSpPr>
        <p:spPr>
          <a:xfrm>
            <a:off x="6419088" y="2798064"/>
            <a:ext cx="4983480" cy="1783080"/>
          </a:xfrm>
          <a:prstGeom prst="rect">
            <a:avLst/>
          </a:prstGeom>
          <a:noFill/>
          <a:ln/>
        </p:spPr>
        <p:txBody>
          <a:bodyPr wrap="square" lIns="0" tIns="0" rIns="0" bIns="0" rtlCol="0" anchor="t"/>
          <a:lstStyle/>
          <a:p>
            <a:pPr marL="0" indent="0" algn="l">
              <a:lnSpc>
                <a:spcPct val="112000"/>
              </a:lnSpc>
              <a:buNone/>
            </a:pPr>
            <a:r>
              <a:rPr lang="en-US" sz="1200" dirty="0">
                <a:solidFill>
                  <a:srgbClr val="C9D6F2"/>
                </a:solidFill>
                <a:latin typeface="Calibri" pitchFamily="34" charset="0"/>
                <a:ea typeface="Calibri" pitchFamily="34" charset="-122"/>
                <a:cs typeface="Calibri" pitchFamily="34" charset="-120"/>
              </a:rPr>
              <a:t>Toma cualquier variable numérica de tu trabajo: montos, tiempos de atención, saldos.</a:t>
            </a:r>
            <a:endParaRPr lang="en-US" sz="1200" dirty="0"/>
          </a:p>
          <a:p>
            <a:pPr marL="0" indent="0" algn="l">
              <a:lnSpc>
                <a:spcPct val="112000"/>
              </a:lnSpc>
              <a:buNone/>
            </a:pPr>
            <a:endParaRPr lang="en-US" sz="1200" dirty="0"/>
          </a:p>
          <a:p>
            <a:pPr marL="0" indent="0" algn="l">
              <a:lnSpc>
                <a:spcPct val="112000"/>
              </a:lnSpc>
              <a:buNone/>
            </a:pPr>
            <a:r>
              <a:rPr lang="en-US" sz="1200" dirty="0">
                <a:solidFill>
                  <a:srgbClr val="C9D6F2"/>
                </a:solidFill>
                <a:latin typeface="Calibri" pitchFamily="34" charset="0"/>
                <a:ea typeface="Calibri" pitchFamily="34" charset="-122"/>
                <a:cs typeface="Calibri" pitchFamily="34" charset="-120"/>
              </a:rPr>
              <a:t>Calcula dos cosas: el exceso de curtosis y el porcentaje de casos que caen fuera de μ ± 3σ.</a:t>
            </a:r>
            <a:endParaRPr lang="en-US" sz="1200" dirty="0"/>
          </a:p>
          <a:p>
            <a:pPr marL="0" indent="0" algn="l">
              <a:lnSpc>
                <a:spcPct val="112000"/>
              </a:lnSpc>
              <a:buNone/>
            </a:pPr>
            <a:endParaRPr lang="en-US" sz="1200" dirty="0"/>
          </a:p>
          <a:p>
            <a:pPr marL="0" indent="0" algn="l">
              <a:lnSpc>
                <a:spcPct val="112000"/>
              </a:lnSpc>
              <a:buNone/>
            </a:pPr>
            <a:r>
              <a:rPr lang="en-US" sz="1200" dirty="0">
                <a:solidFill>
                  <a:srgbClr val="C9D6F2"/>
                </a:solidFill>
                <a:latin typeface="Calibri" pitchFamily="34" charset="0"/>
                <a:ea typeface="Calibri" pitchFamily="34" charset="-122"/>
                <a:cs typeface="Calibri" pitchFamily="34" charset="-120"/>
              </a:rPr>
              <a:t>Si ese porcentaje supera 0.27 %, tu variable no es normal y ya sabes por qué. Trae el número: lo usamos para abrir la Clase 4.</a:t>
            </a:r>
            <a:endParaRPr lang="en-US" sz="1200" dirty="0"/>
          </a:p>
        </p:txBody>
      </p:sp>
      <p:sp>
        <p:nvSpPr>
          <p:cNvPr id="49" name="Shape 47"/>
          <p:cNvSpPr/>
          <p:nvPr/>
        </p:nvSpPr>
        <p:spPr>
          <a:xfrm>
            <a:off x="548640" y="4892040"/>
            <a:ext cx="11091672" cy="1234440"/>
          </a:xfrm>
          <a:prstGeom prst="roundRect">
            <a:avLst>
              <a:gd name="adj" fmla="val 4444"/>
            </a:avLst>
          </a:prstGeom>
          <a:solidFill>
            <a:srgbClr val="061834"/>
          </a:solidFill>
          <a:ln w="12700">
            <a:solidFill>
              <a:srgbClr val="1A3B72"/>
            </a:solidFill>
            <a:prstDash val="solid"/>
          </a:ln>
        </p:spPr>
      </p:sp>
      <p:sp>
        <p:nvSpPr>
          <p:cNvPr id="50" name="Shape 48"/>
          <p:cNvSpPr/>
          <p:nvPr/>
        </p:nvSpPr>
        <p:spPr>
          <a:xfrm>
            <a:off x="804672" y="5157216"/>
            <a:ext cx="118872" cy="118872"/>
          </a:xfrm>
          <a:prstGeom prst="roundRect">
            <a:avLst>
              <a:gd name="adj" fmla="val 30769"/>
            </a:avLst>
          </a:prstGeom>
          <a:solidFill>
            <a:srgbClr val="E6115E"/>
          </a:solidFill>
          <a:ln w="12700">
            <a:solidFill>
              <a:srgbClr val="E6115E"/>
            </a:solidFill>
            <a:prstDash val="solid"/>
          </a:ln>
        </p:spPr>
      </p:sp>
      <p:sp>
        <p:nvSpPr>
          <p:cNvPr id="51" name="Text 49"/>
          <p:cNvSpPr/>
          <p:nvPr/>
        </p:nvSpPr>
        <p:spPr>
          <a:xfrm>
            <a:off x="1042416" y="5056632"/>
            <a:ext cx="5248656" cy="29260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Clase 4</a:t>
            </a:r>
            <a:endParaRPr lang="en-US" sz="1500" dirty="0"/>
          </a:p>
        </p:txBody>
      </p:sp>
      <p:sp>
        <p:nvSpPr>
          <p:cNvPr id="52" name="Text 50"/>
          <p:cNvSpPr/>
          <p:nvPr/>
        </p:nvSpPr>
        <p:spPr>
          <a:xfrm>
            <a:off x="804672" y="5422392"/>
            <a:ext cx="10607040" cy="594360"/>
          </a:xfrm>
          <a:prstGeom prst="rect">
            <a:avLst/>
          </a:prstGeom>
          <a:noFill/>
          <a:ln/>
        </p:spPr>
        <p:txBody>
          <a:bodyPr wrap="square" lIns="0" tIns="0" rIns="0" bIns="0" rtlCol="0" anchor="t"/>
          <a:lstStyle/>
          <a:p>
            <a:pPr marL="0" indent="0" algn="l">
              <a:lnSpc>
                <a:spcPct val="110000"/>
              </a:lnSpc>
              <a:buNone/>
            </a:pPr>
            <a:r>
              <a:rPr lang="en-US" sz="1250" dirty="0">
                <a:solidFill>
                  <a:srgbClr val="C9D6F2"/>
                </a:solidFill>
                <a:latin typeface="Calibri" pitchFamily="34" charset="0"/>
                <a:ea typeface="Calibri" pitchFamily="34" charset="-122"/>
                <a:cs typeface="Calibri" pitchFamily="34" charset="-120"/>
              </a:rPr>
              <a:t>Del parámetro al estimador: muestreo, distribuciones muestrales e intervalos de confianza. Todo lo de hoy — el z, el σ/√n, la t — se convierte ahí en la maquinaria para responder la pregunta que un comité siempre hace: «¿y qué tan seguro estás de ese número?».</a:t>
            </a:r>
            <a:endParaRPr lang="en-US" sz="1250" dirty="0"/>
          </a:p>
        </p:txBody>
      </p:sp>
      <p:sp>
        <p:nvSpPr>
          <p:cNvPr id="53" name="Text 51"/>
          <p:cNvSpPr/>
          <p:nvPr/>
        </p:nvSpPr>
        <p:spPr>
          <a:xfrm>
            <a:off x="548640" y="6263640"/>
            <a:ext cx="8229600" cy="320040"/>
          </a:xfrm>
          <a:prstGeom prst="rect">
            <a:avLst/>
          </a:prstGeom>
          <a:noFill/>
          <a:ln/>
        </p:spPr>
        <p:txBody>
          <a:bodyPr wrap="square" lIns="0" tIns="0" rIns="0" bIns="0" rtlCol="0" anchor="ctr"/>
          <a:lstStyle/>
          <a:p>
            <a:pPr marL="0" indent="0">
              <a:buNone/>
            </a:pPr>
            <a:r>
              <a:rPr lang="en-US" sz="1050" i="1" dirty="0">
                <a:solidFill>
                  <a:srgbClr val="7C93C4"/>
                </a:solidFill>
                <a:latin typeface="Calibri" pitchFamily="34" charset="0"/>
                <a:ea typeface="Calibri" pitchFamily="34" charset="-122"/>
                <a:cs typeface="Calibri" pitchFamily="34" charset="-120"/>
              </a:rPr>
              <a:t>Estadística Descriptiva e Inferencial · Módulo 1 · Clase 3 · SEED = 42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6657</Words>
  <Application>Microsoft Macintosh PowerPoint</Application>
  <PresentationFormat>Widescreen</PresentationFormat>
  <Paragraphs>581</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3 — La normal y sus derivadas</dc:title>
  <dc:subject>PptxGenJS Presentation</dc:subject>
  <dc:creator>Rodrigo</dc:creator>
  <cp:lastModifiedBy>Josef Rodriguez</cp:lastModifiedBy>
  <cp:revision>2</cp:revision>
  <dcterms:created xsi:type="dcterms:W3CDTF">2026-08-05T20:24:32Z</dcterms:created>
  <dcterms:modified xsi:type="dcterms:W3CDTF">2026-08-06T01:04:26Z</dcterms:modified>
</cp:coreProperties>
</file>