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de t si H₀ fuera verdadera  (t con ν = 39)</c:v>
                </c:pt>
              </c:strCache>
            </c:strRef>
          </c:tx>
          <c:spPr>
            <a:solidFill>
              <a:srgbClr val="C9D8F5">
                <a:alpha val="8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Sheet1!$A$2:$A$46</c:f>
              <c:multiLvlStrCache>
                <c:ptCount val="45"/>
                <c:lvl>
                  <c:pt idx="0">
                    <c:v/>
                  </c:pt>
                  <c:pt idx="1">
                    <c:v/>
                  </c:pt>
                  <c:pt idx="2">
                    <c:v>-4</c:v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-3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-2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-1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>0</c:v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>1</c:v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>3</c:v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4</c:v>
                  </c:pt>
                  <c:pt idx="43">
                    <c:v/>
                  </c:pt>
                  <c:pt idx="44">
                    <c:v/>
                  </c:pt>
                </c:lvl>
              </c:multiLvlStrCache>
            </c:multiLvl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0.00012505841144484726</c:v>
                </c:pt>
                <c:pt idx="1">
                  <c:v>0.000227485478389053</c:v>
                </c:pt>
                <c:pt idx="2">
                  <c:v>0.000409415973023718</c:v>
                </c:pt>
                <c:pt idx="3">
                  <c:v>0.0007279299406815827</c:v>
                </c:pt>
                <c:pt idx="4">
                  <c:v>0.0012765438103295211</c:v>
                </c:pt>
                <c:pt idx="5">
                  <c:v>0.0022043333267809254</c:v>
                </c:pt>
                <c:pt idx="6">
                  <c:v>0.0037416028438765556</c:v>
                </c:pt>
                <c:pt idx="7">
                  <c:v>0.00623151758146567</c:v>
                </c:pt>
                <c:pt idx="8">
                  <c:v>0.010164378857716835</c:v>
                </c:pt>
                <c:pt idx="9">
                  <c:v>0.016206836710712817</c:v>
                </c:pt>
                <c:pt idx="10">
                  <c:v>0.025212564081914166</c:v>
                </c:pt>
                <c:pt idx="11">
                  <c:v>0.038195100989066276</c:v>
                </c:pt>
                <c:pt idx="12">
                  <c:v>0.0562405372323699</c:v>
                </c:pt>
                <c:pt idx="13">
                  <c:v>0.08034158246715689</c:v>
                </c:pt>
                <c:pt idx="14">
                  <c:v>0.11114957193918909</c:v>
                </c:pt>
                <c:pt idx="15">
                  <c:v>0.14866872361014177</c:v>
                </c:pt>
                <c:pt idx="16">
                  <c:v>0.19195332255498007</c:v>
                </c:pt>
                <c:pt idx="17">
                  <c:v>0.238901427960562</c:v>
                </c:pt>
                <c:pt idx="18">
                  <c:v>0.28625010583229776</c:v>
                </c:pt>
                <c:pt idx="19">
                  <c:v>0.32985021917682544</c:v>
                </c:pt>
                <c:pt idx="20">
                  <c:v>0.3652287101786193</c:v>
                </c:pt>
                <c:pt idx="21">
                  <c:v>0.3883491798291423</c:v>
                </c:pt>
                <c:pt idx="22">
                  <c:v>0.3963934153651716</c:v>
                </c:pt>
                <c:pt idx="23">
                  <c:v>0.3883491798291423</c:v>
                </c:pt>
                <c:pt idx="24">
                  <c:v>0.3652287101786193</c:v>
                </c:pt>
                <c:pt idx="25">
                  <c:v>0.32985021917682544</c:v>
                </c:pt>
                <c:pt idx="26">
                  <c:v>0.28625010583229776</c:v>
                </c:pt>
                <c:pt idx="27">
                  <c:v>0.238901427960562</c:v>
                </c:pt>
                <c:pt idx="28">
                  <c:v>0.19195332255498007</c:v>
                </c:pt>
                <c:pt idx="29">
                  <c:v>0.14866872361014177</c:v>
                </c:pt>
                <c:pt idx="30">
                  <c:v>0.11114957193918909</c:v>
                </c:pt>
                <c:pt idx="31">
                  <c:v>0.08034158246715689</c:v>
                </c:pt>
                <c:pt idx="32">
                  <c:v>0.0562405372323699</c:v>
                </c:pt>
                <c:pt idx="33">
                  <c:v>0.038195100989066276</c:v>
                </c:pt>
                <c:pt idx="34">
                  <c:v>0.025212564081914166</c:v>
                </c:pt>
                <c:pt idx="35">
                  <c:v>0.016206836710712817</c:v>
                </c:pt>
                <c:pt idx="36">
                  <c:v>0.010164378857716835</c:v>
                </c:pt>
                <c:pt idx="37">
                  <c:v>0.00623151758146567</c:v>
                </c:pt>
                <c:pt idx="38">
                  <c:v>0.0037416028438765556</c:v>
                </c:pt>
                <c:pt idx="39">
                  <c:v>0.0022043333267809254</c:v>
                </c:pt>
                <c:pt idx="40">
                  <c:v>0.0012765438103295211</c:v>
                </c:pt>
                <c:pt idx="41">
                  <c:v>0.0007279299406815827</c:v>
                </c:pt>
                <c:pt idx="42">
                  <c:v>0.000409415973023718</c:v>
                </c:pt>
                <c:pt idx="43">
                  <c:v>0.000227485478389053</c:v>
                </c:pt>
                <c:pt idx="44">
                  <c:v>0.00012505841144484726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 p-valor: las dos colas más allá de t = ±2.361</c:v>
                </c:pt>
              </c:strCache>
            </c:strRef>
          </c:tx>
          <c:spPr>
            <a:solidFill>
              <a:srgbClr val="E6115E">
                <a:alpha val="8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Sheet1!$A$2:$A$46</c:f>
              <c:multiLvlStrCache>
                <c:ptCount val="45"/>
                <c:lvl>
                  <c:pt idx="0">
                    <c:v/>
                  </c:pt>
                  <c:pt idx="1">
                    <c:v/>
                  </c:pt>
                  <c:pt idx="2">
                    <c:v>-4</c:v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-3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-2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-1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>0</c:v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>1</c:v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>3</c:v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4</c:v>
                  </c:pt>
                  <c:pt idx="43">
                    <c:v/>
                  </c:pt>
                  <c:pt idx="44">
                    <c:v/>
                  </c:pt>
                </c:lvl>
              </c:multiLvlStrCache>
            </c:multiLvlStr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0.00012505841144484726</c:v>
                </c:pt>
                <c:pt idx="1">
                  <c:v>0.000227485478389053</c:v>
                </c:pt>
                <c:pt idx="2">
                  <c:v>0.000409415973023718</c:v>
                </c:pt>
                <c:pt idx="3">
                  <c:v>0.0007279299406815827</c:v>
                </c:pt>
                <c:pt idx="4">
                  <c:v>0.0012765438103295211</c:v>
                </c:pt>
                <c:pt idx="5">
                  <c:v>0.0022043333267809254</c:v>
                </c:pt>
                <c:pt idx="6">
                  <c:v>0.0037416028438765556</c:v>
                </c:pt>
                <c:pt idx="7">
                  <c:v>0.00623151758146567</c:v>
                </c:pt>
                <c:pt idx="8">
                  <c:v>0.010164378857716835</c:v>
                </c:pt>
                <c:pt idx="9">
                  <c:v>0.016206836710712817</c:v>
                </c:pt>
                <c:pt idx="10">
                  <c:v>0.025212564081914166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0.025212564081914166</c:v>
                </c:pt>
                <c:pt idx="35">
                  <c:v>0.016206836710712817</c:v>
                </c:pt>
                <c:pt idx="36">
                  <c:v>0.010164378857716835</c:v>
                </c:pt>
                <c:pt idx="37">
                  <c:v>0.00623151758146567</c:v>
                </c:pt>
                <c:pt idx="38">
                  <c:v>0.0037416028438765556</c:v>
                </c:pt>
                <c:pt idx="39">
                  <c:v>0.0022043333267809254</c:v>
                </c:pt>
                <c:pt idx="40">
                  <c:v>0.0012765438103295211</c:v>
                </c:pt>
                <c:pt idx="41">
                  <c:v>0.0007279299406815827</c:v>
                </c:pt>
                <c:pt idx="42">
                  <c:v>0.000409415973023718</c:v>
                </c:pt>
                <c:pt idx="43">
                  <c:v>0.000227485478389053</c:v>
                </c:pt>
                <c:pt idx="44">
                  <c:v>0.00012505841144484726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valores del estadístico 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C3A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efecto grande  (d = 0.8)</c:v>
                </c:pt>
              </c:strCache>
            </c:strRef>
          </c:tx>
          <c:spPr>
            <a:solidFill>
              <a:srgbClr val="12B886"/>
            </a:solidFill>
            <a:ln w="38100" cap="flat">
              <a:solidFill>
                <a:srgbClr val="12B8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B886"/>
              </a:solidFill>
              <a:ln w="9525" cap="flat">
                <a:solidFill>
                  <a:srgbClr val="12B8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50</c:v>
                  </c:pt>
                  <c:pt idx="5">
                    <c:v>80</c:v>
                  </c:pt>
                  <c:pt idx="6">
                    <c:v>120</c:v>
                  </c:pt>
                  <c:pt idx="7">
                    <c:v>200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28.1</c:v>
                </c:pt>
                <c:pt idx="1">
                  <c:v>61.6</c:v>
                </c:pt>
                <c:pt idx="2">
                  <c:v>92.4</c:v>
                </c:pt>
                <c:pt idx="3">
                  <c:v>98.8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efecto mediano (d = 0.5)</c:v>
                </c:pt>
              </c:strCache>
            </c:strRef>
          </c:tx>
          <c:spPr>
            <a:solidFill>
              <a:srgbClr val="1A56E8"/>
            </a:solidFill>
            <a:ln w="38100" cap="flat">
              <a:solidFill>
                <a:srgbClr val="1A56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50</c:v>
                  </c:pt>
                  <c:pt idx="5">
                    <c:v>80</c:v>
                  </c:pt>
                  <c:pt idx="6">
                    <c:v>120</c:v>
                  </c:pt>
                  <c:pt idx="7">
                    <c:v>200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14.1</c:v>
                </c:pt>
                <c:pt idx="1">
                  <c:v>29.3</c:v>
                </c:pt>
                <c:pt idx="2">
                  <c:v>56.5</c:v>
                </c:pt>
                <c:pt idx="3">
                  <c:v>75.4</c:v>
                </c:pt>
                <c:pt idx="4">
                  <c:v>93.4</c:v>
                </c:pt>
                <c:pt idx="5">
                  <c:v>99.3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efecto pequeño (d = 0.2)</c:v>
                </c:pt>
              </c:strCache>
            </c:strRef>
          </c:tx>
          <c:spPr>
            <a:solidFill>
              <a:srgbClr val="E6115E"/>
            </a:solidFill>
            <a:ln w="38100" cap="flat">
              <a:solidFill>
                <a:srgbClr val="E611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50</c:v>
                  </c:pt>
                  <c:pt idx="5">
                    <c:v>80</c:v>
                  </c:pt>
                  <c:pt idx="6">
                    <c:v>120</c:v>
                  </c:pt>
                  <c:pt idx="7">
                    <c:v>200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6.4</c:v>
                </c:pt>
                <c:pt idx="1">
                  <c:v>8.8</c:v>
                </c:pt>
                <c:pt idx="2">
                  <c:v>13.6</c:v>
                </c:pt>
                <c:pt idx="3">
                  <c:v>18.5</c:v>
                </c:pt>
                <c:pt idx="4">
                  <c:v>28.4</c:v>
                </c:pt>
                <c:pt idx="5">
                  <c:v>42.4</c:v>
                </c:pt>
                <c:pt idx="6">
                  <c:v>58.4</c:v>
                </c:pt>
                <c:pt idx="7">
                  <c:v>80.4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tamaño de la muestra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12700" cap="flat">
              <a:solidFill>
                <a:srgbClr val="E1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potencia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C3A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 menos un falso positivo)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0A25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50</c:v>
                  </c:pt>
                  <c:pt idx="6">
                    <c:v>100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9.8</c:v>
                </c:pt>
                <c:pt idx="2">
                  <c:v>22.6</c:v>
                </c:pt>
                <c:pt idx="3">
                  <c:v>40.1</c:v>
                </c:pt>
                <c:pt idx="4">
                  <c:v>64.2</c:v>
                </c:pt>
                <c:pt idx="5">
                  <c:v>92.3</c:v>
                </c:pt>
                <c:pt idx="6">
                  <c:v>99.4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0A25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número de pruebas independientes al 5 %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1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promesa del cierre de la Clase 4: 'hoy van a ver que el intervalo de la clase pasada y la prueba de hoy son la misma cosa dicha con distinta gramática'. Y con la advertencia: 'el p-valor es el número más usado y peor entendido de toda la estadística. No vamos a aprender a calcularlo — eso es una línea de código. Vamos a aprender a no decir tonterías con él.'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que no es un tema nuevo. Muchos cursos presentan IC y pruebas como capítulos separados y los alumnos nunca conectan. Aquí la conexión es el eje: la slide 8 la demuestra con los mismos números de la clase pasada. La tarjeta oscura es el caso que resolveremos tres veces a lo largo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4 es el que se comprime si vienen retrasados. Los bloques 2 y 3 no se tocan: la dualidad IC-prueba y la potencia son lo que distingue esta clase de un tutorial de scipy.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leas las ocho. Lee H₀, H₁ y p-valor, y di que las otras cinco están ahí para volver durante el laboratorio. La regla del pie es la más útil de la slide y hay que decirla mirando al grupo: H₀ es siempre lo aburrido. «El tratamiento no funciona», «la tasa no cambió», «los dos grupos son iguales». Si tu H₀ suena interesante, la invertiste.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del juicio funciona en cualquier grupo y vale los 90 segundos. Lo importante es el remate: absuelto ≠ inocente. Las tres tarjetas de abajo son las frases que van a leer en informes reales, incluidos los suyos. Si el grupo es de riesgo: la frase 'el modelo no muestra sesgo' suele significar 'no lo detectamos con la muestra que usamos', y son cosas muy distintas ante un regulador.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los cinco con el puntero y detente en el 5: 'decide Y REDACTA'. El paso que todos omiten es reportar el efecto y el intervalo. Un informe que dice solo 'p &lt; 0.05' es un informe incompleto y hoy aprenden por qué. La tarjeta oscura del final es la semilla del p-hacking; anúnciala y déjala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 el cálculo del segundo caso en la pizarra: (3125 − 2300) / 349.43 = 2.361. Es la misma aritmética del z de la Clase 3. El punto de la tabla: la muestra es idéntica en las dos filas. El p-valor no es una propiedad de tus datos, es una propiedad de la pareja (datos, hipótesis). Mucha gente habla del p-valor como si midiera la calidad de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hace que la clase valga la pena para quien ya vio pruebas de hipótesis. Muéstrala en silencio unos segundos y luego recorre la recta con el puntero: el verde está dentro, el magenta está fuera. Después lee la tarjeta oscura despejando la desigualdad en voz alta. Consecuencia práctica que vale decir: si reportas el intervalo, ya reportaste el resultado de TODAS las pruebas posibles, y encima informas del tamaño del efecto. Por eso muchas revistas exigen intervalos y no p-valores.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 tarjeta oscura literalmente y luego repite: 'todo lo que no está en esa frase, no es el p-valor'. Es el gancho para la slide 10. Señala el área magenta: es diminuta, y eso es lo que significa 2.3 %. La tarjeta del ×2 es donde se hace trampa con más frecuencia: elegir una cola después de ver el signo del efecto duplica tu tasa de falsos positivos sin que se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1 merece 90 segundos y la analogía del test médico del pie, que lo hace evidente: si una enfermedad afecta a 1 en 10 000 y el test tiene 99 % de sensibilidad y especificidad, un positivo da apenas ~1 % de probabilidad de estar enfermo. Mismo error de invertir el condicional. El error 3 es el que produce daño en empresas con muchos datos, y es la slide 14. El error 4: pide que a partir de hoy reporten p = 0.043, no 'p &lt; 0.05'.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El dato que engancha es el institucional: una asociación profesional emitiendo su primera declaración sobre un método en más de siglo y medio. Eso comunica la magnitud del problema mejor que cualquier argumento técnico. La tarjeta oscura final es la que hay que decir despacio, porque es la traducción a su trabajo: el sesgo de publicación existe dentro de las empresas y ahí nadie replica nada. Si preguntan por los números exactos de las replicaciones, no los inventes: di que las cifras varían por campo y por criterio de replicación, y que lo relevante es el orden de magnitud del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2×2 es estándar; el valor está en los dos ejemplos y en la tarjeta final. Pregunta al grupo: '¿cuál de los dos errores les cuesta más en su trabajo?'. En fraude la respuesta suele ser el tipo II, y sin embargo todos los controles están puestos sobre el tipo I. Esa contradicción es el punto de la slide. Y remata: bajar α sube β. No se pueden minimizar los dos a la vez con la misma n; lo único que rompe el trade-off es más muestra.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curva magenta: con n=30 y un efecto pequeño la potencia es del 18.5 %. Es decir, 4 de cada 5 veces el estudio no vería el efecto aunque exista. Y el investigador escribiría 'no encontramos diferencias'. Ese es el diagnóstico de una parte enorme de la literatura y de los análisis internos que verán. La tabla de la derecha es la herramienta operativa: 15, 34, 199. Vale que anoten esos tres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columna del p-valor de arriba abajo y detente en n = 400: es ahí donde cruza. Pregunta: '¿cambió el efecto entre la fila 1 y la fila 6?'. No: sigue siendo 0.10. Lo único que cambió fue n. Con sus 40 000 filas, todo va a salir significativo, y por eso el p-valor casi no les sirve como criterio de decisión. La frase de cierre: la pregunta correcta es cuántos soles, no si p es menor que 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La fuerza del caso es que el método quedó descrito por el propio investigador en un texto público: no hay que interpretar intenciones. Las cuatro tarjetas de abajo son el contenido operativo: pide que levanten la mano quienes hayan hecho la número 4 (buscar subgrupos). Se levantan muchas manos, y sin mala intención. Ese es el punto: el p-hacking no requiere deshonestidad, solo requiere curiosidad sin registro previo. Si preguntan por el número exacto de retractaciones, di que fueron más de una decena y que la cifra siguió moviéndose; no inventes un número redondo.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 y da 20 segundos de silencio. Después señala solo dos filas: la t de Welch (porque el default de scipy es el equivocado y casi nadie lo cambia) y la última (no paramétricas). La tarjeta oscura es el cierre conceptual: muchas pruebas en informes corporativos no responden ninguna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habla solo: con 20 pruebas la probabilidad de al menos un falso positivo es del 64 %, no del 5 %. La tarjeta de abajo a la izquierda es la que les toca: el dashboard de 30 métricas produce un falso hallazgo y medio cada mes, y alguien lo va a presentar como tendencia. De las tres correcciones, la única que hay que recordar como default es Holm; FDR cuando son cientos. Bonferroni se nombra porque es la que todos conocen.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1 es el más frecuente en informes internos; el 2 es el más frecuente cuando hay muchos datos, que es su caso. Si el tiempo aprieta, di el 1 y el 4 y pasa al Colab: los cuatro están escritos.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el enlace acá, no antes. Trabajan en parejas. Recorre el aula durante el bloque 2: la dualidad se entiende cuando la ven salir de su propio código, y ahí es donde se traban con el bucle sobre μ₀. El bloque 5 es el que van a recordar en un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más práctica de la sesión y la que más rápido cambia su trabajo. Lee las dos versiones en voz alta, una después de la otra: el contraste convence sin argumentar. Y remata: el sexto punto ('cuántas pruebas corriste') es el que casi nadie escribe y el único que permite a un tercero juzgar si el resultado es creíble.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checklist y pide pulgares en cada punto. El punto crítico es el segundo: si no pueden enunciar qué dice un p-valor, vuelve 20 segundos a la tarjeta oscura de la slide 9 y repítela. El reto es de campo y va a producir la mejor conversación de la Clase 6: casi nadie va a poder contestar las tres preguntas, y descubrir eso sobre informes de su propia organización es más persuasivo que cualquier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74459" y="6125882"/>
            <a:ext cx="58522" cy="59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32752" y="6125592"/>
            <a:ext cx="58522" cy="88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1045" y="6125175"/>
            <a:ext cx="58522" cy="13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9338" y="6124581"/>
            <a:ext cx="58522" cy="18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07631" y="6123745"/>
            <a:ext cx="58522" cy="27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65924" y="6122580"/>
            <a:ext cx="58522" cy="39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4217" y="6120973"/>
            <a:ext cx="58522" cy="55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2510" y="6118781"/>
            <a:ext cx="58522" cy="76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0803" y="6115824"/>
            <a:ext cx="58522" cy="1065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9096" y="6111879"/>
            <a:ext cx="58522" cy="146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7389" y="6106672"/>
            <a:ext cx="58522" cy="198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5682" y="6099875"/>
            <a:ext cx="58522" cy="266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3975" y="6091102"/>
            <a:ext cx="58522" cy="3537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2268" y="6079903"/>
            <a:ext cx="58522" cy="4657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90561" y="6065771"/>
            <a:ext cx="58522" cy="6070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8854" y="6048137"/>
            <a:ext cx="58522" cy="7834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7147" y="6026387"/>
            <a:ext cx="58522" cy="10009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5440" y="5999872"/>
            <a:ext cx="58522" cy="1266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3733" y="5967926"/>
            <a:ext cx="58522" cy="15855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82026" y="5929894"/>
            <a:ext cx="58522" cy="19658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0319" y="5885166"/>
            <a:ext cx="58522" cy="24131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8612" y="5833209"/>
            <a:ext cx="58522" cy="29327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905" y="5773611"/>
            <a:ext cx="58522" cy="35286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5198" y="5706126"/>
            <a:ext cx="58522" cy="420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3491" y="5630717"/>
            <a:ext cx="58522" cy="4957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1784" y="5547599"/>
            <a:ext cx="58522" cy="57888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0077" y="5457270"/>
            <a:ext cx="58522" cy="66921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48370" y="5360545"/>
            <a:ext cx="58522" cy="76593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6663" y="5258562"/>
            <a:ext cx="58522" cy="86791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64956" y="5152786"/>
            <a:ext cx="58522" cy="9736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3249" y="5044987"/>
            <a:ext cx="58522" cy="10814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1542" y="4937207"/>
            <a:ext cx="58522" cy="11892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9835" y="4831698"/>
            <a:ext cx="58522" cy="129478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98128" y="4730855"/>
            <a:ext cx="58522" cy="139562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6421" y="4637126"/>
            <a:ext cx="58522" cy="1489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4714" y="4552917"/>
            <a:ext cx="58522" cy="15735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73007" y="4480490"/>
            <a:ext cx="58522" cy="164599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31300" y="4421860"/>
            <a:ext cx="58522" cy="170462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89593" y="4378707"/>
            <a:ext cx="58522" cy="17477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7886" y="4352293"/>
            <a:ext cx="58522" cy="1774187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06179" y="4343400"/>
            <a:ext cx="58522" cy="178308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64472" y="4352293"/>
            <a:ext cx="58522" cy="1774187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2765" y="4378707"/>
            <a:ext cx="58522" cy="17477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81058" y="4421860"/>
            <a:ext cx="58522" cy="170462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39351" y="4480490"/>
            <a:ext cx="58522" cy="164599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97644" y="4552917"/>
            <a:ext cx="58522" cy="15735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55937" y="4637126"/>
            <a:ext cx="58522" cy="1489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14230" y="4730855"/>
            <a:ext cx="58522" cy="139562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72523" y="4831698"/>
            <a:ext cx="58522" cy="129478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30816" y="4937207"/>
            <a:ext cx="58522" cy="11892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9109" y="5044987"/>
            <a:ext cx="58522" cy="10814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47402" y="5152786"/>
            <a:ext cx="58522" cy="9736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05695" y="5258562"/>
            <a:ext cx="58522" cy="86791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63988" y="5360545"/>
            <a:ext cx="58522" cy="76593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22281" y="5457270"/>
            <a:ext cx="58522" cy="66921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80574" y="5547599"/>
            <a:ext cx="58522" cy="57888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38867" y="5630717"/>
            <a:ext cx="58522" cy="4957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97160" y="5706126"/>
            <a:ext cx="58522" cy="420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55453" y="5773611"/>
            <a:ext cx="58522" cy="35286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13746" y="5833209"/>
            <a:ext cx="58522" cy="29327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72039" y="5885166"/>
            <a:ext cx="58522" cy="24131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30332" y="5929894"/>
            <a:ext cx="58522" cy="19658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88625" y="5967926"/>
            <a:ext cx="58522" cy="15855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46918" y="5999872"/>
            <a:ext cx="58522" cy="1266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05211" y="6026387"/>
            <a:ext cx="58522" cy="10009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63504" y="6048137"/>
            <a:ext cx="58522" cy="7834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721797" y="6065771"/>
            <a:ext cx="58522" cy="6070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80090" y="6079903"/>
            <a:ext cx="58522" cy="4657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38383" y="6091102"/>
            <a:ext cx="58522" cy="3537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96676" y="6099875"/>
            <a:ext cx="58522" cy="266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954969" y="6106672"/>
            <a:ext cx="58522" cy="198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13262" y="6111879"/>
            <a:ext cx="58522" cy="146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71555" y="6115824"/>
            <a:ext cx="58522" cy="1065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29848" y="6118781"/>
            <a:ext cx="58522" cy="76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188141" y="6120973"/>
            <a:ext cx="58522" cy="55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46434" y="6122580"/>
            <a:ext cx="58522" cy="39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304727" y="6123745"/>
            <a:ext cx="58522" cy="27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363020" y="6124581"/>
            <a:ext cx="58522" cy="18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21313" y="6125175"/>
            <a:ext cx="58522" cy="13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479606" y="6125592"/>
            <a:ext cx="58522" cy="88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537899" y="6125882"/>
            <a:ext cx="58522" cy="59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03720" y="6126480"/>
            <a:ext cx="4663440" cy="0"/>
          </a:xfrm>
          <a:prstGeom prst="line">
            <a:avLst/>
          </a:prstGeom>
          <a:noFill/>
          <a:ln w="12700">
            <a:solidFill>
              <a:srgbClr val="3A6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03720" y="6199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colas: el p-valor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85800" y="11887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58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CLASE 5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68580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gramática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duda</a:t>
            </a:r>
            <a:endParaRPr lang="en-US" sz="4400" dirty="0"/>
          </a:p>
        </p:txBody>
      </p:sp>
      <p:sp>
        <p:nvSpPr>
          <p:cNvPr id="88" name="Text 86"/>
          <p:cNvSpPr/>
          <p:nvPr/>
        </p:nvSpPr>
        <p:spPr>
          <a:xfrm>
            <a:off x="713232" y="3566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hipótesis, el p-valor, los errores tipo I y II,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y el problema de hacer muchas pruebas a la vez.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713232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13232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3502152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bloques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3502152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laboratorio en Colab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6291072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6291072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y notebook coinciden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pregunta, otra gramática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la Clase 4 y la prueba de hoy no son dos temas: son dos formas de decir lo mismo.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1664208"/>
          </a:xfrm>
          <a:prstGeom prst="roundRect">
            <a:avLst>
              <a:gd name="adj" fmla="val 329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promedio del mes está entre S/ 2 418 y S/ 3 832.»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Respondes con un rango de valores compatibles con tus datos.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22392" cy="1664208"/>
          </a:xfrm>
          <a:prstGeom prst="roundRect">
            <a:avLst>
              <a:gd name="adj" fmla="val 329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24323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2834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«¿Es compatible mi muestra con que el promedio sea S/ 2 300?»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Respondes sí o no a un valor concreto que alguien propuso.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788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078224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equivalencia exacta, que verás demostrada en la slide 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4439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está fuera de tu intervalo de confianza al 95 % ⟺ ese valor se rechaza en una prueba bilateral al 5 %. No es una analogía ni una regla mnemotécnica: es la misma desigualdad despejada de dos maneras.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987552"/>
          </a:xfrm>
          <a:prstGeom prst="roundRect">
            <a:avLst>
              <a:gd name="adj" fmla="val 555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4589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5358384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abre la clase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70585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afirma que el monto promedio del mes fue S/ 2 300. Tú revisaste 40 transacciones y te salió S/ 3 125. ¿Tienes evidencia suficiente para contradecirlos, o tu diferencia cabe dentro de lo que el azar del muestreo explica?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de construcción conceptual · 65 min de laboratorio en Colab · 10 min de cierre.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3152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206240"/>
                <a:gridCol w="7772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lógica de la prueba y los cinco pasos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estadístico, la dualidad con el IC y el 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+ 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tipo I y II · potencia · tamaño del 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Comparaciones múltiples y qué prueba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guiado en Colab (5 bloques)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Cierre, checklist y reto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64608"/>
            <a:ext cx="731520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111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010912"/>
            <a:ext cx="6528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honesta sobre esta clase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3766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un p-valor es una línea de código y lo dominarás en el bloque 1 del Colab. El resto de la sesión trata de algo más difícil: no decir tonterías con él. La mitad de las slides de hoy son sobre lo que el p-valor NO dice.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2011680"/>
            <a:ext cx="3547872" cy="2697480"/>
          </a:xfrm>
          <a:prstGeom prst="roundRect">
            <a:avLst>
              <a:gd name="adj" fmla="val 203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3932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221284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39328" y="260604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H₀ y H₁ sin equivocarte de dirección.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un p-valor con precisión de auditoría.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potencia antes de correr el estudio.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«significativo» de «importante».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cuando haces muchas pruebas.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92440" y="4864608"/>
            <a:ext cx="3547872" cy="1316736"/>
          </a:xfrm>
          <a:prstGeom prst="roundRect">
            <a:avLst>
              <a:gd name="adj" fmla="val 41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39328" y="51297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77072" y="50292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39328" y="5413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4: el error estándar, la t y qué significa «95 %». Sin eso, el p-valor de hoy es magia.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1 a 4 suman 45 min de exposición efectiva; el material extra de las slides queda como apoyo de estudio.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FÓRMULA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Diccionario: ocho términos y ninguno es opcional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aparece hoy en una frase que podrías tener que defender ante un auditor.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75104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2121408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1214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2264" y="20939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«hache cero»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12264" y="233172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nula. Lo que se asume verdadero hasta que la evidencia diga lo contrario. Siempre contiene una igualdad.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75104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2121408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1214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81544" y="20939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«hache uno»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81544" y="233172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alternativa. Lo que sostienes tú. Es la que quieres demostrar y la que nunca se «prueba», solo se apoya.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191256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191256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2264" y="31638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«alfa»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12264" y="3401568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rechazar H₀ siendo verdadera. La eliges tú antes de ver los datos. Casi siempre 0.05.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44952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3191256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191256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81544" y="31638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«beta»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81544" y="3401568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NO rechazar H₀ siendo falsa. Casi nadie la calcula, y ahí está el problema.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4261104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2611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112264" y="42336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12264" y="4471416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detectar un efecto que sí existe. El estándar profesional es 80 % o más.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4261104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42611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81544" y="42336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«pe»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81544" y="4471416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H₀ fuera verdadera, la probabilidad de ver datos así de extremos o más. Nada más que eso.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184648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" y="5330952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53309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112264" y="5303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z, χ², 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12264" y="5541264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que resume tu muestra en una sola cifra comparable con una distribución conocida.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184648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5330952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53309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781544" y="5303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de Cohen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81544" y="5541264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la diferencia, en desviaciones estándar. Es lo que el p-valor NO te dice.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que evita el 90 % de los errores de planteamiento: H₀ es siempre la hipótesis del «no pasa nada». Si tu H₀ es interesante, la planteaste al revés.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argumenta al revés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de hipótesis no demuestra lo que quieres. Intenta hacer insostenible lo contrario.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68112" cy="2286000"/>
          </a:xfrm>
          <a:prstGeom prst="roundRect">
            <a:avLst>
              <a:gd name="adj" fmla="val 24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494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4884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del juicio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es el acusado y entra con presunción de inocencia. Tú eres el fiscal: presentas evidencia (tus datos) e intentas mostrar que es implausible bajo esa presunción.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evidencia es fuerte, se rechaza H₀. Si no lo es, H₀ queda absuelta.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ahí está el detalle que casi nadie respeta: absuelto no significa inocente, significa que no hubo evidencia suficiente.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681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494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14884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frases que sí puedes escribir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257860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rechazas H₀: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19088" y="279806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«Los datos son incompatibles con que la tasa no haya cambiado (p = 0.02).»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325526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rechazas H₀: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9088" y="347472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encontramos evidencia suficiente de un cambio (p = 0.36). Con n = 40 y esta variabilidad, solo podríamos haber detectado diferencias mayores a X.»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572000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572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0817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«Demostramos que H₀ es verdadera»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4992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rechazar no es demostrar. Una muestra chica no rechaza casi nada.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40740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4572000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4572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5721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hay diferencia»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98848" y="4992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Correcto: no la detectaste. Con esa n, quizá no podías.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440740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4572000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4572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0625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efecto es cero»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47888" y="4992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estimaste que fuera cero; solo no descartaste que lo sea.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8887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asimetría es deliberada: el método está construido para controlar el error de afirmar algo falso, no el de no darse cuenta de algo verdadero. Ese segundo error es la slide 12.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pasos de cualquier prueba de hipótesis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prueba que verás en tu vida — t, χ², F, Mann-Whitney — es esta misma receta con otro estadístico.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76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0756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 H₀ y H₁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mirar los datos. H₀ lleva la igualdad; H₁ es lo que sostienes.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89720" y="204825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H₀: μ = 2 300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H₁: μ ≠ 2 300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8986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3192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antes. Es tu tolerancia a equivocarte afirmando. Cambiarla después es trampa.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89720" y="287121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0.05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22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7216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estadístico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31920" y="374904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 muestra en un número comparable con una distribución conocida.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9720" y="369417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2.361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645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5445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Obtén el p-valor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931920" y="45720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ver algo así de extremo si H₀ fuera verdadera.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451713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0.0233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468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3675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 redacta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931920" y="53949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α → rechazas. Y reportas siempre el efecto y el intervalo, no solo el veredicto.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89720" y="53400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61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0.05 → se rechaza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14476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1447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 y 2 van ANTES de ver los datos. Si los decides después, el p-valor deja de significar lo que dice significar — y eso es la slide 15.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ESTADÍSTICO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número: ¿a cuántos errores estándar estoy de H₀?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z de la Clase 3, con dos cambios: el centro lo pone H₀ y el denominador es el error estándar.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=  ( x̄  −  μ₀ )  /  ( s / √n 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− μ₀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que observaste. μ₀ es el valor que H₀ propone, no un dato tuyo.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/ √n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estándar de la Clase 4. Convierte la diferencia en «unidades de ruido muestral».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0508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cociente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 diferencia vale 2.36 errores estándar.» Comparable con la t, sin importar la unidad original.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1371600"/>
                <a:gridCol w="1645920"/>
                <a:gridCol w="32278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propone que μ₀ 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observada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bilateral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a α =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2 800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rechaza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2 300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825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rechaza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587044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587044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muestra (n = 40, x̄ = S/ 3 125, s = S/ 2 210, EE = 349.43) y dos veredictos opuestos. Lo único que cambió fue la afirmación que estábamos poniendo a prueba.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EQUIVALENCIA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la Clase 4 ya contenía todas las pruebas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intervalo de confianza es el conjunto de todos los valores que una prueba NO rechazaría.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3035808"/>
            <a:ext cx="10241280" cy="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2 000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6865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1105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2 200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67891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2131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2 400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8916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3156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2 600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9942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4182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2 800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0967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5207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91993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6233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3 200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23018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7258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3 400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54044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8284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85069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9309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316095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50335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4 000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247120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0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4 200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52635" y="2633472"/>
            <a:ext cx="6580446" cy="402336"/>
          </a:xfrm>
          <a:prstGeom prst="rect">
            <a:avLst/>
          </a:prstGeom>
          <a:solidFill>
            <a:srgbClr val="C9D8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2635" y="2633472"/>
            <a:ext cx="65804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confianza al 95 %  ·  zona de NO rechazo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52635" y="2523744"/>
            <a:ext cx="0" cy="512064"/>
          </a:xfrm>
          <a:prstGeom prst="line">
            <a:avLst/>
          </a:prstGeom>
          <a:noFill/>
          <a:ln w="31750">
            <a:solidFill>
              <a:srgbClr val="1A5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9715" y="2249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2 418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33081" y="2523744"/>
            <a:ext cx="0" cy="512064"/>
          </a:xfrm>
          <a:prstGeom prst="line">
            <a:avLst/>
          </a:prstGeom>
          <a:noFill/>
          <a:ln w="31750">
            <a:solidFill>
              <a:srgbClr val="1A56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0161" y="2249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3 832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4278" y="296722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7058" y="1993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3 125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2858" y="2249424"/>
            <a:ext cx="0" cy="256032"/>
          </a:xfrm>
          <a:prstGeom prst="line">
            <a:avLst/>
          </a:prstGeom>
          <a:noFill/>
          <a:ln w="12700">
            <a:solidFill>
              <a:srgbClr val="0A255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729942" y="2944368"/>
            <a:ext cx="0" cy="18288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9942" y="3438144"/>
            <a:ext cx="0" cy="512064"/>
          </a:xfrm>
          <a:prstGeom prst="line">
            <a:avLst/>
          </a:prstGeom>
          <a:noFill/>
          <a:ln w="28575">
            <a:solidFill>
              <a:srgbClr val="12B88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769822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2 800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0.3581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02378" y="2944368"/>
            <a:ext cx="0" cy="182880"/>
          </a:xfrm>
          <a:prstGeom prst="line">
            <a:avLst/>
          </a:prstGeom>
          <a:noFill/>
          <a:ln w="28575">
            <a:solidFill>
              <a:srgbClr val="E611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02378" y="3438144"/>
            <a:ext cx="0" cy="512064"/>
          </a:xfrm>
          <a:prstGeom prst="line">
            <a:avLst/>
          </a:prstGeom>
          <a:noFill/>
          <a:ln w="28575">
            <a:solidFill>
              <a:srgbClr val="E6115E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442258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2 300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0.0233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645152"/>
            <a:ext cx="5422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" y="47914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2 800 cae DENTRO del intervalo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86384" y="50474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prueba da p = 0.3581, que es mayor que 0.05: no se rechaza. Las dos herramientas dicen lo mismo.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4645152"/>
            <a:ext cx="5422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55664" y="47914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2 300 cae FUERA del intervalo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55664" y="50474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prueba da p = 0.0233, que es menor que 0.05: se rechaza. Otra vez coinciden, y no por casualidad.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5870448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" y="608076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" y="5980176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la misma desigualdad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04672" y="6291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Rechazas cuando |x̄ − μ₀| / EE &gt; t crítico, es decir cuando |x̄ − μ₀| &gt; t·EE. El intervalo es exactamente x̄ ± t·EE. Así que «μ₀ fuera del intervalo» y «se rechaza H₀» son la misma condición escrita de dos maneras.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exactamente, dibujado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 las colas de la distribución que tendrías SI H₀ fuera verdadera.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38528"/>
          <a:ext cx="7269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32120" y="34015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área, y su gemela de la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izquierda, son el p-valor  ↓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0" y="1938528"/>
            <a:ext cx="3593592" cy="1572768"/>
          </a:xfrm>
          <a:prstGeom prst="roundRect">
            <a:avLst>
              <a:gd name="adj" fmla="val 348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93608" y="22037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10312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definición, completa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93608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Suponiendo que H₀ es verdadera, la probabilidad de obtener un estadístico igual o más extremo que el que obtuviste.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no está en esa frase, no es el p-valor.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361188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93608" y="38679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1352" y="37673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nuestros números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93608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observado = 2.361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derecha = 0.01166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(es bilateral) = 0.0233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magenta vale 2.33 % del total.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321808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55504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5449824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multiplica por dos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4672" y="57790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H₁ dice «μ ≠ 2 300», no «μ &gt; 2 300». Una diferencia igual de grande en la otra dirección también contaría como evidencia. Si tu hipótesis tiene dirección (μ &gt; 2 300), usas una sola cola y el p-valor se parte a la mitad — pero la dirección se declara ANTES, nunca después de ver el signo.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CHICA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cosas que el p-valor no 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aparecen en informes revisados por pares. Vale memorizar la diferencia.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1762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762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213969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que H₀ sea verdadera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67919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se calcula ASUMIENDO H₀. No puede a la vez medir su probabilidad. Es P(datos | H₀), no P(H₀ | datos). Invertir un condicional es el error lógico más caro de la estadística aplicada.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93392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1762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1762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213969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haberse equivocado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267919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0.03 no significa «hay 3 % de chance de que mi conclusión sea falsa». La proporción de conclusiones falsas depende también de cuántas hipótesis falsas estabas probando y de la potencia.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6110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611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45920" y="4224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medida del tamaño del efecto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476402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 diminuto puede venir de un efecto irrelevante medido con n enorme. Con n = 25 600, una diferencia de 0.1 desviaciones da p &lt; 0.000001. La slide 14.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078224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426110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42611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0" y="4224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umbral con sentido físico en 0.05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476402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0.049 y p = 0.051 son evidencia prácticamente idéntica. El 0.05 es una convención de Fisher, no una frontera de la naturaleza. Reporta el valor, no solo si cruzó.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es el que importa: P(datos | H₀) ≠ P(H₀ | datos). Un test médico con 99 % de sensibilidad no da 99 % de probabilidad de enfermedad — es el mismo error de inversión.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2016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asociación de estadísticos tuvo que salir a aclarar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177 años de historia, la American Statistical Association nunca había emitido una declaración sobre un método. Con el p-valor lo hizo.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8580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30552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6355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2015 la llamada crisis de replicación ya era imposible de ignorar: proyectos de replicación a gran escala en psicología y en biomedicina encontraron que una fracción importante de resultados publicados y «estadísticamente significativos» no se reproducía al repetir los experimentos.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2016 la ASA publicó una declaración formal sobre el uso del p-valor. Sus puntos centrales son, en resumen: el p-valor no mide la probabilidad de que la hipótesis estudiada sea verdadera; no mide el tamaño ni la importancia de un efecto; y las decisiones científicas o de negocio no deberían basarse solo en si cruza un umbral.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decir: la profesión tuvo que escribir en un documento oficial exactamente lo que acabas de ver en la slide anterior.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1965960"/>
            <a:ext cx="4096512" cy="1143000"/>
          </a:xfrm>
          <a:prstGeom prst="roundRect">
            <a:avLst>
              <a:gd name="adj" fmla="val 48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0688" y="22128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8432" y="211226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dijo la ASA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90688" y="24597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dijo que el p-valor esté mal ni que haya que abandonarlo. Dijo que se usa mal y solo.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3200400"/>
            <a:ext cx="409651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0688" y="3447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334670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recomendó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90688" y="369417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el tamaño del efecto, el intervalo de confianza, la potencia y todo lo que probaste — no solo lo que salió significativo.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7914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690872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te toca aunque no publiques papers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5056632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que rompió la literatura científica es el mismo que opera en un equipo de datos: probar muchas cosas, reportar las que salieron significativas y no mencionar las que no. En un paper eso se llama sesgo de publicación; en una empresa se llama «el dashboard de la iniciativa que funcionó».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 que en ciencia alguien intenta replicar. En una empresa, casi nunca.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Wasserstein, R. L. y Lazar, N. A. (2016), «The ASA Statement on p-Values: Context, Process, and Purpose», The American Statistician 70(2).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ERRORES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equivocarte de dos maneras, y solo controlas una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la eliges tú. β la sufres sin enterarte, salvo que te sientes a calcularla.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2544"/>
                <a:gridCol w="436168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es verdadera en realidad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es falsa en realidad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Rechazas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TIPO I  ·  probabilidad 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Afirmas algo que no es cierto.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Acierto  ·  probabilidad 1 − 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 es la POTENCIA.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rechazas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Acierto  ·  probabilidad 1 − 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TIPO II  ·  probabilidad 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ves algo que sí estaba.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5422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" y="44165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  ·  falso positivo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46817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una transacción legítima como fraude. Molestas a un cliente bueno y quemas horas del equipo de revisión.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4251960"/>
            <a:ext cx="5422392" cy="1207008"/>
          </a:xfrm>
          <a:prstGeom prst="roundRect">
            <a:avLst>
              <a:gd name="adj" fmla="val 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55664" y="44165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II  ·  falso negativo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55664" y="46817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Dejas pasar un fraude real. No aparece en ningún reporte, porque nadie sabe que ocurrió.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5961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58247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724144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asimetría que hay que ver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605332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tipo I es visible y se audita: alguien reclama. El tipo II es invisible, porque no deja rastro. Por eso las organizaciones tienden a fijar α con obsesión y a no calcular nunca β — y por eso conviene invertir el reflejo y preguntar siempre: ¿qué me habría costado no verlo?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casi nadie hace: ¿podía mi estudio detectarlo?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potencia es del 20 %, no rechazar H₀ no significa nada. Estabas condenado a no ver.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965960"/>
            <a:ext cx="40050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82128" y="22128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11226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potencia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82128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rechazar H₀ cuando H₀ es falsa. Es decir: de detectar un efecto que sí existe.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3310128"/>
          <a:ext cx="4005072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960120"/>
                <a:gridCol w="1508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para 80 %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Pequeño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635240" y="4828032"/>
            <a:ext cx="4005072" cy="1280160"/>
          </a:xfrm>
          <a:prstGeom prst="roundRect">
            <a:avLst>
              <a:gd name="adj" fmla="val 428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82128" y="507492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19872" y="497433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 práctica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882128" y="53218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detectar un efecto pequeño con 80 % de potencia necesitas n = 199. Con n = 30 tu potencia es del 19 %: el estudio está diseñado para fracasar.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5285232"/>
            <a:ext cx="6858000" cy="82296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5285232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se calcula ANTES de recolectar datos, no después. Calcularla después para justificar un resultado nulo tiene nombre propio y mala fama: potencia observada.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exacta para una prueba t de una muestra, bilateral, α = 0.05, calculada con la t no central (statsmodels.stats.power.TTestPower).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 ≠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suficientes datos, todo se vuelve significativo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efecto irrelevante, medido con más y más muestra. Mira cuándo cruza el umbral.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371600"/>
                <a:gridCol w="1737360"/>
                <a:gridCol w="1828800"/>
                <a:gridCol w="36850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d·√n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bilateral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¿Significativo?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¿Le importa a alguien?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25 600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89204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791456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tabla demuestra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120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no mide el efecto: mide el efecto MÁS la muestra. Con n grande, cualquier diferencia distinta de cero cruza el umbral.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663440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89204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791456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 de Cohen, en una línea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5120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(diferencia observada) / (desviación estándar). Referencias habituales: 0.2 pequeño, 0.5 mediano, 0.8 grande. Son convenciones, no leyes.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7150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58978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797296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esto te toca más que a un académico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6089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trabajas con 40 000 filas. En ese régimen, la significancia estadística deja de ser informativa: casi todo sale significativo. La pregunta útil pasa a ser el tamaño del efecto y su intervalo — «¿cuántos soles?», no «¿p &lt; 0.05?».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2016-2018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que buscaba hasta encontrar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documentado de p-hacking donde el propio investigador describió el método en su blog.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8580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30552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6355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Wansink dirigía un laboratorio de comportamiento alimentario muy conocido y muy citado en Cornell. En 2016 publicó una entrada de blog en la que elogiaba la persistencia de una investigadora: un estudio no había dado resultados, y ella había seguido analizando los datos, dividiéndolos de distintas maneras, hasta encontrar asociaciones publicables.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que leyeron esa descripción reconocieron el procedimiento: no era persistencia, era buscar hasta encontrar. Si haces suficientes cortes, el azar te entrega un p &lt; 0.05 sin que exista ningún efecto.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escrutinio posterior sobre su producción derivó en múltiples correcciones y en más de una decena de retractaciones, y en 2018 dejó su puesto.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1965960"/>
            <a:ext cx="4096512" cy="1207008"/>
          </a:xfrm>
          <a:prstGeom prst="roundRect">
            <a:avLst>
              <a:gd name="adj" fmla="val 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0688" y="22128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8432" y="211226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mecanismo, sin misterio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90688" y="245973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corte adicional de los datos es una prueba más. Y cada prueba más sube la probabilidad de un falso positivo. La slide 17 lo cuantifica.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3264408"/>
            <a:ext cx="4096512" cy="1216152"/>
          </a:xfrm>
          <a:prstGeom prst="roundRect">
            <a:avLst>
              <a:gd name="adj" fmla="val 451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0688" y="35112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341071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fue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90688" y="375818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hubo, en lo que se hizo público, invención de datos. Fue un uso incorrecto de un método correcto — y eso es lo que lo hace útil como advertencia.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y no reportar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 15 análisis y publicas los 2 que salieron. Los 13 restantes no aparecen.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38728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59352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cuando conviene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38728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Recolectas datos y revisas el p-valor cada semana. Paras el día que baja de 0.05.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hipótesis después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el signo del efecto y entonces decides que la prueba era de una cola.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70264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53144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144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73768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subgrupos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53144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salió en general, pero sí en mujeres de 30 a 40 en agencias del norte.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antídoto es de proceso, no de estadística: declara las hipótesis y el plan de análisis antes de ver los datos, y reporta todo lo que probaste.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prueba usar según lo que preguntas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memorizarlas. Hay que saber leer esta tabla y buscar la función.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651760"/>
                <a:gridCol w="29535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scipy / statsmodels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Ojo con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 media difiere de un valor?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de una muestra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stats.ttest_1samp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Asimetría fuerte con n chico (Clase 4).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¿Difieren las medias de dos grupos?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de Welch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ttest_ind(..., equal_var=False)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default de scipy asume varianzas iguales: cámbialo.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¿Cambió antes vs después, mismos sujetos?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emparejada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stats.ttest_rel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la de dos muestras aquí desperdicia potencia.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¿Difieren dos proporciones?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de proporciones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proportions_ztest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Tasas muy bajas: mejor exacta de Fisher.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¿Están asociadas dos variables categóricas?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independencia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stats.chi2_contingency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Frecuencias esperadas &lt; 5 en varias celdas.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¿Difieren tres o más grupos?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/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stats.f_oneway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rechaza, aún no sabes cuál: hay que comparar (slide 17).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 datos no son normales y n es chico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· Wilcoxon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mannwhitneyu · wilcoxon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Comparan distribuciones, no exactamente medias.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3309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230368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va antes de elegir la prueba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vas a tomar con el resultado? Si la respuesta es «ninguna, es para el informe», no necesitas una prueba: necesitas describir bien. Las pruebas existen para decidir bajo incertidumbre, no para adornar una diapositiva.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MÚLTIPLES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haces veinte pruebas al 5 %, esperas un falso positivo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aritmética elemental y es la causa mecánica del caso de la slide 15.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1965960"/>
            <a:ext cx="4828032" cy="1170432"/>
          </a:xfrm>
          <a:prstGeom prst="roundRect">
            <a:avLst>
              <a:gd name="adj" fmla="val 468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965960"/>
            <a:ext cx="4828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P(≥ 1 falso positivo)  =  1 − (1 − α)ᵏ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12280" y="3291840"/>
            <a:ext cx="48280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3447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6912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0880" y="363931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α entre el número de pruebas. Con 20 pruebas, exiges p &lt; 0.0025. Simple, conservadora, y con muchas pruebas te deja sin potencia.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12280" y="4279392"/>
            <a:ext cx="48280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0880" y="443484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96912" y="4352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4626864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de válida que Bonferroni pero menos conservadora: ordena los p-valores y ajusta secuencialmente. Preferible casi siempre.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12280" y="5266944"/>
            <a:ext cx="4828032" cy="896112"/>
          </a:xfrm>
          <a:prstGeom prst="roundRect">
            <a:avLst>
              <a:gd name="adj" fmla="val 61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0" y="542239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96912" y="5340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(Benjamini-Hochberg)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5614416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objetivo: en vez de evitar todo falso positivo, controla la PROPORCIÓN de falsos entre los que declaras significativos. Es lo estándar cuando haces cientos o miles de pruebas.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6035040" cy="1078992"/>
          </a:xfrm>
          <a:prstGeom prst="roundRect">
            <a:avLst>
              <a:gd name="adj" fmla="val 508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53766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2416" y="5276088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te pasa sin darte cuenta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4672" y="561441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con 30 métricas comparadas mes contra mes son 30 pruebas: esperas 1.5 «cambios significativos» por puro azar, cada mes. Un análisis de fairness sobre 12 subgrupos son 12 pruebas. Un A/B test con 8 métricas secundarias son 8.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errores que vas a ver en informes reales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se cometen con el código correcto. Ninguno lo detecta una revisión de pull request.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945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 &gt; 0.05, entonces no hay efecto»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24912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Confunde ausencia de evidencia con evidencia de ausencia. Sin la potencia, un resultado nulo no dice nada: quizá el estudio no podía verlo. Reporta siempre el intervalo junto al p-valor.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21945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 = 0.001, entonces el efecto es grande»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724912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mezcla efecto y tamaño de muestra. Con n = 25 600, un efecto de 0.10 desviaciones da p &lt; 0.000001 y sigue siendo irrelevante.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61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2428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la dirección o el corte después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773168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cola al ver el signo, o parar de recolectar el día que p baja de 0.05, invalida el p-valor. El número deja de significar lo que dice significar.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059936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261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67728" y="42428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corregir cuando hay muchas pruebas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773168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pruebas al 5 % dan un 64 % de probabilidad de al menos un falso positivo. Si tu análisis recorrió subgrupos, hay que corregir o declararlo como exploratorio.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tienen la misma raíz: tratar el p-valor como el resultado del análisis, en lugar de como un solo indicador dentro de un reporte que también incluye efecto, intervalo y potencia.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65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bloques del notebook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termina con una celda de verificación automática: si el número no coincide, te avisa antes de seguir.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76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0756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primera prueba, a mano y con scipy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0" y="207568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1031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t y el p-valor con aritmética, luego con ttest_1samp, y compruebas que coinciden en los seis decimales.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8986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IC ↔ prueba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89864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292608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Recorres 200 valores de μ₀, marcas cuáles se rechazan, y verificas que el conjunto de los NO rechazados es exactamente tu intervalo.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22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72160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I, tipo II y potencia por simulación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7216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6440" y="37490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Mides la tasa real de falsos positivos y reconstruyes la curva de potencia simulando, sin usar la fórmula.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645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5445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 vs importante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454456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5720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efecto con n creciente. Ves el p-valor derrumbarse mientras el efecto no se mueve.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468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3675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P-hacking en vivo y corrección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46320" y="53675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06440" y="53949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subgrupos en datos SIN ningún efecto real hasta encontrar uno «significativo». Después aplicas Holm y FDR y desaparece.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14476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1447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5 es el que hay que hacer aunque el tiempo se acabe: es la única forma de creerse que el p-hacking funciona sin mala intención.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ESPERA DE TI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redacta un resultado, completo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informe solo dice «p &lt; 0.05», está incompleto. Esto es lo que sí sirve.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68112" cy="1828800"/>
          </a:xfrm>
          <a:prstGeom prst="roundRect">
            <a:avLst>
              <a:gd name="adj" fmla="val 3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305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incompleta — la habitual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monto promedio es significativamente mayor al valor de referencia (p &lt; 0.05).»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1272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falta: cuánto mayor, con qué precisión, cuántas transacciones se revisaron, qué prueba se usó y si fue la única que se corrió.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68112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1305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completa — la que se audita bien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542032"/>
            <a:ext cx="4983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 una muestra aleatoria de 40 transacciones, el monto promedio fue S/ 3 125 (IC 95 %: S/ 2 418 a S/ 3 832), frente al valor de referencia de S/ 2 300. La diferencia es de S/ 825 (t = 2.36, gl = 39, p = 0.023). Fue la única prueba realizada, definida antes del análisis.»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41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la muestra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n, nada de lo demás se puede evaluar.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041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en unidades del negocio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98848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Soles, días, puntos porcentuales. No solo el estadístico.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041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confianza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47888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la precisión y contiene el resultado de la prueba.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084064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2578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exacto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9808" y="5522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0.023, no «p &lt; 0.05».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5084064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98848" y="52578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y sus grados de libertad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98848" y="5522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alguien pueda reproducirlo.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5084064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52578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pruebas corriste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47888" y="5522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permite juzgar si hay que corregir.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2727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seis puntos requiere estadística avanzada. Requiere disciplina de reporte, y es lo que distingue un análisis auditable de una opinión con un número al lado.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16568" y="1874213"/>
            <a:ext cx="54864" cy="3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69908" y="1873931"/>
            <a:ext cx="54864" cy="58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23248" y="1873419"/>
            <a:ext cx="54864" cy="11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76588" y="1872520"/>
            <a:ext cx="54864" cy="20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9928" y="1870985"/>
            <a:ext cx="54864" cy="35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3268" y="1868444"/>
            <a:ext cx="54864" cy="60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36608" y="1864362"/>
            <a:ext cx="54864" cy="1015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9948" y="1858003"/>
            <a:ext cx="54864" cy="1651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43288" y="1848400"/>
            <a:ext cx="54864" cy="2612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96628" y="1834344"/>
            <a:ext cx="54864" cy="401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9968" y="1814418"/>
            <a:ext cx="54864" cy="60102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3308" y="1787072"/>
            <a:ext cx="54864" cy="8744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56648" y="1750769"/>
            <a:ext cx="54864" cy="12375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9988" y="1704194"/>
            <a:ext cx="54864" cy="170326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63328" y="1646512"/>
            <a:ext cx="54864" cy="22800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16668" y="1577658"/>
            <a:ext cx="54864" cy="29686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70008" y="1498599"/>
            <a:ext cx="54864" cy="37592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3348" y="1411527"/>
            <a:ext cx="54864" cy="4629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6688" y="1319908"/>
            <a:ext cx="54864" cy="55461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30028" y="1228361"/>
            <a:ext cx="54864" cy="64615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3368" y="1142326"/>
            <a:ext cx="54864" cy="7321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36708" y="1067565"/>
            <a:ext cx="54864" cy="80695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90048" y="1009535"/>
            <a:ext cx="54864" cy="86498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43388" y="972732"/>
            <a:ext cx="54864" cy="90178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96728" y="960120"/>
            <a:ext cx="54864" cy="91440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50068" y="972732"/>
            <a:ext cx="54864" cy="90178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03408" y="1009535"/>
            <a:ext cx="54864" cy="86498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56748" y="1067565"/>
            <a:ext cx="54864" cy="80695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10088" y="1142326"/>
            <a:ext cx="54864" cy="7321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63428" y="1228361"/>
            <a:ext cx="54864" cy="64615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16768" y="1319908"/>
            <a:ext cx="54864" cy="55461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70108" y="1411527"/>
            <a:ext cx="54864" cy="4629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23448" y="1498599"/>
            <a:ext cx="54864" cy="37592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76788" y="1577658"/>
            <a:ext cx="54864" cy="29686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30128" y="1646512"/>
            <a:ext cx="54864" cy="22800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83468" y="1704194"/>
            <a:ext cx="54864" cy="170326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36808" y="1750769"/>
            <a:ext cx="54864" cy="12375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90148" y="1787072"/>
            <a:ext cx="54864" cy="8744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43488" y="1814418"/>
            <a:ext cx="54864" cy="60102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96828" y="1834344"/>
            <a:ext cx="54864" cy="401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50168" y="1848400"/>
            <a:ext cx="54864" cy="2612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303508" y="1858003"/>
            <a:ext cx="54864" cy="1651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56848" y="1864362"/>
            <a:ext cx="54864" cy="1015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10188" y="1868444"/>
            <a:ext cx="54864" cy="60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63528" y="1870985"/>
            <a:ext cx="54864" cy="35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16868" y="1872520"/>
            <a:ext cx="54864" cy="20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70208" y="1873419"/>
            <a:ext cx="54864" cy="11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23548" y="1873931"/>
            <a:ext cx="54864" cy="58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676888" y="1874213"/>
            <a:ext cx="54864" cy="3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457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10 MIN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no te dice si tu hipótesis es verdadera, ni si el efecto importa, ni si te equivocaste. Dice una sola cosa, y hay que decirla con esas palabras.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48640" y="2212848"/>
            <a:ext cx="5468112" cy="2487168"/>
          </a:xfrm>
          <a:prstGeom prst="roundRect">
            <a:avLst>
              <a:gd name="adj" fmla="val 2206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salida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04672" y="2798064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Planteo H₀ y H₁ antes de mirar los datos.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dice y qué no dice un p-valor.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que «μ₀ fuera del IC» y «se rechaza H₀» son lo mismo.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error tipo I de tipo II y sé cuál me cuesta más.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la potencia antes, no después.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Reporto efecto, intervalo y cuántas pruebas corrí.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172200" y="2212848"/>
            <a:ext cx="5468112" cy="2487168"/>
          </a:xfrm>
          <a:prstGeom prst="roundRect">
            <a:avLst>
              <a:gd name="adj" fmla="val 2206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419088" y="2798064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tu trabajo un informe o un dashboard donde alguien haya declarado una diferencia «significativa».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tres cosas: ¿cuál era el tamaño del efecto en unidades del negocio? ¿cuántas comparaciones se hicieron en total? ¿se declaró la hipótesis antes o después de mirar los datos?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responder ninguna, ya sabes qué falta en ese informe.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4672" y="51572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42416" y="505663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04672" y="54223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para dos grupos y para varios: t de Welch, ANOVA y las alternativas no paramétricas. Pasamos de «¿es distinto de este valor?» a «¿son distintos entre sí?», que es la pregunta que de verdad aparece en el trabajo — y donde el problema de las comparaciones múltiples deja de ser teórico.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2 · Clase 5 · SEED = 42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— Pruebas de hipótesis y p-valor</dc:title>
  <dc:subject>PptxGenJS Presentation</dc:subject>
  <dc:creator>Rodrigo</dc:creator>
  <cp:lastModifiedBy>Rodrigo</cp:lastModifiedBy>
  <cp:revision>1</cp:revision>
  <dcterms:created xsi:type="dcterms:W3CDTF">2026-08-10T02:41:19Z</dcterms:created>
  <dcterms:modified xsi:type="dcterms:W3CDTF">2026-08-10T02:41:19Z</dcterms:modified>
</cp:coreProperties>
</file>