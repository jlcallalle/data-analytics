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Arranca conectando con la clase pasada: 'aprendieron a responder si hay relación. Pero ese número dejó tres preguntas colgando'. Y anuncia la tercera con un poco de suspenso: 'la última es la más incómoda del curso. Van a ver una tabla donde la conclusión se da vuelta al mirar los datos con más detalle. Y no hay ningún error de cálculo.'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tarjetas, 30 segundos cada una. El énfasis va en la tercera: las dos primeras son técnicas y tienen solución; la tercera es de criterio y no la detecta ningún software. Deja que la expectativa se acumule: la vemos en el bloque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Anuncia el reparto y el énfasis en el bloque 4. Si vas retrasado, el bloque 5 (bondad de ajuste) es lo primero que se corta: es informativo pero no esencial.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rápido de verdad: no más de 8 minutos. Si el grupo lo tiene fresco, en 4. Lo importante es la última tarjeta, que plantea el problema del bloque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Escribe la tabla en la pizarra. Fíjate en que los tres canales tienen 200 solicitudes: eso hace que los tres esperen 60 rechazos, y simplifica todo. Pregunta al grupo: 'a ojo, ¿quién creen que es el responsable?'. Dirán agencia por el 40 %. Bien: ahora vamos a medirlo en lugar de estimarlo a ojo.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con residuo exactamente 0.000 es el mejor detalle de la slide: sus 60 rechazos son justo los 60 esperados, así que no aporta NADA al chi cuadrado. Toda la diferencia viene de agencia y app. La comprobación de la suma de cuadrados es elegante y ayuda a entender qué es el chi2: no es una fórmula caída del cielo, es la suma de estas piezas.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 con la clase pasada: antes solo podían escribir 'hay relación'. Ahora pueden decir dónde está y en qué dirección. La regla del 2 sale del hecho de que estos residuos se comportan aproximadamente como una normal estándar: más de 2 desviaciones es lo que en la Clase 3 llamábamos raro. No hay que explicarlo más que así.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Escribe la tabla y pregunta: '¿el control nuevo es mejor?'. Todos dirán que sí, 1 contra 6 es enorme. Y la intuición no es tonta: probablemente sí sea mejor. El punto de la slide siguiente es que con 20 casos no se puede DEMOSTRAR, que es distinto de que no sea cierto.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slide más útil del bloque. La tabla muestra que la elección del método CAMBIA la decisión, y que no es cuestión de preferencia: con esperadas menores que 5, Fisher es el correcto. El remate importa mucho: 'no alcanza' no significa 'no sirve'. Significa 'hagan más pruebas'. Es la lección de la potencia de la Clase 5, aplicada a categóricas.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 esta slide con total normalidad, como si fuera el final del análisis. Que se convenzan de la conclusión. Incluso puedes preguntar: '¿alguien objetaría este informe?'. Nadie objetará: está bien hecho. Y entonces pasas a la siguiente. El efecto depende de que se hayan creído 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 la tabla en pantalla en silencio. Que la lean fila por fila. Y después la pregunta: '¿alguien ve el error?'. No hay error. Suele haber incredulidad: alguien va a rehacer las cuentas. Déjalo, es sano. Cuando comprueben que está bien, es cuando la lección se fija.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barras de composición son la clave visual: se ve de un vistazo que las mezclas son opuestas. La pregunta de la tarjeta inferior es la más importante de la clase y no tiene respuesta estadística: es de negocio. Ejemplo para aterrizarla: si la app la usan sobre todo clientes jóvenes sin historial, el canal no elige — le vienen dados. Si agencia deriva los casos complicados a otro canal, entonces sí elige.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paso 2 es el más accionable y el que pueden aplicar mañana: una tabla de contingencia entre el grupo y la posible confusora. Si están balanceados, Simpson no puede ocurrir. Si no lo están, hay que mirar por separado. La tarjeta final es la conclusión del bloque: esto no lo resuelve una biblioteca de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minutos, y es el bloque que se corta si vas retrasado. Lo valioso es que el resultado va contra la intuición: 120 contra 80 parece un desbalance claro, y no lo es. Eso refuerza toda la lógica del curso: la intuición sobre variabilidad es mala, y por eso existen las pruebas.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Anuncia 'slide para fotografiar' y da 20 segundos de silencio. Las dos preguntas del final son el resumen de las dos clases: una técnica y una de criterio.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las tres respuestas y pide pulgares. El reto es el mejor de las dos clases porque los obliga a mirar su propio trabajo con la sospecha de Simpson. En la próxima sesión vale la pena empezar preguntando quién encontró una inversión: casi siempre hay uno o dos, y esas historias enseñan más que cualquier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734410"/>
            <a:ext cx="3566160" cy="-885139"/>
          </a:xfrm>
          <a:prstGeom prst="line">
            <a:avLst/>
          </a:prstGeom>
          <a:noFill/>
          <a:ln w="50800">
            <a:solidFill>
              <a:srgbClr val="E6115E"/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7772400" y="2648102"/>
            <a:ext cx="3566160" cy="1005840"/>
          </a:xfrm>
          <a:prstGeom prst="line">
            <a:avLst/>
          </a:prstGeom>
          <a:noFill/>
          <a:ln w="50800">
            <a:solidFill>
              <a:srgbClr val="2E5AA8"/>
            </a:solidFill>
            <a:prstDash val="solid"/>
            <a:tailEnd type="triangle"/>
          </a:ln>
        </p:spPr>
      </p:sp>
      <p:sp>
        <p:nvSpPr>
          <p:cNvPr id="4" name="Text 2"/>
          <p:cNvSpPr/>
          <p:nvPr/>
        </p:nvSpPr>
        <p:spPr>
          <a:xfrm>
            <a:off x="6995160" y="34930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12280" y="2406701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0" y="4480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conclusión se invierte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34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CLASE 9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178308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preguntas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dejó el χ²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13232" y="361188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Residuos, la prueba exacta de Fisher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paradoja de Simpson.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5394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sesión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44952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preguntas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44952" y="5394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respuestas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76672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chicas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76672" y="5394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 mano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3232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 e Inferencial · 37 horas académicas · 14 sesiones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ESTAMOS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χ² respondió una pregunta y dejó tres abiertas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cerramos las tres. Cada una tiene su herramienta.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91672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23113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231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81328" y="217627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χ² dice que hay relación… ¿pero DÓNDE?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481328" y="263347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tres canales, el χ² da un solo número para toda la tabla. No dice cuál es el responsable.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0" y="2395728"/>
            <a:ext cx="3566160" cy="512064"/>
          </a:xfrm>
          <a:prstGeom prst="roundRect">
            <a:avLst>
              <a:gd name="adj" fmla="val 125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239572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1091672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364845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81328" y="359359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mi tabla tiene MUY POCOS casos?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481328" y="405079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20 observaciones el χ² deja de ser confiable, y te hace ver diferencias que no están.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0" y="3813048"/>
            <a:ext cx="3566160" cy="512064"/>
          </a:xfrm>
          <a:prstGeom prst="roundRect">
            <a:avLst>
              <a:gd name="adj" fmla="val 125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381304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 exacto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11091672" cy="1280160"/>
          </a:xfrm>
          <a:prstGeom prst="roundRect">
            <a:avLst>
              <a:gd name="adj" fmla="val 4286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506577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5065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81328" y="501091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la relación que veo es una ILUSIÓN?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481328" y="546811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tablas donde la conclusión se invierte al separar por otra variable. Sin error de cálculo.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0" y="5230368"/>
            <a:ext cx="3566160" cy="512064"/>
          </a:xfrm>
          <a:prstGeom prst="roundRect">
            <a:avLst>
              <a:gd name="adj" fmla="val 125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523036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Paradoja de Simpson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63459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tercera no es un problema de la estadística: es un problema de los datos, y ninguna prueba te avisa de él.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repartimos los 120 minutos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formato de la clase pasada: se calcula a mano antes de tocar el código.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72237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114800"/>
                <a:gridCol w="73152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Dónde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Repaso rápido del χ²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Pizarra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Residuos: ¿qué casilla es la responsable?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Pizarra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Fisher exacto: cuando hay pocos casos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Pizarra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paradoja de Simpson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Pizarra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Bondad de ajuste: la otra prueba χ²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Pizarra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Laboratorio en Colab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001000" y="2011680"/>
            <a:ext cx="3639312" cy="1965960"/>
          </a:xfrm>
          <a:prstGeom prst="roundRect">
            <a:avLst>
              <a:gd name="adj" fmla="val 2791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47888" y="231343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85632" y="2212848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te llevas hoy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47888" y="260604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qué casilla explica un χ².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cuándo el χ² no sirve.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una conclusión falsa.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01000" y="4160520"/>
            <a:ext cx="3639312" cy="2029968"/>
          </a:xfrm>
          <a:prstGeom prst="roundRect">
            <a:avLst>
              <a:gd name="adj" fmla="val 2703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47888" y="442569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85632" y="4325112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4 es el importante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47888" y="4690872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bloques 2 y 3 son técnicas: se aprenden y se aplican.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4 es criterio: es la diferencia entre un análisis correcto y una conclusión correcta.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REPASO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30 segundos: lo que hicimos la clase pasada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esto está claro, seguimos. Si no, vale la pena repasarlo antes de avanzar.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2402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observada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9808" y="2697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conteos reales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64992" y="20574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22402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05072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esperada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66160" y="2697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× columna / 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81344" y="20574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82512" y="22402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21424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82512" y="2697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 (obs − esp)² / esp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97696" y="20574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98864" y="22402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98864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37776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98864" y="2697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 → hay relación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370332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" y="395020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3849624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las dos advertencias que dejamos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04672" y="41788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χ² depende del tamaño de la muestra tanto como de la fuerza de la relación → por eso siempre se reporta con Cramér's V.</a:t>
            </a:r>
            <a:endParaRPr lang="en-US" sz="12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en tablas 2×2, scipy aplica una corrección por defecto → hay que escribir correction=False para reproducir el cálculo a mano.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93776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" y="518464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2416" y="5084064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lo que NO resolvimos, que es la clase de hoy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4672" y="5431536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χ² nos dio un número para toda la tabla. Con dos filas eso alcanza: si hay relación, es entre esas dos. Pero en cuanto tienes tres o más categorías, el χ² te dice que algo pasa y te deja buscando dónde.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canales, 600 solicitudes: ¿cuál es el responsable?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tienen 200 solicitudes, así que los tres esperan exactamente lo mismo.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48840" y="2148840"/>
            <a:ext cx="1325880" cy="457200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21488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2148840"/>
            <a:ext cx="1325880" cy="457200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1488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606040"/>
            <a:ext cx="1463040" cy="457200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48840" y="2606040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2606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474720" y="2606040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606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85800" y="3063240"/>
            <a:ext cx="1463040" cy="457200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063240"/>
            <a:ext cx="146304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48840" y="3063240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474720" y="3063240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85800" y="3520440"/>
            <a:ext cx="1463040" cy="457200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520440"/>
            <a:ext cx="146304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48840" y="3520440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48840" y="3520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3474720" y="3520440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3520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85800" y="18745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27432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7223760" y="2148840"/>
            <a:ext cx="1325880" cy="457200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21488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Rechazada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49640" y="2148840"/>
            <a:ext cx="1325880" cy="457200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49640" y="21488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760720" y="2606040"/>
            <a:ext cx="1463040" cy="457200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223760" y="2606040"/>
            <a:ext cx="1325880" cy="457200"/>
          </a:xfrm>
          <a:prstGeom prst="rect">
            <a:avLst/>
          </a:prstGeom>
          <a:solidFill>
            <a:srgbClr val="FFE9F1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0" y="2606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8549640" y="2606040"/>
            <a:ext cx="1325880" cy="457200"/>
          </a:xfrm>
          <a:prstGeom prst="rect">
            <a:avLst/>
          </a:prstGeom>
          <a:solidFill>
            <a:srgbClr val="FFE9F1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49640" y="2606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5760720" y="3063240"/>
            <a:ext cx="1463040" cy="457200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0" y="3063240"/>
            <a:ext cx="146304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223760" y="3063240"/>
            <a:ext cx="1325880" cy="457200"/>
          </a:xfrm>
          <a:prstGeom prst="rect">
            <a:avLst/>
          </a:prstGeom>
          <a:solidFill>
            <a:srgbClr val="FFE9F1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23760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8549640" y="3063240"/>
            <a:ext cx="1325880" cy="457200"/>
          </a:xfrm>
          <a:prstGeom prst="rect">
            <a:avLst/>
          </a:prstGeom>
          <a:solidFill>
            <a:srgbClr val="FFE9F1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49640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5760720" y="3520440"/>
            <a:ext cx="1463040" cy="457200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60720" y="3520440"/>
            <a:ext cx="146304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223760" y="3520440"/>
            <a:ext cx="1325880" cy="457200"/>
          </a:xfrm>
          <a:prstGeom prst="rect">
            <a:avLst/>
          </a:prstGeom>
          <a:solidFill>
            <a:srgbClr val="FFE9F1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23760" y="3520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700" dirty="0"/>
          </a:p>
        </p:txBody>
      </p:sp>
      <p:sp>
        <p:nvSpPr>
          <p:cNvPr id="50" name="Shape 48"/>
          <p:cNvSpPr/>
          <p:nvPr/>
        </p:nvSpPr>
        <p:spPr>
          <a:xfrm>
            <a:off x="8549640" y="3520440"/>
            <a:ext cx="1325880" cy="457200"/>
          </a:xfrm>
          <a:prstGeom prst="rect">
            <a:avLst/>
          </a:prstGeom>
          <a:solidFill>
            <a:srgbClr val="FFE9F1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49640" y="3520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5760720" y="18745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0058400" y="2148840"/>
            <a:ext cx="1581912" cy="1828800"/>
          </a:xfrm>
          <a:prstGeom prst="roundRect">
            <a:avLst>
              <a:gd name="adj" fmla="val 3468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195560" y="214884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19.05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= 2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548640" y="4206240"/>
            <a:ext cx="546811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4672" y="44714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42416" y="437083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porcentaje de rechazo de cada canal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868680" y="4754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Agencia:  40 %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2560320" y="4754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App:  20 %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4251960" y="4754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  30 %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804672" y="513892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general es 30 %. Web está justo en el promedio.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172200" y="4206240"/>
            <a:ext cx="5468112" cy="1371600"/>
          </a:xfrm>
          <a:prstGeom prst="roundRect">
            <a:avLst>
              <a:gd name="adj" fmla="val 4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19088" y="44714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56832" y="437083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6419088" y="4718304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χ² dice que hay relación (p &lt; 0.001), pero es UN número para las seis casillas.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agencia? ¿Es app? ¿Son las dos? ¿Web también aporta algo?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29184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LA HERRAMIENTA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residuo: la diferencia, casilla por casilla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 significa más de lo esperado. Negativo, menos. Cerca de cero, justo lo previsto.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5468112" cy="868680"/>
          </a:xfrm>
          <a:prstGeom prst="roundRect">
            <a:avLst>
              <a:gd name="adj" fmla="val 6316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38528"/>
            <a:ext cx="5468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residuo  =  ( observado − esperado ) / √esperado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938528"/>
            <a:ext cx="5468112" cy="868680"/>
          </a:xfrm>
          <a:prstGeom prst="roundRect">
            <a:avLst>
              <a:gd name="adj" fmla="val 6316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9088" y="193852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misma resta del χ², pero mirada casilla por casilla en vez de sumada.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3108960"/>
            <a:ext cx="1691640" cy="475488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31089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Rechazada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3108960"/>
            <a:ext cx="1691640" cy="475488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31089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3584448"/>
            <a:ext cx="1645920" cy="475488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584448"/>
            <a:ext cx="1645920" cy="47548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17520" y="3584448"/>
            <a:ext cx="1691640" cy="475488"/>
          </a:xfrm>
          <a:prstGeom prst="rect">
            <a:avLst/>
          </a:prstGeom>
          <a:solidFill>
            <a:srgbClr val="FFE9F1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358444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+2.582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709160" y="3584448"/>
            <a:ext cx="1691640" cy="475488"/>
          </a:xfrm>
          <a:prstGeom prst="rect">
            <a:avLst/>
          </a:prstGeom>
          <a:solidFill>
            <a:srgbClr val="E3F5EC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358444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−1.690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371600" y="4059936"/>
            <a:ext cx="1645920" cy="475488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4059936"/>
            <a:ext cx="1645920" cy="47548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17520" y="4059936"/>
            <a:ext cx="1691640" cy="475488"/>
          </a:xfrm>
          <a:prstGeom prst="rect">
            <a:avLst/>
          </a:prstGeom>
          <a:solidFill>
            <a:srgbClr val="E3F5EC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405993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−2.582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709160" y="4059936"/>
            <a:ext cx="1691640" cy="475488"/>
          </a:xfrm>
          <a:prstGeom prst="rect">
            <a:avLst/>
          </a:prstGeom>
          <a:solidFill>
            <a:srgbClr val="FFE9F1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405993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+1.690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371600" y="4535424"/>
            <a:ext cx="1645920" cy="475488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4535424"/>
            <a:ext cx="1645920" cy="47548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017520" y="4535424"/>
            <a:ext cx="1691640" cy="475488"/>
          </a:xfrm>
          <a:prstGeom prst="rect">
            <a:avLst/>
          </a:prstGeom>
          <a:solidFill>
            <a:srgbClr val="EEF2F9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0" y="453542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709160" y="4535424"/>
            <a:ext cx="1691640" cy="475488"/>
          </a:xfrm>
          <a:prstGeom prst="rect">
            <a:avLst/>
          </a:prstGeom>
          <a:solidFill>
            <a:srgbClr val="EEF2F9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453542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949440" y="3108960"/>
            <a:ext cx="4690872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96328" y="337413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34072" y="3273552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lee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96328" y="3621024"/>
            <a:ext cx="4206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 rechazada  +2.58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más rechazos de los esperados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rechazada  −2.58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menos rechazos de los esperados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 0.000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exactamente lo esperado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525780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" y="549554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42416" y="5394960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comprobación que vale la pena hacer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04672" y="572414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elevas los seis residuos al cuadrado y los sumas, obtienes 19.0476: exactamente el χ². El χ² ES la suma de los residuos al cuadrado. Los residuos son sus piezas.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residuo ajustado y la regla del 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corrección pequeña, y después una regla que se recuerda sola.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ajustado  =  ( obs − esp )  /  √[ esp × (1 − total fila / n) × (1 − total columna / n) ]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017520" y="2971800"/>
            <a:ext cx="1691640" cy="475488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297180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2971800"/>
            <a:ext cx="1691640" cy="475488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97180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3447288"/>
            <a:ext cx="1645920" cy="475488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3447288"/>
            <a:ext cx="1645920" cy="47548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17520" y="3447288"/>
            <a:ext cx="1691640" cy="475488"/>
          </a:xfrm>
          <a:prstGeom prst="rect">
            <a:avLst/>
          </a:prstGeom>
          <a:solidFill>
            <a:srgbClr val="FFE9F1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344728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+3.78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09160" y="3447288"/>
            <a:ext cx="1691640" cy="475488"/>
          </a:xfrm>
          <a:prstGeom prst="rect">
            <a:avLst/>
          </a:prstGeom>
          <a:solidFill>
            <a:srgbClr val="EEF2F9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44728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−3.78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71600" y="3922776"/>
            <a:ext cx="1645920" cy="475488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3922776"/>
            <a:ext cx="1645920" cy="47548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17520" y="3922776"/>
            <a:ext cx="1691640" cy="475488"/>
          </a:xfrm>
          <a:prstGeom prst="rect">
            <a:avLst/>
          </a:prstGeom>
          <a:solidFill>
            <a:srgbClr val="EEF2F9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392277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−3.78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09160" y="3922776"/>
            <a:ext cx="1691640" cy="475488"/>
          </a:xfrm>
          <a:prstGeom prst="rect">
            <a:avLst/>
          </a:prstGeom>
          <a:solidFill>
            <a:srgbClr val="FFE9F1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92277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+3.78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371600" y="4398264"/>
            <a:ext cx="1645920" cy="475488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4398264"/>
            <a:ext cx="1645920" cy="47548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17520" y="4398264"/>
            <a:ext cx="1691640" cy="475488"/>
          </a:xfrm>
          <a:prstGeom prst="rect">
            <a:avLst/>
          </a:prstGeom>
          <a:solidFill>
            <a:srgbClr val="EEF2F9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439826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09160" y="4398264"/>
            <a:ext cx="1691640" cy="475488"/>
          </a:xfrm>
          <a:prstGeom prst="rect">
            <a:avLst/>
          </a:prstGeom>
          <a:solidFill>
            <a:srgbClr val="EEF2F9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439826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949440" y="2971800"/>
            <a:ext cx="4690872" cy="1508760"/>
          </a:xfrm>
          <a:prstGeom prst="roundRect">
            <a:avLst>
              <a:gd name="adj" fmla="val 3636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96328" y="32369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34072" y="3136392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DEL 2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96328" y="3483864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valor absoluto del residuo ajustado supera 2, esa casilla se aparta claramente de lo esperado.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casilla que hay que mirar.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709160"/>
            <a:ext cx="1109167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" y="497433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2416" y="4873752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ahora sí puedes escribir esto en un informe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04672" y="523951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«Hay relación entre canal y resultado (χ² = 19.05, gl = 2, p &lt; 0.001; V = 0.18). El canal agencia concentra más rechazos de los esperados (residuo ajustado = +3.78) y app concentra menos (−3.78). Web se comporta exactamente como se esperaría.»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Probaste un control nuevo con 20 casos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se ve contundente. Vamos a ver si los datos lo sostienen.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2194560"/>
            <a:ext cx="1463040" cy="530352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219456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Escapó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2194560"/>
            <a:ext cx="1463040" cy="530352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9080" y="219456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Detectado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724912"/>
            <a:ext cx="1920240" cy="530352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24912"/>
            <a:ext cx="1920240" cy="53035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nuevo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2724912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27249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069080" y="2724912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27249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85800" y="3255264"/>
            <a:ext cx="1920240" cy="530352"/>
          </a:xfrm>
          <a:prstGeom prst="rect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55264"/>
            <a:ext cx="1920240" cy="53035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viejo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06040" y="3255264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325526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069080" y="3255264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69080" y="325526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669280" y="2194560"/>
            <a:ext cx="5971032" cy="1051560"/>
          </a:xfrm>
          <a:prstGeom prst="roundRect">
            <a:avLst>
              <a:gd name="adj" fmla="val 5217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16168" y="243230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53912" y="2331720"/>
            <a:ext cx="5248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ojo, el control nuevo gana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16168" y="2651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Dejó escapar 1 de 10 (10 %), contra 6 de 10 del viejo (60 %). Parece una mejora enorme.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0" y="3383280"/>
            <a:ext cx="5971032" cy="1280160"/>
          </a:xfrm>
          <a:prstGeom prst="roundRect">
            <a:avLst>
              <a:gd name="adj" fmla="val 4286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16168" y="363016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53912" y="3529584"/>
            <a:ext cx="5248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mira las frecuencias esperadas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16168" y="3877056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menor de las cuatro es 3.5, y la regla de la clase pasada decía: si alguna esperada baja de 5, el χ² deja de ser confiable.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84632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" y="511149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2416" y="5010912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 χ² falla con pocos casos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4672" y="535838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χ² no calcula la probabilidad exacta: usa una aproximación que funciona muy bien cuando hay bastantes casos por casilla, y que se rompe cuando no los hay.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20 observaciones repartidas en cuatro casillas, esa aproximación se vuelve demasiado optimista: te muestra diferencias más convincentes de lo que los datos permiten.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2918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LA SOLUCIÓN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métodos, tres p-valores, dos conclusiones distintas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aquí no es cuestión de gusto: uno de los tres es el correcto para esta tabla.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29968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828800"/>
                <a:gridCol w="2743200"/>
                <a:gridCol w="34107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Conclusión a 0.05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¿Es válido aquí?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 sin corrección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requiere esperadas ≥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 con corrección de Yates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significativo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un parche, no la solución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 exacta de Fisher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significativo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— no usa aproximaciones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041648"/>
            <a:ext cx="5468112" cy="1188720"/>
          </a:xfrm>
          <a:prstGeom prst="roundRect">
            <a:avLst>
              <a:gd name="adj" fmla="val 4615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428853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418795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conclusión CAMBIA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4517136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χ² sin corrección dice que sí hay diferencia. Fisher, que es el correcto aquí, dice que no alcanza.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4041648"/>
            <a:ext cx="546811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19088" y="428853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418795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Fisher tiene razón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19088" y="4517136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20 casos no hay evidencia suficiente, aunque 1 contra 6 parezca contundente. El azar produce diferencias así con facilidad cuando hay tan pocos datos.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5376672"/>
            <a:ext cx="11091672" cy="896112"/>
          </a:xfrm>
          <a:prstGeom prst="roundRect">
            <a:avLst>
              <a:gd name="adj" fmla="val 6122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4672" y="560527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42416" y="5504688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hay que hacer, entonces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04672" y="581558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descartar el control nuevo: probarlo con más casos. La diferencia probablemente existe — pero 20 observaciones no bastan para demostrarla, y reportarla como demostrada sería un error.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LA PARADOJA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banco compara la aprobación de dos canales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solicitudes, 300 por canal. La pregunta es simple: ¿cuál aprueba más?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4140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313432"/>
            <a:ext cx="5248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Mirada 1 · el total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6974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       100 de 300 aprobadas   =   33.3 %</a:t>
            </a:r>
            <a:endParaRPr lang="en-US" sz="16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    145 de 300 aprobadas   =   48.3 %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89520" y="2377440"/>
            <a:ext cx="3840480" cy="1143000"/>
          </a:xfrm>
          <a:prstGeom prst="roundRect">
            <a:avLst>
              <a:gd name="adj" fmla="val 48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237744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χ² lo confirma: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13.97,  p = 0.0002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1672" cy="1005840"/>
          </a:xfrm>
          <a:prstGeom prst="roundRect">
            <a:avLst>
              <a:gd name="adj" fmla="val 5455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9319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este análisis cerrarías el informe:  «AGENCIA aprueba más que app, y la diferencia es estadísticamente significativa».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1672" cy="1097280"/>
          </a:xfrm>
          <a:prstGeom prst="roundRect">
            <a:avLst>
              <a:gd name="adj" fmla="val 5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536752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5266944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está bien calculado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" y="55961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porcentajes son correctos, el χ² es correcto, el p-valor es correcto. No hay ningún error aritmético en esta slide.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sin embargo la conclusión es falsa. Lo vemos en la slide siguiente.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LA PARADOJA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datos, separados por segmento de cliente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cambiamos ningún número. Solo miramos con más detalle.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3291840"/>
                <a:gridCol w="249631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¿Quién gana?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Fácil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de 100  =  80 %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 de 200  =  70 %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Difícil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de 200  =  10 %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de 100  =  5 %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de 300  =  33.3 %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 de 300  =  48.3 %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43484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4348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GANA EN LOS DOS SEGMENTOS.   Pero en el total gana AGENCIA.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5559552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55955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son exactamente los mismos. No hay error de cálculo. Esto se llama PARADOJA DE SIMPSON, y es más común de lo que parece.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LA EXPLICACIÓN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magia: es cómo se reparten los volúmenes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canal atiende una mezcla distinta de clientes, y eso arrastra su promedio.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1629461" cy="566928"/>
          </a:xfrm>
          <a:prstGeom prst="rect">
            <a:avLst/>
          </a:prstGeom>
          <a:solidFill>
            <a:srgbClr val="12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86000"/>
            <a:ext cx="16294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33 % fácil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52421" y="2286000"/>
            <a:ext cx="3308299" cy="56692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2421" y="2286000"/>
            <a:ext cx="33082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67 % difícil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2971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246120"/>
            <a:ext cx="3308299" cy="566928"/>
          </a:xfrm>
          <a:prstGeom prst="rect">
            <a:avLst/>
          </a:prstGeom>
          <a:solidFill>
            <a:srgbClr val="12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46120"/>
            <a:ext cx="33082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67 % fácil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31259" y="3246120"/>
            <a:ext cx="1629461" cy="56692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1259" y="3246120"/>
            <a:ext cx="16294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33 % difícil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2011680"/>
            <a:ext cx="5468112" cy="1691640"/>
          </a:xfrm>
          <a:prstGeom prst="roundRect">
            <a:avLst>
              <a:gd name="adj" fmla="val 3243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227685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56832" y="217627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Ahí está la explicación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19088" y="2542032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atiende sobre todo clientes difíciles (67 % de su volumen). Agencia atiende sobre todo clientes fáciles.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 segmento difícil se aprueba poco por naturaleza, app arrastra una tasa total baja aunque haga mejor trabajo en cada segmento.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840480"/>
            <a:ext cx="5468112" cy="1234440"/>
          </a:xfrm>
          <a:prstGeom prst="roundRect">
            <a:avLst>
              <a:gd name="adj" fmla="val 4444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19088" y="408736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3986784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nombre técnico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19088" y="4334256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segmento es una VARIABLE DE CONFUSIÓN: influye en el resultado y además está repartida de forma desigual entre los dos canales.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546811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46085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450799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que decide cuál mirada vale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4672" y="486460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i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canal ELIGE a qué clientes atiende, o le vienen dados?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4672" y="521208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vienen dados  →  hay que comparar dentro de cada segmento. App hace mejor trabajo, y el total engaña.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canal elige  →  el total puede ser relevante, porque esa elección es parte de su desempeño.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protegerse de Simpson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una prueba estadística que lo detecte. Lo único que funciona es preguntar antes.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7685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2121408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comparar, lista las variables que podrían influir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0" y="2157984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Segmento, antigüedad, región, monto, tipo de producto. Las de siempre en tu negocio.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035808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30098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98448" y="3145536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si alguna está desbalanceada entre los grupos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3182112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tabla de contingencia entre el grupo y esa variable. Si los porcentajes difieren mucho, hay riesgo.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59936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3251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98448" y="4169664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hay, separa la comparación por esa variable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420624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mira si la conclusión se mantiene. Si cambia, la mirada total era engañosa.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084064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3492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98448" y="5193792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siempre el detalle, no solo el agregado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83680" y="5230368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informe que muestra la tabla por segmento es mucho más difícil de refutar.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617220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61722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de estos cuatro pasos es estadística. Los cuatro son conocimiento del negocio, y por eso el analista no puede delegarlos.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prueba parecida, pero que responde otra cosa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llama igual y usa la misma fórmula. Conviene distinguirlas para no confundirse.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389120"/>
                <a:gridCol w="44165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 de independencia — Clase 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 de bondad de ajuste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 variables entre 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variable contra una expectativa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pregunta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«¿tienen que ver una con otra?»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«¿se reparte como yo esperaba?»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esperados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salen de los totales de la tabla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propones tú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Python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chi2_contingency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chisquare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206240"/>
            <a:ext cx="59436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44714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4370832"/>
            <a:ext cx="5248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¿se reparten bien las revisiones?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471830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revisiones de fraude en la semana. Si se repartieran por igual, tocarían 100 por día.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68680" y="516636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FFE9F1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51663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8680" y="56692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965960" y="516636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E3F5EC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965960" y="51663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965960" y="56692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063240" y="516636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63240" y="51663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063240" y="56692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160520" y="516636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FFE9F1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60520" y="51663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160520" y="56692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257800" y="516636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E3F5EC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57800" y="51663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257800" y="56692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720840" y="4206240"/>
            <a:ext cx="4919472" cy="2011680"/>
          </a:xfrm>
          <a:prstGeom prst="roundRect">
            <a:avLst>
              <a:gd name="adj" fmla="val 2727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967728" y="44714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205472" y="4370832"/>
            <a:ext cx="4242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resultado, que sorprende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967728" y="4718304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8.50    p = 0.0749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≥ 0.05: NO hay evidencia de reparto desigual.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el lunes tenga 120 y el viernes 80, esa diferencia cabe dentro del azar con 500 revisiones. No hay que reorganizar nada todavía.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CHULETA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usar qué, con variables categóricas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Acumulada de las clases 8 y 9. Esta es la slide que vas a fotografiar.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383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situación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usar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Python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 variables, tabla normal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 de independencia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chi2_contingency(tabla)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 2×2 y quieres reproducir el cálculo a mano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 sin corrección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chi2_contingency(t, correction=False)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Alguna frecuencia ESPERADA menor que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 exacta de Fisher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fisher_exact(tabla)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 sabes que hay relación y quieres saber dónde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Residuos ajustados, regla del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mano, 3 líneas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Quieres saber si la relación es fuerte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Cramér's 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√(χ² / (n × k))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sola variable contra una expectativa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 de bondad de ajuste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chisquare(observado)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Sospechas una variable de confusión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Separar y comparar por grupos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groupby, y mirar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120640"/>
            <a:ext cx="11091672" cy="1097280"/>
          </a:xfrm>
          <a:prstGeom prst="roundRect">
            <a:avLst>
              <a:gd name="adj" fmla="val 5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536752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5266944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las dos preguntas que van antes de toda la tabla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561441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¿Alguna frecuencia esperada es menor que 5?  →  entonces no es χ², es Fisher.</a:t>
            </a:r>
            <a:endParaRPr lang="en-US" sz="12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¿Hay alguna variable repartida de forma desigual entre los grupos?  →  entonces el total puede mentir.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1770278"/>
            <a:ext cx="2286000" cy="-523037"/>
          </a:xfrm>
          <a:prstGeom prst="line">
            <a:avLst/>
          </a:prstGeom>
          <a:noFill/>
          <a:ln w="38100">
            <a:solidFill>
              <a:srgbClr val="E6115E"/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9235440" y="1128370"/>
            <a:ext cx="2286000" cy="594360"/>
          </a:xfrm>
          <a:prstGeom prst="line">
            <a:avLst/>
          </a:prstGeom>
          <a:noFill/>
          <a:ln w="38100">
            <a:solidFill>
              <a:srgbClr val="2E5AA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· 7 MIN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 llevas una sola cosa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análisis puede estar perfectamente calculado y llevar a una conclusión falsa. Lo que te protege no es la fórmula: es preguntar qué falta en la tabla.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5468112" cy="2377440"/>
          </a:xfrm>
          <a:prstGeom prst="roundRect">
            <a:avLst>
              <a:gd name="adj" fmla="val 2308"/>
            </a:avLst>
          </a:prstGeom>
          <a:solidFill>
            <a:srgbClr val="061834"/>
          </a:solidFill>
          <a:ln w="12700">
            <a:solidFill>
              <a:srgbClr val="1A3B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249631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395728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respuestas de hoy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2834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está la relación?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70332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Residuos, regla del 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04672" y="34015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hay pocos casos?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703320" y="34015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 exacto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4672" y="39684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es una ilusión?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703320" y="39684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por la confusora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2212848"/>
            <a:ext cx="5468112" cy="2377440"/>
          </a:xfrm>
          <a:prstGeom prst="roundRect">
            <a:avLst>
              <a:gd name="adj" fmla="val 2308"/>
            </a:avLst>
          </a:prstGeom>
          <a:solidFill>
            <a:srgbClr val="061834"/>
          </a:solidFill>
          <a:ln w="12700">
            <a:solidFill>
              <a:srgbClr val="1A3B7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9088" y="249631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56832" y="2395728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para la próxima clase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19088" y="2798064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una comparación entre dos grupos que exista en tu trabajo.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una tercera variable que sospeches desbalanceada entre ellos: antigüedad, monto, región, tipo de producto.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la comparación por esa variable y contesta: ¿se mantiene la conclusión, o cambia?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8006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061834"/>
          </a:solidFill>
          <a:ln w="12700">
            <a:solidFill>
              <a:srgbClr val="1A3B7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50657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" y="4965192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que evita esta clase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04672" y="53309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informe que dice «agencia aprueba más que app» con p &lt; 0.001 puede ser completamente correcto en el cálculo y completamente equivocado en la conclusión. La estadística no te avisa: lo único que te protege es preguntar, antes de comparar, si hay alguna variable repartida de forma desigual entre los grupos.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 e Inferencial · Módulo 3 · Clase 9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9 — Fisher y Simpson</dc:title>
  <dc:subject>PptxGenJS Presentation</dc:subject>
  <dc:creator>Rodrigo</dc:creator>
  <cp:lastModifiedBy>Rodrigo</cp:lastModifiedBy>
  <cp:revision>1</cp:revision>
  <dcterms:created xsi:type="dcterms:W3CDTF">2026-08-21T23:36:07Z</dcterms:created>
  <dcterms:modified xsi:type="dcterms:W3CDTF">2026-08-21T23:36:07Z</dcterms:modified>
</cp:coreProperties>
</file>