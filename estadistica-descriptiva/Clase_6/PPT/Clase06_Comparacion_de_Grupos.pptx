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3"/>
    <p:restoredTop sz="94610"/>
  </p:normalViewPr>
  <p:slideViewPr>
    <p:cSldViewPr snapToGrid="0" snapToObjects="1">
      <p:cViewPr varScale="1">
        <p:scale>
          <a:sx n="155" d="100"/>
          <a:sy n="155" d="100"/>
        </p:scale>
        <p:origin x="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Student (equal_var=True)</c:v>
                </c:pt>
              </c:strCache>
            </c:strRef>
          </c:tx>
          <c:spPr>
            <a:solidFill>
              <a:srgbClr val="E6115E"/>
            </a:solidFill>
            <a:effectLst/>
          </c:spPr>
          <c:invertIfNegative val="0"/>
          <c:dLbls>
            <c:numFmt formatCode="0.0&quot;%&quot;" sourceLinked="0"/>
            <c:spPr>
              <a:noFill/>
              <a:ln>
                <a:noFill/>
              </a:ln>
              <a:effectLst/>
            </c:spPr>
            <c:txPr>
              <a:bodyPr/>
              <a:lstStyle/>
              <a:p>
                <a:pPr>
                  <a:defRPr sz="950" b="1" i="0" u="none" strike="noStrike">
                    <a:solidFill>
                      <a:srgbClr val="0A2559"/>
                    </a:solidFill>
                    <a:latin typeface="Arial"/>
                  </a:defRPr>
                </a:pPr>
                <a:endParaRPr lang="en-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 = (60, 25)   σ = (3, 9)</c:v>
                </c:pt>
                <c:pt idx="1">
                  <c:v>n = (25, 60)   σ = (3, 9)</c:v>
                </c:pt>
                <c:pt idx="2">
                  <c:v>n = (30, 30)   σ = (3, 9)</c:v>
                </c:pt>
                <c:pt idx="3">
                  <c:v>n = (50, 50)   σ = (3, 3)</c:v>
                </c:pt>
              </c:strCache>
            </c:strRef>
          </c:cat>
          <c:val>
            <c:numRef>
              <c:f>Sheet1!$B$2:$B$5</c:f>
              <c:numCache>
                <c:formatCode>General</c:formatCode>
                <c:ptCount val="4"/>
                <c:pt idx="0">
                  <c:v>17.059999999999999</c:v>
                </c:pt>
                <c:pt idx="1">
                  <c:v>0.7</c:v>
                </c:pt>
                <c:pt idx="2">
                  <c:v>5.32</c:v>
                </c:pt>
                <c:pt idx="3">
                  <c:v>5.0999999999999996</c:v>
                </c:pt>
              </c:numCache>
            </c:numRef>
          </c:val>
          <c:extLst>
            <c:ext xmlns:c16="http://schemas.microsoft.com/office/drawing/2014/chart" uri="{C3380CC4-5D6E-409C-BE32-E72D297353CC}">
              <c16:uniqueId val="{00000000-AAED-804E-928A-CF5DD39FDC95}"/>
            </c:ext>
          </c:extLst>
        </c:ser>
        <c:ser>
          <c:idx val="1"/>
          <c:order val="1"/>
          <c:tx>
            <c:strRef>
              <c:f>Sheet1!$C$1</c:f>
              <c:strCache>
                <c:ptCount val="1"/>
                <c:pt idx="0">
                  <c:v>Welch (equal_var=False)</c:v>
                </c:pt>
              </c:strCache>
            </c:strRef>
          </c:tx>
          <c:spPr>
            <a:solidFill>
              <a:srgbClr val="12B886"/>
            </a:solidFill>
            <a:effectLst/>
          </c:spPr>
          <c:invertIfNegative val="0"/>
          <c:dLbls>
            <c:numFmt formatCode="0.0&quot;%&quot;" sourceLinked="0"/>
            <c:spPr>
              <a:noFill/>
              <a:ln>
                <a:noFill/>
              </a:ln>
              <a:effectLst/>
            </c:spPr>
            <c:txPr>
              <a:bodyPr/>
              <a:lstStyle/>
              <a:p>
                <a:pPr>
                  <a:defRPr sz="950" b="1" i="0" u="none" strike="noStrike">
                    <a:solidFill>
                      <a:srgbClr val="0A2559"/>
                    </a:solidFill>
                    <a:latin typeface="Arial"/>
                  </a:defRPr>
                </a:pPr>
                <a:endParaRPr lang="en-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 = (60, 25)   σ = (3, 9)</c:v>
                </c:pt>
                <c:pt idx="1">
                  <c:v>n = (25, 60)   σ = (3, 9)</c:v>
                </c:pt>
                <c:pt idx="2">
                  <c:v>n = (30, 30)   σ = (3, 9)</c:v>
                </c:pt>
                <c:pt idx="3">
                  <c:v>n = (50, 50)   σ = (3, 3)</c:v>
                </c:pt>
              </c:strCache>
            </c:strRef>
          </c:cat>
          <c:val>
            <c:numRef>
              <c:f>Sheet1!$C$2:$C$5</c:f>
              <c:numCache>
                <c:formatCode>General</c:formatCode>
                <c:ptCount val="4"/>
                <c:pt idx="0">
                  <c:v>4.9000000000000004</c:v>
                </c:pt>
                <c:pt idx="1">
                  <c:v>4.9000000000000004</c:v>
                </c:pt>
                <c:pt idx="2">
                  <c:v>5.05</c:v>
                </c:pt>
                <c:pt idx="3">
                  <c:v>5.0999999999999996</c:v>
                </c:pt>
              </c:numCache>
            </c:numRef>
          </c:val>
          <c:extLst>
            <c:ext xmlns:c16="http://schemas.microsoft.com/office/drawing/2014/chart" uri="{C3380CC4-5D6E-409C-BE32-E72D297353CC}">
              <c16:uniqueId val="{00000001-AAED-804E-928A-CF5DD39FDC9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C3A55"/>
                </a:solidFill>
                <a:latin typeface="Arial"/>
              </a:defRPr>
            </a:pPr>
            <a:endParaRPr lang="en-US"/>
          </a:p>
        </c:txPr>
        <c:crossAx val="2094734552"/>
        <c:crosses val="autoZero"/>
        <c:auto val="1"/>
        <c:lblAlgn val="ctr"/>
        <c:lblOffset val="100"/>
        <c:noMultiLvlLbl val="1"/>
      </c:catAx>
      <c:valAx>
        <c:axId val="2094734552"/>
        <c:scaling>
          <c:orientation val="minMax"/>
          <c:max val="20"/>
          <c:min val="0"/>
        </c:scaling>
        <c:delete val="0"/>
        <c:axPos val="l"/>
        <c:majorGridlines>
          <c:spPr>
            <a:ln w="12700" cap="flat">
              <a:solidFill>
                <a:srgbClr val="E1E8F5"/>
              </a:solidFill>
              <a:prstDash val="solid"/>
              <a:round/>
            </a:ln>
          </c:spPr>
        </c:majorGridlines>
        <c:title>
          <c:tx>
            <c:rich>
              <a:bodyPr/>
              <a:lstStyle/>
              <a:p>
                <a:pPr>
                  <a:defRPr sz="950" b="0" i="0" u="none" strike="noStrike">
                    <a:solidFill>
                      <a:srgbClr val="5B6B87"/>
                    </a:solidFill>
                    <a:latin typeface="Arial"/>
                  </a:defRPr>
                </a:pPr>
                <a:r>
                  <a:rPr lang="en-US" sz="950" b="0" i="0" u="none" strike="noStrike">
                    <a:solidFill>
                      <a:srgbClr val="5B6B87"/>
                    </a:solidFill>
                    <a:latin typeface="Arial"/>
                  </a:rPr>
                  <a:t>% de rechazos cuando H₀ es VERDADERA</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2C3A55"/>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ANOVA clásico</c:v>
                </c:pt>
              </c:strCache>
            </c:strRef>
          </c:tx>
          <c:spPr>
            <a:solidFill>
              <a:srgbClr val="E6115E"/>
            </a:solidFill>
            <a:effectLst/>
          </c:spPr>
          <c:invertIfNegative val="0"/>
          <c:dLbls>
            <c:numFmt formatCode="0.0&quot;%&quot;" sourceLinked="0"/>
            <c:spPr>
              <a:noFill/>
              <a:ln>
                <a:noFill/>
              </a:ln>
              <a:effectLst/>
            </c:spPr>
            <c:txPr>
              <a:bodyPr/>
              <a:lstStyle/>
              <a:p>
                <a:pPr>
                  <a:defRPr sz="900" b="1" i="0" u="none" strike="noStrike">
                    <a:solidFill>
                      <a:srgbClr val="0A2559"/>
                    </a:solidFill>
                    <a:latin typeface="Arial"/>
                  </a:defRPr>
                </a:pPr>
                <a:endParaRPr lang="en-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 = (60, 45, 25)   σ = (3, 3.2, 9)</c:v>
                </c:pt>
                <c:pt idx="1">
                  <c:v>n = (25, 45, 60)   σ = (9, 3.2, 3)</c:v>
                </c:pt>
                <c:pt idx="2">
                  <c:v>n = (40, 40, 40)   σ = (3, 3, 9)</c:v>
                </c:pt>
              </c:strCache>
            </c:strRef>
          </c:cat>
          <c:val>
            <c:numRef>
              <c:f>Sheet1!$B$2:$B$4</c:f>
              <c:numCache>
                <c:formatCode>General</c:formatCode>
                <c:ptCount val="3"/>
                <c:pt idx="0">
                  <c:v>16.82</c:v>
                </c:pt>
                <c:pt idx="1">
                  <c:v>16.98</c:v>
                </c:pt>
                <c:pt idx="2">
                  <c:v>7.17</c:v>
                </c:pt>
              </c:numCache>
            </c:numRef>
          </c:val>
          <c:extLst>
            <c:ext xmlns:c16="http://schemas.microsoft.com/office/drawing/2014/chart" uri="{C3380CC4-5D6E-409C-BE32-E72D297353CC}">
              <c16:uniqueId val="{00000000-81D9-FC4E-BCC6-EF05B0D1AAF4}"/>
            </c:ext>
          </c:extLst>
        </c:ser>
        <c:ser>
          <c:idx val="1"/>
          <c:order val="1"/>
          <c:tx>
            <c:strRef>
              <c:f>Sheet1!$C$1</c:f>
              <c:strCache>
                <c:ptCount val="1"/>
                <c:pt idx="0">
                  <c:v>ANOVA de Welch</c:v>
                </c:pt>
              </c:strCache>
            </c:strRef>
          </c:tx>
          <c:spPr>
            <a:solidFill>
              <a:srgbClr val="12B886"/>
            </a:solidFill>
            <a:effectLst/>
          </c:spPr>
          <c:invertIfNegative val="0"/>
          <c:dLbls>
            <c:numFmt formatCode="0.0&quot;%&quot;" sourceLinked="0"/>
            <c:spPr>
              <a:noFill/>
              <a:ln>
                <a:noFill/>
              </a:ln>
              <a:effectLst/>
            </c:spPr>
            <c:txPr>
              <a:bodyPr/>
              <a:lstStyle/>
              <a:p>
                <a:pPr>
                  <a:defRPr sz="900" b="1" i="0" u="none" strike="noStrike">
                    <a:solidFill>
                      <a:srgbClr val="0A2559"/>
                    </a:solidFill>
                    <a:latin typeface="Arial"/>
                  </a:defRPr>
                </a:pPr>
                <a:endParaRPr lang="en-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 = (60, 45, 25)   σ = (3, 3.2, 9)</c:v>
                </c:pt>
                <c:pt idx="1">
                  <c:v>n = (25, 45, 60)   σ = (9, 3.2, 3)</c:v>
                </c:pt>
                <c:pt idx="2">
                  <c:v>n = (40, 40, 40)   σ = (3, 3, 9)</c:v>
                </c:pt>
              </c:strCache>
            </c:strRef>
          </c:cat>
          <c:val>
            <c:numRef>
              <c:f>Sheet1!$C$2:$C$4</c:f>
              <c:numCache>
                <c:formatCode>General</c:formatCode>
                <c:ptCount val="3"/>
                <c:pt idx="0">
                  <c:v>4.79</c:v>
                </c:pt>
                <c:pt idx="1">
                  <c:v>5.14</c:v>
                </c:pt>
                <c:pt idx="2">
                  <c:v>4.9000000000000004</c:v>
                </c:pt>
              </c:numCache>
            </c:numRef>
          </c:val>
          <c:extLst>
            <c:ext xmlns:c16="http://schemas.microsoft.com/office/drawing/2014/chart" uri="{C3380CC4-5D6E-409C-BE32-E72D297353CC}">
              <c16:uniqueId val="{00000001-81D9-FC4E-BCC6-EF05B0D1AAF4}"/>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2C3A55"/>
                </a:solidFill>
                <a:latin typeface="Arial"/>
              </a:defRPr>
            </a:pPr>
            <a:endParaRPr lang="en-US"/>
          </a:p>
        </c:txPr>
        <c:crossAx val="2094734552"/>
        <c:crosses val="autoZero"/>
        <c:auto val="1"/>
        <c:lblAlgn val="ctr"/>
        <c:lblOffset val="100"/>
        <c:noMultiLvlLbl val="1"/>
      </c:catAx>
      <c:valAx>
        <c:axId val="2094734552"/>
        <c:scaling>
          <c:orientation val="minMax"/>
          <c:max val="20"/>
          <c:min val="0"/>
        </c:scaling>
        <c:delete val="0"/>
        <c:axPos val="l"/>
        <c:majorGridlines>
          <c:spPr>
            <a:ln w="12700" cap="flat">
              <a:solidFill>
                <a:srgbClr val="E1E8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C3A55"/>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7492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 con esto: 'en la Clase 5 compararon su muestra contra un número que alguien propuso. Eso casi nunca es la pregunta real. La pregunta real es si dos cosas que ustedes miden son distintas entre sí.' Y la advertencia de la sesión: 'hoy van a ver que el default de scipy para comparar dos grupos es el equivocado, y que la prueba que enseñan todos los libros falla justo en el caso más común de su trabajo: grupos de tamaño desigual con dispersión desigual.'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tarjeta blanca es la continuidad: no es un tema nuevo, es el mismo cociente con un denominador más elaborado. La tarjeta oscura presenta el dataset del día y ya adelanta el conflicto: tamaños y dispersiones desiguales. Di explícitamente que ese caso no es raro ni artificial: es el caso normal en cualquier operación con canales o sucursales.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Anunciar la slide 14 desde la agenda genera expectativa y evita que parezca un error cuando llegue. El bloque 4 es el que se comprime si vienen retrasados. El bloque 2 no se toca: la simulación de la slide 8 es el corazón de la clase.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solo independientes, emparejados y heterocedástico. Los otros cinco quedan como referencia. La regla del pie es la que hay que decir mirando al grupo, porque la slide 6 la cuantifica: usar la prueba equivocada ahí pasa de p = 0.0000004 a p = 0.13.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por tarjeta como máximo. El punto está en la tarjeta oscura: es un test operativo que resuelve el diseño sin teoría. Pregunta al grupo por un ejemplo de emparejado de su trabajo. Salen cosas como 'el mismo cliente antes y después de la campaña' o 'el mismo modelo evaluado en dos periodos'. Ese segundo caso es el que más se equivoca en la práctica.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vende la clase en treinta segundos. Deja los dos números en pantalla y pregunta: '¿cuál de los dos análisis publicarían?'. El de la izquierda detecta un efecto real y contundente; el de la derecha concluye que no pasó nada. Los datos son idénticos. El mensaje es que la elección de la prueba no es un detalle metodológico: es la diferencia entre ver y no ver.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orden del guion: primero las dos fórmulas (30 segundos, sin derivar nada), después la tabla de la izquierda para que vean que la varianza de agencia es 11 veces la de app, y recién entonces la tabla de resultados. El gl fraccionario de Welch (25.76) siempre genera preguntas: es normal, sale de la fórmula de Welch-Satterthwaite y no hay que memorizarla. Cierra con el aviso del default de scipy, que es lo más accionable de la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de la clase. Guion: 'en las cuatro situaciones las dos poblaciones tienen exactamente la misma media. No hay ninguna diferencia que encontrar. Cada barra es cuántas veces la prueba dice que sí la hay.' Después señala la primera barra magenta: 17.1 %. Y remata: 'esta prueba, la que enseñan todos los libros, les va a dar un falso positivo una de cada seis veces en un escenario que es el normal en su trabajo.' El caso 2 es igual de importante y menos intuitivo: 0.7 % significa que casi nunca detecta nada, o sea que pierden potencia. Fallar por conservador también es fallar.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El dato que engancha es el temporal: la solución tiene 78 años y sigue sin ser el default. La tarjeta oscura del final es el argumento que hay que saber defender en una revisión de código: el razonamiento no es 'Welch es mejor', es 'el costo de equivocarse es asimétrico'. La tarjeta del error de método (correr Levene y luego decidir) es la práctica que muchos aprendieron en la universidad; vale decir explícitamente que hoy se recomienda no hacerlo.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puente con la Clase 5 hay que hacerlo explícito: 'el p-valor ya nos dijo que la diferencia no es ruido. Ahora la pregunta que importa es si cuatro días de más justifican cambiar el proceso, y eso el p-valor no lo contesta'. La tercera fila de la tabla (app vs web) es el ejemplo perfecto de significancia irrelevante: menos de un día de diferencia. La redacción de la tarjeta final es la que quiero que copien: efecto primero, p-valor último.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es aritmética de la Clase 5 aplicada a este contexto: k grupos generan k(k-1)/2 pruebas. El dato que hay que decir es el de diez sucursales: 45 comparaciones, 90 % de probabilidad de al menos un falso hallazgo. Cualquiera que compare sucursales en un dashboard está en esa situación. Sobre las dos estrategias: aclara que la A es perfectamente respetable y a menudo mejor. El ANOVA no es un peaje obligatorio antes de comparar pares.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importante es el nombre: análisis de VARIANZA, aunque compare medias. Muchos alumnos arrastran esa confusión desde la universidad. La tarjeta de la izquierda es la limitación que hay que subrayar: un ANOVA significativo no identifica nada. Es una alarma, no un diagnóstico. Y la tarjeta de la derecha prepara la slide 13: el supuesto frágil es justo el que nuestros datos violan.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 primero la fila del ANOVA clásico (p = 0.0002) y la de Welch (p = 0.028). Los dos rechazan, pero la fuerza de la evidencia cambia por un factor de 140. El gráfico es el argumento: 16.8 % de falsos positivos con el clásico. Es el mismo patrón de la slide 8, ahora con k grupos. Si alguien pregunta por qué Kruskal da un p intermedio (0.018), es una buena pregunta: no asume normalidad ni varianzas iguales, pero tampoco compara medias exactamente. Se ve en la slide 16.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que hay que dar despacio y la que más valor tiene de la sesión. Guion: deja la tabla en silencio 20 segundos. Después pregunta: '¿cuál de los dos análisis reportarían?'. Deja que discutan un momento; suele haber división real en el aula. Después la resolución de la tarjeta final, punto por punto. El punto 2 es el más importante: un p-valor de 0.054 con d = 0.87 no significa 'no hay efecto', significa 'muestra insuficiente'. Y el punto 3 es la acción de negocio: 25 casos de agencia es poco, y eso es lo que hay que arreglar. Si el grupo es de riesgo, remata: en una auditoría te van a preguntar por qué elegiste el método, y 'porque daba significativo' no es una respuesta.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números grandes se leen de izquierda a derecha y el tercero es el que importa: el 87.4 % que NO explica el canal. La tarjeta final es la traducción a decisión y es lo que un jefe quiere oír: sí, el canal importa, pero si solo explica un octavo de la variación, no es donde está la palanca grande. Ese razonamiento — significativo, real, y aun así no prioritario — es difícil de aprender y muy valioso.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tarjeta oscura es el contenido de la slide. Casi todo el mundo dice 'Mann-Whitney compara medianas' y es una simplificación que a veces engaña. El último bullet de la derecha es el más práctico: si tienes que reportar 'agencia tarda 4 días más', necesitas una prueba sobre medias, porque una no paramétrica no te da esa cantidad. El dato final es una buena noticia metodológica: cuando dos enfoques distintos coinciden, la conclusión es más creíble.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 'slide para fotografiar' y da 20 segundos de silencio. Después recorre solo las filas marcadas en magenta, que son los casos generales: Welch, emparejada y ANOVA de Welch. Las demás son excepciones. Y las tres preguntas del final son el cierre conceptual de la sesión.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1 es el que hay que decir con más énfasis porque es de una línea de código y es el más extendido. El error 4 es el más grave éticamente y el que acabaron de ver en la slide 14. Si el tiempo aprieta, di el 1 y el 4 y pasa al Colab.</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Reparte el enlace acá, no antes. Trabajan en parejas. Recorre el aula durante el bloque 2: la simulación vectorizada sobre 20 000 réplicas es donde se traban. El bloque 4 no tiene respuesta única: se les pide escribir una conclusión razonada, y vale leer dos o tres en voz alta al final.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las dos versiones en voz alta, una tras otra. La de la izquierda es la que aparece en el 90 % de los informes; la de la derecha es defendible ante cualquiera. Y remata con el sexto punto del checklist: reconocer los límites de tu muestra no debilita el informe, lo hace creíble. Si alguien objeta que 'así el informe no dice nada', la respuesta es que sí dice algo muy concreto: hay una señal de 4 días, y hace falta más muestra de agencia para confirmarla. Eso es una recomendación accionable.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el checklist y pide pulgares. El punto crítico es el primero: si no identifican el diseño, todo lo demás da igual. El reto es de campo y la cuarta pregunta es la que va a generar la mejor conversación: en la mayoría de los casos nadie decidió la prueba, se heredó de una plantilla. Descubrir eso sobre su propio trabajo es más persuasivo que cualquier slide.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6876288" y="3690282"/>
            <a:ext cx="54864" cy="58758"/>
          </a:xfrm>
          <a:prstGeom prst="rect">
            <a:avLst/>
          </a:prstGeom>
          <a:solidFill>
            <a:srgbClr val="E6115E"/>
          </a:solidFill>
          <a:ln w="12700">
            <a:solidFill>
              <a:srgbClr val="333333"/>
            </a:solidFill>
            <a:prstDash val="solid"/>
          </a:ln>
        </p:spPr>
      </p:sp>
      <p:sp>
        <p:nvSpPr>
          <p:cNvPr id="3" name="Shape 1"/>
          <p:cNvSpPr/>
          <p:nvPr/>
        </p:nvSpPr>
        <p:spPr>
          <a:xfrm>
            <a:off x="6934581" y="3683217"/>
            <a:ext cx="54864" cy="65823"/>
          </a:xfrm>
          <a:prstGeom prst="rect">
            <a:avLst/>
          </a:prstGeom>
          <a:solidFill>
            <a:srgbClr val="E6115E"/>
          </a:solidFill>
          <a:ln w="12700">
            <a:solidFill>
              <a:srgbClr val="333333"/>
            </a:solidFill>
            <a:prstDash val="solid"/>
          </a:ln>
        </p:spPr>
      </p:sp>
      <p:sp>
        <p:nvSpPr>
          <p:cNvPr id="4" name="Shape 2"/>
          <p:cNvSpPr/>
          <p:nvPr/>
        </p:nvSpPr>
        <p:spPr>
          <a:xfrm>
            <a:off x="6992874" y="3675536"/>
            <a:ext cx="54864" cy="73504"/>
          </a:xfrm>
          <a:prstGeom prst="rect">
            <a:avLst/>
          </a:prstGeom>
          <a:solidFill>
            <a:srgbClr val="E6115E"/>
          </a:solidFill>
          <a:ln w="12700">
            <a:solidFill>
              <a:srgbClr val="333333"/>
            </a:solidFill>
            <a:prstDash val="solid"/>
          </a:ln>
        </p:spPr>
      </p:sp>
      <p:sp>
        <p:nvSpPr>
          <p:cNvPr id="5" name="Shape 3"/>
          <p:cNvSpPr/>
          <p:nvPr/>
        </p:nvSpPr>
        <p:spPr>
          <a:xfrm>
            <a:off x="7051167" y="3667219"/>
            <a:ext cx="54864" cy="81821"/>
          </a:xfrm>
          <a:prstGeom prst="rect">
            <a:avLst/>
          </a:prstGeom>
          <a:solidFill>
            <a:srgbClr val="E6115E"/>
          </a:solidFill>
          <a:ln w="12700">
            <a:solidFill>
              <a:srgbClr val="333333"/>
            </a:solidFill>
            <a:prstDash val="solid"/>
          </a:ln>
        </p:spPr>
      </p:sp>
      <p:sp>
        <p:nvSpPr>
          <p:cNvPr id="6" name="Shape 4"/>
          <p:cNvSpPr/>
          <p:nvPr/>
        </p:nvSpPr>
        <p:spPr>
          <a:xfrm>
            <a:off x="7109460" y="3658251"/>
            <a:ext cx="54864" cy="90789"/>
          </a:xfrm>
          <a:prstGeom prst="rect">
            <a:avLst/>
          </a:prstGeom>
          <a:solidFill>
            <a:srgbClr val="E6115E"/>
          </a:solidFill>
          <a:ln w="12700">
            <a:solidFill>
              <a:srgbClr val="333333"/>
            </a:solidFill>
            <a:prstDash val="solid"/>
          </a:ln>
        </p:spPr>
      </p:sp>
      <p:sp>
        <p:nvSpPr>
          <p:cNvPr id="7" name="Shape 5"/>
          <p:cNvSpPr/>
          <p:nvPr/>
        </p:nvSpPr>
        <p:spPr>
          <a:xfrm>
            <a:off x="7167753" y="3648619"/>
            <a:ext cx="54864" cy="100421"/>
          </a:xfrm>
          <a:prstGeom prst="rect">
            <a:avLst/>
          </a:prstGeom>
          <a:solidFill>
            <a:srgbClr val="E6115E"/>
          </a:solidFill>
          <a:ln w="12700">
            <a:solidFill>
              <a:srgbClr val="333333"/>
            </a:solidFill>
            <a:prstDash val="solid"/>
          </a:ln>
        </p:spPr>
      </p:sp>
      <p:sp>
        <p:nvSpPr>
          <p:cNvPr id="8" name="Shape 6"/>
          <p:cNvSpPr/>
          <p:nvPr/>
        </p:nvSpPr>
        <p:spPr>
          <a:xfrm>
            <a:off x="7226046" y="3638318"/>
            <a:ext cx="54864" cy="110722"/>
          </a:xfrm>
          <a:prstGeom prst="rect">
            <a:avLst/>
          </a:prstGeom>
          <a:solidFill>
            <a:srgbClr val="E6115E"/>
          </a:solidFill>
          <a:ln w="12700">
            <a:solidFill>
              <a:srgbClr val="333333"/>
            </a:solidFill>
            <a:prstDash val="solid"/>
          </a:ln>
        </p:spPr>
      </p:sp>
      <p:sp>
        <p:nvSpPr>
          <p:cNvPr id="9" name="Shape 7"/>
          <p:cNvSpPr/>
          <p:nvPr/>
        </p:nvSpPr>
        <p:spPr>
          <a:xfrm>
            <a:off x="7284339" y="3627348"/>
            <a:ext cx="54864" cy="121692"/>
          </a:xfrm>
          <a:prstGeom prst="rect">
            <a:avLst/>
          </a:prstGeom>
          <a:solidFill>
            <a:srgbClr val="E6115E"/>
          </a:solidFill>
          <a:ln w="12700">
            <a:solidFill>
              <a:srgbClr val="333333"/>
            </a:solidFill>
            <a:prstDash val="solid"/>
          </a:ln>
        </p:spPr>
      </p:sp>
      <p:sp>
        <p:nvSpPr>
          <p:cNvPr id="10" name="Shape 8"/>
          <p:cNvSpPr/>
          <p:nvPr/>
        </p:nvSpPr>
        <p:spPr>
          <a:xfrm>
            <a:off x="7342632" y="3615715"/>
            <a:ext cx="54864" cy="133325"/>
          </a:xfrm>
          <a:prstGeom prst="rect">
            <a:avLst/>
          </a:prstGeom>
          <a:solidFill>
            <a:srgbClr val="E6115E"/>
          </a:solidFill>
          <a:ln w="12700">
            <a:solidFill>
              <a:srgbClr val="333333"/>
            </a:solidFill>
            <a:prstDash val="solid"/>
          </a:ln>
        </p:spPr>
      </p:sp>
      <p:sp>
        <p:nvSpPr>
          <p:cNvPr id="11" name="Shape 9"/>
          <p:cNvSpPr/>
          <p:nvPr/>
        </p:nvSpPr>
        <p:spPr>
          <a:xfrm>
            <a:off x="7400925" y="3603435"/>
            <a:ext cx="54864" cy="145605"/>
          </a:xfrm>
          <a:prstGeom prst="rect">
            <a:avLst/>
          </a:prstGeom>
          <a:solidFill>
            <a:srgbClr val="E6115E"/>
          </a:solidFill>
          <a:ln w="12700">
            <a:solidFill>
              <a:srgbClr val="333333"/>
            </a:solidFill>
            <a:prstDash val="solid"/>
          </a:ln>
        </p:spPr>
      </p:sp>
      <p:sp>
        <p:nvSpPr>
          <p:cNvPr id="12" name="Shape 10"/>
          <p:cNvSpPr/>
          <p:nvPr/>
        </p:nvSpPr>
        <p:spPr>
          <a:xfrm>
            <a:off x="7459218" y="3590527"/>
            <a:ext cx="54864" cy="158513"/>
          </a:xfrm>
          <a:prstGeom prst="rect">
            <a:avLst/>
          </a:prstGeom>
          <a:solidFill>
            <a:srgbClr val="E6115E"/>
          </a:solidFill>
          <a:ln w="12700">
            <a:solidFill>
              <a:srgbClr val="333333"/>
            </a:solidFill>
            <a:prstDash val="solid"/>
          </a:ln>
        </p:spPr>
      </p:sp>
      <p:sp>
        <p:nvSpPr>
          <p:cNvPr id="13" name="Shape 11"/>
          <p:cNvSpPr/>
          <p:nvPr/>
        </p:nvSpPr>
        <p:spPr>
          <a:xfrm>
            <a:off x="7517511" y="3577024"/>
            <a:ext cx="54864" cy="172016"/>
          </a:xfrm>
          <a:prstGeom prst="rect">
            <a:avLst/>
          </a:prstGeom>
          <a:solidFill>
            <a:srgbClr val="E6115E"/>
          </a:solidFill>
          <a:ln w="12700">
            <a:solidFill>
              <a:srgbClr val="333333"/>
            </a:solidFill>
            <a:prstDash val="solid"/>
          </a:ln>
        </p:spPr>
      </p:sp>
      <p:sp>
        <p:nvSpPr>
          <p:cNvPr id="14" name="Shape 12"/>
          <p:cNvSpPr/>
          <p:nvPr/>
        </p:nvSpPr>
        <p:spPr>
          <a:xfrm>
            <a:off x="7575804" y="3562962"/>
            <a:ext cx="54864" cy="186078"/>
          </a:xfrm>
          <a:prstGeom prst="rect">
            <a:avLst/>
          </a:prstGeom>
          <a:solidFill>
            <a:srgbClr val="E6115E"/>
          </a:solidFill>
          <a:ln w="12700">
            <a:solidFill>
              <a:srgbClr val="333333"/>
            </a:solidFill>
            <a:prstDash val="solid"/>
          </a:ln>
        </p:spPr>
      </p:sp>
      <p:sp>
        <p:nvSpPr>
          <p:cNvPr id="15" name="Shape 13"/>
          <p:cNvSpPr/>
          <p:nvPr/>
        </p:nvSpPr>
        <p:spPr>
          <a:xfrm>
            <a:off x="7634097" y="3548391"/>
            <a:ext cx="54864" cy="200649"/>
          </a:xfrm>
          <a:prstGeom prst="rect">
            <a:avLst/>
          </a:prstGeom>
          <a:solidFill>
            <a:srgbClr val="E6115E"/>
          </a:solidFill>
          <a:ln w="12700">
            <a:solidFill>
              <a:srgbClr val="333333"/>
            </a:solidFill>
            <a:prstDash val="solid"/>
          </a:ln>
        </p:spPr>
      </p:sp>
      <p:sp>
        <p:nvSpPr>
          <p:cNvPr id="16" name="Shape 14"/>
          <p:cNvSpPr/>
          <p:nvPr/>
        </p:nvSpPr>
        <p:spPr>
          <a:xfrm>
            <a:off x="7692390" y="3533364"/>
            <a:ext cx="54864" cy="215676"/>
          </a:xfrm>
          <a:prstGeom prst="rect">
            <a:avLst/>
          </a:prstGeom>
          <a:solidFill>
            <a:srgbClr val="E6115E"/>
          </a:solidFill>
          <a:ln w="12700">
            <a:solidFill>
              <a:srgbClr val="333333"/>
            </a:solidFill>
            <a:prstDash val="solid"/>
          </a:ln>
        </p:spPr>
      </p:sp>
      <p:sp>
        <p:nvSpPr>
          <p:cNvPr id="17" name="Shape 15"/>
          <p:cNvSpPr/>
          <p:nvPr/>
        </p:nvSpPr>
        <p:spPr>
          <a:xfrm>
            <a:off x="7750683" y="3517949"/>
            <a:ext cx="54864" cy="231091"/>
          </a:xfrm>
          <a:prstGeom prst="rect">
            <a:avLst/>
          </a:prstGeom>
          <a:solidFill>
            <a:srgbClr val="E6115E"/>
          </a:solidFill>
          <a:ln w="12700">
            <a:solidFill>
              <a:srgbClr val="333333"/>
            </a:solidFill>
            <a:prstDash val="solid"/>
          </a:ln>
        </p:spPr>
      </p:sp>
      <p:sp>
        <p:nvSpPr>
          <p:cNvPr id="18" name="Shape 16"/>
          <p:cNvSpPr/>
          <p:nvPr/>
        </p:nvSpPr>
        <p:spPr>
          <a:xfrm>
            <a:off x="7808976" y="3502217"/>
            <a:ext cx="54864" cy="246823"/>
          </a:xfrm>
          <a:prstGeom prst="rect">
            <a:avLst/>
          </a:prstGeom>
          <a:solidFill>
            <a:srgbClr val="E6115E"/>
          </a:solidFill>
          <a:ln w="12700">
            <a:solidFill>
              <a:srgbClr val="333333"/>
            </a:solidFill>
            <a:prstDash val="solid"/>
          </a:ln>
        </p:spPr>
      </p:sp>
      <p:sp>
        <p:nvSpPr>
          <p:cNvPr id="19" name="Shape 17"/>
          <p:cNvSpPr/>
          <p:nvPr/>
        </p:nvSpPr>
        <p:spPr>
          <a:xfrm>
            <a:off x="7867269" y="3486252"/>
            <a:ext cx="54864" cy="262788"/>
          </a:xfrm>
          <a:prstGeom prst="rect">
            <a:avLst/>
          </a:prstGeom>
          <a:solidFill>
            <a:srgbClr val="E6115E"/>
          </a:solidFill>
          <a:ln w="12700">
            <a:solidFill>
              <a:srgbClr val="333333"/>
            </a:solidFill>
            <a:prstDash val="solid"/>
          </a:ln>
        </p:spPr>
      </p:sp>
      <p:sp>
        <p:nvSpPr>
          <p:cNvPr id="20" name="Shape 18"/>
          <p:cNvSpPr/>
          <p:nvPr/>
        </p:nvSpPr>
        <p:spPr>
          <a:xfrm>
            <a:off x="7925562" y="3470142"/>
            <a:ext cx="54864" cy="278898"/>
          </a:xfrm>
          <a:prstGeom prst="rect">
            <a:avLst/>
          </a:prstGeom>
          <a:solidFill>
            <a:srgbClr val="E6115E"/>
          </a:solidFill>
          <a:ln w="12700">
            <a:solidFill>
              <a:srgbClr val="333333"/>
            </a:solidFill>
            <a:prstDash val="solid"/>
          </a:ln>
        </p:spPr>
      </p:sp>
      <p:sp>
        <p:nvSpPr>
          <p:cNvPr id="21" name="Shape 19"/>
          <p:cNvSpPr/>
          <p:nvPr/>
        </p:nvSpPr>
        <p:spPr>
          <a:xfrm>
            <a:off x="7983855" y="3453984"/>
            <a:ext cx="54864" cy="295056"/>
          </a:xfrm>
          <a:prstGeom prst="rect">
            <a:avLst/>
          </a:prstGeom>
          <a:solidFill>
            <a:srgbClr val="E6115E"/>
          </a:solidFill>
          <a:ln w="12700">
            <a:solidFill>
              <a:srgbClr val="333333"/>
            </a:solidFill>
            <a:prstDash val="solid"/>
          </a:ln>
        </p:spPr>
      </p:sp>
      <p:sp>
        <p:nvSpPr>
          <p:cNvPr id="22" name="Shape 20"/>
          <p:cNvSpPr/>
          <p:nvPr/>
        </p:nvSpPr>
        <p:spPr>
          <a:xfrm>
            <a:off x="8042148" y="3437880"/>
            <a:ext cx="54864" cy="311160"/>
          </a:xfrm>
          <a:prstGeom prst="rect">
            <a:avLst/>
          </a:prstGeom>
          <a:solidFill>
            <a:srgbClr val="E6115E"/>
          </a:solidFill>
          <a:ln w="12700">
            <a:solidFill>
              <a:srgbClr val="333333"/>
            </a:solidFill>
            <a:prstDash val="solid"/>
          </a:ln>
        </p:spPr>
      </p:sp>
      <p:sp>
        <p:nvSpPr>
          <p:cNvPr id="23" name="Shape 21"/>
          <p:cNvSpPr/>
          <p:nvPr/>
        </p:nvSpPr>
        <p:spPr>
          <a:xfrm>
            <a:off x="8100441" y="3421940"/>
            <a:ext cx="54864" cy="327100"/>
          </a:xfrm>
          <a:prstGeom prst="rect">
            <a:avLst/>
          </a:prstGeom>
          <a:solidFill>
            <a:srgbClr val="E6115E"/>
          </a:solidFill>
          <a:ln w="12700">
            <a:solidFill>
              <a:srgbClr val="333333"/>
            </a:solidFill>
            <a:prstDash val="solid"/>
          </a:ln>
        </p:spPr>
      </p:sp>
      <p:sp>
        <p:nvSpPr>
          <p:cNvPr id="24" name="Shape 22"/>
          <p:cNvSpPr/>
          <p:nvPr/>
        </p:nvSpPr>
        <p:spPr>
          <a:xfrm>
            <a:off x="8158734" y="3406274"/>
            <a:ext cx="54864" cy="342766"/>
          </a:xfrm>
          <a:prstGeom prst="rect">
            <a:avLst/>
          </a:prstGeom>
          <a:solidFill>
            <a:srgbClr val="E6115E"/>
          </a:solidFill>
          <a:ln w="12700">
            <a:solidFill>
              <a:srgbClr val="333333"/>
            </a:solidFill>
            <a:prstDash val="solid"/>
          </a:ln>
        </p:spPr>
      </p:sp>
      <p:sp>
        <p:nvSpPr>
          <p:cNvPr id="25" name="Shape 23"/>
          <p:cNvSpPr/>
          <p:nvPr/>
        </p:nvSpPr>
        <p:spPr>
          <a:xfrm>
            <a:off x="8217027" y="3390998"/>
            <a:ext cx="54864" cy="358042"/>
          </a:xfrm>
          <a:prstGeom prst="rect">
            <a:avLst/>
          </a:prstGeom>
          <a:solidFill>
            <a:srgbClr val="E6115E"/>
          </a:solidFill>
          <a:ln w="12700">
            <a:solidFill>
              <a:srgbClr val="333333"/>
            </a:solidFill>
            <a:prstDash val="solid"/>
          </a:ln>
        </p:spPr>
      </p:sp>
      <p:sp>
        <p:nvSpPr>
          <p:cNvPr id="26" name="Shape 24"/>
          <p:cNvSpPr/>
          <p:nvPr/>
        </p:nvSpPr>
        <p:spPr>
          <a:xfrm>
            <a:off x="8275320" y="3376229"/>
            <a:ext cx="54864" cy="372811"/>
          </a:xfrm>
          <a:prstGeom prst="rect">
            <a:avLst/>
          </a:prstGeom>
          <a:solidFill>
            <a:srgbClr val="E6115E"/>
          </a:solidFill>
          <a:ln w="12700">
            <a:solidFill>
              <a:srgbClr val="333333"/>
            </a:solidFill>
            <a:prstDash val="solid"/>
          </a:ln>
        </p:spPr>
      </p:sp>
      <p:sp>
        <p:nvSpPr>
          <p:cNvPr id="27" name="Shape 25"/>
          <p:cNvSpPr/>
          <p:nvPr/>
        </p:nvSpPr>
        <p:spPr>
          <a:xfrm>
            <a:off x="8333613" y="3362082"/>
            <a:ext cx="54864" cy="386958"/>
          </a:xfrm>
          <a:prstGeom prst="rect">
            <a:avLst/>
          </a:prstGeom>
          <a:solidFill>
            <a:srgbClr val="E6115E"/>
          </a:solidFill>
          <a:ln w="12700">
            <a:solidFill>
              <a:srgbClr val="333333"/>
            </a:solidFill>
            <a:prstDash val="solid"/>
          </a:ln>
        </p:spPr>
      </p:sp>
      <p:sp>
        <p:nvSpPr>
          <p:cNvPr id="28" name="Shape 26"/>
          <p:cNvSpPr/>
          <p:nvPr/>
        </p:nvSpPr>
        <p:spPr>
          <a:xfrm>
            <a:off x="8391906" y="3348674"/>
            <a:ext cx="54864" cy="400366"/>
          </a:xfrm>
          <a:prstGeom prst="rect">
            <a:avLst/>
          </a:prstGeom>
          <a:solidFill>
            <a:srgbClr val="E6115E"/>
          </a:solidFill>
          <a:ln w="12700">
            <a:solidFill>
              <a:srgbClr val="333333"/>
            </a:solidFill>
            <a:prstDash val="solid"/>
          </a:ln>
        </p:spPr>
      </p:sp>
      <p:sp>
        <p:nvSpPr>
          <p:cNvPr id="29" name="Shape 27"/>
          <p:cNvSpPr/>
          <p:nvPr/>
        </p:nvSpPr>
        <p:spPr>
          <a:xfrm>
            <a:off x="8450199" y="3336116"/>
            <a:ext cx="54864" cy="412924"/>
          </a:xfrm>
          <a:prstGeom prst="rect">
            <a:avLst/>
          </a:prstGeom>
          <a:solidFill>
            <a:srgbClr val="E6115E"/>
          </a:solidFill>
          <a:ln w="12700">
            <a:solidFill>
              <a:srgbClr val="333333"/>
            </a:solidFill>
            <a:prstDash val="solid"/>
          </a:ln>
        </p:spPr>
      </p:sp>
      <p:sp>
        <p:nvSpPr>
          <p:cNvPr id="30" name="Shape 28"/>
          <p:cNvSpPr/>
          <p:nvPr/>
        </p:nvSpPr>
        <p:spPr>
          <a:xfrm>
            <a:off x="8508492" y="3324516"/>
            <a:ext cx="54864" cy="424524"/>
          </a:xfrm>
          <a:prstGeom prst="rect">
            <a:avLst/>
          </a:prstGeom>
          <a:solidFill>
            <a:srgbClr val="E6115E"/>
          </a:solidFill>
          <a:ln w="12700">
            <a:solidFill>
              <a:srgbClr val="333333"/>
            </a:solidFill>
            <a:prstDash val="solid"/>
          </a:ln>
        </p:spPr>
      </p:sp>
      <p:sp>
        <p:nvSpPr>
          <p:cNvPr id="31" name="Shape 29"/>
          <p:cNvSpPr/>
          <p:nvPr/>
        </p:nvSpPr>
        <p:spPr>
          <a:xfrm>
            <a:off x="8566785" y="3313976"/>
            <a:ext cx="54864" cy="435064"/>
          </a:xfrm>
          <a:prstGeom prst="rect">
            <a:avLst/>
          </a:prstGeom>
          <a:solidFill>
            <a:srgbClr val="E6115E"/>
          </a:solidFill>
          <a:ln w="12700">
            <a:solidFill>
              <a:srgbClr val="333333"/>
            </a:solidFill>
            <a:prstDash val="solid"/>
          </a:ln>
        </p:spPr>
      </p:sp>
      <p:sp>
        <p:nvSpPr>
          <p:cNvPr id="32" name="Shape 30"/>
          <p:cNvSpPr/>
          <p:nvPr/>
        </p:nvSpPr>
        <p:spPr>
          <a:xfrm>
            <a:off x="8625078" y="3304589"/>
            <a:ext cx="54864" cy="444451"/>
          </a:xfrm>
          <a:prstGeom prst="rect">
            <a:avLst/>
          </a:prstGeom>
          <a:solidFill>
            <a:srgbClr val="E6115E"/>
          </a:solidFill>
          <a:ln w="12700">
            <a:solidFill>
              <a:srgbClr val="333333"/>
            </a:solidFill>
            <a:prstDash val="solid"/>
          </a:ln>
        </p:spPr>
      </p:sp>
      <p:sp>
        <p:nvSpPr>
          <p:cNvPr id="33" name="Shape 31"/>
          <p:cNvSpPr/>
          <p:nvPr/>
        </p:nvSpPr>
        <p:spPr>
          <a:xfrm>
            <a:off x="8683371" y="3296441"/>
            <a:ext cx="54864" cy="452599"/>
          </a:xfrm>
          <a:prstGeom prst="rect">
            <a:avLst/>
          </a:prstGeom>
          <a:solidFill>
            <a:srgbClr val="E6115E"/>
          </a:solidFill>
          <a:ln w="12700">
            <a:solidFill>
              <a:srgbClr val="333333"/>
            </a:solidFill>
            <a:prstDash val="solid"/>
          </a:ln>
        </p:spPr>
      </p:sp>
      <p:sp>
        <p:nvSpPr>
          <p:cNvPr id="34" name="Shape 32"/>
          <p:cNvSpPr/>
          <p:nvPr/>
        </p:nvSpPr>
        <p:spPr>
          <a:xfrm>
            <a:off x="8741664" y="3289606"/>
            <a:ext cx="54864" cy="459434"/>
          </a:xfrm>
          <a:prstGeom prst="rect">
            <a:avLst/>
          </a:prstGeom>
          <a:solidFill>
            <a:srgbClr val="E6115E"/>
          </a:solidFill>
          <a:ln w="12700">
            <a:solidFill>
              <a:srgbClr val="333333"/>
            </a:solidFill>
            <a:prstDash val="solid"/>
          </a:ln>
        </p:spPr>
      </p:sp>
      <p:sp>
        <p:nvSpPr>
          <p:cNvPr id="35" name="Shape 33"/>
          <p:cNvSpPr/>
          <p:nvPr/>
        </p:nvSpPr>
        <p:spPr>
          <a:xfrm>
            <a:off x="8799957" y="3284149"/>
            <a:ext cx="54864" cy="464891"/>
          </a:xfrm>
          <a:prstGeom prst="rect">
            <a:avLst/>
          </a:prstGeom>
          <a:solidFill>
            <a:srgbClr val="E6115E"/>
          </a:solidFill>
          <a:ln w="12700">
            <a:solidFill>
              <a:srgbClr val="333333"/>
            </a:solidFill>
            <a:prstDash val="solid"/>
          </a:ln>
        </p:spPr>
      </p:sp>
      <p:sp>
        <p:nvSpPr>
          <p:cNvPr id="36" name="Shape 34"/>
          <p:cNvSpPr/>
          <p:nvPr/>
        </p:nvSpPr>
        <p:spPr>
          <a:xfrm>
            <a:off x="8858250" y="3280120"/>
            <a:ext cx="54864" cy="468920"/>
          </a:xfrm>
          <a:prstGeom prst="rect">
            <a:avLst/>
          </a:prstGeom>
          <a:solidFill>
            <a:srgbClr val="E6115E"/>
          </a:solidFill>
          <a:ln w="12700">
            <a:solidFill>
              <a:srgbClr val="333333"/>
            </a:solidFill>
            <a:prstDash val="solid"/>
          </a:ln>
        </p:spPr>
      </p:sp>
      <p:sp>
        <p:nvSpPr>
          <p:cNvPr id="37" name="Shape 35"/>
          <p:cNvSpPr/>
          <p:nvPr/>
        </p:nvSpPr>
        <p:spPr>
          <a:xfrm>
            <a:off x="8916543" y="3277558"/>
            <a:ext cx="54864" cy="471482"/>
          </a:xfrm>
          <a:prstGeom prst="rect">
            <a:avLst/>
          </a:prstGeom>
          <a:solidFill>
            <a:srgbClr val="E6115E"/>
          </a:solidFill>
          <a:ln w="12700">
            <a:solidFill>
              <a:srgbClr val="333333"/>
            </a:solidFill>
            <a:prstDash val="solid"/>
          </a:ln>
        </p:spPr>
      </p:sp>
      <p:sp>
        <p:nvSpPr>
          <p:cNvPr id="38" name="Shape 36"/>
          <p:cNvSpPr/>
          <p:nvPr/>
        </p:nvSpPr>
        <p:spPr>
          <a:xfrm>
            <a:off x="8974836" y="3276487"/>
            <a:ext cx="54864" cy="472553"/>
          </a:xfrm>
          <a:prstGeom prst="rect">
            <a:avLst/>
          </a:prstGeom>
          <a:solidFill>
            <a:srgbClr val="E6115E"/>
          </a:solidFill>
          <a:ln w="12700">
            <a:solidFill>
              <a:srgbClr val="333333"/>
            </a:solidFill>
            <a:prstDash val="solid"/>
          </a:ln>
        </p:spPr>
      </p:sp>
      <p:sp>
        <p:nvSpPr>
          <p:cNvPr id="39" name="Shape 37"/>
          <p:cNvSpPr/>
          <p:nvPr/>
        </p:nvSpPr>
        <p:spPr>
          <a:xfrm>
            <a:off x="9033129" y="3276916"/>
            <a:ext cx="54864" cy="472124"/>
          </a:xfrm>
          <a:prstGeom prst="rect">
            <a:avLst/>
          </a:prstGeom>
          <a:solidFill>
            <a:srgbClr val="E6115E"/>
          </a:solidFill>
          <a:ln w="12700">
            <a:solidFill>
              <a:srgbClr val="333333"/>
            </a:solidFill>
            <a:prstDash val="solid"/>
          </a:ln>
        </p:spPr>
      </p:sp>
      <p:sp>
        <p:nvSpPr>
          <p:cNvPr id="40" name="Shape 38"/>
          <p:cNvSpPr/>
          <p:nvPr/>
        </p:nvSpPr>
        <p:spPr>
          <a:xfrm>
            <a:off x="9091422" y="3278843"/>
            <a:ext cx="54864" cy="470197"/>
          </a:xfrm>
          <a:prstGeom prst="rect">
            <a:avLst/>
          </a:prstGeom>
          <a:solidFill>
            <a:srgbClr val="E6115E"/>
          </a:solidFill>
          <a:ln w="12700">
            <a:solidFill>
              <a:srgbClr val="333333"/>
            </a:solidFill>
            <a:prstDash val="solid"/>
          </a:ln>
        </p:spPr>
      </p:sp>
      <p:sp>
        <p:nvSpPr>
          <p:cNvPr id="41" name="Shape 39"/>
          <p:cNvSpPr/>
          <p:nvPr/>
        </p:nvSpPr>
        <p:spPr>
          <a:xfrm>
            <a:off x="9149715" y="3282248"/>
            <a:ext cx="54864" cy="466792"/>
          </a:xfrm>
          <a:prstGeom prst="rect">
            <a:avLst/>
          </a:prstGeom>
          <a:solidFill>
            <a:srgbClr val="E6115E"/>
          </a:solidFill>
          <a:ln w="12700">
            <a:solidFill>
              <a:srgbClr val="333333"/>
            </a:solidFill>
            <a:prstDash val="solid"/>
          </a:ln>
        </p:spPr>
      </p:sp>
      <p:sp>
        <p:nvSpPr>
          <p:cNvPr id="42" name="Shape 40"/>
          <p:cNvSpPr/>
          <p:nvPr/>
        </p:nvSpPr>
        <p:spPr>
          <a:xfrm>
            <a:off x="9208008" y="3287100"/>
            <a:ext cx="54864" cy="461940"/>
          </a:xfrm>
          <a:prstGeom prst="rect">
            <a:avLst/>
          </a:prstGeom>
          <a:solidFill>
            <a:srgbClr val="E6115E"/>
          </a:solidFill>
          <a:ln w="12700">
            <a:solidFill>
              <a:srgbClr val="333333"/>
            </a:solidFill>
            <a:prstDash val="solid"/>
          </a:ln>
        </p:spPr>
      </p:sp>
      <p:sp>
        <p:nvSpPr>
          <p:cNvPr id="43" name="Shape 41"/>
          <p:cNvSpPr/>
          <p:nvPr/>
        </p:nvSpPr>
        <p:spPr>
          <a:xfrm>
            <a:off x="9266301" y="3293352"/>
            <a:ext cx="54864" cy="455688"/>
          </a:xfrm>
          <a:prstGeom prst="rect">
            <a:avLst/>
          </a:prstGeom>
          <a:solidFill>
            <a:srgbClr val="E6115E"/>
          </a:solidFill>
          <a:ln w="12700">
            <a:solidFill>
              <a:srgbClr val="333333"/>
            </a:solidFill>
            <a:prstDash val="solid"/>
          </a:ln>
        </p:spPr>
      </p:sp>
      <p:sp>
        <p:nvSpPr>
          <p:cNvPr id="44" name="Shape 42"/>
          <p:cNvSpPr/>
          <p:nvPr/>
        </p:nvSpPr>
        <p:spPr>
          <a:xfrm>
            <a:off x="9324594" y="3300946"/>
            <a:ext cx="54864" cy="448094"/>
          </a:xfrm>
          <a:prstGeom prst="rect">
            <a:avLst/>
          </a:prstGeom>
          <a:solidFill>
            <a:srgbClr val="E6115E"/>
          </a:solidFill>
          <a:ln w="12700">
            <a:solidFill>
              <a:srgbClr val="333333"/>
            </a:solidFill>
            <a:prstDash val="solid"/>
          </a:ln>
        </p:spPr>
      </p:sp>
      <p:sp>
        <p:nvSpPr>
          <p:cNvPr id="45" name="Shape 43"/>
          <p:cNvSpPr/>
          <p:nvPr/>
        </p:nvSpPr>
        <p:spPr>
          <a:xfrm>
            <a:off x="9382887" y="3309813"/>
            <a:ext cx="54864" cy="439227"/>
          </a:xfrm>
          <a:prstGeom prst="rect">
            <a:avLst/>
          </a:prstGeom>
          <a:solidFill>
            <a:srgbClr val="E6115E"/>
          </a:solidFill>
          <a:ln w="12700">
            <a:solidFill>
              <a:srgbClr val="333333"/>
            </a:solidFill>
            <a:prstDash val="solid"/>
          </a:ln>
        </p:spPr>
      </p:sp>
      <p:sp>
        <p:nvSpPr>
          <p:cNvPr id="46" name="Shape 44"/>
          <p:cNvSpPr/>
          <p:nvPr/>
        </p:nvSpPr>
        <p:spPr>
          <a:xfrm>
            <a:off x="9441180" y="3319871"/>
            <a:ext cx="54864" cy="429169"/>
          </a:xfrm>
          <a:prstGeom prst="rect">
            <a:avLst/>
          </a:prstGeom>
          <a:solidFill>
            <a:srgbClr val="E6115E"/>
          </a:solidFill>
          <a:ln w="12700">
            <a:solidFill>
              <a:srgbClr val="333333"/>
            </a:solidFill>
            <a:prstDash val="solid"/>
          </a:ln>
        </p:spPr>
      </p:sp>
      <p:sp>
        <p:nvSpPr>
          <p:cNvPr id="47" name="Shape 45"/>
          <p:cNvSpPr/>
          <p:nvPr/>
        </p:nvSpPr>
        <p:spPr>
          <a:xfrm>
            <a:off x="9499473" y="3331029"/>
            <a:ext cx="54864" cy="418011"/>
          </a:xfrm>
          <a:prstGeom prst="rect">
            <a:avLst/>
          </a:prstGeom>
          <a:solidFill>
            <a:srgbClr val="E6115E"/>
          </a:solidFill>
          <a:ln w="12700">
            <a:solidFill>
              <a:srgbClr val="333333"/>
            </a:solidFill>
            <a:prstDash val="solid"/>
          </a:ln>
        </p:spPr>
      </p:sp>
      <p:sp>
        <p:nvSpPr>
          <p:cNvPr id="48" name="Shape 46"/>
          <p:cNvSpPr/>
          <p:nvPr/>
        </p:nvSpPr>
        <p:spPr>
          <a:xfrm>
            <a:off x="9557766" y="3343190"/>
            <a:ext cx="54864" cy="405850"/>
          </a:xfrm>
          <a:prstGeom prst="rect">
            <a:avLst/>
          </a:prstGeom>
          <a:solidFill>
            <a:srgbClr val="E6115E"/>
          </a:solidFill>
          <a:ln w="12700">
            <a:solidFill>
              <a:srgbClr val="333333"/>
            </a:solidFill>
            <a:prstDash val="solid"/>
          </a:ln>
        </p:spPr>
      </p:sp>
      <p:sp>
        <p:nvSpPr>
          <p:cNvPr id="49" name="Shape 47"/>
          <p:cNvSpPr/>
          <p:nvPr/>
        </p:nvSpPr>
        <p:spPr>
          <a:xfrm>
            <a:off x="9616059" y="3356248"/>
            <a:ext cx="54864" cy="392792"/>
          </a:xfrm>
          <a:prstGeom prst="rect">
            <a:avLst/>
          </a:prstGeom>
          <a:solidFill>
            <a:srgbClr val="E6115E"/>
          </a:solidFill>
          <a:ln w="12700">
            <a:solidFill>
              <a:srgbClr val="333333"/>
            </a:solidFill>
            <a:prstDash val="solid"/>
          </a:ln>
        </p:spPr>
      </p:sp>
      <p:sp>
        <p:nvSpPr>
          <p:cNvPr id="50" name="Shape 48"/>
          <p:cNvSpPr/>
          <p:nvPr/>
        </p:nvSpPr>
        <p:spPr>
          <a:xfrm>
            <a:off x="9674352" y="3370093"/>
            <a:ext cx="54864" cy="378947"/>
          </a:xfrm>
          <a:prstGeom prst="rect">
            <a:avLst/>
          </a:prstGeom>
          <a:solidFill>
            <a:srgbClr val="E6115E"/>
          </a:solidFill>
          <a:ln w="12700">
            <a:solidFill>
              <a:srgbClr val="333333"/>
            </a:solidFill>
            <a:prstDash val="solid"/>
          </a:ln>
        </p:spPr>
      </p:sp>
      <p:sp>
        <p:nvSpPr>
          <p:cNvPr id="51" name="Shape 49"/>
          <p:cNvSpPr/>
          <p:nvPr/>
        </p:nvSpPr>
        <p:spPr>
          <a:xfrm>
            <a:off x="9732645" y="3384610"/>
            <a:ext cx="54864" cy="364430"/>
          </a:xfrm>
          <a:prstGeom prst="rect">
            <a:avLst/>
          </a:prstGeom>
          <a:solidFill>
            <a:srgbClr val="E6115E"/>
          </a:solidFill>
          <a:ln w="12700">
            <a:solidFill>
              <a:srgbClr val="333333"/>
            </a:solidFill>
            <a:prstDash val="solid"/>
          </a:ln>
        </p:spPr>
      </p:sp>
      <p:sp>
        <p:nvSpPr>
          <p:cNvPr id="52" name="Shape 50"/>
          <p:cNvSpPr/>
          <p:nvPr/>
        </p:nvSpPr>
        <p:spPr>
          <a:xfrm>
            <a:off x="9790938" y="3399683"/>
            <a:ext cx="54864" cy="349357"/>
          </a:xfrm>
          <a:prstGeom prst="rect">
            <a:avLst/>
          </a:prstGeom>
          <a:solidFill>
            <a:srgbClr val="E6115E"/>
          </a:solidFill>
          <a:ln w="12700">
            <a:solidFill>
              <a:srgbClr val="333333"/>
            </a:solidFill>
            <a:prstDash val="solid"/>
          </a:ln>
        </p:spPr>
      </p:sp>
      <p:sp>
        <p:nvSpPr>
          <p:cNvPr id="53" name="Shape 51"/>
          <p:cNvSpPr/>
          <p:nvPr/>
        </p:nvSpPr>
        <p:spPr>
          <a:xfrm>
            <a:off x="9849231" y="3415197"/>
            <a:ext cx="54864" cy="333843"/>
          </a:xfrm>
          <a:prstGeom prst="rect">
            <a:avLst/>
          </a:prstGeom>
          <a:solidFill>
            <a:srgbClr val="E6115E"/>
          </a:solidFill>
          <a:ln w="12700">
            <a:solidFill>
              <a:srgbClr val="333333"/>
            </a:solidFill>
            <a:prstDash val="solid"/>
          </a:ln>
        </p:spPr>
      </p:sp>
      <p:sp>
        <p:nvSpPr>
          <p:cNvPr id="54" name="Shape 52"/>
          <p:cNvSpPr/>
          <p:nvPr/>
        </p:nvSpPr>
        <p:spPr>
          <a:xfrm>
            <a:off x="9907524" y="3431033"/>
            <a:ext cx="54864" cy="318007"/>
          </a:xfrm>
          <a:prstGeom prst="rect">
            <a:avLst/>
          </a:prstGeom>
          <a:solidFill>
            <a:srgbClr val="E6115E"/>
          </a:solidFill>
          <a:ln w="12700">
            <a:solidFill>
              <a:srgbClr val="333333"/>
            </a:solidFill>
            <a:prstDash val="solid"/>
          </a:ln>
        </p:spPr>
      </p:sp>
      <p:sp>
        <p:nvSpPr>
          <p:cNvPr id="55" name="Shape 53"/>
          <p:cNvSpPr/>
          <p:nvPr/>
        </p:nvSpPr>
        <p:spPr>
          <a:xfrm>
            <a:off x="9965817" y="3447081"/>
            <a:ext cx="54864" cy="301959"/>
          </a:xfrm>
          <a:prstGeom prst="rect">
            <a:avLst/>
          </a:prstGeom>
          <a:solidFill>
            <a:srgbClr val="E6115E"/>
          </a:solidFill>
          <a:ln w="12700">
            <a:solidFill>
              <a:srgbClr val="333333"/>
            </a:solidFill>
            <a:prstDash val="solid"/>
          </a:ln>
        </p:spPr>
      </p:sp>
      <p:sp>
        <p:nvSpPr>
          <p:cNvPr id="56" name="Shape 54"/>
          <p:cNvSpPr/>
          <p:nvPr/>
        </p:nvSpPr>
        <p:spPr>
          <a:xfrm>
            <a:off x="10024110" y="3463228"/>
            <a:ext cx="54864" cy="285812"/>
          </a:xfrm>
          <a:prstGeom prst="rect">
            <a:avLst/>
          </a:prstGeom>
          <a:solidFill>
            <a:srgbClr val="E6115E"/>
          </a:solidFill>
          <a:ln w="12700">
            <a:solidFill>
              <a:srgbClr val="333333"/>
            </a:solidFill>
            <a:prstDash val="solid"/>
          </a:ln>
        </p:spPr>
      </p:sp>
      <p:sp>
        <p:nvSpPr>
          <p:cNvPr id="57" name="Shape 55"/>
          <p:cNvSpPr/>
          <p:nvPr/>
        </p:nvSpPr>
        <p:spPr>
          <a:xfrm>
            <a:off x="10082403" y="3479371"/>
            <a:ext cx="54864" cy="269669"/>
          </a:xfrm>
          <a:prstGeom prst="rect">
            <a:avLst/>
          </a:prstGeom>
          <a:solidFill>
            <a:srgbClr val="E6115E"/>
          </a:solidFill>
          <a:ln w="12700">
            <a:solidFill>
              <a:srgbClr val="333333"/>
            </a:solidFill>
            <a:prstDash val="solid"/>
          </a:ln>
        </p:spPr>
      </p:sp>
      <p:sp>
        <p:nvSpPr>
          <p:cNvPr id="58" name="Shape 56"/>
          <p:cNvSpPr/>
          <p:nvPr/>
        </p:nvSpPr>
        <p:spPr>
          <a:xfrm>
            <a:off x="10140696" y="3495410"/>
            <a:ext cx="54864" cy="253630"/>
          </a:xfrm>
          <a:prstGeom prst="rect">
            <a:avLst/>
          </a:prstGeom>
          <a:solidFill>
            <a:srgbClr val="E6115E"/>
          </a:solidFill>
          <a:ln w="12700">
            <a:solidFill>
              <a:srgbClr val="333333"/>
            </a:solidFill>
            <a:prstDash val="solid"/>
          </a:ln>
        </p:spPr>
      </p:sp>
      <p:sp>
        <p:nvSpPr>
          <p:cNvPr id="59" name="Shape 57"/>
          <p:cNvSpPr/>
          <p:nvPr/>
        </p:nvSpPr>
        <p:spPr>
          <a:xfrm>
            <a:off x="10198989" y="3511252"/>
            <a:ext cx="54864" cy="237788"/>
          </a:xfrm>
          <a:prstGeom prst="rect">
            <a:avLst/>
          </a:prstGeom>
          <a:solidFill>
            <a:srgbClr val="E6115E"/>
          </a:solidFill>
          <a:ln w="12700">
            <a:solidFill>
              <a:srgbClr val="333333"/>
            </a:solidFill>
            <a:prstDash val="solid"/>
          </a:ln>
        </p:spPr>
      </p:sp>
      <p:sp>
        <p:nvSpPr>
          <p:cNvPr id="60" name="Shape 58"/>
          <p:cNvSpPr/>
          <p:nvPr/>
        </p:nvSpPr>
        <p:spPr>
          <a:xfrm>
            <a:off x="10257282" y="3526812"/>
            <a:ext cx="54864" cy="222228"/>
          </a:xfrm>
          <a:prstGeom prst="rect">
            <a:avLst/>
          </a:prstGeom>
          <a:solidFill>
            <a:srgbClr val="E6115E"/>
          </a:solidFill>
          <a:ln w="12700">
            <a:solidFill>
              <a:srgbClr val="333333"/>
            </a:solidFill>
            <a:prstDash val="solid"/>
          </a:ln>
        </p:spPr>
      </p:sp>
      <p:sp>
        <p:nvSpPr>
          <p:cNvPr id="61" name="Shape 59"/>
          <p:cNvSpPr/>
          <p:nvPr/>
        </p:nvSpPr>
        <p:spPr>
          <a:xfrm>
            <a:off x="10315575" y="3542013"/>
            <a:ext cx="54864" cy="207027"/>
          </a:xfrm>
          <a:prstGeom prst="rect">
            <a:avLst/>
          </a:prstGeom>
          <a:solidFill>
            <a:srgbClr val="E6115E"/>
          </a:solidFill>
          <a:ln w="12700">
            <a:solidFill>
              <a:srgbClr val="333333"/>
            </a:solidFill>
            <a:prstDash val="solid"/>
          </a:ln>
        </p:spPr>
      </p:sp>
      <p:sp>
        <p:nvSpPr>
          <p:cNvPr id="62" name="Shape 60"/>
          <p:cNvSpPr/>
          <p:nvPr/>
        </p:nvSpPr>
        <p:spPr>
          <a:xfrm>
            <a:off x="10373868" y="3556787"/>
            <a:ext cx="54864" cy="192253"/>
          </a:xfrm>
          <a:prstGeom prst="rect">
            <a:avLst/>
          </a:prstGeom>
          <a:solidFill>
            <a:srgbClr val="E6115E"/>
          </a:solidFill>
          <a:ln w="12700">
            <a:solidFill>
              <a:srgbClr val="333333"/>
            </a:solidFill>
            <a:prstDash val="solid"/>
          </a:ln>
        </p:spPr>
      </p:sp>
      <p:sp>
        <p:nvSpPr>
          <p:cNvPr id="63" name="Shape 61"/>
          <p:cNvSpPr/>
          <p:nvPr/>
        </p:nvSpPr>
        <p:spPr>
          <a:xfrm>
            <a:off x="10432161" y="3571073"/>
            <a:ext cx="54864" cy="177967"/>
          </a:xfrm>
          <a:prstGeom prst="rect">
            <a:avLst/>
          </a:prstGeom>
          <a:solidFill>
            <a:srgbClr val="E6115E"/>
          </a:solidFill>
          <a:ln w="12700">
            <a:solidFill>
              <a:srgbClr val="333333"/>
            </a:solidFill>
            <a:prstDash val="solid"/>
          </a:ln>
        </p:spPr>
      </p:sp>
      <p:sp>
        <p:nvSpPr>
          <p:cNvPr id="64" name="Shape 62"/>
          <p:cNvSpPr/>
          <p:nvPr/>
        </p:nvSpPr>
        <p:spPr>
          <a:xfrm>
            <a:off x="10490454" y="3584821"/>
            <a:ext cx="54864" cy="164219"/>
          </a:xfrm>
          <a:prstGeom prst="rect">
            <a:avLst/>
          </a:prstGeom>
          <a:solidFill>
            <a:srgbClr val="E6115E"/>
          </a:solidFill>
          <a:ln w="12700">
            <a:solidFill>
              <a:srgbClr val="333333"/>
            </a:solidFill>
            <a:prstDash val="solid"/>
          </a:ln>
        </p:spPr>
      </p:sp>
      <p:sp>
        <p:nvSpPr>
          <p:cNvPr id="65" name="Shape 63"/>
          <p:cNvSpPr/>
          <p:nvPr/>
        </p:nvSpPr>
        <p:spPr>
          <a:xfrm>
            <a:off x="10548747" y="3597987"/>
            <a:ext cx="54864" cy="151053"/>
          </a:xfrm>
          <a:prstGeom prst="rect">
            <a:avLst/>
          </a:prstGeom>
          <a:solidFill>
            <a:srgbClr val="E6115E"/>
          </a:solidFill>
          <a:ln w="12700">
            <a:solidFill>
              <a:srgbClr val="333333"/>
            </a:solidFill>
            <a:prstDash val="solid"/>
          </a:ln>
        </p:spPr>
      </p:sp>
      <p:sp>
        <p:nvSpPr>
          <p:cNvPr id="66" name="Shape 64"/>
          <p:cNvSpPr/>
          <p:nvPr/>
        </p:nvSpPr>
        <p:spPr>
          <a:xfrm>
            <a:off x="10607040" y="3610539"/>
            <a:ext cx="54864" cy="138501"/>
          </a:xfrm>
          <a:prstGeom prst="rect">
            <a:avLst/>
          </a:prstGeom>
          <a:solidFill>
            <a:srgbClr val="E6115E"/>
          </a:solidFill>
          <a:ln w="12700">
            <a:solidFill>
              <a:srgbClr val="333333"/>
            </a:solidFill>
            <a:prstDash val="solid"/>
          </a:ln>
        </p:spPr>
      </p:sp>
      <p:sp>
        <p:nvSpPr>
          <p:cNvPr id="67" name="Shape 65"/>
          <p:cNvSpPr/>
          <p:nvPr/>
        </p:nvSpPr>
        <p:spPr>
          <a:xfrm>
            <a:off x="10665333" y="3622451"/>
            <a:ext cx="54864" cy="126589"/>
          </a:xfrm>
          <a:prstGeom prst="rect">
            <a:avLst/>
          </a:prstGeom>
          <a:solidFill>
            <a:srgbClr val="E6115E"/>
          </a:solidFill>
          <a:ln w="12700">
            <a:solidFill>
              <a:srgbClr val="333333"/>
            </a:solidFill>
            <a:prstDash val="solid"/>
          </a:ln>
        </p:spPr>
      </p:sp>
      <p:sp>
        <p:nvSpPr>
          <p:cNvPr id="68" name="Shape 66"/>
          <p:cNvSpPr/>
          <p:nvPr/>
        </p:nvSpPr>
        <p:spPr>
          <a:xfrm>
            <a:off x="10723626" y="3633706"/>
            <a:ext cx="54864" cy="115334"/>
          </a:xfrm>
          <a:prstGeom prst="rect">
            <a:avLst/>
          </a:prstGeom>
          <a:solidFill>
            <a:srgbClr val="E6115E"/>
          </a:solidFill>
          <a:ln w="12700">
            <a:solidFill>
              <a:srgbClr val="333333"/>
            </a:solidFill>
            <a:prstDash val="solid"/>
          </a:ln>
        </p:spPr>
      </p:sp>
      <p:sp>
        <p:nvSpPr>
          <p:cNvPr id="69" name="Shape 67"/>
          <p:cNvSpPr/>
          <p:nvPr/>
        </p:nvSpPr>
        <p:spPr>
          <a:xfrm>
            <a:off x="10781919" y="3644294"/>
            <a:ext cx="54864" cy="104746"/>
          </a:xfrm>
          <a:prstGeom prst="rect">
            <a:avLst/>
          </a:prstGeom>
          <a:solidFill>
            <a:srgbClr val="E6115E"/>
          </a:solidFill>
          <a:ln w="12700">
            <a:solidFill>
              <a:srgbClr val="333333"/>
            </a:solidFill>
            <a:prstDash val="solid"/>
          </a:ln>
        </p:spPr>
      </p:sp>
      <p:sp>
        <p:nvSpPr>
          <p:cNvPr id="70" name="Shape 68"/>
          <p:cNvSpPr/>
          <p:nvPr/>
        </p:nvSpPr>
        <p:spPr>
          <a:xfrm>
            <a:off x="10840212" y="3654211"/>
            <a:ext cx="54864" cy="94829"/>
          </a:xfrm>
          <a:prstGeom prst="rect">
            <a:avLst/>
          </a:prstGeom>
          <a:solidFill>
            <a:srgbClr val="E6115E"/>
          </a:solidFill>
          <a:ln w="12700">
            <a:solidFill>
              <a:srgbClr val="333333"/>
            </a:solidFill>
            <a:prstDash val="solid"/>
          </a:ln>
        </p:spPr>
      </p:sp>
      <p:sp>
        <p:nvSpPr>
          <p:cNvPr id="71" name="Shape 69"/>
          <p:cNvSpPr/>
          <p:nvPr/>
        </p:nvSpPr>
        <p:spPr>
          <a:xfrm>
            <a:off x="10898505" y="3663463"/>
            <a:ext cx="54864" cy="85577"/>
          </a:xfrm>
          <a:prstGeom prst="rect">
            <a:avLst/>
          </a:prstGeom>
          <a:solidFill>
            <a:srgbClr val="E6115E"/>
          </a:solidFill>
          <a:ln w="12700">
            <a:solidFill>
              <a:srgbClr val="333333"/>
            </a:solidFill>
            <a:prstDash val="solid"/>
          </a:ln>
        </p:spPr>
      </p:sp>
      <p:sp>
        <p:nvSpPr>
          <p:cNvPr id="72" name="Shape 70"/>
          <p:cNvSpPr/>
          <p:nvPr/>
        </p:nvSpPr>
        <p:spPr>
          <a:xfrm>
            <a:off x="10956798" y="3672056"/>
            <a:ext cx="54864" cy="76984"/>
          </a:xfrm>
          <a:prstGeom prst="rect">
            <a:avLst/>
          </a:prstGeom>
          <a:solidFill>
            <a:srgbClr val="E6115E"/>
          </a:solidFill>
          <a:ln w="12700">
            <a:solidFill>
              <a:srgbClr val="333333"/>
            </a:solidFill>
            <a:prstDash val="solid"/>
          </a:ln>
        </p:spPr>
      </p:sp>
      <p:sp>
        <p:nvSpPr>
          <p:cNvPr id="73" name="Shape 71"/>
          <p:cNvSpPr/>
          <p:nvPr/>
        </p:nvSpPr>
        <p:spPr>
          <a:xfrm>
            <a:off x="11015091" y="3680007"/>
            <a:ext cx="54864" cy="69033"/>
          </a:xfrm>
          <a:prstGeom prst="rect">
            <a:avLst/>
          </a:prstGeom>
          <a:solidFill>
            <a:srgbClr val="E6115E"/>
          </a:solidFill>
          <a:ln w="12700">
            <a:solidFill>
              <a:srgbClr val="333333"/>
            </a:solidFill>
            <a:prstDash val="solid"/>
          </a:ln>
        </p:spPr>
      </p:sp>
      <p:sp>
        <p:nvSpPr>
          <p:cNvPr id="74" name="Shape 72"/>
          <p:cNvSpPr/>
          <p:nvPr/>
        </p:nvSpPr>
        <p:spPr>
          <a:xfrm>
            <a:off x="11073384" y="3687333"/>
            <a:ext cx="54864" cy="61707"/>
          </a:xfrm>
          <a:prstGeom prst="rect">
            <a:avLst/>
          </a:prstGeom>
          <a:solidFill>
            <a:srgbClr val="E6115E"/>
          </a:solidFill>
          <a:ln w="12700">
            <a:solidFill>
              <a:srgbClr val="333333"/>
            </a:solidFill>
            <a:prstDash val="solid"/>
          </a:ln>
        </p:spPr>
      </p:sp>
      <p:sp>
        <p:nvSpPr>
          <p:cNvPr id="75" name="Shape 73"/>
          <p:cNvSpPr/>
          <p:nvPr/>
        </p:nvSpPr>
        <p:spPr>
          <a:xfrm>
            <a:off x="11131677" y="3694057"/>
            <a:ext cx="54864" cy="54983"/>
          </a:xfrm>
          <a:prstGeom prst="rect">
            <a:avLst/>
          </a:prstGeom>
          <a:solidFill>
            <a:srgbClr val="E6115E"/>
          </a:solidFill>
          <a:ln w="12700">
            <a:solidFill>
              <a:srgbClr val="333333"/>
            </a:solidFill>
            <a:prstDash val="solid"/>
          </a:ln>
        </p:spPr>
      </p:sp>
      <p:sp>
        <p:nvSpPr>
          <p:cNvPr id="76" name="Shape 74"/>
          <p:cNvSpPr/>
          <p:nvPr/>
        </p:nvSpPr>
        <p:spPr>
          <a:xfrm>
            <a:off x="11189970" y="3700203"/>
            <a:ext cx="54864" cy="48837"/>
          </a:xfrm>
          <a:prstGeom prst="rect">
            <a:avLst/>
          </a:prstGeom>
          <a:solidFill>
            <a:srgbClr val="E6115E"/>
          </a:solidFill>
          <a:ln w="12700">
            <a:solidFill>
              <a:srgbClr val="333333"/>
            </a:solidFill>
            <a:prstDash val="solid"/>
          </a:ln>
        </p:spPr>
      </p:sp>
      <p:sp>
        <p:nvSpPr>
          <p:cNvPr id="77" name="Shape 75"/>
          <p:cNvSpPr/>
          <p:nvPr/>
        </p:nvSpPr>
        <p:spPr>
          <a:xfrm>
            <a:off x="7750683" y="3687545"/>
            <a:ext cx="54864" cy="61495"/>
          </a:xfrm>
          <a:prstGeom prst="rect">
            <a:avLst/>
          </a:prstGeom>
          <a:solidFill>
            <a:srgbClr val="1E7A5C"/>
          </a:solidFill>
          <a:ln w="12700">
            <a:solidFill>
              <a:srgbClr val="333333"/>
            </a:solidFill>
            <a:prstDash val="solid"/>
          </a:ln>
        </p:spPr>
      </p:sp>
      <p:sp>
        <p:nvSpPr>
          <p:cNvPr id="78" name="Shape 76"/>
          <p:cNvSpPr/>
          <p:nvPr/>
        </p:nvSpPr>
        <p:spPr>
          <a:xfrm>
            <a:off x="7808976" y="3651939"/>
            <a:ext cx="54864" cy="97101"/>
          </a:xfrm>
          <a:prstGeom prst="rect">
            <a:avLst/>
          </a:prstGeom>
          <a:solidFill>
            <a:srgbClr val="1E7A5C"/>
          </a:solidFill>
          <a:ln w="12700">
            <a:solidFill>
              <a:srgbClr val="333333"/>
            </a:solidFill>
            <a:prstDash val="solid"/>
          </a:ln>
        </p:spPr>
      </p:sp>
      <p:sp>
        <p:nvSpPr>
          <p:cNvPr id="79" name="Shape 77"/>
          <p:cNvSpPr/>
          <p:nvPr/>
        </p:nvSpPr>
        <p:spPr>
          <a:xfrm>
            <a:off x="7867269" y="3600952"/>
            <a:ext cx="54864" cy="148088"/>
          </a:xfrm>
          <a:prstGeom prst="rect">
            <a:avLst/>
          </a:prstGeom>
          <a:solidFill>
            <a:srgbClr val="1E7A5C"/>
          </a:solidFill>
          <a:ln w="12700">
            <a:solidFill>
              <a:srgbClr val="333333"/>
            </a:solidFill>
            <a:prstDash val="solid"/>
          </a:ln>
        </p:spPr>
      </p:sp>
      <p:sp>
        <p:nvSpPr>
          <p:cNvPr id="80" name="Shape 78"/>
          <p:cNvSpPr/>
          <p:nvPr/>
        </p:nvSpPr>
        <p:spPr>
          <a:xfrm>
            <a:off x="7925562" y="3530908"/>
            <a:ext cx="54864" cy="218132"/>
          </a:xfrm>
          <a:prstGeom prst="rect">
            <a:avLst/>
          </a:prstGeom>
          <a:solidFill>
            <a:srgbClr val="1E7A5C"/>
          </a:solidFill>
          <a:ln w="12700">
            <a:solidFill>
              <a:srgbClr val="333333"/>
            </a:solidFill>
            <a:prstDash val="solid"/>
          </a:ln>
        </p:spPr>
      </p:sp>
      <p:sp>
        <p:nvSpPr>
          <p:cNvPr id="81" name="Shape 79"/>
          <p:cNvSpPr/>
          <p:nvPr/>
        </p:nvSpPr>
        <p:spPr>
          <a:xfrm>
            <a:off x="7983855" y="3438707"/>
            <a:ext cx="54864" cy="310333"/>
          </a:xfrm>
          <a:prstGeom prst="rect">
            <a:avLst/>
          </a:prstGeom>
          <a:solidFill>
            <a:srgbClr val="1E7A5C"/>
          </a:solidFill>
          <a:ln w="12700">
            <a:solidFill>
              <a:srgbClr val="333333"/>
            </a:solidFill>
            <a:prstDash val="solid"/>
          </a:ln>
        </p:spPr>
      </p:sp>
      <p:sp>
        <p:nvSpPr>
          <p:cNvPr id="82" name="Shape 80"/>
          <p:cNvSpPr/>
          <p:nvPr/>
        </p:nvSpPr>
        <p:spPr>
          <a:xfrm>
            <a:off x="8042148" y="3322613"/>
            <a:ext cx="54864" cy="426427"/>
          </a:xfrm>
          <a:prstGeom prst="rect">
            <a:avLst/>
          </a:prstGeom>
          <a:solidFill>
            <a:srgbClr val="1E7A5C"/>
          </a:solidFill>
          <a:ln w="12700">
            <a:solidFill>
              <a:srgbClr val="333333"/>
            </a:solidFill>
            <a:prstDash val="solid"/>
          </a:ln>
        </p:spPr>
      </p:sp>
      <p:sp>
        <p:nvSpPr>
          <p:cNvPr id="83" name="Shape 81"/>
          <p:cNvSpPr/>
          <p:nvPr/>
        </p:nvSpPr>
        <p:spPr>
          <a:xfrm>
            <a:off x="8100441" y="3183102"/>
            <a:ext cx="54864" cy="565938"/>
          </a:xfrm>
          <a:prstGeom prst="rect">
            <a:avLst/>
          </a:prstGeom>
          <a:solidFill>
            <a:srgbClr val="1E7A5C"/>
          </a:solidFill>
          <a:ln w="12700">
            <a:solidFill>
              <a:srgbClr val="333333"/>
            </a:solidFill>
            <a:prstDash val="solid"/>
          </a:ln>
        </p:spPr>
      </p:sp>
      <p:sp>
        <p:nvSpPr>
          <p:cNvPr id="84" name="Shape 82"/>
          <p:cNvSpPr/>
          <p:nvPr/>
        </p:nvSpPr>
        <p:spPr>
          <a:xfrm>
            <a:off x="8158734" y="3023600"/>
            <a:ext cx="54864" cy="725440"/>
          </a:xfrm>
          <a:prstGeom prst="rect">
            <a:avLst/>
          </a:prstGeom>
          <a:solidFill>
            <a:srgbClr val="1E7A5C"/>
          </a:solidFill>
          <a:ln w="12700">
            <a:solidFill>
              <a:srgbClr val="333333"/>
            </a:solidFill>
            <a:prstDash val="solid"/>
          </a:ln>
        </p:spPr>
      </p:sp>
      <p:sp>
        <p:nvSpPr>
          <p:cNvPr id="85" name="Shape 83"/>
          <p:cNvSpPr/>
          <p:nvPr/>
        </p:nvSpPr>
        <p:spPr>
          <a:xfrm>
            <a:off x="8217027" y="2850906"/>
            <a:ext cx="54864" cy="898134"/>
          </a:xfrm>
          <a:prstGeom prst="rect">
            <a:avLst/>
          </a:prstGeom>
          <a:solidFill>
            <a:srgbClr val="1E7A5C"/>
          </a:solidFill>
          <a:ln w="12700">
            <a:solidFill>
              <a:srgbClr val="333333"/>
            </a:solidFill>
            <a:prstDash val="solid"/>
          </a:ln>
        </p:spPr>
      </p:sp>
      <p:sp>
        <p:nvSpPr>
          <p:cNvPr id="86" name="Shape 84"/>
          <p:cNvSpPr/>
          <p:nvPr/>
        </p:nvSpPr>
        <p:spPr>
          <a:xfrm>
            <a:off x="8275320" y="2675078"/>
            <a:ext cx="54864" cy="1073962"/>
          </a:xfrm>
          <a:prstGeom prst="rect">
            <a:avLst/>
          </a:prstGeom>
          <a:solidFill>
            <a:srgbClr val="1E7A5C"/>
          </a:solidFill>
          <a:ln w="12700">
            <a:solidFill>
              <a:srgbClr val="333333"/>
            </a:solidFill>
            <a:prstDash val="solid"/>
          </a:ln>
        </p:spPr>
      </p:sp>
      <p:sp>
        <p:nvSpPr>
          <p:cNvPr id="87" name="Shape 85"/>
          <p:cNvSpPr/>
          <p:nvPr/>
        </p:nvSpPr>
        <p:spPr>
          <a:xfrm>
            <a:off x="8333613" y="2508690"/>
            <a:ext cx="54864" cy="1240350"/>
          </a:xfrm>
          <a:prstGeom prst="rect">
            <a:avLst/>
          </a:prstGeom>
          <a:solidFill>
            <a:srgbClr val="1E7A5C"/>
          </a:solidFill>
          <a:ln w="12700">
            <a:solidFill>
              <a:srgbClr val="333333"/>
            </a:solidFill>
            <a:prstDash val="solid"/>
          </a:ln>
        </p:spPr>
      </p:sp>
      <p:sp>
        <p:nvSpPr>
          <p:cNvPr id="88" name="Shape 86"/>
          <p:cNvSpPr/>
          <p:nvPr/>
        </p:nvSpPr>
        <p:spPr>
          <a:xfrm>
            <a:off x="8391906" y="2365450"/>
            <a:ext cx="54864" cy="1383590"/>
          </a:xfrm>
          <a:prstGeom prst="rect">
            <a:avLst/>
          </a:prstGeom>
          <a:solidFill>
            <a:srgbClr val="1E7A5C"/>
          </a:solidFill>
          <a:ln w="12700">
            <a:solidFill>
              <a:srgbClr val="333333"/>
            </a:solidFill>
            <a:prstDash val="solid"/>
          </a:ln>
        </p:spPr>
      </p:sp>
      <p:sp>
        <p:nvSpPr>
          <p:cNvPr id="89" name="Shape 87"/>
          <p:cNvSpPr/>
          <p:nvPr/>
        </p:nvSpPr>
        <p:spPr>
          <a:xfrm>
            <a:off x="8450199" y="2258381"/>
            <a:ext cx="54864" cy="1490659"/>
          </a:xfrm>
          <a:prstGeom prst="rect">
            <a:avLst/>
          </a:prstGeom>
          <a:solidFill>
            <a:srgbClr val="1E7A5C"/>
          </a:solidFill>
          <a:ln w="12700">
            <a:solidFill>
              <a:srgbClr val="333333"/>
            </a:solidFill>
            <a:prstDash val="solid"/>
          </a:ln>
        </p:spPr>
      </p:sp>
      <p:sp>
        <p:nvSpPr>
          <p:cNvPr id="90" name="Shape 88"/>
          <p:cNvSpPr/>
          <p:nvPr/>
        </p:nvSpPr>
        <p:spPr>
          <a:xfrm>
            <a:off x="8508492" y="2197878"/>
            <a:ext cx="54864" cy="1551162"/>
          </a:xfrm>
          <a:prstGeom prst="rect">
            <a:avLst/>
          </a:prstGeom>
          <a:solidFill>
            <a:srgbClr val="1E7A5C"/>
          </a:solidFill>
          <a:ln w="12700">
            <a:solidFill>
              <a:srgbClr val="333333"/>
            </a:solidFill>
            <a:prstDash val="solid"/>
          </a:ln>
        </p:spPr>
      </p:sp>
      <p:sp>
        <p:nvSpPr>
          <p:cNvPr id="91" name="Shape 89"/>
          <p:cNvSpPr/>
          <p:nvPr/>
        </p:nvSpPr>
        <p:spPr>
          <a:xfrm>
            <a:off x="8566785" y="2190049"/>
            <a:ext cx="54864" cy="1558991"/>
          </a:xfrm>
          <a:prstGeom prst="rect">
            <a:avLst/>
          </a:prstGeom>
          <a:solidFill>
            <a:srgbClr val="1E7A5C"/>
          </a:solidFill>
          <a:ln w="12700">
            <a:solidFill>
              <a:srgbClr val="333333"/>
            </a:solidFill>
            <a:prstDash val="solid"/>
          </a:ln>
        </p:spPr>
      </p:sp>
      <p:sp>
        <p:nvSpPr>
          <p:cNvPr id="92" name="Shape 90"/>
          <p:cNvSpPr/>
          <p:nvPr/>
        </p:nvSpPr>
        <p:spPr>
          <a:xfrm>
            <a:off x="8625078" y="2235695"/>
            <a:ext cx="54864" cy="1513345"/>
          </a:xfrm>
          <a:prstGeom prst="rect">
            <a:avLst/>
          </a:prstGeom>
          <a:solidFill>
            <a:srgbClr val="1E7A5C"/>
          </a:solidFill>
          <a:ln w="12700">
            <a:solidFill>
              <a:srgbClr val="333333"/>
            </a:solidFill>
            <a:prstDash val="solid"/>
          </a:ln>
        </p:spPr>
      </p:sp>
      <p:sp>
        <p:nvSpPr>
          <p:cNvPr id="93" name="Shape 91"/>
          <p:cNvSpPr/>
          <p:nvPr/>
        </p:nvSpPr>
        <p:spPr>
          <a:xfrm>
            <a:off x="8683371" y="2330179"/>
            <a:ext cx="54864" cy="1418861"/>
          </a:xfrm>
          <a:prstGeom prst="rect">
            <a:avLst/>
          </a:prstGeom>
          <a:solidFill>
            <a:srgbClr val="1E7A5C"/>
          </a:solidFill>
          <a:ln w="12700">
            <a:solidFill>
              <a:srgbClr val="333333"/>
            </a:solidFill>
            <a:prstDash val="solid"/>
          </a:ln>
        </p:spPr>
      </p:sp>
      <p:sp>
        <p:nvSpPr>
          <p:cNvPr id="94" name="Shape 92"/>
          <p:cNvSpPr/>
          <p:nvPr/>
        </p:nvSpPr>
        <p:spPr>
          <a:xfrm>
            <a:off x="8741664" y="2464198"/>
            <a:ext cx="54864" cy="1284842"/>
          </a:xfrm>
          <a:prstGeom prst="rect">
            <a:avLst/>
          </a:prstGeom>
          <a:solidFill>
            <a:srgbClr val="1E7A5C"/>
          </a:solidFill>
          <a:ln w="12700">
            <a:solidFill>
              <a:srgbClr val="333333"/>
            </a:solidFill>
            <a:prstDash val="solid"/>
          </a:ln>
        </p:spPr>
      </p:sp>
      <p:sp>
        <p:nvSpPr>
          <p:cNvPr id="95" name="Shape 93"/>
          <p:cNvSpPr/>
          <p:nvPr/>
        </p:nvSpPr>
        <p:spPr>
          <a:xfrm>
            <a:off x="8799957" y="2625296"/>
            <a:ext cx="54864" cy="1123744"/>
          </a:xfrm>
          <a:prstGeom prst="rect">
            <a:avLst/>
          </a:prstGeom>
          <a:solidFill>
            <a:srgbClr val="1E7A5C"/>
          </a:solidFill>
          <a:ln w="12700">
            <a:solidFill>
              <a:srgbClr val="333333"/>
            </a:solidFill>
            <a:prstDash val="solid"/>
          </a:ln>
        </p:spPr>
      </p:sp>
      <p:sp>
        <p:nvSpPr>
          <p:cNvPr id="96" name="Shape 94"/>
          <p:cNvSpPr/>
          <p:nvPr/>
        </p:nvSpPr>
        <p:spPr>
          <a:xfrm>
            <a:off x="8858250" y="2799763"/>
            <a:ext cx="54864" cy="949277"/>
          </a:xfrm>
          <a:prstGeom prst="rect">
            <a:avLst/>
          </a:prstGeom>
          <a:solidFill>
            <a:srgbClr val="1E7A5C"/>
          </a:solidFill>
          <a:ln w="12700">
            <a:solidFill>
              <a:srgbClr val="333333"/>
            </a:solidFill>
            <a:prstDash val="solid"/>
          </a:ln>
        </p:spPr>
      </p:sp>
      <p:sp>
        <p:nvSpPr>
          <p:cNvPr id="97" name="Shape 95"/>
          <p:cNvSpPr/>
          <p:nvPr/>
        </p:nvSpPr>
        <p:spPr>
          <a:xfrm>
            <a:off x="8916543" y="2974532"/>
            <a:ext cx="54864" cy="774508"/>
          </a:xfrm>
          <a:prstGeom prst="rect">
            <a:avLst/>
          </a:prstGeom>
          <a:solidFill>
            <a:srgbClr val="1E7A5C"/>
          </a:solidFill>
          <a:ln w="12700">
            <a:solidFill>
              <a:srgbClr val="333333"/>
            </a:solidFill>
            <a:prstDash val="solid"/>
          </a:ln>
        </p:spPr>
      </p:sp>
      <p:sp>
        <p:nvSpPr>
          <p:cNvPr id="98" name="Shape 96"/>
          <p:cNvSpPr/>
          <p:nvPr/>
        </p:nvSpPr>
        <p:spPr>
          <a:xfrm>
            <a:off x="8974836" y="3138707"/>
            <a:ext cx="54864" cy="610333"/>
          </a:xfrm>
          <a:prstGeom prst="rect">
            <a:avLst/>
          </a:prstGeom>
          <a:solidFill>
            <a:srgbClr val="1E7A5C"/>
          </a:solidFill>
          <a:ln w="12700">
            <a:solidFill>
              <a:srgbClr val="333333"/>
            </a:solidFill>
            <a:prstDash val="solid"/>
          </a:ln>
        </p:spPr>
      </p:sp>
      <p:sp>
        <p:nvSpPr>
          <p:cNvPr id="99" name="Shape 97"/>
          <p:cNvSpPr/>
          <p:nvPr/>
        </p:nvSpPr>
        <p:spPr>
          <a:xfrm>
            <a:off x="9033129" y="3284508"/>
            <a:ext cx="54864" cy="464532"/>
          </a:xfrm>
          <a:prstGeom prst="rect">
            <a:avLst/>
          </a:prstGeom>
          <a:solidFill>
            <a:srgbClr val="1E7A5C"/>
          </a:solidFill>
          <a:ln w="12700">
            <a:solidFill>
              <a:srgbClr val="333333"/>
            </a:solidFill>
            <a:prstDash val="solid"/>
          </a:ln>
        </p:spPr>
      </p:sp>
      <p:sp>
        <p:nvSpPr>
          <p:cNvPr id="100" name="Shape 98"/>
          <p:cNvSpPr/>
          <p:nvPr/>
        </p:nvSpPr>
        <p:spPr>
          <a:xfrm>
            <a:off x="9091422" y="3407554"/>
            <a:ext cx="54864" cy="341486"/>
          </a:xfrm>
          <a:prstGeom prst="rect">
            <a:avLst/>
          </a:prstGeom>
          <a:solidFill>
            <a:srgbClr val="1E7A5C"/>
          </a:solidFill>
          <a:ln w="12700">
            <a:solidFill>
              <a:srgbClr val="333333"/>
            </a:solidFill>
            <a:prstDash val="solid"/>
          </a:ln>
        </p:spPr>
      </p:sp>
      <p:sp>
        <p:nvSpPr>
          <p:cNvPr id="101" name="Shape 99"/>
          <p:cNvSpPr/>
          <p:nvPr/>
        </p:nvSpPr>
        <p:spPr>
          <a:xfrm>
            <a:off x="9149715" y="3506582"/>
            <a:ext cx="54864" cy="242458"/>
          </a:xfrm>
          <a:prstGeom prst="rect">
            <a:avLst/>
          </a:prstGeom>
          <a:solidFill>
            <a:srgbClr val="1E7A5C"/>
          </a:solidFill>
          <a:ln w="12700">
            <a:solidFill>
              <a:srgbClr val="333333"/>
            </a:solidFill>
            <a:prstDash val="solid"/>
          </a:ln>
        </p:spPr>
      </p:sp>
      <p:sp>
        <p:nvSpPr>
          <p:cNvPr id="102" name="Shape 100"/>
          <p:cNvSpPr/>
          <p:nvPr/>
        </p:nvSpPr>
        <p:spPr>
          <a:xfrm>
            <a:off x="9208008" y="3582772"/>
            <a:ext cx="54864" cy="166268"/>
          </a:xfrm>
          <a:prstGeom prst="rect">
            <a:avLst/>
          </a:prstGeom>
          <a:solidFill>
            <a:srgbClr val="1E7A5C"/>
          </a:solidFill>
          <a:ln w="12700">
            <a:solidFill>
              <a:srgbClr val="333333"/>
            </a:solidFill>
            <a:prstDash val="solid"/>
          </a:ln>
        </p:spPr>
      </p:sp>
      <p:sp>
        <p:nvSpPr>
          <p:cNvPr id="103" name="Shape 101"/>
          <p:cNvSpPr/>
          <p:nvPr/>
        </p:nvSpPr>
        <p:spPr>
          <a:xfrm>
            <a:off x="9266301" y="3638914"/>
            <a:ext cx="54864" cy="110126"/>
          </a:xfrm>
          <a:prstGeom prst="rect">
            <a:avLst/>
          </a:prstGeom>
          <a:solidFill>
            <a:srgbClr val="1E7A5C"/>
          </a:solidFill>
          <a:ln w="12700">
            <a:solidFill>
              <a:srgbClr val="333333"/>
            </a:solidFill>
            <a:prstDash val="solid"/>
          </a:ln>
        </p:spPr>
      </p:sp>
      <p:sp>
        <p:nvSpPr>
          <p:cNvPr id="104" name="Shape 102"/>
          <p:cNvSpPr/>
          <p:nvPr/>
        </p:nvSpPr>
        <p:spPr>
          <a:xfrm>
            <a:off x="9324594" y="3678591"/>
            <a:ext cx="54864" cy="70449"/>
          </a:xfrm>
          <a:prstGeom prst="rect">
            <a:avLst/>
          </a:prstGeom>
          <a:solidFill>
            <a:srgbClr val="1E7A5C"/>
          </a:solidFill>
          <a:ln w="12700">
            <a:solidFill>
              <a:srgbClr val="333333"/>
            </a:solidFill>
            <a:prstDash val="solid"/>
          </a:ln>
        </p:spPr>
      </p:sp>
      <p:sp>
        <p:nvSpPr>
          <p:cNvPr id="105" name="Shape 103"/>
          <p:cNvSpPr/>
          <p:nvPr/>
        </p:nvSpPr>
        <p:spPr>
          <a:xfrm>
            <a:off x="7692390" y="3678993"/>
            <a:ext cx="54864" cy="70047"/>
          </a:xfrm>
          <a:prstGeom prst="rect">
            <a:avLst/>
          </a:prstGeom>
          <a:solidFill>
            <a:srgbClr val="2E5AA8"/>
          </a:solidFill>
          <a:ln w="12700">
            <a:solidFill>
              <a:srgbClr val="333333"/>
            </a:solidFill>
            <a:prstDash val="solid"/>
          </a:ln>
        </p:spPr>
      </p:sp>
      <p:sp>
        <p:nvSpPr>
          <p:cNvPr id="106" name="Shape 104"/>
          <p:cNvSpPr/>
          <p:nvPr/>
        </p:nvSpPr>
        <p:spPr>
          <a:xfrm>
            <a:off x="7750683" y="3638150"/>
            <a:ext cx="54864" cy="110890"/>
          </a:xfrm>
          <a:prstGeom prst="rect">
            <a:avLst/>
          </a:prstGeom>
          <a:solidFill>
            <a:srgbClr val="2E5AA8"/>
          </a:solidFill>
          <a:ln w="12700">
            <a:solidFill>
              <a:srgbClr val="333333"/>
            </a:solidFill>
            <a:prstDash val="solid"/>
          </a:ln>
        </p:spPr>
      </p:sp>
      <p:sp>
        <p:nvSpPr>
          <p:cNvPr id="107" name="Shape 105"/>
          <p:cNvSpPr/>
          <p:nvPr/>
        </p:nvSpPr>
        <p:spPr>
          <a:xfrm>
            <a:off x="7808976" y="3579776"/>
            <a:ext cx="54864" cy="169264"/>
          </a:xfrm>
          <a:prstGeom prst="rect">
            <a:avLst/>
          </a:prstGeom>
          <a:solidFill>
            <a:srgbClr val="2E5AA8"/>
          </a:solidFill>
          <a:ln w="12700">
            <a:solidFill>
              <a:srgbClr val="333333"/>
            </a:solidFill>
            <a:prstDash val="solid"/>
          </a:ln>
        </p:spPr>
      </p:sp>
      <p:sp>
        <p:nvSpPr>
          <p:cNvPr id="108" name="Shape 106"/>
          <p:cNvSpPr/>
          <p:nvPr/>
        </p:nvSpPr>
        <p:spPr>
          <a:xfrm>
            <a:off x="7867269" y="3499922"/>
            <a:ext cx="54864" cy="249118"/>
          </a:xfrm>
          <a:prstGeom prst="rect">
            <a:avLst/>
          </a:prstGeom>
          <a:solidFill>
            <a:srgbClr val="2E5AA8"/>
          </a:solidFill>
          <a:ln w="12700">
            <a:solidFill>
              <a:srgbClr val="333333"/>
            </a:solidFill>
            <a:prstDash val="solid"/>
          </a:ln>
        </p:spPr>
      </p:sp>
      <p:sp>
        <p:nvSpPr>
          <p:cNvPr id="109" name="Shape 107"/>
          <p:cNvSpPr/>
          <p:nvPr/>
        </p:nvSpPr>
        <p:spPr>
          <a:xfrm>
            <a:off x="7925562" y="3395521"/>
            <a:ext cx="54864" cy="353519"/>
          </a:xfrm>
          <a:prstGeom prst="rect">
            <a:avLst/>
          </a:prstGeom>
          <a:solidFill>
            <a:srgbClr val="2E5AA8"/>
          </a:solidFill>
          <a:ln w="12700">
            <a:solidFill>
              <a:srgbClr val="333333"/>
            </a:solidFill>
            <a:prstDash val="solid"/>
          </a:ln>
        </p:spPr>
      </p:sp>
      <p:sp>
        <p:nvSpPr>
          <p:cNvPr id="110" name="Shape 108"/>
          <p:cNvSpPr/>
          <p:nvPr/>
        </p:nvSpPr>
        <p:spPr>
          <a:xfrm>
            <a:off x="7983855" y="3265323"/>
            <a:ext cx="54864" cy="483717"/>
          </a:xfrm>
          <a:prstGeom prst="rect">
            <a:avLst/>
          </a:prstGeom>
          <a:solidFill>
            <a:srgbClr val="2E5AA8"/>
          </a:solidFill>
          <a:ln w="12700">
            <a:solidFill>
              <a:srgbClr val="333333"/>
            </a:solidFill>
            <a:prstDash val="solid"/>
          </a:ln>
        </p:spPr>
      </p:sp>
      <p:sp>
        <p:nvSpPr>
          <p:cNvPr id="111" name="Shape 109"/>
          <p:cNvSpPr/>
          <p:nvPr/>
        </p:nvSpPr>
        <p:spPr>
          <a:xfrm>
            <a:off x="8042148" y="3110868"/>
            <a:ext cx="54864" cy="638172"/>
          </a:xfrm>
          <a:prstGeom prst="rect">
            <a:avLst/>
          </a:prstGeom>
          <a:solidFill>
            <a:srgbClr val="2E5AA8"/>
          </a:solidFill>
          <a:ln w="12700">
            <a:solidFill>
              <a:srgbClr val="333333"/>
            </a:solidFill>
            <a:prstDash val="solid"/>
          </a:ln>
        </p:spPr>
      </p:sp>
      <p:sp>
        <p:nvSpPr>
          <p:cNvPr id="112" name="Shape 110"/>
          <p:cNvSpPr/>
          <p:nvPr/>
        </p:nvSpPr>
        <p:spPr>
          <a:xfrm>
            <a:off x="8100441" y="2937233"/>
            <a:ext cx="54864" cy="811807"/>
          </a:xfrm>
          <a:prstGeom prst="rect">
            <a:avLst/>
          </a:prstGeom>
          <a:solidFill>
            <a:srgbClr val="2E5AA8"/>
          </a:solidFill>
          <a:ln w="12700">
            <a:solidFill>
              <a:srgbClr val="333333"/>
            </a:solidFill>
            <a:prstDash val="solid"/>
          </a:ln>
        </p:spPr>
      </p:sp>
      <p:sp>
        <p:nvSpPr>
          <p:cNvPr id="113" name="Shape 111"/>
          <p:cNvSpPr/>
          <p:nvPr/>
        </p:nvSpPr>
        <p:spPr>
          <a:xfrm>
            <a:off x="8158734" y="2753320"/>
            <a:ext cx="54864" cy="995720"/>
          </a:xfrm>
          <a:prstGeom prst="rect">
            <a:avLst/>
          </a:prstGeom>
          <a:solidFill>
            <a:srgbClr val="2E5AA8"/>
          </a:solidFill>
          <a:ln w="12700">
            <a:solidFill>
              <a:srgbClr val="333333"/>
            </a:solidFill>
            <a:prstDash val="solid"/>
          </a:ln>
        </p:spPr>
      </p:sp>
      <p:sp>
        <p:nvSpPr>
          <p:cNvPr id="114" name="Shape 112"/>
          <p:cNvSpPr/>
          <p:nvPr/>
        </p:nvSpPr>
        <p:spPr>
          <a:xfrm>
            <a:off x="8217027" y="2571460"/>
            <a:ext cx="54864" cy="1177580"/>
          </a:xfrm>
          <a:prstGeom prst="rect">
            <a:avLst/>
          </a:prstGeom>
          <a:solidFill>
            <a:srgbClr val="2E5AA8"/>
          </a:solidFill>
          <a:ln w="12700">
            <a:solidFill>
              <a:srgbClr val="333333"/>
            </a:solidFill>
            <a:prstDash val="solid"/>
          </a:ln>
        </p:spPr>
      </p:sp>
      <p:sp>
        <p:nvSpPr>
          <p:cNvPr id="115" name="Shape 113"/>
          <p:cNvSpPr/>
          <p:nvPr/>
        </p:nvSpPr>
        <p:spPr>
          <a:xfrm>
            <a:off x="8275320" y="2406237"/>
            <a:ext cx="54864" cy="1342803"/>
          </a:xfrm>
          <a:prstGeom prst="rect">
            <a:avLst/>
          </a:prstGeom>
          <a:solidFill>
            <a:srgbClr val="2E5AA8"/>
          </a:solidFill>
          <a:ln w="12700">
            <a:solidFill>
              <a:srgbClr val="333333"/>
            </a:solidFill>
            <a:prstDash val="solid"/>
          </a:ln>
        </p:spPr>
      </p:sp>
      <p:sp>
        <p:nvSpPr>
          <p:cNvPr id="116" name="Shape 114"/>
          <p:cNvSpPr/>
          <p:nvPr/>
        </p:nvSpPr>
        <p:spPr>
          <a:xfrm>
            <a:off x="8333613" y="2272642"/>
            <a:ext cx="54864" cy="1476398"/>
          </a:xfrm>
          <a:prstGeom prst="rect">
            <a:avLst/>
          </a:prstGeom>
          <a:solidFill>
            <a:srgbClr val="2E5AA8"/>
          </a:solidFill>
          <a:ln w="12700">
            <a:solidFill>
              <a:srgbClr val="333333"/>
            </a:solidFill>
            <a:prstDash val="solid"/>
          </a:ln>
        </p:spPr>
      </p:sp>
      <p:sp>
        <p:nvSpPr>
          <p:cNvPr id="117" name="Shape 115"/>
          <p:cNvSpPr/>
          <p:nvPr/>
        </p:nvSpPr>
        <p:spPr>
          <a:xfrm>
            <a:off x="8391906" y="2183864"/>
            <a:ext cx="54864" cy="1565176"/>
          </a:xfrm>
          <a:prstGeom prst="rect">
            <a:avLst/>
          </a:prstGeom>
          <a:solidFill>
            <a:srgbClr val="2E5AA8"/>
          </a:solidFill>
          <a:ln w="12700">
            <a:solidFill>
              <a:srgbClr val="333333"/>
            </a:solidFill>
            <a:prstDash val="solid"/>
          </a:ln>
        </p:spPr>
      </p:sp>
      <p:sp>
        <p:nvSpPr>
          <p:cNvPr id="118" name="Shape 116"/>
          <p:cNvSpPr/>
          <p:nvPr/>
        </p:nvSpPr>
        <p:spPr>
          <a:xfrm>
            <a:off x="8450199" y="2149143"/>
            <a:ext cx="54864" cy="1599897"/>
          </a:xfrm>
          <a:prstGeom prst="rect">
            <a:avLst/>
          </a:prstGeom>
          <a:solidFill>
            <a:srgbClr val="2E5AA8"/>
          </a:solidFill>
          <a:ln w="12700">
            <a:solidFill>
              <a:srgbClr val="333333"/>
            </a:solidFill>
            <a:prstDash val="solid"/>
          </a:ln>
        </p:spPr>
      </p:sp>
      <p:sp>
        <p:nvSpPr>
          <p:cNvPr id="119" name="Shape 117"/>
          <p:cNvSpPr/>
          <p:nvPr/>
        </p:nvSpPr>
        <p:spPr>
          <a:xfrm>
            <a:off x="8508492" y="2172192"/>
            <a:ext cx="54864" cy="1576848"/>
          </a:xfrm>
          <a:prstGeom prst="rect">
            <a:avLst/>
          </a:prstGeom>
          <a:solidFill>
            <a:srgbClr val="2E5AA8"/>
          </a:solidFill>
          <a:ln w="12700">
            <a:solidFill>
              <a:srgbClr val="333333"/>
            </a:solidFill>
            <a:prstDash val="solid"/>
          </a:ln>
        </p:spPr>
      </p:sp>
      <p:sp>
        <p:nvSpPr>
          <p:cNvPr id="120" name="Shape 118"/>
          <p:cNvSpPr/>
          <p:nvPr/>
        </p:nvSpPr>
        <p:spPr>
          <a:xfrm>
            <a:off x="8566785" y="2250541"/>
            <a:ext cx="54864" cy="1498499"/>
          </a:xfrm>
          <a:prstGeom prst="rect">
            <a:avLst/>
          </a:prstGeom>
          <a:solidFill>
            <a:srgbClr val="2E5AA8"/>
          </a:solidFill>
          <a:ln w="12700">
            <a:solidFill>
              <a:srgbClr val="333333"/>
            </a:solidFill>
            <a:prstDash val="solid"/>
          </a:ln>
        </p:spPr>
      </p:sp>
      <p:sp>
        <p:nvSpPr>
          <p:cNvPr id="121" name="Shape 119"/>
          <p:cNvSpPr/>
          <p:nvPr/>
        </p:nvSpPr>
        <p:spPr>
          <a:xfrm>
            <a:off x="8625078" y="2375973"/>
            <a:ext cx="54864" cy="1373067"/>
          </a:xfrm>
          <a:prstGeom prst="rect">
            <a:avLst/>
          </a:prstGeom>
          <a:solidFill>
            <a:srgbClr val="2E5AA8"/>
          </a:solidFill>
          <a:ln w="12700">
            <a:solidFill>
              <a:srgbClr val="333333"/>
            </a:solidFill>
            <a:prstDash val="solid"/>
          </a:ln>
        </p:spPr>
      </p:sp>
      <p:sp>
        <p:nvSpPr>
          <p:cNvPr id="122" name="Shape 120"/>
          <p:cNvSpPr/>
          <p:nvPr/>
        </p:nvSpPr>
        <p:spPr>
          <a:xfrm>
            <a:off x="8683371" y="2535941"/>
            <a:ext cx="54864" cy="1213099"/>
          </a:xfrm>
          <a:prstGeom prst="rect">
            <a:avLst/>
          </a:prstGeom>
          <a:solidFill>
            <a:srgbClr val="2E5AA8"/>
          </a:solidFill>
          <a:ln w="12700">
            <a:solidFill>
              <a:srgbClr val="333333"/>
            </a:solidFill>
            <a:prstDash val="solid"/>
          </a:ln>
        </p:spPr>
      </p:sp>
      <p:sp>
        <p:nvSpPr>
          <p:cNvPr id="123" name="Shape 121"/>
          <p:cNvSpPr/>
          <p:nvPr/>
        </p:nvSpPr>
        <p:spPr>
          <a:xfrm>
            <a:off x="8741664" y="2715638"/>
            <a:ext cx="54864" cy="1033402"/>
          </a:xfrm>
          <a:prstGeom prst="rect">
            <a:avLst/>
          </a:prstGeom>
          <a:solidFill>
            <a:srgbClr val="2E5AA8"/>
          </a:solidFill>
          <a:ln w="12700">
            <a:solidFill>
              <a:srgbClr val="333333"/>
            </a:solidFill>
            <a:prstDash val="solid"/>
          </a:ln>
        </p:spPr>
      </p:sp>
      <p:sp>
        <p:nvSpPr>
          <p:cNvPr id="124" name="Shape 122"/>
          <p:cNvSpPr/>
          <p:nvPr/>
        </p:nvSpPr>
        <p:spPr>
          <a:xfrm>
            <a:off x="8799957" y="2900228"/>
            <a:ext cx="54864" cy="848812"/>
          </a:xfrm>
          <a:prstGeom prst="rect">
            <a:avLst/>
          </a:prstGeom>
          <a:solidFill>
            <a:srgbClr val="2E5AA8"/>
          </a:solidFill>
          <a:ln w="12700">
            <a:solidFill>
              <a:srgbClr val="333333"/>
            </a:solidFill>
            <a:prstDash val="solid"/>
          </a:ln>
        </p:spPr>
      </p:sp>
      <p:sp>
        <p:nvSpPr>
          <p:cNvPr id="125" name="Shape 123"/>
          <p:cNvSpPr/>
          <p:nvPr/>
        </p:nvSpPr>
        <p:spPr>
          <a:xfrm>
            <a:off x="8858250" y="3076803"/>
            <a:ext cx="54864" cy="672237"/>
          </a:xfrm>
          <a:prstGeom prst="rect">
            <a:avLst/>
          </a:prstGeom>
          <a:solidFill>
            <a:srgbClr val="2E5AA8"/>
          </a:solidFill>
          <a:ln w="12700">
            <a:solidFill>
              <a:srgbClr val="333333"/>
            </a:solidFill>
            <a:prstDash val="solid"/>
          </a:ln>
        </p:spPr>
      </p:sp>
      <p:sp>
        <p:nvSpPr>
          <p:cNvPr id="126" name="Shape 124"/>
          <p:cNvSpPr/>
          <p:nvPr/>
        </p:nvSpPr>
        <p:spPr>
          <a:xfrm>
            <a:off x="8916543" y="3235703"/>
            <a:ext cx="54864" cy="513337"/>
          </a:xfrm>
          <a:prstGeom prst="rect">
            <a:avLst/>
          </a:prstGeom>
          <a:solidFill>
            <a:srgbClr val="2E5AA8"/>
          </a:solidFill>
          <a:ln w="12700">
            <a:solidFill>
              <a:srgbClr val="333333"/>
            </a:solidFill>
            <a:prstDash val="solid"/>
          </a:ln>
        </p:spPr>
      </p:sp>
      <p:sp>
        <p:nvSpPr>
          <p:cNvPr id="127" name="Shape 125"/>
          <p:cNvSpPr/>
          <p:nvPr/>
        </p:nvSpPr>
        <p:spPr>
          <a:xfrm>
            <a:off x="8974836" y="3371075"/>
            <a:ext cx="54864" cy="377965"/>
          </a:xfrm>
          <a:prstGeom prst="rect">
            <a:avLst/>
          </a:prstGeom>
          <a:solidFill>
            <a:srgbClr val="2E5AA8"/>
          </a:solidFill>
          <a:ln w="12700">
            <a:solidFill>
              <a:srgbClr val="333333"/>
            </a:solidFill>
            <a:prstDash val="solid"/>
          </a:ln>
        </p:spPr>
      </p:sp>
      <p:sp>
        <p:nvSpPr>
          <p:cNvPr id="128" name="Shape 126"/>
          <p:cNvSpPr/>
          <p:nvPr/>
        </p:nvSpPr>
        <p:spPr>
          <a:xfrm>
            <a:off x="9033129" y="3480710"/>
            <a:ext cx="54864" cy="268330"/>
          </a:xfrm>
          <a:prstGeom prst="rect">
            <a:avLst/>
          </a:prstGeom>
          <a:solidFill>
            <a:srgbClr val="2E5AA8"/>
          </a:solidFill>
          <a:ln w="12700">
            <a:solidFill>
              <a:srgbClr val="333333"/>
            </a:solidFill>
            <a:prstDash val="solid"/>
          </a:ln>
        </p:spPr>
      </p:sp>
      <p:sp>
        <p:nvSpPr>
          <p:cNvPr id="129" name="Shape 127"/>
          <p:cNvSpPr/>
          <p:nvPr/>
        </p:nvSpPr>
        <p:spPr>
          <a:xfrm>
            <a:off x="9091422" y="3565363"/>
            <a:ext cx="54864" cy="183677"/>
          </a:xfrm>
          <a:prstGeom prst="rect">
            <a:avLst/>
          </a:prstGeom>
          <a:solidFill>
            <a:srgbClr val="2E5AA8"/>
          </a:solidFill>
          <a:ln w="12700">
            <a:solidFill>
              <a:srgbClr val="333333"/>
            </a:solidFill>
            <a:prstDash val="solid"/>
          </a:ln>
        </p:spPr>
      </p:sp>
      <p:sp>
        <p:nvSpPr>
          <p:cNvPr id="130" name="Shape 128"/>
          <p:cNvSpPr/>
          <p:nvPr/>
        </p:nvSpPr>
        <p:spPr>
          <a:xfrm>
            <a:off x="9149715" y="3627810"/>
            <a:ext cx="54864" cy="121230"/>
          </a:xfrm>
          <a:prstGeom prst="rect">
            <a:avLst/>
          </a:prstGeom>
          <a:solidFill>
            <a:srgbClr val="2E5AA8"/>
          </a:solidFill>
          <a:ln w="12700">
            <a:solidFill>
              <a:srgbClr val="333333"/>
            </a:solidFill>
            <a:prstDash val="solid"/>
          </a:ln>
        </p:spPr>
      </p:sp>
      <p:sp>
        <p:nvSpPr>
          <p:cNvPr id="131" name="Shape 129"/>
          <p:cNvSpPr/>
          <p:nvPr/>
        </p:nvSpPr>
        <p:spPr>
          <a:xfrm>
            <a:off x="9208008" y="3671890"/>
            <a:ext cx="54864" cy="77150"/>
          </a:xfrm>
          <a:prstGeom prst="rect">
            <a:avLst/>
          </a:prstGeom>
          <a:solidFill>
            <a:srgbClr val="2E5AA8"/>
          </a:solidFill>
          <a:ln w="12700">
            <a:solidFill>
              <a:srgbClr val="333333"/>
            </a:solidFill>
            <a:prstDash val="solid"/>
          </a:ln>
        </p:spPr>
      </p:sp>
      <p:sp>
        <p:nvSpPr>
          <p:cNvPr id="132" name="Shape 130"/>
          <p:cNvSpPr/>
          <p:nvPr/>
        </p:nvSpPr>
        <p:spPr>
          <a:xfrm>
            <a:off x="6903720" y="3749040"/>
            <a:ext cx="4663440" cy="0"/>
          </a:xfrm>
          <a:prstGeom prst="line">
            <a:avLst/>
          </a:prstGeom>
          <a:noFill/>
          <a:ln w="12700">
            <a:solidFill>
              <a:srgbClr val="3A6BB5"/>
            </a:solidFill>
            <a:prstDash val="solid"/>
          </a:ln>
        </p:spPr>
      </p:sp>
      <p:sp>
        <p:nvSpPr>
          <p:cNvPr id="133" name="Shape 131"/>
          <p:cNvSpPr/>
          <p:nvPr/>
        </p:nvSpPr>
        <p:spPr>
          <a:xfrm>
            <a:off x="7040880" y="3922776"/>
            <a:ext cx="146304" cy="146304"/>
          </a:xfrm>
          <a:prstGeom prst="roundRect">
            <a:avLst>
              <a:gd name="adj" fmla="val 18750"/>
            </a:avLst>
          </a:prstGeom>
          <a:solidFill>
            <a:srgbClr val="2E5AA8"/>
          </a:solidFill>
          <a:ln w="12700">
            <a:solidFill>
              <a:srgbClr val="333333"/>
            </a:solidFill>
            <a:prstDash val="solid"/>
          </a:ln>
        </p:spPr>
      </p:sp>
      <p:sp>
        <p:nvSpPr>
          <p:cNvPr id="134" name="Text 132"/>
          <p:cNvSpPr/>
          <p:nvPr/>
        </p:nvSpPr>
        <p:spPr>
          <a:xfrm>
            <a:off x="7260336" y="3877056"/>
            <a:ext cx="1188720" cy="237744"/>
          </a:xfrm>
          <a:prstGeom prst="rect">
            <a:avLst/>
          </a:prstGeom>
          <a:noFill/>
          <a:ln/>
        </p:spPr>
        <p:txBody>
          <a:bodyPr wrap="square" lIns="0" tIns="0" rIns="0" bIns="0" rtlCol="0" anchor="ctr"/>
          <a:lstStyle/>
          <a:p>
            <a:pPr marL="0" indent="0">
              <a:buNone/>
            </a:pPr>
            <a:r>
              <a:rPr lang="en-US" sz="1050" dirty="0">
                <a:solidFill>
                  <a:srgbClr val="8FA6D4"/>
                </a:solidFill>
                <a:latin typeface="Calibri" pitchFamily="34" charset="0"/>
                <a:ea typeface="Calibri" pitchFamily="34" charset="-122"/>
                <a:cs typeface="Calibri" pitchFamily="34" charset="-120"/>
              </a:rPr>
              <a:t>app</a:t>
            </a:r>
            <a:endParaRPr lang="en-US" sz="1050" dirty="0"/>
          </a:p>
        </p:txBody>
      </p:sp>
      <p:sp>
        <p:nvSpPr>
          <p:cNvPr id="135" name="Shape 133"/>
          <p:cNvSpPr/>
          <p:nvPr/>
        </p:nvSpPr>
        <p:spPr>
          <a:xfrm>
            <a:off x="8503920" y="3922776"/>
            <a:ext cx="146304" cy="146304"/>
          </a:xfrm>
          <a:prstGeom prst="roundRect">
            <a:avLst>
              <a:gd name="adj" fmla="val 18750"/>
            </a:avLst>
          </a:prstGeom>
          <a:solidFill>
            <a:srgbClr val="1E7A5C"/>
          </a:solidFill>
          <a:ln w="12700">
            <a:solidFill>
              <a:srgbClr val="333333"/>
            </a:solidFill>
            <a:prstDash val="solid"/>
          </a:ln>
        </p:spPr>
      </p:sp>
      <p:sp>
        <p:nvSpPr>
          <p:cNvPr id="136" name="Text 134"/>
          <p:cNvSpPr/>
          <p:nvPr/>
        </p:nvSpPr>
        <p:spPr>
          <a:xfrm>
            <a:off x="8723376" y="3877056"/>
            <a:ext cx="1188720" cy="237744"/>
          </a:xfrm>
          <a:prstGeom prst="rect">
            <a:avLst/>
          </a:prstGeom>
          <a:noFill/>
          <a:ln/>
        </p:spPr>
        <p:txBody>
          <a:bodyPr wrap="square" lIns="0" tIns="0" rIns="0" bIns="0" rtlCol="0" anchor="ctr"/>
          <a:lstStyle/>
          <a:p>
            <a:pPr marL="0" indent="0">
              <a:buNone/>
            </a:pPr>
            <a:r>
              <a:rPr lang="en-US" sz="1050" dirty="0">
                <a:solidFill>
                  <a:srgbClr val="8FA6D4"/>
                </a:solidFill>
                <a:latin typeface="Calibri" pitchFamily="34" charset="0"/>
                <a:ea typeface="Calibri" pitchFamily="34" charset="-122"/>
                <a:cs typeface="Calibri" pitchFamily="34" charset="-120"/>
              </a:rPr>
              <a:t>web</a:t>
            </a:r>
            <a:endParaRPr lang="en-US" sz="1050" dirty="0"/>
          </a:p>
        </p:txBody>
      </p:sp>
      <p:sp>
        <p:nvSpPr>
          <p:cNvPr id="137" name="Shape 135"/>
          <p:cNvSpPr/>
          <p:nvPr/>
        </p:nvSpPr>
        <p:spPr>
          <a:xfrm>
            <a:off x="9966960" y="3922776"/>
            <a:ext cx="146304" cy="146304"/>
          </a:xfrm>
          <a:prstGeom prst="roundRect">
            <a:avLst>
              <a:gd name="adj" fmla="val 18750"/>
            </a:avLst>
          </a:prstGeom>
          <a:solidFill>
            <a:srgbClr val="E6115E"/>
          </a:solidFill>
          <a:ln w="12700">
            <a:solidFill>
              <a:srgbClr val="333333"/>
            </a:solidFill>
            <a:prstDash val="solid"/>
          </a:ln>
        </p:spPr>
      </p:sp>
      <p:sp>
        <p:nvSpPr>
          <p:cNvPr id="138" name="Text 136"/>
          <p:cNvSpPr/>
          <p:nvPr/>
        </p:nvSpPr>
        <p:spPr>
          <a:xfrm>
            <a:off x="10186416" y="3877056"/>
            <a:ext cx="1188720" cy="237744"/>
          </a:xfrm>
          <a:prstGeom prst="rect">
            <a:avLst/>
          </a:prstGeom>
          <a:noFill/>
          <a:ln/>
        </p:spPr>
        <p:txBody>
          <a:bodyPr wrap="square" lIns="0" tIns="0" rIns="0" bIns="0" rtlCol="0" anchor="ctr"/>
          <a:lstStyle/>
          <a:p>
            <a:pPr marL="0" indent="0">
              <a:buNone/>
            </a:pPr>
            <a:r>
              <a:rPr lang="en-US" sz="1050" dirty="0">
                <a:solidFill>
                  <a:srgbClr val="8FA6D4"/>
                </a:solidFill>
                <a:latin typeface="Calibri" pitchFamily="34" charset="0"/>
                <a:ea typeface="Calibri" pitchFamily="34" charset="-122"/>
                <a:cs typeface="Calibri" pitchFamily="34" charset="-120"/>
              </a:rPr>
              <a:t>agencia</a:t>
            </a:r>
            <a:endParaRPr lang="en-US" sz="1050" dirty="0"/>
          </a:p>
        </p:txBody>
      </p:sp>
      <p:sp>
        <p:nvSpPr>
          <p:cNvPr id="139" name="Text 137"/>
          <p:cNvSpPr/>
          <p:nvPr/>
        </p:nvSpPr>
        <p:spPr>
          <a:xfrm>
            <a:off x="6903720" y="4224528"/>
            <a:ext cx="4663440" cy="237744"/>
          </a:xfrm>
          <a:prstGeom prst="rect">
            <a:avLst/>
          </a:prstGeom>
          <a:noFill/>
          <a:ln/>
        </p:spPr>
        <p:txBody>
          <a:bodyPr wrap="square" lIns="0" tIns="0" rIns="0" bIns="0" rtlCol="0" anchor="ctr"/>
          <a:lstStyle/>
          <a:p>
            <a:pPr marL="0" indent="0" algn="ctr">
              <a:buNone/>
            </a:pPr>
            <a:r>
              <a:rPr lang="en-US" sz="1000" i="1" dirty="0">
                <a:solidFill>
                  <a:srgbClr val="7C93C4"/>
                </a:solidFill>
                <a:latin typeface="Calibri" pitchFamily="34" charset="0"/>
                <a:ea typeface="Calibri" pitchFamily="34" charset="-122"/>
                <a:cs typeface="Calibri" pitchFamily="34" charset="-120"/>
              </a:rPr>
              <a:t>tiempo de resolución (días)</a:t>
            </a:r>
            <a:endParaRPr lang="en-US" sz="1000" dirty="0"/>
          </a:p>
        </p:txBody>
      </p:sp>
      <p:sp>
        <p:nvSpPr>
          <p:cNvPr id="140" name="Shape 138"/>
          <p:cNvSpPr/>
          <p:nvPr/>
        </p:nvSpPr>
        <p:spPr>
          <a:xfrm>
            <a:off x="685800" y="1188720"/>
            <a:ext cx="2743200" cy="347472"/>
          </a:xfrm>
          <a:prstGeom prst="roundRect">
            <a:avLst>
              <a:gd name="adj" fmla="val 50000"/>
            </a:avLst>
          </a:prstGeom>
          <a:solidFill>
            <a:srgbClr val="E6115E"/>
          </a:solidFill>
          <a:ln w="12700">
            <a:solidFill>
              <a:srgbClr val="E6115E"/>
            </a:solidFill>
            <a:prstDash val="solid"/>
          </a:ln>
        </p:spPr>
      </p:sp>
      <p:sp>
        <p:nvSpPr>
          <p:cNvPr id="141" name="Text 139"/>
          <p:cNvSpPr/>
          <p:nvPr/>
        </p:nvSpPr>
        <p:spPr>
          <a:xfrm>
            <a:off x="685800" y="1188720"/>
            <a:ext cx="274320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MÓDULO 2 · CLASE 6</a:t>
            </a:r>
            <a:endParaRPr lang="en-US" sz="1150" dirty="0"/>
          </a:p>
        </p:txBody>
      </p:sp>
      <p:sp>
        <p:nvSpPr>
          <p:cNvPr id="142" name="Text 140"/>
          <p:cNvSpPr/>
          <p:nvPr/>
        </p:nvSpPr>
        <p:spPr>
          <a:xfrm>
            <a:off x="685800" y="1737360"/>
            <a:ext cx="5852160" cy="1737360"/>
          </a:xfrm>
          <a:prstGeom prst="rect">
            <a:avLst/>
          </a:prstGeom>
          <a:noFill/>
          <a:ln/>
        </p:spPr>
        <p:txBody>
          <a:bodyPr wrap="square" lIns="0" tIns="0" rIns="0" bIns="0" rtlCol="0" anchor="t"/>
          <a:lstStyle/>
          <a:p>
            <a:pPr marL="0" indent="0">
              <a:lnSpc>
                <a:spcPct val="98000"/>
              </a:lnSpc>
              <a:buNone/>
            </a:pPr>
            <a:r>
              <a:rPr lang="en-US" sz="4400" b="1" dirty="0">
                <a:solidFill>
                  <a:srgbClr val="FFFFFF"/>
                </a:solidFill>
                <a:latin typeface="Calibri" pitchFamily="34" charset="0"/>
                <a:ea typeface="Calibri" pitchFamily="34" charset="-122"/>
                <a:cs typeface="Calibri" pitchFamily="34" charset="-120"/>
              </a:rPr>
              <a:t>¿Son distintos</a:t>
            </a:r>
            <a:endParaRPr lang="en-US" sz="4400" dirty="0"/>
          </a:p>
          <a:p>
            <a:pPr marL="0" indent="0">
              <a:lnSpc>
                <a:spcPct val="98000"/>
              </a:lnSpc>
              <a:buNone/>
            </a:pPr>
            <a:r>
              <a:rPr lang="en-US" sz="4400" b="1" dirty="0">
                <a:solidFill>
                  <a:srgbClr val="FFFFFF"/>
                </a:solidFill>
                <a:latin typeface="Calibri" pitchFamily="34" charset="0"/>
                <a:ea typeface="Calibri" pitchFamily="34" charset="-122"/>
                <a:cs typeface="Calibri" pitchFamily="34" charset="-120"/>
              </a:rPr>
              <a:t>entre sí?</a:t>
            </a:r>
            <a:endParaRPr lang="en-US" sz="4400" dirty="0"/>
          </a:p>
        </p:txBody>
      </p:sp>
      <p:sp>
        <p:nvSpPr>
          <p:cNvPr id="143" name="Text 141"/>
          <p:cNvSpPr/>
          <p:nvPr/>
        </p:nvSpPr>
        <p:spPr>
          <a:xfrm>
            <a:off x="713232" y="3566160"/>
            <a:ext cx="5852160" cy="822960"/>
          </a:xfrm>
          <a:prstGeom prst="rect">
            <a:avLst/>
          </a:prstGeom>
          <a:noFill/>
          <a:ln/>
        </p:spPr>
        <p:txBody>
          <a:bodyPr wrap="square" lIns="0" tIns="0" rIns="0" bIns="0" rtlCol="0" anchor="t"/>
          <a:lstStyle/>
          <a:p>
            <a:pPr marL="0" indent="0" algn="l">
              <a:lnSpc>
                <a:spcPct val="120000"/>
              </a:lnSpc>
              <a:buNone/>
            </a:pPr>
            <a:r>
              <a:rPr lang="en-US" sz="1500" dirty="0">
                <a:solidFill>
                  <a:srgbClr val="C9D6F2"/>
                </a:solidFill>
                <a:latin typeface="Calibri" pitchFamily="34" charset="0"/>
                <a:ea typeface="Calibri" pitchFamily="34" charset="-122"/>
                <a:cs typeface="Calibri" pitchFamily="34" charset="-120"/>
              </a:rPr>
              <a:t>Comparar dos grupos y comparar varios: la t de Welch, el ANOVA,</a:t>
            </a:r>
            <a:endParaRPr lang="en-US" sz="1500" dirty="0"/>
          </a:p>
          <a:p>
            <a:pPr marL="0" indent="0" algn="l">
              <a:lnSpc>
                <a:spcPct val="120000"/>
              </a:lnSpc>
              <a:buNone/>
            </a:pPr>
            <a:r>
              <a:rPr lang="en-US" sz="1500" dirty="0">
                <a:solidFill>
                  <a:srgbClr val="C9D6F2"/>
                </a:solidFill>
                <a:latin typeface="Calibri" pitchFamily="34" charset="0"/>
                <a:ea typeface="Calibri" pitchFamily="34" charset="-122"/>
                <a:cs typeface="Calibri" pitchFamily="34" charset="-120"/>
              </a:rPr>
              <a:t>las pruebas post-hoc y las alternativas no paramétricas.</a:t>
            </a:r>
            <a:endParaRPr lang="en-US" sz="1500" dirty="0"/>
          </a:p>
        </p:txBody>
      </p:sp>
      <p:sp>
        <p:nvSpPr>
          <p:cNvPr id="144" name="Text 142"/>
          <p:cNvSpPr/>
          <p:nvPr/>
        </p:nvSpPr>
        <p:spPr>
          <a:xfrm>
            <a:off x="713232" y="5029200"/>
            <a:ext cx="2560320" cy="365760"/>
          </a:xfrm>
          <a:prstGeom prst="rect">
            <a:avLst/>
          </a:prstGeom>
          <a:noFill/>
          <a:ln/>
        </p:spPr>
        <p:txBody>
          <a:bodyPr wrap="square" lIns="0" tIns="0" rIns="0" bIns="0" rtlCol="0" anchor="ctr"/>
          <a:lstStyle/>
          <a:p>
            <a:pPr marL="0" indent="0">
              <a:buNone/>
            </a:pPr>
            <a:r>
              <a:rPr lang="en-US" sz="2000" b="1" dirty="0">
                <a:solidFill>
                  <a:srgbClr val="4A82FF"/>
                </a:solidFill>
                <a:latin typeface="Calibri" pitchFamily="34" charset="0"/>
                <a:ea typeface="Calibri" pitchFamily="34" charset="-122"/>
                <a:cs typeface="Calibri" pitchFamily="34" charset="-120"/>
              </a:rPr>
              <a:t>120 min</a:t>
            </a:r>
            <a:endParaRPr lang="en-US" sz="2000" dirty="0"/>
          </a:p>
        </p:txBody>
      </p:sp>
      <p:sp>
        <p:nvSpPr>
          <p:cNvPr id="145" name="Text 143"/>
          <p:cNvSpPr/>
          <p:nvPr/>
        </p:nvSpPr>
        <p:spPr>
          <a:xfrm>
            <a:off x="713232" y="5394960"/>
            <a:ext cx="256032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1 sesión</a:t>
            </a:r>
            <a:endParaRPr lang="en-US" sz="1150" dirty="0"/>
          </a:p>
        </p:txBody>
      </p:sp>
      <p:sp>
        <p:nvSpPr>
          <p:cNvPr id="146" name="Text 144"/>
          <p:cNvSpPr/>
          <p:nvPr/>
        </p:nvSpPr>
        <p:spPr>
          <a:xfrm>
            <a:off x="3502152" y="5029200"/>
            <a:ext cx="2560320" cy="365760"/>
          </a:xfrm>
          <a:prstGeom prst="rect">
            <a:avLst/>
          </a:prstGeom>
          <a:noFill/>
          <a:ln/>
        </p:spPr>
        <p:txBody>
          <a:bodyPr wrap="square" lIns="0" tIns="0" rIns="0" bIns="0" rtlCol="0" anchor="ctr"/>
          <a:lstStyle/>
          <a:p>
            <a:pPr marL="0" indent="0">
              <a:buNone/>
            </a:pPr>
            <a:r>
              <a:rPr lang="en-US" sz="2000" b="1" dirty="0">
                <a:solidFill>
                  <a:srgbClr val="4A82FF"/>
                </a:solidFill>
                <a:latin typeface="Calibri" pitchFamily="34" charset="0"/>
                <a:ea typeface="Calibri" pitchFamily="34" charset="-122"/>
                <a:cs typeface="Calibri" pitchFamily="34" charset="-120"/>
              </a:rPr>
              <a:t>5 bloques</a:t>
            </a:r>
            <a:endParaRPr lang="en-US" sz="2000" dirty="0"/>
          </a:p>
        </p:txBody>
      </p:sp>
      <p:sp>
        <p:nvSpPr>
          <p:cNvPr id="147" name="Text 145"/>
          <p:cNvSpPr/>
          <p:nvPr/>
        </p:nvSpPr>
        <p:spPr>
          <a:xfrm>
            <a:off x="3502152" y="5394960"/>
            <a:ext cx="256032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de laboratorio en Colab</a:t>
            </a:r>
            <a:endParaRPr lang="en-US" sz="1150" dirty="0"/>
          </a:p>
        </p:txBody>
      </p:sp>
      <p:sp>
        <p:nvSpPr>
          <p:cNvPr id="148" name="Text 146"/>
          <p:cNvSpPr/>
          <p:nvPr/>
        </p:nvSpPr>
        <p:spPr>
          <a:xfrm>
            <a:off x="6291072" y="5029200"/>
            <a:ext cx="2560320" cy="365760"/>
          </a:xfrm>
          <a:prstGeom prst="rect">
            <a:avLst/>
          </a:prstGeom>
          <a:noFill/>
          <a:ln/>
        </p:spPr>
        <p:txBody>
          <a:bodyPr wrap="square" lIns="0" tIns="0" rIns="0" bIns="0" rtlCol="0" anchor="ctr"/>
          <a:lstStyle/>
          <a:p>
            <a:pPr marL="0" indent="0">
              <a:buNone/>
            </a:pPr>
            <a:r>
              <a:rPr lang="en-US" sz="2000" b="1" dirty="0">
                <a:solidFill>
                  <a:srgbClr val="4A82FF"/>
                </a:solidFill>
                <a:latin typeface="Calibri" pitchFamily="34" charset="0"/>
                <a:ea typeface="Calibri" pitchFamily="34" charset="-122"/>
                <a:cs typeface="Calibri" pitchFamily="34" charset="-120"/>
              </a:rPr>
              <a:t>SEED = 42</a:t>
            </a:r>
            <a:endParaRPr lang="en-US" sz="2000" dirty="0"/>
          </a:p>
        </p:txBody>
      </p:sp>
      <p:sp>
        <p:nvSpPr>
          <p:cNvPr id="149" name="Text 147"/>
          <p:cNvSpPr/>
          <p:nvPr/>
        </p:nvSpPr>
        <p:spPr>
          <a:xfrm>
            <a:off x="6291072" y="5394960"/>
            <a:ext cx="256032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slides y notebook coinciden</a:t>
            </a:r>
            <a:endParaRPr lang="en-US" sz="1150" dirty="0"/>
          </a:p>
        </p:txBody>
      </p:sp>
      <p:sp>
        <p:nvSpPr>
          <p:cNvPr id="150" name="Text 148"/>
          <p:cNvSpPr/>
          <p:nvPr/>
        </p:nvSpPr>
        <p:spPr>
          <a:xfrm>
            <a:off x="713232" y="6172200"/>
            <a:ext cx="8229600" cy="320040"/>
          </a:xfrm>
          <a:prstGeom prst="rect">
            <a:avLst/>
          </a:prstGeom>
          <a:noFill/>
          <a:ln/>
        </p:spPr>
        <p:txBody>
          <a:bodyPr wrap="square" lIns="0" tIns="0" rIns="0" bIns="0" rtlCol="0" anchor="ctr"/>
          <a:lstStyle/>
          <a:p>
            <a:pPr marL="0" indent="0">
              <a:buNone/>
            </a:pPr>
            <a:r>
              <a:rPr lang="en-US" sz="1100" i="1" dirty="0">
                <a:solidFill>
                  <a:srgbClr val="7C93C4"/>
                </a:solidFill>
                <a:latin typeface="Calibri" pitchFamily="34" charset="0"/>
                <a:ea typeface="Calibri" pitchFamily="34" charset="-122"/>
                <a:cs typeface="Calibri" pitchFamily="34" charset="-120"/>
              </a:rPr>
              <a:t>Estadística Descriptiva e Inferencial · 37 horas académicas · 14 sesiones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DÓNDE ESTAMOS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De comparar contra un número a comparar entre sí</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maquinaria es la misma de la Clase 5. Lo que cambia es qué va en el numerador y qué en el denominador.</a:t>
            </a:r>
            <a:endParaRPr lang="en-US" sz="1400" dirty="0"/>
          </a:p>
        </p:txBody>
      </p:sp>
      <p:sp>
        <p:nvSpPr>
          <p:cNvPr id="6" name="Shape 4"/>
          <p:cNvSpPr/>
          <p:nvPr/>
        </p:nvSpPr>
        <p:spPr>
          <a:xfrm>
            <a:off x="548640" y="2011680"/>
            <a:ext cx="5422392" cy="1664208"/>
          </a:xfrm>
          <a:prstGeom prst="roundRect">
            <a:avLst>
              <a:gd name="adj" fmla="val 3297"/>
            </a:avLst>
          </a:prstGeom>
          <a:solidFill>
            <a:srgbClr val="E9EEF8"/>
          </a:solidFill>
          <a:ln w="12700">
            <a:solidFill>
              <a:srgbClr val="D2DBEC"/>
            </a:solidFill>
            <a:prstDash val="solid"/>
          </a:ln>
        </p:spPr>
      </p:sp>
      <p:sp>
        <p:nvSpPr>
          <p:cNvPr id="7" name="Text 5"/>
          <p:cNvSpPr/>
          <p:nvPr/>
        </p:nvSpPr>
        <p:spPr>
          <a:xfrm>
            <a:off x="804672" y="2157984"/>
            <a:ext cx="4846320" cy="274320"/>
          </a:xfrm>
          <a:prstGeom prst="rect">
            <a:avLst/>
          </a:prstGeom>
          <a:noFill/>
          <a:ln/>
        </p:spPr>
        <p:txBody>
          <a:bodyPr wrap="square" lIns="0" tIns="0" rIns="0" bIns="0" rtlCol="0" anchor="ctr"/>
          <a:lstStyle/>
          <a:p>
            <a:pPr marL="0" indent="0">
              <a:buNone/>
            </a:pPr>
            <a:r>
              <a:rPr lang="en-US" sz="1100" b="1" kern="0" spc="100" dirty="0">
                <a:solidFill>
                  <a:srgbClr val="1A56E8"/>
                </a:solidFill>
                <a:latin typeface="Calibri" pitchFamily="34" charset="0"/>
                <a:ea typeface="Calibri" pitchFamily="34" charset="-122"/>
                <a:cs typeface="Calibri" pitchFamily="34" charset="-120"/>
              </a:rPr>
              <a:t>CLASE 5</a:t>
            </a:r>
            <a:endParaRPr lang="en-US" sz="1100" dirty="0"/>
          </a:p>
        </p:txBody>
      </p:sp>
      <p:sp>
        <p:nvSpPr>
          <p:cNvPr id="8" name="Text 6"/>
          <p:cNvSpPr/>
          <p:nvPr/>
        </p:nvSpPr>
        <p:spPr>
          <a:xfrm>
            <a:off x="804672" y="2432304"/>
            <a:ext cx="4846320" cy="347472"/>
          </a:xfrm>
          <a:prstGeom prst="rect">
            <a:avLst/>
          </a:prstGeom>
          <a:noFill/>
          <a:ln/>
        </p:spPr>
        <p:txBody>
          <a:bodyPr wrap="square" lIns="0" tIns="0" rIns="0" bIns="0" rtlCol="0" anchor="ctr"/>
          <a:lstStyle/>
          <a:p>
            <a:pPr marL="0" indent="0">
              <a:buNone/>
            </a:pPr>
            <a:r>
              <a:rPr lang="en-US" sz="1700" b="1" dirty="0">
                <a:solidFill>
                  <a:srgbClr val="0A2559"/>
                </a:solidFill>
                <a:latin typeface="Calibri" pitchFamily="34" charset="0"/>
                <a:ea typeface="Calibri" pitchFamily="34" charset="-122"/>
                <a:cs typeface="Calibri" pitchFamily="34" charset="-120"/>
              </a:rPr>
              <a:t>Una muestra contra un valor</a:t>
            </a:r>
            <a:endParaRPr lang="en-US" sz="1700" dirty="0"/>
          </a:p>
        </p:txBody>
      </p:sp>
      <p:sp>
        <p:nvSpPr>
          <p:cNvPr id="9" name="Text 7"/>
          <p:cNvSpPr/>
          <p:nvPr/>
        </p:nvSpPr>
        <p:spPr>
          <a:xfrm>
            <a:off x="804672" y="2834640"/>
            <a:ext cx="4892040" cy="777240"/>
          </a:xfrm>
          <a:prstGeom prst="rect">
            <a:avLst/>
          </a:prstGeom>
          <a:noFill/>
          <a:ln/>
        </p:spPr>
        <p:txBody>
          <a:bodyPr wrap="square" lIns="0" tIns="0" rIns="0" bIns="0" rtlCol="0" anchor="t"/>
          <a:lstStyle/>
          <a:p>
            <a:pPr marL="0" indent="0" algn="l">
              <a:lnSpc>
                <a:spcPct val="112000"/>
              </a:lnSpc>
              <a:buNone/>
            </a:pPr>
            <a:r>
              <a:rPr lang="en-US" sz="1250" dirty="0">
                <a:solidFill>
                  <a:srgbClr val="2C3A55"/>
                </a:solidFill>
                <a:latin typeface="Calibri" pitchFamily="34" charset="0"/>
                <a:ea typeface="Calibri" pitchFamily="34" charset="-122"/>
                <a:cs typeface="Calibri" pitchFamily="34" charset="-120"/>
              </a:rPr>
              <a:t>«¿El promedio difiere de S/ 2 300?»</a:t>
            </a:r>
            <a:endParaRPr lang="en-US" sz="1250" dirty="0"/>
          </a:p>
          <a:p>
            <a:pPr marL="0" indent="0" algn="l">
              <a:lnSpc>
                <a:spcPct val="112000"/>
              </a:lnSpc>
              <a:buNone/>
            </a:pPr>
            <a:r>
              <a:rPr lang="en-US" sz="1250" dirty="0">
                <a:solidFill>
                  <a:srgbClr val="2C3A55"/>
                </a:solidFill>
                <a:latin typeface="Calibri" pitchFamily="34" charset="0"/>
                <a:ea typeface="Calibri" pitchFamily="34" charset="-122"/>
                <a:cs typeface="Calibri" pitchFamily="34" charset="-120"/>
              </a:rPr>
              <a:t>El valor lo propone alguien; no lo mediste tú.</a:t>
            </a:r>
            <a:endParaRPr lang="en-US" sz="1250" dirty="0"/>
          </a:p>
        </p:txBody>
      </p:sp>
      <p:sp>
        <p:nvSpPr>
          <p:cNvPr id="10" name="Shape 8"/>
          <p:cNvSpPr/>
          <p:nvPr/>
        </p:nvSpPr>
        <p:spPr>
          <a:xfrm>
            <a:off x="6217920" y="2011680"/>
            <a:ext cx="5422392" cy="1664208"/>
          </a:xfrm>
          <a:prstGeom prst="roundRect">
            <a:avLst>
              <a:gd name="adj" fmla="val 3297"/>
            </a:avLst>
          </a:prstGeom>
          <a:solidFill>
            <a:srgbClr val="0A2559"/>
          </a:solidFill>
          <a:ln w="12700">
            <a:solidFill>
              <a:srgbClr val="0A2559"/>
            </a:solidFill>
            <a:prstDash val="solid"/>
          </a:ln>
        </p:spPr>
      </p:sp>
      <p:sp>
        <p:nvSpPr>
          <p:cNvPr id="11" name="Text 9"/>
          <p:cNvSpPr/>
          <p:nvPr/>
        </p:nvSpPr>
        <p:spPr>
          <a:xfrm>
            <a:off x="6473952" y="2157984"/>
            <a:ext cx="4846320" cy="274320"/>
          </a:xfrm>
          <a:prstGeom prst="rect">
            <a:avLst/>
          </a:prstGeom>
          <a:noFill/>
          <a:ln/>
        </p:spPr>
        <p:txBody>
          <a:bodyPr wrap="square" lIns="0" tIns="0" rIns="0" bIns="0" rtlCol="0" anchor="ctr"/>
          <a:lstStyle/>
          <a:p>
            <a:pPr marL="0" indent="0">
              <a:buNone/>
            </a:pPr>
            <a:r>
              <a:rPr lang="en-US" sz="1100" b="1" kern="0" spc="100" dirty="0">
                <a:solidFill>
                  <a:srgbClr val="E6115E"/>
                </a:solidFill>
                <a:latin typeface="Calibri" pitchFamily="34" charset="0"/>
                <a:ea typeface="Calibri" pitchFamily="34" charset="-122"/>
                <a:cs typeface="Calibri" pitchFamily="34" charset="-120"/>
              </a:rPr>
              <a:t>CLASE 6</a:t>
            </a:r>
            <a:endParaRPr lang="en-US" sz="1100" dirty="0"/>
          </a:p>
        </p:txBody>
      </p:sp>
      <p:sp>
        <p:nvSpPr>
          <p:cNvPr id="12" name="Text 10"/>
          <p:cNvSpPr/>
          <p:nvPr/>
        </p:nvSpPr>
        <p:spPr>
          <a:xfrm>
            <a:off x="6473952" y="2432304"/>
            <a:ext cx="4846320" cy="347472"/>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Grupos entre sí</a:t>
            </a:r>
            <a:endParaRPr lang="en-US" sz="1700" dirty="0"/>
          </a:p>
        </p:txBody>
      </p:sp>
      <p:sp>
        <p:nvSpPr>
          <p:cNvPr id="13" name="Text 11"/>
          <p:cNvSpPr/>
          <p:nvPr/>
        </p:nvSpPr>
        <p:spPr>
          <a:xfrm>
            <a:off x="6473952" y="2834640"/>
            <a:ext cx="4892040" cy="777240"/>
          </a:xfrm>
          <a:prstGeom prst="rect">
            <a:avLst/>
          </a:prstGeom>
          <a:noFill/>
          <a:ln/>
        </p:spPr>
        <p:txBody>
          <a:bodyPr wrap="square" lIns="0" tIns="0" rIns="0" bIns="0" rtlCol="0" anchor="t"/>
          <a:lstStyle/>
          <a:p>
            <a:pPr marL="0" indent="0" algn="l">
              <a:lnSpc>
                <a:spcPct val="112000"/>
              </a:lnSpc>
              <a:buNone/>
            </a:pPr>
            <a:r>
              <a:rPr lang="en-US" sz="1250" dirty="0">
                <a:solidFill>
                  <a:srgbClr val="C9D6F2"/>
                </a:solidFill>
                <a:latin typeface="Calibri" pitchFamily="34" charset="0"/>
                <a:ea typeface="Calibri" pitchFamily="34" charset="-122"/>
                <a:cs typeface="Calibri" pitchFamily="34" charset="-120"/>
              </a:rPr>
              <a:t>«¿Los casos por agencia tardan más que los de la app?»</a:t>
            </a:r>
            <a:endParaRPr lang="en-US" sz="1250" dirty="0"/>
          </a:p>
          <a:p>
            <a:pPr marL="0" indent="0" algn="l">
              <a:lnSpc>
                <a:spcPct val="112000"/>
              </a:lnSpc>
              <a:buNone/>
            </a:pPr>
            <a:r>
              <a:rPr lang="en-US" sz="1250" dirty="0">
                <a:solidFill>
                  <a:srgbClr val="C9D6F2"/>
                </a:solidFill>
                <a:latin typeface="Calibri" pitchFamily="34" charset="0"/>
                <a:ea typeface="Calibri" pitchFamily="34" charset="-122"/>
                <a:cs typeface="Calibri" pitchFamily="34" charset="-120"/>
              </a:rPr>
              <a:t>Los dos lados son datos tuyos, y los dos traen incertidumbre.</a:t>
            </a:r>
            <a:endParaRPr lang="en-US" sz="1250" dirty="0"/>
          </a:p>
        </p:txBody>
      </p:sp>
      <p:sp>
        <p:nvSpPr>
          <p:cNvPr id="14" name="Shape 12"/>
          <p:cNvSpPr/>
          <p:nvPr/>
        </p:nvSpPr>
        <p:spPr>
          <a:xfrm>
            <a:off x="548640" y="3913632"/>
            <a:ext cx="11091672" cy="1097280"/>
          </a:xfrm>
          <a:prstGeom prst="roundRect">
            <a:avLst>
              <a:gd name="adj" fmla="val 5000"/>
            </a:avLst>
          </a:prstGeom>
          <a:solidFill>
            <a:srgbClr val="FFFFFF"/>
          </a:solidFill>
          <a:ln w="12700">
            <a:solidFill>
              <a:srgbClr val="D2DBEC"/>
            </a:solidFill>
            <a:prstDash val="solid"/>
          </a:ln>
        </p:spPr>
      </p:sp>
      <p:sp>
        <p:nvSpPr>
          <p:cNvPr id="15" name="Shape 13"/>
          <p:cNvSpPr/>
          <p:nvPr/>
        </p:nvSpPr>
        <p:spPr>
          <a:xfrm>
            <a:off x="822960" y="4178808"/>
            <a:ext cx="118872" cy="118872"/>
          </a:xfrm>
          <a:prstGeom prst="roundRect">
            <a:avLst>
              <a:gd name="adj" fmla="val 30769"/>
            </a:avLst>
          </a:prstGeom>
          <a:solidFill>
            <a:srgbClr val="E6115E"/>
          </a:solidFill>
          <a:ln w="12700">
            <a:solidFill>
              <a:srgbClr val="E6115E"/>
            </a:solidFill>
            <a:prstDash val="solid"/>
          </a:ln>
        </p:spPr>
      </p:sp>
      <p:sp>
        <p:nvSpPr>
          <p:cNvPr id="16" name="Text 14"/>
          <p:cNvSpPr/>
          <p:nvPr/>
        </p:nvSpPr>
        <p:spPr>
          <a:xfrm>
            <a:off x="1060704" y="4078224"/>
            <a:ext cx="1027785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Lo único que cambia en la fórmula</a:t>
            </a:r>
            <a:endParaRPr lang="en-US" sz="1500" dirty="0"/>
          </a:p>
        </p:txBody>
      </p:sp>
      <p:sp>
        <p:nvSpPr>
          <p:cNvPr id="17" name="Text 15"/>
          <p:cNvSpPr/>
          <p:nvPr/>
        </p:nvSpPr>
        <p:spPr>
          <a:xfrm>
            <a:off x="822960" y="4443984"/>
            <a:ext cx="10515600" cy="457200"/>
          </a:xfrm>
          <a:prstGeom prst="rect">
            <a:avLst/>
          </a:prstGeom>
          <a:noFill/>
          <a:ln/>
        </p:spPr>
        <p:txBody>
          <a:bodyPr wrap="square" lIns="0" tIns="0" rIns="0" bIns="0" rtlCol="0" anchor="t"/>
          <a:lstStyle/>
          <a:p>
            <a:pPr marL="0" indent="0" algn="l">
              <a:lnSpc>
                <a:spcPct val="110000"/>
              </a:lnSpc>
              <a:buNone/>
            </a:pPr>
            <a:r>
              <a:rPr lang="en-US" sz="1250" dirty="0">
                <a:solidFill>
                  <a:srgbClr val="2C3A55"/>
                </a:solidFill>
                <a:latin typeface="Calibri" pitchFamily="34" charset="0"/>
                <a:ea typeface="Calibri" pitchFamily="34" charset="-122"/>
                <a:cs typeface="Calibri" pitchFamily="34" charset="-120"/>
              </a:rPr>
              <a:t>El estadístico sigue siendo «diferencia dividida entre su error estándar». Antes el error estándar era s/√n. Ahora hay dos fuentes de ruido en lugar de una, y combinarlas bien es todo el contenido técnico de la primera mitad de la clase.</a:t>
            </a:r>
            <a:endParaRPr lang="en-US" sz="1250" dirty="0"/>
          </a:p>
        </p:txBody>
      </p:sp>
      <p:sp>
        <p:nvSpPr>
          <p:cNvPr id="18" name="Shape 16"/>
          <p:cNvSpPr/>
          <p:nvPr/>
        </p:nvSpPr>
        <p:spPr>
          <a:xfrm>
            <a:off x="548640" y="5212080"/>
            <a:ext cx="11091672" cy="987552"/>
          </a:xfrm>
          <a:prstGeom prst="roundRect">
            <a:avLst>
              <a:gd name="adj" fmla="val 5556"/>
            </a:avLst>
          </a:prstGeom>
          <a:solidFill>
            <a:srgbClr val="0A2559"/>
          </a:solidFill>
          <a:ln w="12700">
            <a:solidFill>
              <a:srgbClr val="0A2559"/>
            </a:solidFill>
            <a:prstDash val="solid"/>
          </a:ln>
        </p:spPr>
      </p:sp>
      <p:sp>
        <p:nvSpPr>
          <p:cNvPr id="19" name="Shape 17"/>
          <p:cNvSpPr/>
          <p:nvPr/>
        </p:nvSpPr>
        <p:spPr>
          <a:xfrm>
            <a:off x="822960" y="5458968"/>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60704" y="5358384"/>
            <a:ext cx="61630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caso que resolveremos hoy</a:t>
            </a:r>
            <a:endParaRPr lang="en-US" sz="1400" dirty="0"/>
          </a:p>
        </p:txBody>
      </p:sp>
      <p:sp>
        <p:nvSpPr>
          <p:cNvPr id="21" name="Text 19"/>
          <p:cNvSpPr/>
          <p:nvPr/>
        </p:nvSpPr>
        <p:spPr>
          <a:xfrm>
            <a:off x="822960" y="5705856"/>
            <a:ext cx="10515600" cy="438912"/>
          </a:xfrm>
          <a:prstGeom prst="rect">
            <a:avLst/>
          </a:prstGeom>
          <a:noFill/>
          <a:ln/>
        </p:spPr>
        <p:txBody>
          <a:bodyPr wrap="square" lIns="0" tIns="0" rIns="0" bIns="0" rtlCol="0" anchor="t"/>
          <a:lstStyle/>
          <a:p>
            <a:pPr marL="0" indent="0" algn="l">
              <a:lnSpc>
                <a:spcPct val="105000"/>
              </a:lnSpc>
              <a:buNone/>
            </a:pPr>
            <a:r>
              <a:rPr lang="en-US" sz="1250" dirty="0">
                <a:solidFill>
                  <a:srgbClr val="C9D6F2"/>
                </a:solidFill>
                <a:latin typeface="Calibri" pitchFamily="34" charset="0"/>
                <a:ea typeface="Calibri" pitchFamily="34" charset="-122"/>
                <a:cs typeface="Calibri" pitchFamily="34" charset="-120"/>
              </a:rPr>
              <a:t>Tiempo de resolución de casos de fraude, en días, por canal de ingreso: app (n = 60), web (n = 45) y agencia (n = 25). Los tres canales tienen tamaños distintos y dispersiones muy distintas — que es exactamente el caso donde las pruebas de libro se rompen.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AGENDA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Cómo repartimos los 120 minutos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45 min de construcción conceptual · 65 min de laboratorio en Colab · 10 min de cierre.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315200" cy="2688336"/>
        </p:xfrm>
        <a:graphic>
          <a:graphicData uri="http://schemas.openxmlformats.org/drawingml/2006/table">
            <a:tbl>
              <a:tblPr/>
              <a:tblGrid>
                <a:gridCol w="6858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Formato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Identificar el diseño: independientes o emparejados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Dos grupos: Student, Welch y por qué importa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Exposición + simulación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Varios grupos: ANOVA, post-hoc y la contradicción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No paramétricas y árbol de decisión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4"/>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Laboratorio guiado en Colab (5 bloques)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Práctica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5"/>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Cierre, checklist y reto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Discusión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6"/>
                  </a:ext>
                </a:extLst>
              </a:tr>
            </a:tbl>
          </a:graphicData>
        </a:graphic>
      </p:graphicFrame>
      <p:sp>
        <p:nvSpPr>
          <p:cNvPr id="7" name="Shape 4"/>
          <p:cNvSpPr/>
          <p:nvPr/>
        </p:nvSpPr>
        <p:spPr>
          <a:xfrm>
            <a:off x="548640" y="4864608"/>
            <a:ext cx="7315200" cy="1316736"/>
          </a:xfrm>
          <a:prstGeom prst="roundRect">
            <a:avLst>
              <a:gd name="adj" fmla="val 4167"/>
            </a:avLst>
          </a:prstGeom>
          <a:solidFill>
            <a:srgbClr val="FFFFFF"/>
          </a:solidFill>
          <a:ln w="12700">
            <a:solidFill>
              <a:srgbClr val="D2DBEC"/>
            </a:solidFill>
            <a:prstDash val="solid"/>
          </a:ln>
        </p:spPr>
      </p:sp>
      <p:sp>
        <p:nvSpPr>
          <p:cNvPr id="8" name="Shape 5"/>
          <p:cNvSpPr/>
          <p:nvPr/>
        </p:nvSpPr>
        <p:spPr>
          <a:xfrm>
            <a:off x="804672" y="511149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5010912"/>
            <a:ext cx="65288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slide que va a incomodar</a:t>
            </a:r>
            <a:endParaRPr lang="en-US" sz="1400" dirty="0"/>
          </a:p>
        </p:txBody>
      </p:sp>
      <p:sp>
        <p:nvSpPr>
          <p:cNvPr id="10" name="Text 7"/>
          <p:cNvSpPr/>
          <p:nvPr/>
        </p:nvSpPr>
        <p:spPr>
          <a:xfrm>
            <a:off x="804672" y="5376672"/>
            <a:ext cx="6766560" cy="68580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En la slide 14 vas a ver dos análisis igual de defendibles del mismo dataset llegar a conclusiones opuestas: uno dice que hay diferencias claras entre canales y el otro dice que no hay evidencia suficiente. No es un error del material. Es lo que pasa cuando los supuestos no se cumplen, y hay que saber resolverlo.</a:t>
            </a:r>
            <a:endParaRPr lang="en-US" sz="1200" dirty="0"/>
          </a:p>
        </p:txBody>
      </p:sp>
      <p:sp>
        <p:nvSpPr>
          <p:cNvPr id="11" name="Shape 8"/>
          <p:cNvSpPr/>
          <p:nvPr/>
        </p:nvSpPr>
        <p:spPr>
          <a:xfrm>
            <a:off x="8092440" y="2011680"/>
            <a:ext cx="3547872" cy="2697480"/>
          </a:xfrm>
          <a:prstGeom prst="roundRect">
            <a:avLst>
              <a:gd name="adj" fmla="val 2034"/>
            </a:avLst>
          </a:prstGeom>
          <a:solidFill>
            <a:srgbClr val="E9EEF8"/>
          </a:solidFill>
          <a:ln w="12700">
            <a:solidFill>
              <a:srgbClr val="D2DBEC"/>
            </a:solidFill>
            <a:prstDash val="solid"/>
          </a:ln>
        </p:spPr>
      </p:sp>
      <p:sp>
        <p:nvSpPr>
          <p:cNvPr id="12" name="Shape 9"/>
          <p:cNvSpPr/>
          <p:nvPr/>
        </p:nvSpPr>
        <p:spPr>
          <a:xfrm>
            <a:off x="8339328" y="2313432"/>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577072" y="2212848"/>
            <a:ext cx="28712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4" name="Text 11"/>
          <p:cNvSpPr/>
          <p:nvPr/>
        </p:nvSpPr>
        <p:spPr>
          <a:xfrm>
            <a:off x="8339328" y="2606040"/>
            <a:ext cx="3063240" cy="19659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C3A55"/>
                </a:solidFill>
                <a:latin typeface="Calibri" pitchFamily="34" charset="0"/>
                <a:ea typeface="Calibri" pitchFamily="34" charset="-122"/>
                <a:cs typeface="Calibri" pitchFamily="34" charset="-120"/>
              </a:rPr>
              <a:t>Identificar el diseño antes de elegir la prueba.</a:t>
            </a:r>
            <a:endParaRPr lang="en-US" sz="1150" dirty="0"/>
          </a:p>
          <a:p>
            <a:pPr marL="342900" indent="-342900">
              <a:spcAft>
                <a:spcPts val="400"/>
              </a:spcAft>
              <a:buSzPct val="100000"/>
              <a:buChar char="•"/>
            </a:pPr>
            <a:r>
              <a:rPr lang="en-US" sz="1150" dirty="0">
                <a:solidFill>
                  <a:srgbClr val="2C3A55"/>
                </a:solidFill>
                <a:latin typeface="Calibri" pitchFamily="34" charset="0"/>
                <a:ea typeface="Calibri" pitchFamily="34" charset="-122"/>
                <a:cs typeface="Calibri" pitchFamily="34" charset="-120"/>
              </a:rPr>
              <a:t>Usar Welch por defecto y saber por qué.</a:t>
            </a:r>
            <a:endParaRPr lang="en-US" sz="1150" dirty="0"/>
          </a:p>
          <a:p>
            <a:pPr marL="342900" indent="-342900">
              <a:spcAft>
                <a:spcPts val="400"/>
              </a:spcAft>
              <a:buSzPct val="100000"/>
              <a:buChar char="•"/>
            </a:pPr>
            <a:r>
              <a:rPr lang="en-US" sz="1150" dirty="0">
                <a:solidFill>
                  <a:srgbClr val="2C3A55"/>
                </a:solidFill>
                <a:latin typeface="Calibri" pitchFamily="34" charset="0"/>
                <a:ea typeface="Calibri" pitchFamily="34" charset="-122"/>
                <a:cs typeface="Calibri" pitchFamily="34" charset="-120"/>
              </a:rPr>
              <a:t>Leer un ANOVA y saber qué NO te dice.</a:t>
            </a:r>
            <a:endParaRPr lang="en-US" sz="1150" dirty="0"/>
          </a:p>
          <a:p>
            <a:pPr marL="342900" indent="-342900">
              <a:spcAft>
                <a:spcPts val="400"/>
              </a:spcAft>
              <a:buSzPct val="100000"/>
              <a:buChar char="•"/>
            </a:pPr>
            <a:r>
              <a:rPr lang="en-US" sz="1150" dirty="0">
                <a:solidFill>
                  <a:srgbClr val="2C3A55"/>
                </a:solidFill>
                <a:latin typeface="Calibri" pitchFamily="34" charset="0"/>
                <a:ea typeface="Calibri" pitchFamily="34" charset="-122"/>
                <a:cs typeface="Calibri" pitchFamily="34" charset="-120"/>
              </a:rPr>
              <a:t>Hacer post-hoc corrigiendo.</a:t>
            </a:r>
            <a:endParaRPr lang="en-US" sz="1150" dirty="0"/>
          </a:p>
          <a:p>
            <a:pPr marL="342900" indent="-342900">
              <a:spcAft>
                <a:spcPts val="400"/>
              </a:spcAft>
              <a:buSzPct val="100000"/>
              <a:buChar char="•"/>
            </a:pPr>
            <a:r>
              <a:rPr lang="en-US" sz="1150" dirty="0">
                <a:solidFill>
                  <a:srgbClr val="2C3A55"/>
                </a:solidFill>
                <a:latin typeface="Calibri" pitchFamily="34" charset="0"/>
                <a:ea typeface="Calibri" pitchFamily="34" charset="-122"/>
                <a:cs typeface="Calibri" pitchFamily="34" charset="-120"/>
              </a:rPr>
              <a:t>Saber cuándo pasar a no paramétricas.</a:t>
            </a:r>
            <a:endParaRPr lang="en-US" sz="1150" dirty="0"/>
          </a:p>
        </p:txBody>
      </p:sp>
      <p:sp>
        <p:nvSpPr>
          <p:cNvPr id="15" name="Shape 12"/>
          <p:cNvSpPr/>
          <p:nvPr/>
        </p:nvSpPr>
        <p:spPr>
          <a:xfrm>
            <a:off x="8092440" y="4864608"/>
            <a:ext cx="3547872" cy="1316736"/>
          </a:xfrm>
          <a:prstGeom prst="roundRect">
            <a:avLst>
              <a:gd name="adj" fmla="val 4167"/>
            </a:avLst>
          </a:prstGeom>
          <a:solidFill>
            <a:srgbClr val="0A2559"/>
          </a:solidFill>
          <a:ln w="12700">
            <a:solidFill>
              <a:srgbClr val="0A2559"/>
            </a:solidFill>
            <a:prstDash val="solid"/>
          </a:ln>
        </p:spPr>
      </p:sp>
      <p:sp>
        <p:nvSpPr>
          <p:cNvPr id="16" name="Shape 13"/>
          <p:cNvSpPr/>
          <p:nvPr/>
        </p:nvSpPr>
        <p:spPr>
          <a:xfrm>
            <a:off x="8339328" y="5129784"/>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8577072" y="5029200"/>
            <a:ext cx="287121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Prerrequisito</a:t>
            </a:r>
            <a:endParaRPr lang="en-US" sz="1400" dirty="0"/>
          </a:p>
        </p:txBody>
      </p:sp>
      <p:sp>
        <p:nvSpPr>
          <p:cNvPr id="18" name="Text 15"/>
          <p:cNvSpPr/>
          <p:nvPr/>
        </p:nvSpPr>
        <p:spPr>
          <a:xfrm>
            <a:off x="8339328" y="5413248"/>
            <a:ext cx="3063240" cy="640080"/>
          </a:xfrm>
          <a:prstGeom prst="rect">
            <a:avLst/>
          </a:prstGeom>
          <a:noFill/>
          <a:ln/>
        </p:spPr>
        <p:txBody>
          <a:bodyPr wrap="square" lIns="0" tIns="0" rIns="0" bIns="0" rtlCol="0" anchor="t"/>
          <a:lstStyle/>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Clase 5: H₀, p-valor, potencia y corrección por comparaciones múltiples. Hoy se usan los cuatro.</a:t>
            </a:r>
            <a:endParaRPr lang="en-US" sz="1150" dirty="0"/>
          </a:p>
        </p:txBody>
      </p:sp>
      <p:sp>
        <p:nvSpPr>
          <p:cNvPr id="19" name="Text 16"/>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Los bloques 1 a 4 suman 45 min de exposición efectiva; el material extra de las slides queda como apoyo de estudio.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1089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1089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ANTES DE LA FÓRMULA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Diccionario: ocho términos nuevos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Los cuatro primeros son de diseño; los cuatro últimos son nombres de pruebas.</a:t>
            </a:r>
            <a:endParaRPr lang="en-US" sz="1400" dirty="0"/>
          </a:p>
        </p:txBody>
      </p:sp>
      <p:sp>
        <p:nvSpPr>
          <p:cNvPr id="6" name="Shape 4"/>
          <p:cNvSpPr/>
          <p:nvPr/>
        </p:nvSpPr>
        <p:spPr>
          <a:xfrm>
            <a:off x="548640" y="1975104"/>
            <a:ext cx="5422392" cy="932688"/>
          </a:xfrm>
          <a:prstGeom prst="roundRect">
            <a:avLst>
              <a:gd name="adj" fmla="val 5882"/>
            </a:avLst>
          </a:prstGeom>
          <a:solidFill>
            <a:srgbClr val="FFFFFF"/>
          </a:solidFill>
          <a:ln w="12700">
            <a:solidFill>
              <a:srgbClr val="D2DBEC"/>
            </a:solidFill>
            <a:prstDash val="solid"/>
          </a:ln>
        </p:spPr>
      </p:sp>
      <p:sp>
        <p:nvSpPr>
          <p:cNvPr id="7" name="Shape 5"/>
          <p:cNvSpPr/>
          <p:nvPr/>
        </p:nvSpPr>
        <p:spPr>
          <a:xfrm>
            <a:off x="694944" y="2121408"/>
            <a:ext cx="1600200" cy="640080"/>
          </a:xfrm>
          <a:prstGeom prst="roundRect">
            <a:avLst>
              <a:gd name="adj" fmla="val 8571"/>
            </a:avLst>
          </a:prstGeom>
          <a:solidFill>
            <a:srgbClr val="0A2559"/>
          </a:solidFill>
          <a:ln w="12700">
            <a:solidFill>
              <a:srgbClr val="0A2559"/>
            </a:solidFill>
            <a:prstDash val="solid"/>
          </a:ln>
        </p:spPr>
      </p:sp>
      <p:sp>
        <p:nvSpPr>
          <p:cNvPr id="8" name="Text 6"/>
          <p:cNvSpPr/>
          <p:nvPr/>
        </p:nvSpPr>
        <p:spPr>
          <a:xfrm>
            <a:off x="694944" y="2121408"/>
            <a:ext cx="160020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independientes</a:t>
            </a:r>
            <a:endParaRPr lang="en-US" sz="1000" dirty="0"/>
          </a:p>
        </p:txBody>
      </p:sp>
      <p:sp>
        <p:nvSpPr>
          <p:cNvPr id="9" name="Text 7"/>
          <p:cNvSpPr/>
          <p:nvPr/>
        </p:nvSpPr>
        <p:spPr>
          <a:xfrm>
            <a:off x="2414016" y="2093976"/>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dos grupos distintos</a:t>
            </a:r>
            <a:endParaRPr lang="en-US" sz="1050" dirty="0"/>
          </a:p>
        </p:txBody>
      </p:sp>
      <p:sp>
        <p:nvSpPr>
          <p:cNvPr id="10" name="Text 8"/>
          <p:cNvSpPr/>
          <p:nvPr/>
        </p:nvSpPr>
        <p:spPr>
          <a:xfrm>
            <a:off x="2414016" y="2331720"/>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Cada observación pertenece a un solo grupo. Canal app contra canal agencia: son casos diferentes.</a:t>
            </a:r>
            <a:endParaRPr lang="en-US" sz="1050" dirty="0"/>
          </a:p>
        </p:txBody>
      </p:sp>
      <p:sp>
        <p:nvSpPr>
          <p:cNvPr id="11" name="Shape 9"/>
          <p:cNvSpPr/>
          <p:nvPr/>
        </p:nvSpPr>
        <p:spPr>
          <a:xfrm>
            <a:off x="6217920" y="1975104"/>
            <a:ext cx="5422392" cy="932688"/>
          </a:xfrm>
          <a:prstGeom prst="roundRect">
            <a:avLst>
              <a:gd name="adj" fmla="val 5882"/>
            </a:avLst>
          </a:prstGeom>
          <a:solidFill>
            <a:srgbClr val="FFFFFF"/>
          </a:solidFill>
          <a:ln w="12700">
            <a:solidFill>
              <a:srgbClr val="D2DBEC"/>
            </a:solidFill>
            <a:prstDash val="solid"/>
          </a:ln>
        </p:spPr>
      </p:sp>
      <p:sp>
        <p:nvSpPr>
          <p:cNvPr id="12" name="Shape 10"/>
          <p:cNvSpPr/>
          <p:nvPr/>
        </p:nvSpPr>
        <p:spPr>
          <a:xfrm>
            <a:off x="6364224" y="2121408"/>
            <a:ext cx="1600200" cy="640080"/>
          </a:xfrm>
          <a:prstGeom prst="roundRect">
            <a:avLst>
              <a:gd name="adj" fmla="val 8571"/>
            </a:avLst>
          </a:prstGeom>
          <a:solidFill>
            <a:srgbClr val="0A2559"/>
          </a:solidFill>
          <a:ln w="12700">
            <a:solidFill>
              <a:srgbClr val="0A2559"/>
            </a:solidFill>
            <a:prstDash val="solid"/>
          </a:ln>
        </p:spPr>
      </p:sp>
      <p:sp>
        <p:nvSpPr>
          <p:cNvPr id="13" name="Text 11"/>
          <p:cNvSpPr/>
          <p:nvPr/>
        </p:nvSpPr>
        <p:spPr>
          <a:xfrm>
            <a:off x="6364224" y="2121408"/>
            <a:ext cx="1600200" cy="6400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emparejados</a:t>
            </a:r>
            <a:endParaRPr lang="en-US" sz="1150" dirty="0"/>
          </a:p>
        </p:txBody>
      </p:sp>
      <p:sp>
        <p:nvSpPr>
          <p:cNvPr id="14" name="Text 12"/>
          <p:cNvSpPr/>
          <p:nvPr/>
        </p:nvSpPr>
        <p:spPr>
          <a:xfrm>
            <a:off x="8083296" y="2093976"/>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los mismos, dos veces</a:t>
            </a:r>
            <a:endParaRPr lang="en-US" sz="1050" dirty="0"/>
          </a:p>
        </p:txBody>
      </p:sp>
      <p:sp>
        <p:nvSpPr>
          <p:cNvPr id="15" name="Text 13"/>
          <p:cNvSpPr/>
          <p:nvPr/>
        </p:nvSpPr>
        <p:spPr>
          <a:xfrm>
            <a:off x="8083296" y="2331720"/>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Cada observación aparece en los dos grupos. El mismo analista antes y después de la capacitación.</a:t>
            </a:r>
            <a:endParaRPr lang="en-US" sz="1050" dirty="0"/>
          </a:p>
        </p:txBody>
      </p:sp>
      <p:sp>
        <p:nvSpPr>
          <p:cNvPr id="16" name="Shape 14"/>
          <p:cNvSpPr/>
          <p:nvPr/>
        </p:nvSpPr>
        <p:spPr>
          <a:xfrm>
            <a:off x="548640" y="3044952"/>
            <a:ext cx="5422392" cy="932688"/>
          </a:xfrm>
          <a:prstGeom prst="roundRect">
            <a:avLst>
              <a:gd name="adj" fmla="val 5882"/>
            </a:avLst>
          </a:prstGeom>
          <a:solidFill>
            <a:srgbClr val="FFFFFF"/>
          </a:solidFill>
          <a:ln w="12700">
            <a:solidFill>
              <a:srgbClr val="D2DBEC"/>
            </a:solidFill>
            <a:prstDash val="solid"/>
          </a:ln>
        </p:spPr>
      </p:sp>
      <p:sp>
        <p:nvSpPr>
          <p:cNvPr id="17" name="Shape 15"/>
          <p:cNvSpPr/>
          <p:nvPr/>
        </p:nvSpPr>
        <p:spPr>
          <a:xfrm>
            <a:off x="694944" y="3191256"/>
            <a:ext cx="1600200" cy="640080"/>
          </a:xfrm>
          <a:prstGeom prst="roundRect">
            <a:avLst>
              <a:gd name="adj" fmla="val 8571"/>
            </a:avLst>
          </a:prstGeom>
          <a:solidFill>
            <a:srgbClr val="0A2559"/>
          </a:solidFill>
          <a:ln w="12700">
            <a:solidFill>
              <a:srgbClr val="0A2559"/>
            </a:solidFill>
            <a:prstDash val="solid"/>
          </a:ln>
        </p:spPr>
      </p:sp>
      <p:sp>
        <p:nvSpPr>
          <p:cNvPr id="18" name="Text 16"/>
          <p:cNvSpPr/>
          <p:nvPr/>
        </p:nvSpPr>
        <p:spPr>
          <a:xfrm>
            <a:off x="694944" y="3191256"/>
            <a:ext cx="1600200" cy="6400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homocedástico</a:t>
            </a:r>
            <a:endParaRPr lang="en-US" sz="1150" dirty="0"/>
          </a:p>
        </p:txBody>
      </p:sp>
      <p:sp>
        <p:nvSpPr>
          <p:cNvPr id="19" name="Text 17"/>
          <p:cNvSpPr/>
          <p:nvPr/>
        </p:nvSpPr>
        <p:spPr>
          <a:xfrm>
            <a:off x="2414016" y="3163824"/>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«misma varianza»</a:t>
            </a:r>
            <a:endParaRPr lang="en-US" sz="1050" dirty="0"/>
          </a:p>
        </p:txBody>
      </p:sp>
      <p:sp>
        <p:nvSpPr>
          <p:cNvPr id="20" name="Text 18"/>
          <p:cNvSpPr/>
          <p:nvPr/>
        </p:nvSpPr>
        <p:spPr>
          <a:xfrm>
            <a:off x="2414016" y="3401568"/>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Los grupos tienen la misma dispersión. Es un SUPUESTO, no un hecho, y casi nunca se cumple.</a:t>
            </a:r>
            <a:endParaRPr lang="en-US" sz="1050" dirty="0"/>
          </a:p>
        </p:txBody>
      </p:sp>
      <p:sp>
        <p:nvSpPr>
          <p:cNvPr id="21" name="Shape 19"/>
          <p:cNvSpPr/>
          <p:nvPr/>
        </p:nvSpPr>
        <p:spPr>
          <a:xfrm>
            <a:off x="6217920" y="3044952"/>
            <a:ext cx="5422392" cy="932688"/>
          </a:xfrm>
          <a:prstGeom prst="roundRect">
            <a:avLst>
              <a:gd name="adj" fmla="val 5882"/>
            </a:avLst>
          </a:prstGeom>
          <a:solidFill>
            <a:srgbClr val="FFFFFF"/>
          </a:solidFill>
          <a:ln w="12700">
            <a:solidFill>
              <a:srgbClr val="D2DBEC"/>
            </a:solidFill>
            <a:prstDash val="solid"/>
          </a:ln>
        </p:spPr>
      </p:sp>
      <p:sp>
        <p:nvSpPr>
          <p:cNvPr id="22" name="Shape 20"/>
          <p:cNvSpPr/>
          <p:nvPr/>
        </p:nvSpPr>
        <p:spPr>
          <a:xfrm>
            <a:off x="6364224" y="3191256"/>
            <a:ext cx="1600200" cy="640080"/>
          </a:xfrm>
          <a:prstGeom prst="roundRect">
            <a:avLst>
              <a:gd name="adj" fmla="val 8571"/>
            </a:avLst>
          </a:prstGeom>
          <a:solidFill>
            <a:srgbClr val="0A2559"/>
          </a:solidFill>
          <a:ln w="12700">
            <a:solidFill>
              <a:srgbClr val="0A2559"/>
            </a:solidFill>
            <a:prstDash val="solid"/>
          </a:ln>
        </p:spPr>
      </p:sp>
      <p:sp>
        <p:nvSpPr>
          <p:cNvPr id="23" name="Text 21"/>
          <p:cNvSpPr/>
          <p:nvPr/>
        </p:nvSpPr>
        <p:spPr>
          <a:xfrm>
            <a:off x="6364224" y="3191256"/>
            <a:ext cx="160020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heterocedástico</a:t>
            </a:r>
            <a:endParaRPr lang="en-US" sz="1000" dirty="0"/>
          </a:p>
        </p:txBody>
      </p:sp>
      <p:sp>
        <p:nvSpPr>
          <p:cNvPr id="24" name="Text 22"/>
          <p:cNvSpPr/>
          <p:nvPr/>
        </p:nvSpPr>
        <p:spPr>
          <a:xfrm>
            <a:off x="8083296" y="3163824"/>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«varianza distinta»</a:t>
            </a:r>
            <a:endParaRPr lang="en-US" sz="1050" dirty="0"/>
          </a:p>
        </p:txBody>
      </p:sp>
      <p:sp>
        <p:nvSpPr>
          <p:cNvPr id="25" name="Text 23"/>
          <p:cNvSpPr/>
          <p:nvPr/>
        </p:nvSpPr>
        <p:spPr>
          <a:xfrm>
            <a:off x="8083296" y="3401568"/>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Lo contrario, y lo normal en datos reales. Todo el conflicto de la clase sale de aquí.</a:t>
            </a:r>
            <a:endParaRPr lang="en-US" sz="1050" dirty="0"/>
          </a:p>
        </p:txBody>
      </p:sp>
      <p:sp>
        <p:nvSpPr>
          <p:cNvPr id="26" name="Shape 24"/>
          <p:cNvSpPr/>
          <p:nvPr/>
        </p:nvSpPr>
        <p:spPr>
          <a:xfrm>
            <a:off x="548640" y="4114800"/>
            <a:ext cx="5422392" cy="932688"/>
          </a:xfrm>
          <a:prstGeom prst="roundRect">
            <a:avLst>
              <a:gd name="adj" fmla="val 5882"/>
            </a:avLst>
          </a:prstGeom>
          <a:solidFill>
            <a:srgbClr val="FFFFFF"/>
          </a:solidFill>
          <a:ln w="12700">
            <a:solidFill>
              <a:srgbClr val="D2DBEC"/>
            </a:solidFill>
            <a:prstDash val="solid"/>
          </a:ln>
        </p:spPr>
      </p:sp>
      <p:sp>
        <p:nvSpPr>
          <p:cNvPr id="27" name="Shape 25"/>
          <p:cNvSpPr/>
          <p:nvPr/>
        </p:nvSpPr>
        <p:spPr>
          <a:xfrm>
            <a:off x="694944" y="4261104"/>
            <a:ext cx="1600200" cy="640080"/>
          </a:xfrm>
          <a:prstGeom prst="roundRect">
            <a:avLst>
              <a:gd name="adj" fmla="val 8571"/>
            </a:avLst>
          </a:prstGeom>
          <a:solidFill>
            <a:srgbClr val="0A2559"/>
          </a:solidFill>
          <a:ln w="12700">
            <a:solidFill>
              <a:srgbClr val="0A2559"/>
            </a:solidFill>
            <a:prstDash val="solid"/>
          </a:ln>
        </p:spPr>
      </p:sp>
      <p:sp>
        <p:nvSpPr>
          <p:cNvPr id="28" name="Text 26"/>
          <p:cNvSpPr/>
          <p:nvPr/>
        </p:nvSpPr>
        <p:spPr>
          <a:xfrm>
            <a:off x="694944" y="4261104"/>
            <a:ext cx="1600200" cy="6400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 de Welch</a:t>
            </a:r>
            <a:endParaRPr lang="en-US" sz="1150" dirty="0"/>
          </a:p>
        </p:txBody>
      </p:sp>
      <p:sp>
        <p:nvSpPr>
          <p:cNvPr id="29" name="Text 27"/>
          <p:cNvSpPr/>
          <p:nvPr/>
        </p:nvSpPr>
        <p:spPr>
          <a:xfrm>
            <a:off x="2414016" y="4233672"/>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la que hay que usar</a:t>
            </a:r>
            <a:endParaRPr lang="en-US" sz="1050" dirty="0"/>
          </a:p>
        </p:txBody>
      </p:sp>
      <p:sp>
        <p:nvSpPr>
          <p:cNvPr id="30" name="Text 28"/>
          <p:cNvSpPr/>
          <p:nvPr/>
        </p:nvSpPr>
        <p:spPr>
          <a:xfrm>
            <a:off x="2414016" y="4471416"/>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Prueba t que NO asume varianzas iguales. Debería ser tu default para dos grupos.</a:t>
            </a:r>
            <a:endParaRPr lang="en-US" sz="1050" dirty="0"/>
          </a:p>
        </p:txBody>
      </p:sp>
      <p:sp>
        <p:nvSpPr>
          <p:cNvPr id="31" name="Shape 29"/>
          <p:cNvSpPr/>
          <p:nvPr/>
        </p:nvSpPr>
        <p:spPr>
          <a:xfrm>
            <a:off x="6217920" y="4114800"/>
            <a:ext cx="5422392" cy="932688"/>
          </a:xfrm>
          <a:prstGeom prst="roundRect">
            <a:avLst>
              <a:gd name="adj" fmla="val 5882"/>
            </a:avLst>
          </a:prstGeom>
          <a:solidFill>
            <a:srgbClr val="FFFFFF"/>
          </a:solidFill>
          <a:ln w="12700">
            <a:solidFill>
              <a:srgbClr val="D2DBEC"/>
            </a:solidFill>
            <a:prstDash val="solid"/>
          </a:ln>
        </p:spPr>
      </p:sp>
      <p:sp>
        <p:nvSpPr>
          <p:cNvPr id="32" name="Shape 30"/>
          <p:cNvSpPr/>
          <p:nvPr/>
        </p:nvSpPr>
        <p:spPr>
          <a:xfrm>
            <a:off x="6364224" y="4261104"/>
            <a:ext cx="1600200" cy="640080"/>
          </a:xfrm>
          <a:prstGeom prst="roundRect">
            <a:avLst>
              <a:gd name="adj" fmla="val 8571"/>
            </a:avLst>
          </a:prstGeom>
          <a:solidFill>
            <a:srgbClr val="0A2559"/>
          </a:solidFill>
          <a:ln w="12700">
            <a:solidFill>
              <a:srgbClr val="0A2559"/>
            </a:solidFill>
            <a:prstDash val="solid"/>
          </a:ln>
        </p:spPr>
      </p:sp>
      <p:sp>
        <p:nvSpPr>
          <p:cNvPr id="33" name="Text 31"/>
          <p:cNvSpPr/>
          <p:nvPr/>
        </p:nvSpPr>
        <p:spPr>
          <a:xfrm>
            <a:off x="6364224" y="4261104"/>
            <a:ext cx="1600200" cy="6400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ANOVA · F</a:t>
            </a:r>
            <a:endParaRPr lang="en-US" sz="1150" dirty="0"/>
          </a:p>
        </p:txBody>
      </p:sp>
      <p:sp>
        <p:nvSpPr>
          <p:cNvPr id="34" name="Text 32"/>
          <p:cNvSpPr/>
          <p:nvPr/>
        </p:nvSpPr>
        <p:spPr>
          <a:xfrm>
            <a:off x="8083296" y="4233672"/>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«análisis de varianza»</a:t>
            </a:r>
            <a:endParaRPr lang="en-US" sz="1050" dirty="0"/>
          </a:p>
        </p:txBody>
      </p:sp>
      <p:sp>
        <p:nvSpPr>
          <p:cNvPr id="35" name="Text 33"/>
          <p:cNvSpPr/>
          <p:nvPr/>
        </p:nvSpPr>
        <p:spPr>
          <a:xfrm>
            <a:off x="8083296" y="4471416"/>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Compara tres o más grupos a la vez. Te dice si hay alguna diferencia, no cuál.</a:t>
            </a:r>
            <a:endParaRPr lang="en-US" sz="1050" dirty="0"/>
          </a:p>
        </p:txBody>
      </p:sp>
      <p:sp>
        <p:nvSpPr>
          <p:cNvPr id="36" name="Shape 34"/>
          <p:cNvSpPr/>
          <p:nvPr/>
        </p:nvSpPr>
        <p:spPr>
          <a:xfrm>
            <a:off x="548640" y="5184648"/>
            <a:ext cx="5422392" cy="932688"/>
          </a:xfrm>
          <a:prstGeom prst="roundRect">
            <a:avLst>
              <a:gd name="adj" fmla="val 5882"/>
            </a:avLst>
          </a:prstGeom>
          <a:solidFill>
            <a:srgbClr val="FFFFFF"/>
          </a:solidFill>
          <a:ln w="12700">
            <a:solidFill>
              <a:srgbClr val="D2DBEC"/>
            </a:solidFill>
            <a:prstDash val="solid"/>
          </a:ln>
        </p:spPr>
      </p:sp>
      <p:sp>
        <p:nvSpPr>
          <p:cNvPr id="37" name="Shape 35"/>
          <p:cNvSpPr/>
          <p:nvPr/>
        </p:nvSpPr>
        <p:spPr>
          <a:xfrm>
            <a:off x="694944" y="5330952"/>
            <a:ext cx="1600200" cy="640080"/>
          </a:xfrm>
          <a:prstGeom prst="roundRect">
            <a:avLst>
              <a:gd name="adj" fmla="val 8571"/>
            </a:avLst>
          </a:prstGeom>
          <a:solidFill>
            <a:srgbClr val="0A2559"/>
          </a:solidFill>
          <a:ln w="12700">
            <a:solidFill>
              <a:srgbClr val="0A2559"/>
            </a:solidFill>
            <a:prstDash val="solid"/>
          </a:ln>
        </p:spPr>
      </p:sp>
      <p:sp>
        <p:nvSpPr>
          <p:cNvPr id="38" name="Text 36"/>
          <p:cNvSpPr/>
          <p:nvPr/>
        </p:nvSpPr>
        <p:spPr>
          <a:xfrm>
            <a:off x="694944" y="5330952"/>
            <a:ext cx="1600200" cy="6400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post-hoc</a:t>
            </a:r>
            <a:endParaRPr lang="en-US" sz="1150" dirty="0"/>
          </a:p>
        </p:txBody>
      </p:sp>
      <p:sp>
        <p:nvSpPr>
          <p:cNvPr id="39" name="Text 37"/>
          <p:cNvSpPr/>
          <p:nvPr/>
        </p:nvSpPr>
        <p:spPr>
          <a:xfrm>
            <a:off x="2414016" y="5303520"/>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«después del hecho»</a:t>
            </a:r>
            <a:endParaRPr lang="en-US" sz="1050" dirty="0"/>
          </a:p>
        </p:txBody>
      </p:sp>
      <p:sp>
        <p:nvSpPr>
          <p:cNvPr id="40" name="Text 38"/>
          <p:cNvSpPr/>
          <p:nvPr/>
        </p:nvSpPr>
        <p:spPr>
          <a:xfrm>
            <a:off x="2414016" y="5541264"/>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Las comparaciones por pares que haces DESPUÉS de un ANOVA significativo, con corrección.</a:t>
            </a:r>
            <a:endParaRPr lang="en-US" sz="1050" dirty="0"/>
          </a:p>
        </p:txBody>
      </p:sp>
      <p:sp>
        <p:nvSpPr>
          <p:cNvPr id="41" name="Shape 39"/>
          <p:cNvSpPr/>
          <p:nvPr/>
        </p:nvSpPr>
        <p:spPr>
          <a:xfrm>
            <a:off x="6217920" y="5184648"/>
            <a:ext cx="5422392" cy="932688"/>
          </a:xfrm>
          <a:prstGeom prst="roundRect">
            <a:avLst>
              <a:gd name="adj" fmla="val 5882"/>
            </a:avLst>
          </a:prstGeom>
          <a:solidFill>
            <a:srgbClr val="FFFFFF"/>
          </a:solidFill>
          <a:ln w="12700">
            <a:solidFill>
              <a:srgbClr val="D2DBEC"/>
            </a:solidFill>
            <a:prstDash val="solid"/>
          </a:ln>
        </p:spPr>
      </p:sp>
      <p:sp>
        <p:nvSpPr>
          <p:cNvPr id="42" name="Shape 40"/>
          <p:cNvSpPr/>
          <p:nvPr/>
        </p:nvSpPr>
        <p:spPr>
          <a:xfrm>
            <a:off x="6364224" y="5330952"/>
            <a:ext cx="1600200" cy="640080"/>
          </a:xfrm>
          <a:prstGeom prst="roundRect">
            <a:avLst>
              <a:gd name="adj" fmla="val 8571"/>
            </a:avLst>
          </a:prstGeom>
          <a:solidFill>
            <a:srgbClr val="0A2559"/>
          </a:solidFill>
          <a:ln w="12700">
            <a:solidFill>
              <a:srgbClr val="0A2559"/>
            </a:solidFill>
            <a:prstDash val="solid"/>
          </a:ln>
        </p:spPr>
      </p:sp>
      <p:sp>
        <p:nvSpPr>
          <p:cNvPr id="43" name="Text 41"/>
          <p:cNvSpPr/>
          <p:nvPr/>
        </p:nvSpPr>
        <p:spPr>
          <a:xfrm>
            <a:off x="6364224" y="5330952"/>
            <a:ext cx="160020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 paramétrica</a:t>
            </a:r>
            <a:endParaRPr lang="en-US" sz="1000" dirty="0"/>
          </a:p>
        </p:txBody>
      </p:sp>
      <p:sp>
        <p:nvSpPr>
          <p:cNvPr id="44" name="Text 42"/>
          <p:cNvSpPr/>
          <p:nvPr/>
        </p:nvSpPr>
        <p:spPr>
          <a:xfrm>
            <a:off x="8083296" y="5303520"/>
            <a:ext cx="3401568" cy="237744"/>
          </a:xfrm>
          <a:prstGeom prst="rect">
            <a:avLst/>
          </a:prstGeom>
          <a:noFill/>
          <a:ln/>
        </p:spPr>
        <p:txBody>
          <a:bodyPr wrap="square" lIns="0" tIns="0" rIns="0" bIns="0" rtlCol="0" anchor="ctr"/>
          <a:lstStyle/>
          <a:p>
            <a:pPr marL="0" indent="0">
              <a:buNone/>
            </a:pPr>
            <a:r>
              <a:rPr lang="en-US" sz="1050" b="1" i="1" dirty="0">
                <a:solidFill>
                  <a:srgbClr val="E6115E"/>
                </a:solidFill>
                <a:latin typeface="Calibri" pitchFamily="34" charset="0"/>
                <a:ea typeface="Calibri" pitchFamily="34" charset="-122"/>
                <a:cs typeface="Calibri" pitchFamily="34" charset="-120"/>
              </a:rPr>
              <a:t>sin supuesto de forma</a:t>
            </a:r>
            <a:endParaRPr lang="en-US" sz="1050" dirty="0"/>
          </a:p>
        </p:txBody>
      </p:sp>
      <p:sp>
        <p:nvSpPr>
          <p:cNvPr id="45" name="Text 43"/>
          <p:cNvSpPr/>
          <p:nvPr/>
        </p:nvSpPr>
        <p:spPr>
          <a:xfrm>
            <a:off x="8083296" y="5541264"/>
            <a:ext cx="3410712" cy="502920"/>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Mann-Whitney, Wilcoxon, Kruskal-Wallis. Comparan distribuciones sin asumir normalidad.</a:t>
            </a:r>
            <a:endParaRPr lang="en-US" sz="1050" dirty="0"/>
          </a:p>
        </p:txBody>
      </p:sp>
      <p:sp>
        <p:nvSpPr>
          <p:cNvPr id="46" name="Text 44"/>
          <p:cNvSpPr/>
          <p:nvPr/>
        </p:nvSpPr>
        <p:spPr>
          <a:xfrm>
            <a:off x="548640" y="6382512"/>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Regla que evita el error más caro de la clase: si puedes emparejar cada dato de un grupo con uno del otro, el diseño es emparejado — y usar la prueba de independientes desperdicia casi toda tu potencia.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PRIMERO EL DISEÑO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Antes de elegir la prueba, identifica qué estás comparando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80 % de los errores en comparación de grupos son de diseño, no de cálculo. Y ningún revisor de código los detecta.</a:t>
            </a:r>
            <a:endParaRPr lang="en-US" sz="1400" dirty="0"/>
          </a:p>
        </p:txBody>
      </p:sp>
      <p:sp>
        <p:nvSpPr>
          <p:cNvPr id="6" name="Shape 4"/>
          <p:cNvSpPr/>
          <p:nvPr/>
        </p:nvSpPr>
        <p:spPr>
          <a:xfrm>
            <a:off x="548640" y="1965960"/>
            <a:ext cx="3520440" cy="3200400"/>
          </a:xfrm>
          <a:prstGeom prst="roundRect">
            <a:avLst>
              <a:gd name="adj" fmla="val 1714"/>
            </a:avLst>
          </a:prstGeom>
          <a:solidFill>
            <a:srgbClr val="FFFFFF"/>
          </a:solidFill>
          <a:ln w="12700">
            <a:solidFill>
              <a:srgbClr val="D2DBEC"/>
            </a:solidFill>
            <a:prstDash val="solid"/>
          </a:ln>
        </p:spPr>
      </p:sp>
      <p:sp>
        <p:nvSpPr>
          <p:cNvPr id="7" name="Shape 5"/>
          <p:cNvSpPr/>
          <p:nvPr/>
        </p:nvSpPr>
        <p:spPr>
          <a:xfrm>
            <a:off x="777240" y="2176272"/>
            <a:ext cx="457200" cy="457200"/>
          </a:xfrm>
          <a:prstGeom prst="roundRect">
            <a:avLst>
              <a:gd name="adj" fmla="val 12000"/>
            </a:avLst>
          </a:prstGeom>
          <a:solidFill>
            <a:srgbClr val="1A56E8"/>
          </a:solidFill>
          <a:ln w="12700">
            <a:solidFill>
              <a:srgbClr val="1A56E8"/>
            </a:solidFill>
            <a:prstDash val="solid"/>
          </a:ln>
        </p:spPr>
      </p:sp>
      <p:sp>
        <p:nvSpPr>
          <p:cNvPr id="8" name="Text 6"/>
          <p:cNvSpPr/>
          <p:nvPr/>
        </p:nvSpPr>
        <p:spPr>
          <a:xfrm>
            <a:off x="777240" y="21762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9" name="Text 7"/>
          <p:cNvSpPr/>
          <p:nvPr/>
        </p:nvSpPr>
        <p:spPr>
          <a:xfrm>
            <a:off x="1371600" y="2157984"/>
            <a:ext cx="2514600" cy="49377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Dos grupos independientes</a:t>
            </a:r>
            <a:endParaRPr lang="en-US" sz="1350" dirty="0"/>
          </a:p>
        </p:txBody>
      </p:sp>
      <p:sp>
        <p:nvSpPr>
          <p:cNvPr id="10" name="Text 8"/>
          <p:cNvSpPr/>
          <p:nvPr/>
        </p:nvSpPr>
        <p:spPr>
          <a:xfrm>
            <a:off x="777240" y="2743200"/>
            <a:ext cx="3108960" cy="603504"/>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Los datos de un grupo no tienen nada que ver con los del otro.</a:t>
            </a:r>
            <a:endParaRPr lang="en-US" sz="1150" dirty="0"/>
          </a:p>
        </p:txBody>
      </p:sp>
      <p:sp>
        <p:nvSpPr>
          <p:cNvPr id="11" name="Text 9"/>
          <p:cNvSpPr/>
          <p:nvPr/>
        </p:nvSpPr>
        <p:spPr>
          <a:xfrm>
            <a:off x="777240" y="3383280"/>
            <a:ext cx="3108960" cy="219456"/>
          </a:xfrm>
          <a:prstGeom prst="rect">
            <a:avLst/>
          </a:prstGeom>
          <a:noFill/>
          <a:ln/>
        </p:spPr>
        <p:txBody>
          <a:bodyPr wrap="square" lIns="0" tIns="0" rIns="0" bIns="0" rtlCol="0" anchor="ctr"/>
          <a:lstStyle/>
          <a:p>
            <a:pPr marL="0" indent="0">
              <a:buNone/>
            </a:pPr>
            <a:r>
              <a:rPr lang="en-US" sz="900" b="1" kern="0" spc="60" dirty="0">
                <a:solidFill>
                  <a:srgbClr val="1A56E8"/>
                </a:solidFill>
                <a:latin typeface="Calibri" pitchFamily="34" charset="0"/>
                <a:ea typeface="Calibri" pitchFamily="34" charset="-122"/>
                <a:cs typeface="Calibri" pitchFamily="34" charset="-120"/>
              </a:rPr>
              <a:t>EJEMPLO EN TU TRABAJO</a:t>
            </a:r>
            <a:endParaRPr lang="en-US" sz="900" dirty="0"/>
          </a:p>
        </p:txBody>
      </p:sp>
      <p:sp>
        <p:nvSpPr>
          <p:cNvPr id="12" name="Text 10"/>
          <p:cNvSpPr/>
          <p:nvPr/>
        </p:nvSpPr>
        <p:spPr>
          <a:xfrm>
            <a:off x="777240" y="3621024"/>
            <a:ext cx="3108960" cy="713232"/>
          </a:xfrm>
          <a:prstGeom prst="rect">
            <a:avLst/>
          </a:prstGeom>
          <a:noFill/>
          <a:ln/>
        </p:spPr>
        <p:txBody>
          <a:bodyPr wrap="square" lIns="0" tIns="0" rIns="0" bIns="0" rtlCol="0" anchor="t"/>
          <a:lstStyle/>
          <a:p>
            <a:pPr marL="0" indent="0" algn="l">
              <a:lnSpc>
                <a:spcPct val="106000"/>
              </a:lnSpc>
              <a:buNone/>
            </a:pPr>
            <a:r>
              <a:rPr lang="en-US" sz="1100" i="1" dirty="0">
                <a:solidFill>
                  <a:srgbClr val="2C3A55"/>
                </a:solidFill>
                <a:latin typeface="Calibri" pitchFamily="34" charset="0"/>
                <a:ea typeface="Calibri" pitchFamily="34" charset="-122"/>
                <a:cs typeface="Calibri" pitchFamily="34" charset="-120"/>
              </a:rPr>
              <a:t>Casos que entraron por app contra casos que entraron por agencia. Son casos distintos.</a:t>
            </a:r>
            <a:endParaRPr lang="en-US" sz="1100" dirty="0"/>
          </a:p>
        </p:txBody>
      </p:sp>
      <p:sp>
        <p:nvSpPr>
          <p:cNvPr id="13" name="Shape 11"/>
          <p:cNvSpPr/>
          <p:nvPr/>
        </p:nvSpPr>
        <p:spPr>
          <a:xfrm>
            <a:off x="777240" y="4434840"/>
            <a:ext cx="3063240" cy="457200"/>
          </a:xfrm>
          <a:prstGeom prst="roundRect">
            <a:avLst>
              <a:gd name="adj" fmla="val 12000"/>
            </a:avLst>
          </a:prstGeom>
          <a:solidFill>
            <a:srgbClr val="0A2559"/>
          </a:solidFill>
          <a:ln w="12700">
            <a:solidFill>
              <a:srgbClr val="0A2559"/>
            </a:solidFill>
            <a:prstDash val="solid"/>
          </a:ln>
        </p:spPr>
      </p:sp>
      <p:sp>
        <p:nvSpPr>
          <p:cNvPr id="14" name="Text 12"/>
          <p:cNvSpPr/>
          <p:nvPr/>
        </p:nvSpPr>
        <p:spPr>
          <a:xfrm>
            <a:off x="777240" y="4434840"/>
            <a:ext cx="30632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 de Welch</a:t>
            </a:r>
            <a:endParaRPr lang="en-US" sz="1300" dirty="0"/>
          </a:p>
        </p:txBody>
      </p:sp>
      <p:sp>
        <p:nvSpPr>
          <p:cNvPr id="15" name="Shape 13"/>
          <p:cNvSpPr/>
          <p:nvPr/>
        </p:nvSpPr>
        <p:spPr>
          <a:xfrm>
            <a:off x="4297680" y="1965960"/>
            <a:ext cx="3520440" cy="3200400"/>
          </a:xfrm>
          <a:prstGeom prst="roundRect">
            <a:avLst>
              <a:gd name="adj" fmla="val 1714"/>
            </a:avLst>
          </a:prstGeom>
          <a:solidFill>
            <a:srgbClr val="FFFFFF"/>
          </a:solidFill>
          <a:ln w="12700">
            <a:solidFill>
              <a:srgbClr val="D2DBEC"/>
            </a:solidFill>
            <a:prstDash val="solid"/>
          </a:ln>
        </p:spPr>
      </p:sp>
      <p:sp>
        <p:nvSpPr>
          <p:cNvPr id="16" name="Shape 14"/>
          <p:cNvSpPr/>
          <p:nvPr/>
        </p:nvSpPr>
        <p:spPr>
          <a:xfrm>
            <a:off x="4526280" y="2176272"/>
            <a:ext cx="457200" cy="457200"/>
          </a:xfrm>
          <a:prstGeom prst="roundRect">
            <a:avLst>
              <a:gd name="adj" fmla="val 12000"/>
            </a:avLst>
          </a:prstGeom>
          <a:solidFill>
            <a:srgbClr val="E6115E"/>
          </a:solidFill>
          <a:ln w="12700">
            <a:solidFill>
              <a:srgbClr val="E6115E"/>
            </a:solidFill>
            <a:prstDash val="solid"/>
          </a:ln>
        </p:spPr>
      </p:sp>
      <p:sp>
        <p:nvSpPr>
          <p:cNvPr id="17" name="Text 15"/>
          <p:cNvSpPr/>
          <p:nvPr/>
        </p:nvSpPr>
        <p:spPr>
          <a:xfrm>
            <a:off x="4526280" y="21762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8" name="Text 16"/>
          <p:cNvSpPr/>
          <p:nvPr/>
        </p:nvSpPr>
        <p:spPr>
          <a:xfrm>
            <a:off x="5120640" y="2157984"/>
            <a:ext cx="2514600" cy="49377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Dos medidas emparejadas</a:t>
            </a:r>
            <a:endParaRPr lang="en-US" sz="1350" dirty="0"/>
          </a:p>
        </p:txBody>
      </p:sp>
      <p:sp>
        <p:nvSpPr>
          <p:cNvPr id="19" name="Text 17"/>
          <p:cNvSpPr/>
          <p:nvPr/>
        </p:nvSpPr>
        <p:spPr>
          <a:xfrm>
            <a:off x="4526280" y="2743200"/>
            <a:ext cx="3108960" cy="603504"/>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Cada dato de un grupo tiene su pareja natural en el otro.</a:t>
            </a:r>
            <a:endParaRPr lang="en-US" sz="1150" dirty="0"/>
          </a:p>
        </p:txBody>
      </p:sp>
      <p:sp>
        <p:nvSpPr>
          <p:cNvPr id="20" name="Text 18"/>
          <p:cNvSpPr/>
          <p:nvPr/>
        </p:nvSpPr>
        <p:spPr>
          <a:xfrm>
            <a:off x="4526280" y="3383280"/>
            <a:ext cx="3108960" cy="219456"/>
          </a:xfrm>
          <a:prstGeom prst="rect">
            <a:avLst/>
          </a:prstGeom>
          <a:noFill/>
          <a:ln/>
        </p:spPr>
        <p:txBody>
          <a:bodyPr wrap="square" lIns="0" tIns="0" rIns="0" bIns="0" rtlCol="0" anchor="ctr"/>
          <a:lstStyle/>
          <a:p>
            <a:pPr marL="0" indent="0">
              <a:buNone/>
            </a:pPr>
            <a:r>
              <a:rPr lang="en-US" sz="900" b="1" kern="0" spc="60" dirty="0">
                <a:solidFill>
                  <a:srgbClr val="E6115E"/>
                </a:solidFill>
                <a:latin typeface="Calibri" pitchFamily="34" charset="0"/>
                <a:ea typeface="Calibri" pitchFamily="34" charset="-122"/>
                <a:cs typeface="Calibri" pitchFamily="34" charset="-120"/>
              </a:rPr>
              <a:t>EJEMPLO EN TU TRABAJO</a:t>
            </a:r>
            <a:endParaRPr lang="en-US" sz="900" dirty="0"/>
          </a:p>
        </p:txBody>
      </p:sp>
      <p:sp>
        <p:nvSpPr>
          <p:cNvPr id="21" name="Text 19"/>
          <p:cNvSpPr/>
          <p:nvPr/>
        </p:nvSpPr>
        <p:spPr>
          <a:xfrm>
            <a:off x="4526280" y="3621024"/>
            <a:ext cx="3108960" cy="713232"/>
          </a:xfrm>
          <a:prstGeom prst="rect">
            <a:avLst/>
          </a:prstGeom>
          <a:noFill/>
          <a:ln/>
        </p:spPr>
        <p:txBody>
          <a:bodyPr wrap="square" lIns="0" tIns="0" rIns="0" bIns="0" rtlCol="0" anchor="t"/>
          <a:lstStyle/>
          <a:p>
            <a:pPr marL="0" indent="0" algn="l">
              <a:lnSpc>
                <a:spcPct val="106000"/>
              </a:lnSpc>
              <a:buNone/>
            </a:pPr>
            <a:r>
              <a:rPr lang="en-US" sz="1100" i="1" dirty="0">
                <a:solidFill>
                  <a:srgbClr val="2C3A55"/>
                </a:solidFill>
                <a:latin typeface="Calibri" pitchFamily="34" charset="0"/>
                <a:ea typeface="Calibri" pitchFamily="34" charset="-122"/>
                <a:cs typeface="Calibri" pitchFamily="34" charset="-120"/>
              </a:rPr>
              <a:t>Los mismos 30 analistas, tiempo de resolución antes y después de la capacitación.</a:t>
            </a:r>
            <a:endParaRPr lang="en-US" sz="1100" dirty="0"/>
          </a:p>
        </p:txBody>
      </p:sp>
      <p:sp>
        <p:nvSpPr>
          <p:cNvPr id="22" name="Shape 20"/>
          <p:cNvSpPr/>
          <p:nvPr/>
        </p:nvSpPr>
        <p:spPr>
          <a:xfrm>
            <a:off x="4526280" y="4434840"/>
            <a:ext cx="3063240" cy="457200"/>
          </a:xfrm>
          <a:prstGeom prst="roundRect">
            <a:avLst>
              <a:gd name="adj" fmla="val 12000"/>
            </a:avLst>
          </a:prstGeom>
          <a:solidFill>
            <a:srgbClr val="0A2559"/>
          </a:solidFill>
          <a:ln w="12700">
            <a:solidFill>
              <a:srgbClr val="0A2559"/>
            </a:solidFill>
            <a:prstDash val="solid"/>
          </a:ln>
        </p:spPr>
      </p:sp>
      <p:sp>
        <p:nvSpPr>
          <p:cNvPr id="23" name="Text 21"/>
          <p:cNvSpPr/>
          <p:nvPr/>
        </p:nvSpPr>
        <p:spPr>
          <a:xfrm>
            <a:off x="4526280" y="4434840"/>
            <a:ext cx="30632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 emparejada</a:t>
            </a:r>
            <a:endParaRPr lang="en-US" sz="1300" dirty="0"/>
          </a:p>
        </p:txBody>
      </p:sp>
      <p:sp>
        <p:nvSpPr>
          <p:cNvPr id="24" name="Shape 22"/>
          <p:cNvSpPr/>
          <p:nvPr/>
        </p:nvSpPr>
        <p:spPr>
          <a:xfrm>
            <a:off x="8046720" y="1965960"/>
            <a:ext cx="3520440" cy="3200400"/>
          </a:xfrm>
          <a:prstGeom prst="roundRect">
            <a:avLst>
              <a:gd name="adj" fmla="val 1714"/>
            </a:avLst>
          </a:prstGeom>
          <a:solidFill>
            <a:srgbClr val="FFFFFF"/>
          </a:solidFill>
          <a:ln w="12700">
            <a:solidFill>
              <a:srgbClr val="D2DBEC"/>
            </a:solidFill>
            <a:prstDash val="solid"/>
          </a:ln>
        </p:spPr>
      </p:sp>
      <p:sp>
        <p:nvSpPr>
          <p:cNvPr id="25" name="Shape 23"/>
          <p:cNvSpPr/>
          <p:nvPr/>
        </p:nvSpPr>
        <p:spPr>
          <a:xfrm>
            <a:off x="8275320" y="2176272"/>
            <a:ext cx="457200" cy="457200"/>
          </a:xfrm>
          <a:prstGeom prst="roundRect">
            <a:avLst>
              <a:gd name="adj" fmla="val 12000"/>
            </a:avLst>
          </a:prstGeom>
          <a:solidFill>
            <a:srgbClr val="12B886"/>
          </a:solidFill>
          <a:ln w="12700">
            <a:solidFill>
              <a:srgbClr val="12B886"/>
            </a:solidFill>
            <a:prstDash val="solid"/>
          </a:ln>
        </p:spPr>
      </p:sp>
      <p:sp>
        <p:nvSpPr>
          <p:cNvPr id="26" name="Text 24"/>
          <p:cNvSpPr/>
          <p:nvPr/>
        </p:nvSpPr>
        <p:spPr>
          <a:xfrm>
            <a:off x="8275320" y="21762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7" name="Text 25"/>
          <p:cNvSpPr/>
          <p:nvPr/>
        </p:nvSpPr>
        <p:spPr>
          <a:xfrm>
            <a:off x="8869680" y="2157984"/>
            <a:ext cx="2514600" cy="49377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Tres o más grupos</a:t>
            </a:r>
            <a:endParaRPr lang="en-US" sz="1350" dirty="0"/>
          </a:p>
        </p:txBody>
      </p:sp>
      <p:sp>
        <p:nvSpPr>
          <p:cNvPr id="28" name="Text 26"/>
          <p:cNvSpPr/>
          <p:nvPr/>
        </p:nvSpPr>
        <p:spPr>
          <a:xfrm>
            <a:off x="8275320" y="2743200"/>
            <a:ext cx="3108960" cy="603504"/>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Varios grupos a la vez, independientes entre sí.</a:t>
            </a:r>
            <a:endParaRPr lang="en-US" sz="1150" dirty="0"/>
          </a:p>
        </p:txBody>
      </p:sp>
      <p:sp>
        <p:nvSpPr>
          <p:cNvPr id="29" name="Text 27"/>
          <p:cNvSpPr/>
          <p:nvPr/>
        </p:nvSpPr>
        <p:spPr>
          <a:xfrm>
            <a:off x="8275320" y="3383280"/>
            <a:ext cx="3108960" cy="219456"/>
          </a:xfrm>
          <a:prstGeom prst="rect">
            <a:avLst/>
          </a:prstGeom>
          <a:noFill/>
          <a:ln/>
        </p:spPr>
        <p:txBody>
          <a:bodyPr wrap="square" lIns="0" tIns="0" rIns="0" bIns="0" rtlCol="0" anchor="ctr"/>
          <a:lstStyle/>
          <a:p>
            <a:pPr marL="0" indent="0">
              <a:buNone/>
            </a:pPr>
            <a:r>
              <a:rPr lang="en-US" sz="900" b="1" kern="0" spc="60" dirty="0">
                <a:solidFill>
                  <a:srgbClr val="12B886"/>
                </a:solidFill>
                <a:latin typeface="Calibri" pitchFamily="34" charset="0"/>
                <a:ea typeface="Calibri" pitchFamily="34" charset="-122"/>
                <a:cs typeface="Calibri" pitchFamily="34" charset="-120"/>
              </a:rPr>
              <a:t>EJEMPLO EN TU TRABAJO</a:t>
            </a:r>
            <a:endParaRPr lang="en-US" sz="900" dirty="0"/>
          </a:p>
        </p:txBody>
      </p:sp>
      <p:sp>
        <p:nvSpPr>
          <p:cNvPr id="30" name="Text 28"/>
          <p:cNvSpPr/>
          <p:nvPr/>
        </p:nvSpPr>
        <p:spPr>
          <a:xfrm>
            <a:off x="8275320" y="3621024"/>
            <a:ext cx="3108960" cy="713232"/>
          </a:xfrm>
          <a:prstGeom prst="rect">
            <a:avLst/>
          </a:prstGeom>
          <a:noFill/>
          <a:ln/>
        </p:spPr>
        <p:txBody>
          <a:bodyPr wrap="square" lIns="0" tIns="0" rIns="0" bIns="0" rtlCol="0" anchor="t"/>
          <a:lstStyle/>
          <a:p>
            <a:pPr marL="0" indent="0" algn="l">
              <a:lnSpc>
                <a:spcPct val="106000"/>
              </a:lnSpc>
              <a:buNone/>
            </a:pPr>
            <a:r>
              <a:rPr lang="en-US" sz="1100" i="1" dirty="0">
                <a:solidFill>
                  <a:srgbClr val="2C3A55"/>
                </a:solidFill>
                <a:latin typeface="Calibri" pitchFamily="34" charset="0"/>
                <a:ea typeface="Calibri" pitchFamily="34" charset="-122"/>
                <a:cs typeface="Calibri" pitchFamily="34" charset="-120"/>
              </a:rPr>
              <a:t>Los tres canales: app, web y agencia, comparados simultáneamente.</a:t>
            </a:r>
            <a:endParaRPr lang="en-US" sz="1100" dirty="0"/>
          </a:p>
        </p:txBody>
      </p:sp>
      <p:sp>
        <p:nvSpPr>
          <p:cNvPr id="31" name="Shape 29"/>
          <p:cNvSpPr/>
          <p:nvPr/>
        </p:nvSpPr>
        <p:spPr>
          <a:xfrm>
            <a:off x="8275320" y="4434840"/>
            <a:ext cx="3063240" cy="457200"/>
          </a:xfrm>
          <a:prstGeom prst="roundRect">
            <a:avLst>
              <a:gd name="adj" fmla="val 12000"/>
            </a:avLst>
          </a:prstGeom>
          <a:solidFill>
            <a:srgbClr val="0A2559"/>
          </a:solidFill>
          <a:ln w="12700">
            <a:solidFill>
              <a:srgbClr val="0A2559"/>
            </a:solidFill>
            <a:prstDash val="solid"/>
          </a:ln>
        </p:spPr>
      </p:sp>
      <p:sp>
        <p:nvSpPr>
          <p:cNvPr id="32" name="Text 30"/>
          <p:cNvSpPr/>
          <p:nvPr/>
        </p:nvSpPr>
        <p:spPr>
          <a:xfrm>
            <a:off x="8275320" y="4434840"/>
            <a:ext cx="30632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ANOVA + post-hoc</a:t>
            </a:r>
            <a:endParaRPr lang="en-US" sz="1300" dirty="0"/>
          </a:p>
        </p:txBody>
      </p:sp>
      <p:sp>
        <p:nvSpPr>
          <p:cNvPr id="33" name="Shape 31"/>
          <p:cNvSpPr/>
          <p:nvPr/>
        </p:nvSpPr>
        <p:spPr>
          <a:xfrm>
            <a:off x="548640" y="5303520"/>
            <a:ext cx="11091672" cy="914400"/>
          </a:xfrm>
          <a:prstGeom prst="roundRect">
            <a:avLst>
              <a:gd name="adj" fmla="val 6000"/>
            </a:avLst>
          </a:prstGeom>
          <a:solidFill>
            <a:srgbClr val="0A2559"/>
          </a:solidFill>
          <a:ln w="12700">
            <a:solidFill>
              <a:srgbClr val="0A2559"/>
            </a:solidFill>
            <a:prstDash val="solid"/>
          </a:ln>
        </p:spPr>
      </p:sp>
      <p:sp>
        <p:nvSpPr>
          <p:cNvPr id="34" name="Shape 32"/>
          <p:cNvSpPr/>
          <p:nvPr/>
        </p:nvSpPr>
        <p:spPr>
          <a:xfrm>
            <a:off x="804672" y="5532120"/>
            <a:ext cx="118872" cy="118872"/>
          </a:xfrm>
          <a:prstGeom prst="roundRect">
            <a:avLst>
              <a:gd name="adj" fmla="val 30769"/>
            </a:avLst>
          </a:prstGeom>
          <a:solidFill>
            <a:srgbClr val="E6115E"/>
          </a:solidFill>
          <a:ln w="12700">
            <a:solidFill>
              <a:srgbClr val="E6115E"/>
            </a:solidFill>
            <a:prstDash val="solid"/>
          </a:ln>
        </p:spPr>
      </p:sp>
      <p:sp>
        <p:nvSpPr>
          <p:cNvPr id="35" name="Text 33"/>
          <p:cNvSpPr/>
          <p:nvPr/>
        </p:nvSpPr>
        <p:spPr>
          <a:xfrm>
            <a:off x="1042416" y="5431536"/>
            <a:ext cx="7077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pregunta que resuelve el diseño en cinco segundos</a:t>
            </a:r>
            <a:endParaRPr lang="en-US" sz="1400" dirty="0"/>
          </a:p>
        </p:txBody>
      </p:sp>
      <p:sp>
        <p:nvSpPr>
          <p:cNvPr id="36" name="Text 34"/>
          <p:cNvSpPr/>
          <p:nvPr/>
        </p:nvSpPr>
        <p:spPr>
          <a:xfrm>
            <a:off x="804672" y="5760720"/>
            <a:ext cx="10515600" cy="384048"/>
          </a:xfrm>
          <a:prstGeom prst="rect">
            <a:avLst/>
          </a:prstGeom>
          <a:noFill/>
          <a:ln/>
        </p:spPr>
        <p:txBody>
          <a:bodyPr wrap="square" lIns="0" tIns="0" rIns="0" bIns="0" rtlCol="0" anchor="t"/>
          <a:lstStyle/>
          <a:p>
            <a:pPr marL="0" indent="0" algn="l">
              <a:lnSpc>
                <a:spcPct val="104000"/>
              </a:lnSpc>
              <a:buNone/>
            </a:pPr>
            <a:r>
              <a:rPr lang="en-US" sz="1200" dirty="0">
                <a:solidFill>
                  <a:srgbClr val="C9D6F2"/>
                </a:solidFill>
                <a:latin typeface="Calibri" pitchFamily="34" charset="0"/>
                <a:ea typeface="Calibri" pitchFamily="34" charset="-122"/>
                <a:cs typeface="Calibri" pitchFamily="34" charset="-120"/>
              </a:rPr>
              <a:t>«¿Puedo escribir mis datos en dos columnas donde cada fila sea la misma unidad medida dos veces?» Si sí, es emparejado. Si no, es independiente. Y si tienes más de dos columnas de grupos distintos, es el caso 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01752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01752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CASO B · EMPAREJADOS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Confundir el diseño cuesta siete órdenes de magnitud</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Los mismos 30 analistas, antes y después de una capacitación. Dos formas de analizarlo; una está mal.</a:t>
            </a:r>
            <a:endParaRPr lang="en-US" sz="1400" dirty="0"/>
          </a:p>
        </p:txBody>
      </p:sp>
      <p:sp>
        <p:nvSpPr>
          <p:cNvPr id="6" name="Text 4"/>
          <p:cNvSpPr/>
          <p:nvPr/>
        </p:nvSpPr>
        <p:spPr>
          <a:xfrm>
            <a:off x="777240" y="2057400"/>
            <a:ext cx="4937760" cy="603504"/>
          </a:xfrm>
          <a:prstGeom prst="rect">
            <a:avLst/>
          </a:prstGeom>
          <a:noFill/>
          <a:ln/>
        </p:spPr>
        <p:txBody>
          <a:bodyPr wrap="square" lIns="0" tIns="0" rIns="0" bIns="0" rtlCol="0" anchor="ctr"/>
          <a:lstStyle/>
          <a:p>
            <a:pPr marL="0" indent="0" algn="l">
              <a:buNone/>
            </a:pPr>
            <a:r>
              <a:rPr lang="en-US" sz="3000" b="1" dirty="0">
                <a:solidFill>
                  <a:srgbClr val="12B886"/>
                </a:solidFill>
                <a:latin typeface="Calibri" pitchFamily="34" charset="0"/>
                <a:ea typeface="Calibri" pitchFamily="34" charset="-122"/>
                <a:cs typeface="Calibri" pitchFamily="34" charset="-120"/>
              </a:rPr>
              <a:t>p = 1.6 × 10⁻⁸</a:t>
            </a:r>
            <a:endParaRPr lang="en-US" sz="3000" dirty="0"/>
          </a:p>
        </p:txBody>
      </p:sp>
      <p:sp>
        <p:nvSpPr>
          <p:cNvPr id="7" name="Text 5"/>
          <p:cNvSpPr/>
          <p:nvPr/>
        </p:nvSpPr>
        <p:spPr>
          <a:xfrm>
            <a:off x="777240" y="2624328"/>
            <a:ext cx="493776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t EMPAREJADA — la correcta</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Aprovecha que cada analista es</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su propio control</a:t>
            </a:r>
            <a:endParaRPr lang="en-US" sz="1150" dirty="0"/>
          </a:p>
        </p:txBody>
      </p:sp>
      <p:sp>
        <p:nvSpPr>
          <p:cNvPr id="8" name="Text 6"/>
          <p:cNvSpPr/>
          <p:nvPr/>
        </p:nvSpPr>
        <p:spPr>
          <a:xfrm>
            <a:off x="6400800" y="2057400"/>
            <a:ext cx="4937760" cy="603504"/>
          </a:xfrm>
          <a:prstGeom prst="rect">
            <a:avLst/>
          </a:prstGeom>
          <a:noFill/>
          <a:ln/>
        </p:spPr>
        <p:txBody>
          <a:bodyPr wrap="square" lIns="0" tIns="0" rIns="0" bIns="0" rtlCol="0" anchor="ctr"/>
          <a:lstStyle/>
          <a:p>
            <a:pPr marL="0" indent="0" algn="l">
              <a:buNone/>
            </a:pPr>
            <a:r>
              <a:rPr lang="en-US" sz="3000" b="1" dirty="0">
                <a:solidFill>
                  <a:srgbClr val="E6115E"/>
                </a:solidFill>
                <a:latin typeface="Calibri" pitchFamily="34" charset="0"/>
                <a:ea typeface="Calibri" pitchFamily="34" charset="-122"/>
                <a:cs typeface="Calibri" pitchFamily="34" charset="-120"/>
              </a:rPr>
              <a:t>p = 0.260</a:t>
            </a:r>
            <a:endParaRPr lang="en-US" sz="3000" dirty="0"/>
          </a:p>
        </p:txBody>
      </p:sp>
      <p:sp>
        <p:nvSpPr>
          <p:cNvPr id="9" name="Text 7"/>
          <p:cNvSpPr/>
          <p:nvPr/>
        </p:nvSpPr>
        <p:spPr>
          <a:xfrm>
            <a:off x="6400800" y="2624328"/>
            <a:ext cx="493776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t de dos muestras — la incorrecta</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Trata a los mismos analistas</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como si fueran gente distinta</a:t>
            </a:r>
            <a:endParaRPr lang="en-US" sz="1150" dirty="0"/>
          </a:p>
        </p:txBody>
      </p:sp>
      <p:sp>
        <p:nvSpPr>
          <p:cNvPr id="10" name="Shape 8"/>
          <p:cNvSpPr/>
          <p:nvPr/>
        </p:nvSpPr>
        <p:spPr>
          <a:xfrm>
            <a:off x="777240" y="3401568"/>
            <a:ext cx="10607040" cy="0"/>
          </a:xfrm>
          <a:prstGeom prst="line">
            <a:avLst/>
          </a:prstGeom>
          <a:noFill/>
          <a:ln w="12700">
            <a:solidFill>
              <a:srgbClr val="D2DBEC"/>
            </a:solidFill>
            <a:prstDash val="solid"/>
          </a:ln>
        </p:spPr>
      </p:sp>
      <p:sp>
        <p:nvSpPr>
          <p:cNvPr id="11" name="Shape 9"/>
          <p:cNvSpPr/>
          <p:nvPr/>
        </p:nvSpPr>
        <p:spPr>
          <a:xfrm>
            <a:off x="548640" y="3611880"/>
            <a:ext cx="5468112" cy="1691640"/>
          </a:xfrm>
          <a:prstGeom prst="roundRect">
            <a:avLst>
              <a:gd name="adj" fmla="val 3243"/>
            </a:avLst>
          </a:prstGeom>
          <a:solidFill>
            <a:srgbClr val="0A2559"/>
          </a:solidFill>
          <a:ln w="12700">
            <a:solidFill>
              <a:srgbClr val="0A2559"/>
            </a:solidFill>
            <a:prstDash val="solid"/>
          </a:ln>
        </p:spPr>
      </p:sp>
      <p:sp>
        <p:nvSpPr>
          <p:cNvPr id="12" name="Shape 10"/>
          <p:cNvSpPr/>
          <p:nvPr/>
        </p:nvSpPr>
        <p:spPr>
          <a:xfrm>
            <a:off x="804672" y="3877056"/>
            <a:ext cx="118872" cy="118872"/>
          </a:xfrm>
          <a:prstGeom prst="roundRect">
            <a:avLst>
              <a:gd name="adj" fmla="val 30769"/>
            </a:avLst>
          </a:prstGeom>
          <a:solidFill>
            <a:srgbClr val="E6115E"/>
          </a:solidFill>
          <a:ln w="12700">
            <a:solidFill>
              <a:srgbClr val="E6115E"/>
            </a:solidFill>
            <a:prstDash val="solid"/>
          </a:ln>
        </p:spPr>
      </p:sp>
      <p:sp>
        <p:nvSpPr>
          <p:cNvPr id="13" name="Text 11"/>
          <p:cNvSpPr/>
          <p:nvPr/>
        </p:nvSpPr>
        <p:spPr>
          <a:xfrm>
            <a:off x="1042416" y="3776472"/>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Por qué la diferencia es tan brutal</a:t>
            </a:r>
            <a:endParaRPr lang="en-US" sz="1400" dirty="0"/>
          </a:p>
        </p:txBody>
      </p:sp>
      <p:sp>
        <p:nvSpPr>
          <p:cNvPr id="14" name="Text 12"/>
          <p:cNvSpPr/>
          <p:nvPr/>
        </p:nvSpPr>
        <p:spPr>
          <a:xfrm>
            <a:off x="804672" y="4114800"/>
            <a:ext cx="4983480" cy="1115568"/>
          </a:xfrm>
          <a:prstGeom prst="rect">
            <a:avLst/>
          </a:prstGeom>
          <a:noFill/>
          <a:ln/>
        </p:spPr>
        <p:txBody>
          <a:bodyPr wrap="square" lIns="0" tIns="0" rIns="0" bIns="0" rtlCol="0" anchor="t"/>
          <a:lstStyle/>
          <a:p>
            <a:pPr marL="0" indent="0" algn="l">
              <a:lnSpc>
                <a:spcPct val="106000"/>
              </a:lnSpc>
              <a:buNone/>
            </a:pPr>
            <a:r>
              <a:rPr lang="en-US" sz="1100" dirty="0">
                <a:solidFill>
                  <a:srgbClr val="C9D6F2"/>
                </a:solidFill>
                <a:latin typeface="Calibri" pitchFamily="34" charset="0"/>
                <a:ea typeface="Calibri" pitchFamily="34" charset="-122"/>
                <a:cs typeface="Calibri" pitchFamily="34" charset="-120"/>
              </a:rPr>
              <a:t>Los analistas son muy distintos entre sí: la desviación entre personas es de casi 8 días, mientras que la de las mejoras individuales es de 1.6.</a:t>
            </a:r>
            <a:endParaRPr lang="en-US" sz="1100" dirty="0"/>
          </a:p>
          <a:p>
            <a:pPr marL="0" indent="0" algn="l">
              <a:lnSpc>
                <a:spcPct val="106000"/>
              </a:lnSpc>
              <a:buNone/>
            </a:pPr>
            <a:endParaRPr lang="en-US" sz="1100" dirty="0"/>
          </a:p>
          <a:p>
            <a:pPr marL="0" indent="0" algn="l">
              <a:lnSpc>
                <a:spcPct val="106000"/>
              </a:lnSpc>
              <a:buNone/>
            </a:pPr>
            <a:r>
              <a:rPr lang="en-US" sz="1100" dirty="0">
                <a:solidFill>
                  <a:srgbClr val="C9D6F2"/>
                </a:solidFill>
                <a:latin typeface="Calibri" pitchFamily="34" charset="0"/>
                <a:ea typeface="Calibri" pitchFamily="34" charset="-122"/>
                <a:cs typeface="Calibri" pitchFamily="34" charset="-120"/>
              </a:rPr>
              <a:t>La emparejada la elimina de un golpe: trabaja con la diferencia de cada persona consigo misma. La de dos muestras la deja en el error estándar, y ahí el efecto queda sepultado.</a:t>
            </a:r>
            <a:endParaRPr lang="en-US" sz="1100" dirty="0"/>
          </a:p>
        </p:txBody>
      </p:sp>
      <p:sp>
        <p:nvSpPr>
          <p:cNvPr id="15" name="Shape 13"/>
          <p:cNvSpPr/>
          <p:nvPr/>
        </p:nvSpPr>
        <p:spPr>
          <a:xfrm>
            <a:off x="6172200" y="3611880"/>
            <a:ext cx="5468112" cy="1691640"/>
          </a:xfrm>
          <a:prstGeom prst="roundRect">
            <a:avLst>
              <a:gd name="adj" fmla="val 3243"/>
            </a:avLst>
          </a:prstGeom>
          <a:solidFill>
            <a:srgbClr val="FFFFFF"/>
          </a:solidFill>
          <a:ln w="12700">
            <a:solidFill>
              <a:srgbClr val="D2DBEC"/>
            </a:solidFill>
            <a:prstDash val="solid"/>
          </a:ln>
        </p:spPr>
      </p:sp>
      <p:sp>
        <p:nvSpPr>
          <p:cNvPr id="16" name="Shape 14"/>
          <p:cNvSpPr/>
          <p:nvPr/>
        </p:nvSpPr>
        <p:spPr>
          <a:xfrm>
            <a:off x="6419088" y="3877056"/>
            <a:ext cx="118872" cy="118872"/>
          </a:xfrm>
          <a:prstGeom prst="roundRect">
            <a:avLst>
              <a:gd name="adj" fmla="val 30769"/>
            </a:avLst>
          </a:prstGeom>
          <a:solidFill>
            <a:srgbClr val="E6115E"/>
          </a:solidFill>
          <a:ln w="12700">
            <a:solidFill>
              <a:srgbClr val="E6115E"/>
            </a:solidFill>
            <a:prstDash val="solid"/>
          </a:ln>
        </p:spPr>
      </p:sp>
      <p:sp>
        <p:nvSpPr>
          <p:cNvPr id="17" name="Text 15"/>
          <p:cNvSpPr/>
          <p:nvPr/>
        </p:nvSpPr>
        <p:spPr>
          <a:xfrm>
            <a:off x="6656832" y="377647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Cómo se hace en código</a:t>
            </a:r>
            <a:endParaRPr lang="en-US" sz="1400" dirty="0"/>
          </a:p>
        </p:txBody>
      </p:sp>
      <p:sp>
        <p:nvSpPr>
          <p:cNvPr id="18" name="Text 16"/>
          <p:cNvSpPr/>
          <p:nvPr/>
        </p:nvSpPr>
        <p:spPr>
          <a:xfrm>
            <a:off x="6419088" y="4114800"/>
            <a:ext cx="4983480" cy="914400"/>
          </a:xfrm>
          <a:prstGeom prst="rect">
            <a:avLst/>
          </a:prstGeom>
          <a:noFill/>
          <a:ln/>
        </p:spPr>
        <p:txBody>
          <a:bodyPr wrap="square" lIns="0" tIns="0" rIns="0" bIns="0" rtlCol="0" anchor="t"/>
          <a:lstStyle/>
          <a:p>
            <a:pPr marL="0" indent="0">
              <a:lnSpc>
                <a:spcPct val="105000"/>
              </a:lnSpc>
              <a:buNone/>
            </a:pPr>
            <a:r>
              <a:rPr lang="en-US" sz="1050" dirty="0">
                <a:solidFill>
                  <a:srgbClr val="2C3A55"/>
                </a:solidFill>
                <a:latin typeface="Courier New" pitchFamily="34" charset="0"/>
                <a:ea typeface="Courier New" pitchFamily="34" charset="-122"/>
                <a:cs typeface="Courier New" pitchFamily="34" charset="-120"/>
              </a:rPr>
              <a:t># emparejado: UNA columna de diferencias</a:t>
            </a:r>
            <a:endParaRPr lang="en-US" sz="1050" dirty="0"/>
          </a:p>
          <a:p>
            <a:pPr marL="0" indent="0">
              <a:lnSpc>
                <a:spcPct val="105000"/>
              </a:lnSpc>
              <a:buNone/>
            </a:pPr>
            <a:r>
              <a:rPr lang="en-US" sz="1050" dirty="0">
                <a:solidFill>
                  <a:srgbClr val="2C3A55"/>
                </a:solidFill>
                <a:latin typeface="Courier New" pitchFamily="34" charset="0"/>
                <a:ea typeface="Courier New" pitchFamily="34" charset="-122"/>
                <a:cs typeface="Courier New" pitchFamily="34" charset="-120"/>
              </a:rPr>
              <a:t>stats.ttest_rel(antes, despues)</a:t>
            </a:r>
            <a:endParaRPr lang="en-US" sz="1050" dirty="0"/>
          </a:p>
          <a:p>
            <a:pPr marL="0" indent="0">
              <a:lnSpc>
                <a:spcPct val="105000"/>
              </a:lnSpc>
              <a:buNone/>
            </a:pPr>
            <a:endParaRPr lang="en-US" sz="1050" dirty="0"/>
          </a:p>
          <a:p>
            <a:pPr marL="0" indent="0">
              <a:lnSpc>
                <a:spcPct val="105000"/>
              </a:lnSpc>
              <a:buNone/>
            </a:pPr>
            <a:r>
              <a:rPr lang="en-US" sz="1050" dirty="0">
                <a:solidFill>
                  <a:srgbClr val="2C3A55"/>
                </a:solidFill>
                <a:latin typeface="Courier New" pitchFamily="34" charset="0"/>
                <a:ea typeface="Courier New" pitchFamily="34" charset="-122"/>
                <a:cs typeface="Courier New" pitchFamily="34" charset="-120"/>
              </a:rPr>
              <a:t># independiente: dos grupos distintos</a:t>
            </a:r>
            <a:endParaRPr lang="en-US" sz="1050" dirty="0"/>
          </a:p>
          <a:p>
            <a:pPr marL="0" indent="0">
              <a:lnSpc>
                <a:spcPct val="105000"/>
              </a:lnSpc>
              <a:buNone/>
            </a:pPr>
            <a:r>
              <a:rPr lang="en-US" sz="1050" dirty="0">
                <a:solidFill>
                  <a:srgbClr val="2C3A55"/>
                </a:solidFill>
                <a:latin typeface="Courier New" pitchFamily="34" charset="0"/>
                <a:ea typeface="Courier New" pitchFamily="34" charset="-122"/>
                <a:cs typeface="Courier New" pitchFamily="34" charset="-120"/>
              </a:rPr>
              <a:t>stats.ttest_ind(a, b, equal_var=False)</a:t>
            </a:r>
            <a:endParaRPr lang="en-US" sz="1050" dirty="0"/>
          </a:p>
        </p:txBody>
      </p:sp>
      <p:sp>
        <p:nvSpPr>
          <p:cNvPr id="19" name="Text 17"/>
          <p:cNvSpPr/>
          <p:nvPr/>
        </p:nvSpPr>
        <p:spPr>
          <a:xfrm>
            <a:off x="6419088" y="5029200"/>
            <a:ext cx="4983480" cy="219456"/>
          </a:xfrm>
          <a:prstGeom prst="rect">
            <a:avLst/>
          </a:prstGeom>
          <a:noFill/>
          <a:ln/>
        </p:spPr>
        <p:txBody>
          <a:bodyPr wrap="square" lIns="0" tIns="0" rIns="0" bIns="0" rtlCol="0" anchor="t"/>
          <a:lstStyle/>
          <a:p>
            <a:pPr marL="0" indent="0" algn="l">
              <a:lnSpc>
                <a:spcPct val="108000"/>
              </a:lnSpc>
              <a:buNone/>
            </a:pPr>
            <a:r>
              <a:rPr lang="en-US" sz="1100" i="1" dirty="0">
                <a:solidFill>
                  <a:srgbClr val="5B6B87"/>
                </a:solidFill>
                <a:latin typeface="Calibri" pitchFamily="34" charset="0"/>
                <a:ea typeface="Calibri" pitchFamily="34" charset="-122"/>
                <a:cs typeface="Calibri" pitchFamily="34" charset="-120"/>
              </a:rPr>
              <a:t>La diferencia es una sola palabra: rel contra ind.</a:t>
            </a:r>
            <a:endParaRPr lang="en-US" sz="1100" dirty="0"/>
          </a:p>
        </p:txBody>
      </p:sp>
      <p:sp>
        <p:nvSpPr>
          <p:cNvPr id="20" name="Shape 18"/>
          <p:cNvSpPr/>
          <p:nvPr/>
        </p:nvSpPr>
        <p:spPr>
          <a:xfrm>
            <a:off x="548640" y="5440680"/>
            <a:ext cx="11091672" cy="822960"/>
          </a:xfrm>
          <a:prstGeom prst="roundRect">
            <a:avLst>
              <a:gd name="adj" fmla="val 6667"/>
            </a:avLst>
          </a:prstGeom>
          <a:solidFill>
            <a:srgbClr val="E9EEF8"/>
          </a:solidFill>
          <a:ln w="12700">
            <a:solidFill>
              <a:srgbClr val="D2DBEC"/>
            </a:solidFill>
            <a:prstDash val="solid"/>
          </a:ln>
        </p:spPr>
      </p:sp>
      <p:sp>
        <p:nvSpPr>
          <p:cNvPr id="21" name="Text 19"/>
          <p:cNvSpPr/>
          <p:nvPr/>
        </p:nvSpPr>
        <p:spPr>
          <a:xfrm>
            <a:off x="822960" y="5440680"/>
            <a:ext cx="10607040" cy="822960"/>
          </a:xfrm>
          <a:prstGeom prst="rect">
            <a:avLst/>
          </a:prstGeom>
          <a:noFill/>
          <a:ln/>
        </p:spPr>
        <p:txBody>
          <a:bodyPr wrap="square" lIns="0" tIns="0" rIns="0" bIns="0" rtlCol="0" anchor="ctr"/>
          <a:lstStyle/>
          <a:p>
            <a:pPr marL="0" indent="0" algn="l">
              <a:lnSpc>
                <a:spcPct val="106000"/>
              </a:lnSpc>
              <a:buNone/>
            </a:pPr>
            <a:r>
              <a:rPr lang="en-US" sz="1200" dirty="0">
                <a:solidFill>
                  <a:srgbClr val="2C3A55"/>
                </a:solidFill>
                <a:latin typeface="Calibri" pitchFamily="34" charset="0"/>
                <a:ea typeface="Calibri" pitchFamily="34" charset="-122"/>
                <a:cs typeface="Calibri" pitchFamily="34" charset="-120"/>
              </a:rPr>
              <a:t>Y funciona también al revés: si tratas como emparejados dos grupos que no lo son, el resultado no tiene interpretación. El diseño no es una preferencia de análisis — es un hecho sobre cómo se recogieron los datos.</a:t>
            </a:r>
            <a:endParaRPr lang="en-US" sz="1200" dirty="0"/>
          </a:p>
        </p:txBody>
      </p:sp>
      <p:sp>
        <p:nvSpPr>
          <p:cNvPr id="22" name="Text 20"/>
          <p:cNvSpPr/>
          <p:nvPr/>
        </p:nvSpPr>
        <p:spPr>
          <a:xfrm>
            <a:off x="548640" y="6327648"/>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Simulación con SEED = 42: n = 30 analistas, efecto real de 2.5 días. t emparejada = 7.71; t de dos muestras = 1.14. Lo reproduces en el bloque 1 del Colab.</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CASO A · INDEPENDIENTES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Dos fórmulas, y una supone algo que casi nunca es cierto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Ambas dividen la diferencia entre su error estándar. Discrepan en cómo combinan las dos dispersiones.</a:t>
            </a:r>
            <a:endParaRPr lang="en-US" sz="1400" dirty="0"/>
          </a:p>
        </p:txBody>
      </p:sp>
      <p:sp>
        <p:nvSpPr>
          <p:cNvPr id="6" name="Shape 4"/>
          <p:cNvSpPr/>
          <p:nvPr/>
        </p:nvSpPr>
        <p:spPr>
          <a:xfrm>
            <a:off x="548640" y="1938528"/>
            <a:ext cx="5468112" cy="1170432"/>
          </a:xfrm>
          <a:prstGeom prst="roundRect">
            <a:avLst>
              <a:gd name="adj" fmla="val 4688"/>
            </a:avLst>
          </a:prstGeom>
          <a:solidFill>
            <a:srgbClr val="E9EEF8"/>
          </a:solidFill>
          <a:ln w="12700">
            <a:solidFill>
              <a:srgbClr val="D2DBEC"/>
            </a:solidFill>
            <a:prstDash val="solid"/>
          </a:ln>
        </p:spPr>
      </p:sp>
      <p:sp>
        <p:nvSpPr>
          <p:cNvPr id="7" name="Shape 5"/>
          <p:cNvSpPr/>
          <p:nvPr/>
        </p:nvSpPr>
        <p:spPr>
          <a:xfrm>
            <a:off x="804672" y="2167128"/>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066544"/>
            <a:ext cx="4791456" cy="292608"/>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Student — supone varianzas iguales</a:t>
            </a:r>
            <a:endParaRPr lang="en-US" sz="1300" dirty="0"/>
          </a:p>
        </p:txBody>
      </p:sp>
      <p:sp>
        <p:nvSpPr>
          <p:cNvPr id="9" name="Text 7"/>
          <p:cNvSpPr/>
          <p:nvPr/>
        </p:nvSpPr>
        <p:spPr>
          <a:xfrm>
            <a:off x="804672" y="2395728"/>
            <a:ext cx="4983480" cy="329184"/>
          </a:xfrm>
          <a:prstGeom prst="rect">
            <a:avLst/>
          </a:prstGeom>
          <a:noFill/>
          <a:ln/>
        </p:spPr>
        <p:txBody>
          <a:bodyPr wrap="square" lIns="0" tIns="0" rIns="0" bIns="0" rtlCol="0" anchor="ctr"/>
          <a:lstStyle/>
          <a:p>
            <a:pPr marL="0" indent="0">
              <a:buNone/>
            </a:pPr>
            <a:r>
              <a:rPr lang="en-US" sz="1400" b="1" dirty="0">
                <a:solidFill>
                  <a:srgbClr val="0A2559"/>
                </a:solidFill>
                <a:latin typeface="Cambria" pitchFamily="34" charset="0"/>
                <a:ea typeface="Cambria" pitchFamily="34" charset="-122"/>
                <a:cs typeface="Cambria" pitchFamily="34" charset="-120"/>
              </a:rPr>
              <a:t>t = (x̄₁ − x̄₂) / [ sₚ · √(1/n₁ + 1/n₂) ]</a:t>
            </a:r>
            <a:endParaRPr lang="en-US" sz="1400" dirty="0"/>
          </a:p>
        </p:txBody>
      </p:sp>
      <p:sp>
        <p:nvSpPr>
          <p:cNvPr id="10" name="Text 8"/>
          <p:cNvSpPr/>
          <p:nvPr/>
        </p:nvSpPr>
        <p:spPr>
          <a:xfrm>
            <a:off x="804672" y="2743200"/>
            <a:ext cx="4983480" cy="274320"/>
          </a:xfrm>
          <a:prstGeom prst="rect">
            <a:avLst/>
          </a:prstGeom>
          <a:noFill/>
          <a:ln/>
        </p:spPr>
        <p:txBody>
          <a:bodyPr wrap="square" lIns="0" tIns="0" rIns="0" bIns="0" rtlCol="0" anchor="t"/>
          <a:lstStyle/>
          <a:p>
            <a:pPr marL="0" indent="0" algn="l">
              <a:lnSpc>
                <a:spcPct val="108000"/>
              </a:lnSpc>
              <a:buNone/>
            </a:pPr>
            <a:r>
              <a:rPr lang="en-US" sz="1050" dirty="0">
                <a:solidFill>
                  <a:srgbClr val="5B6B87"/>
                </a:solidFill>
                <a:latin typeface="Calibri" pitchFamily="34" charset="0"/>
                <a:ea typeface="Calibri" pitchFamily="34" charset="-122"/>
                <a:cs typeface="Calibri" pitchFamily="34" charset="-120"/>
              </a:rPr>
              <a:t>Junta las dos muestras en una sola dispersión sₚ, «agrupada». Grados de libertad: n₁ + n₂ − 2.</a:t>
            </a:r>
            <a:endParaRPr lang="en-US" sz="1050" dirty="0"/>
          </a:p>
        </p:txBody>
      </p:sp>
      <p:sp>
        <p:nvSpPr>
          <p:cNvPr id="11" name="Shape 9"/>
          <p:cNvSpPr/>
          <p:nvPr/>
        </p:nvSpPr>
        <p:spPr>
          <a:xfrm>
            <a:off x="6172200" y="1938528"/>
            <a:ext cx="5468112" cy="1170432"/>
          </a:xfrm>
          <a:prstGeom prst="roundRect">
            <a:avLst>
              <a:gd name="adj" fmla="val 4688"/>
            </a:avLst>
          </a:prstGeom>
          <a:solidFill>
            <a:srgbClr val="0A2559"/>
          </a:solidFill>
          <a:ln w="12700">
            <a:solidFill>
              <a:srgbClr val="0A2559"/>
            </a:solidFill>
            <a:prstDash val="solid"/>
          </a:ln>
        </p:spPr>
      </p:sp>
      <p:sp>
        <p:nvSpPr>
          <p:cNvPr id="12" name="Shape 10"/>
          <p:cNvSpPr/>
          <p:nvPr/>
        </p:nvSpPr>
        <p:spPr>
          <a:xfrm>
            <a:off x="6419088" y="2167128"/>
            <a:ext cx="118872" cy="118872"/>
          </a:xfrm>
          <a:prstGeom prst="roundRect">
            <a:avLst>
              <a:gd name="adj" fmla="val 30769"/>
            </a:avLst>
          </a:prstGeom>
          <a:solidFill>
            <a:srgbClr val="E6115E"/>
          </a:solidFill>
          <a:ln w="12700">
            <a:solidFill>
              <a:srgbClr val="E6115E"/>
            </a:solidFill>
            <a:prstDash val="solid"/>
          </a:ln>
        </p:spPr>
      </p:sp>
      <p:sp>
        <p:nvSpPr>
          <p:cNvPr id="13" name="Text 11"/>
          <p:cNvSpPr/>
          <p:nvPr/>
        </p:nvSpPr>
        <p:spPr>
          <a:xfrm>
            <a:off x="6656832" y="2066544"/>
            <a:ext cx="4791456"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Welch — no supone nada de eso</a:t>
            </a:r>
            <a:endParaRPr lang="en-US" sz="1300" dirty="0"/>
          </a:p>
        </p:txBody>
      </p:sp>
      <p:sp>
        <p:nvSpPr>
          <p:cNvPr id="14" name="Text 12"/>
          <p:cNvSpPr/>
          <p:nvPr/>
        </p:nvSpPr>
        <p:spPr>
          <a:xfrm>
            <a:off x="6419088" y="2395728"/>
            <a:ext cx="4983480" cy="329184"/>
          </a:xfrm>
          <a:prstGeom prst="rect">
            <a:avLst/>
          </a:prstGeom>
          <a:noFill/>
          <a:ln/>
        </p:spPr>
        <p:txBody>
          <a:bodyPr wrap="square" lIns="0" tIns="0" rIns="0" bIns="0" rtlCol="0" anchor="ctr"/>
          <a:lstStyle/>
          <a:p>
            <a:pPr marL="0" indent="0">
              <a:buNone/>
            </a:pPr>
            <a:r>
              <a:rPr lang="en-US" sz="1400" b="1" dirty="0">
                <a:solidFill>
                  <a:srgbClr val="4A82FF"/>
                </a:solidFill>
                <a:latin typeface="Cambria" pitchFamily="34" charset="0"/>
                <a:ea typeface="Cambria" pitchFamily="34" charset="-122"/>
                <a:cs typeface="Cambria" pitchFamily="34" charset="-120"/>
              </a:rPr>
              <a:t>t = (x̄₁ − x̄₂) / √( s₁²/n₁ + s₂²/n₂ )</a:t>
            </a:r>
            <a:endParaRPr lang="en-US" sz="1400" dirty="0"/>
          </a:p>
        </p:txBody>
      </p:sp>
      <p:sp>
        <p:nvSpPr>
          <p:cNvPr id="15" name="Text 13"/>
          <p:cNvSpPr/>
          <p:nvPr/>
        </p:nvSpPr>
        <p:spPr>
          <a:xfrm>
            <a:off x="6419088" y="2743200"/>
            <a:ext cx="4983480" cy="274320"/>
          </a:xfrm>
          <a:prstGeom prst="rect">
            <a:avLst/>
          </a:prstGeom>
          <a:noFill/>
          <a:ln/>
        </p:spPr>
        <p:txBody>
          <a:bodyPr wrap="square" lIns="0" tIns="0" rIns="0" bIns="0" rtlCol="0" anchor="t"/>
          <a:lstStyle/>
          <a:p>
            <a:pPr marL="0" indent="0" algn="l">
              <a:lnSpc>
                <a:spcPct val="108000"/>
              </a:lnSpc>
              <a:buNone/>
            </a:pPr>
            <a:r>
              <a:rPr lang="en-US" sz="1050" dirty="0">
                <a:solidFill>
                  <a:srgbClr val="8FA6D4"/>
                </a:solidFill>
                <a:latin typeface="Calibri" pitchFamily="34" charset="0"/>
                <a:ea typeface="Calibri" pitchFamily="34" charset="-122"/>
                <a:cs typeface="Calibri" pitchFamily="34" charset="-120"/>
              </a:rPr>
              <a:t>Cada grupo aporta su propia dispersión. Los grados de libertad se calculan y salen fraccionarios.</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273552"/>
          <a:ext cx="5468112" cy="1042416"/>
        </p:xfrm>
        <a:graphic>
          <a:graphicData uri="http://schemas.openxmlformats.org/drawingml/2006/table">
            <a:tbl>
              <a:tblPr/>
              <a:tblGrid>
                <a:gridCol w="13716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1078992">
                  <a:extLst>
                    <a:ext uri="{9D8B030D-6E8A-4147-A177-3AD203B41FA5}">
                      <a16:colId xmlns:a16="http://schemas.microsoft.com/office/drawing/2014/main" val="20004"/>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Canal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media (días)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 (días)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s² · varianza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47472">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12.20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2.36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5.6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47472">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agencia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16.30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7.98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63.7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bl>
          </a:graphicData>
        </a:graphic>
      </p:graphicFrame>
      <p:sp>
        <p:nvSpPr>
          <p:cNvPr id="17" name="Text 14"/>
          <p:cNvSpPr/>
          <p:nvPr/>
        </p:nvSpPr>
        <p:spPr>
          <a:xfrm>
            <a:off x="548640" y="4370832"/>
            <a:ext cx="5468112" cy="365760"/>
          </a:xfrm>
          <a:prstGeom prst="rect">
            <a:avLst/>
          </a:prstGeom>
          <a:noFill/>
          <a:ln/>
        </p:spPr>
        <p:txBody>
          <a:bodyPr wrap="square" lIns="0" tIns="0" rIns="0" bIns="0" rtlCol="0" anchor="t"/>
          <a:lstStyle/>
          <a:p>
            <a:pPr marL="0" indent="0" algn="l">
              <a:lnSpc>
                <a:spcPct val="108000"/>
              </a:lnSpc>
              <a:buNone/>
            </a:pPr>
            <a:r>
              <a:rPr lang="en-US" sz="1100" i="1" dirty="0">
                <a:solidFill>
                  <a:srgbClr val="E6115E"/>
                </a:solidFill>
                <a:latin typeface="Calibri" pitchFamily="34" charset="0"/>
                <a:ea typeface="Calibri" pitchFamily="34" charset="-122"/>
                <a:cs typeface="Calibri" pitchFamily="34" charset="-120"/>
              </a:rPr>
              <a:t>La varianza de agencia es 11.5 veces la de app. Y el grupo con más varianza es el que tiene menos datos.</a:t>
            </a:r>
            <a:endParaRPr lang="en-US" sz="1100" dirty="0"/>
          </a:p>
        </p:txBody>
      </p:sp>
      <p:graphicFrame>
        <p:nvGraphicFramePr>
          <p:cNvPr id="18" name="Table 1"/>
          <p:cNvGraphicFramePr>
            <a:graphicFrameLocks noGrp="1"/>
          </p:cNvGraphicFramePr>
          <p:nvPr>
            <p:extLst>
              <p:ext uri="{D42A27DB-BD31-4B8C-83A1-F6EECF244321}">
                <p14:modId xmlns:p14="http://schemas.microsoft.com/office/powerpoint/2010/main" val="1579011935"/>
              </p:ext>
            </p:extLst>
          </p:nvPr>
        </p:nvGraphicFramePr>
        <p:xfrm>
          <a:off x="6172200" y="3273552"/>
          <a:ext cx="5468112" cy="1341120"/>
        </p:xfrm>
        <a:graphic>
          <a:graphicData uri="http://schemas.openxmlformats.org/drawingml/2006/table">
            <a:tbl>
              <a:tblPr/>
              <a:tblGrid>
                <a:gridCol w="12344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Prueba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p-valor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Student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−3.642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0.000469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rechaza con holgura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Welch</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E6115E"/>
                          </a:solidFill>
                          <a:latin typeface="Calibri" pitchFamily="34" charset="0"/>
                          <a:ea typeface="Calibri" pitchFamily="34" charset="-122"/>
                          <a:cs typeface="Calibri" pitchFamily="34" charset="-120"/>
                        </a:rPr>
                        <a:t>−2.524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E6115E"/>
                          </a:solidFill>
                          <a:latin typeface="Calibri" pitchFamily="34" charset="0"/>
                          <a:ea typeface="Calibri" pitchFamily="34" charset="-122"/>
                          <a:cs typeface="Calibri" pitchFamily="34" charset="-120"/>
                        </a:rPr>
                        <a:t>25.76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0.018132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E6115E"/>
                          </a:solidFill>
                          <a:latin typeface="Calibri" pitchFamily="34" charset="0"/>
                          <a:ea typeface="Calibri" pitchFamily="34" charset="-122"/>
                          <a:cs typeface="Calibri" pitchFamily="34" charset="-120"/>
                        </a:rPr>
                        <a:t>rechaza, pero justo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bl>
          </a:graphicData>
        </a:graphic>
      </p:graphicFrame>
      <p:sp>
        <p:nvSpPr>
          <p:cNvPr id="19" name="Shape 15"/>
          <p:cNvSpPr/>
          <p:nvPr/>
        </p:nvSpPr>
        <p:spPr>
          <a:xfrm>
            <a:off x="6172200" y="4709160"/>
            <a:ext cx="5468112" cy="896112"/>
          </a:xfrm>
          <a:prstGeom prst="roundRect">
            <a:avLst>
              <a:gd name="adj" fmla="val 6122"/>
            </a:avLst>
          </a:prstGeom>
          <a:solidFill>
            <a:srgbClr val="FFFFFF"/>
          </a:solidFill>
          <a:ln w="12700">
            <a:solidFill>
              <a:srgbClr val="D2DBEC"/>
            </a:solidFill>
            <a:prstDash val="solid"/>
          </a:ln>
        </p:spPr>
      </p:sp>
      <p:sp>
        <p:nvSpPr>
          <p:cNvPr id="20" name="Text 16"/>
          <p:cNvSpPr/>
          <p:nvPr/>
        </p:nvSpPr>
        <p:spPr>
          <a:xfrm>
            <a:off x="6419088" y="4773168"/>
            <a:ext cx="4983480" cy="768096"/>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Mismos datos, mismo α. El p-valor de Student es 39 veces más pequeño que el de Welch. Aquí las dos rechazan, así que parece dar igual — hasta la slide siguiente.</a:t>
            </a:r>
            <a:endParaRPr lang="en-US" sz="1150" dirty="0"/>
          </a:p>
        </p:txBody>
      </p:sp>
      <p:sp>
        <p:nvSpPr>
          <p:cNvPr id="21" name="Shape 17"/>
          <p:cNvSpPr/>
          <p:nvPr/>
        </p:nvSpPr>
        <p:spPr>
          <a:xfrm>
            <a:off x="548640" y="4864608"/>
            <a:ext cx="5468112" cy="740664"/>
          </a:xfrm>
          <a:prstGeom prst="roundRect">
            <a:avLst>
              <a:gd name="adj" fmla="val 7407"/>
            </a:avLst>
          </a:prstGeom>
          <a:solidFill>
            <a:srgbClr val="0A2559"/>
          </a:solidFill>
          <a:ln w="12700">
            <a:solidFill>
              <a:srgbClr val="0A2559"/>
            </a:solidFill>
            <a:prstDash val="solid"/>
          </a:ln>
        </p:spPr>
      </p:sp>
      <p:sp>
        <p:nvSpPr>
          <p:cNvPr id="22" name="Text 18"/>
          <p:cNvSpPr/>
          <p:nvPr/>
        </p:nvSpPr>
        <p:spPr>
          <a:xfrm>
            <a:off x="804672" y="4864608"/>
            <a:ext cx="4983480" cy="740664"/>
          </a:xfrm>
          <a:prstGeom prst="rect">
            <a:avLst/>
          </a:prstGeom>
          <a:noFill/>
          <a:ln/>
        </p:spPr>
        <p:txBody>
          <a:bodyPr wrap="square" lIns="0" tIns="0" rIns="0" bIns="0" rtlCol="0" anchor="ctr"/>
          <a:lstStyle/>
          <a:p>
            <a:pPr marL="0" indent="0" algn="l">
              <a:lnSpc>
                <a:spcPct val="104000"/>
              </a:lnSpc>
              <a:buNone/>
            </a:pPr>
            <a:r>
              <a:rPr lang="en-US" sz="1150" dirty="0">
                <a:solidFill>
                  <a:srgbClr val="C9D6F2"/>
                </a:solidFill>
                <a:latin typeface="Calibri" pitchFamily="34" charset="0"/>
                <a:ea typeface="Calibri" pitchFamily="34" charset="-122"/>
                <a:cs typeface="Calibri" pitchFamily="34" charset="-120"/>
              </a:rPr>
              <a:t>Levene (prueba de igualdad de varianzas): p &lt; 0.001. El supuesto de Student está claramente violado.</a:t>
            </a:r>
            <a:endParaRPr lang="en-US" sz="1150" dirty="0"/>
          </a:p>
        </p:txBody>
      </p:sp>
      <p:sp>
        <p:nvSpPr>
          <p:cNvPr id="23" name="Shape 19"/>
          <p:cNvSpPr/>
          <p:nvPr/>
        </p:nvSpPr>
        <p:spPr>
          <a:xfrm>
            <a:off x="548640" y="5742432"/>
            <a:ext cx="11091672" cy="749808"/>
          </a:xfrm>
          <a:prstGeom prst="roundRect">
            <a:avLst>
              <a:gd name="adj" fmla="val 7317"/>
            </a:avLst>
          </a:prstGeom>
          <a:solidFill>
            <a:srgbClr val="E9EEF8"/>
          </a:solidFill>
          <a:ln w="12700">
            <a:solidFill>
              <a:srgbClr val="D2DBEC"/>
            </a:solidFill>
            <a:prstDash val="solid"/>
          </a:ln>
        </p:spPr>
      </p:sp>
      <p:sp>
        <p:nvSpPr>
          <p:cNvPr id="24" name="Text 20"/>
          <p:cNvSpPr/>
          <p:nvPr/>
        </p:nvSpPr>
        <p:spPr>
          <a:xfrm>
            <a:off x="822960" y="5742432"/>
            <a:ext cx="10607040" cy="749808"/>
          </a:xfrm>
          <a:prstGeom prst="rect">
            <a:avLst/>
          </a:prstGeom>
          <a:noFill/>
          <a:ln/>
        </p:spPr>
        <p:txBody>
          <a:bodyPr wrap="square" lIns="0" tIns="0" rIns="0" bIns="0" rtlCol="0" anchor="ctr"/>
          <a:lstStyle/>
          <a:p>
            <a:pPr marL="0" indent="0" algn="l">
              <a:lnSpc>
                <a:spcPct val="106000"/>
              </a:lnSpc>
              <a:buNone/>
            </a:pPr>
            <a:r>
              <a:rPr lang="en-US" sz="1200" dirty="0">
                <a:solidFill>
                  <a:srgbClr val="2C3A55"/>
                </a:solidFill>
                <a:latin typeface="Calibri" pitchFamily="34" charset="0"/>
                <a:ea typeface="Calibri" pitchFamily="34" charset="-122"/>
                <a:cs typeface="Calibri" pitchFamily="34" charset="-120"/>
              </a:rPr>
              <a:t>Ojo con el default: stats.ttest_ind(a, b) usa Student. Para Welch hay que escribir equal_var=False explícitamente. Es el parámetro más importante de scipy que casi nadie cambia.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1945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1945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LA EVIDENCIA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Cuando H₀ es verdadera, Student rechaza el 17 % de las veces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Prometía 5 %. Y no falla por poco: falla por más del triple, justo con datos como los tuyos.</a:t>
            </a:r>
            <a:endParaRPr lang="en-US" sz="1400" dirty="0"/>
          </a:p>
        </p:txBody>
      </p:sp>
      <p:graphicFrame>
        <p:nvGraphicFramePr>
          <p:cNvPr id="6" name="Chart 0"/>
          <p:cNvGraphicFramePr/>
          <p:nvPr/>
        </p:nvGraphicFramePr>
        <p:xfrm>
          <a:off x="548640" y="1965960"/>
          <a:ext cx="69494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680960" y="1965960"/>
            <a:ext cx="3959352" cy="1417320"/>
          </a:xfrm>
          <a:prstGeom prst="roundRect">
            <a:avLst>
              <a:gd name="adj" fmla="val 3871"/>
            </a:avLst>
          </a:prstGeom>
          <a:solidFill>
            <a:srgbClr val="0A2559"/>
          </a:solidFill>
          <a:ln w="12700">
            <a:solidFill>
              <a:srgbClr val="0A2559"/>
            </a:solidFill>
            <a:prstDash val="solid"/>
          </a:ln>
        </p:spPr>
      </p:sp>
      <p:sp>
        <p:nvSpPr>
          <p:cNvPr id="8" name="Shape 5"/>
          <p:cNvSpPr/>
          <p:nvPr/>
        </p:nvSpPr>
        <p:spPr>
          <a:xfrm>
            <a:off x="7927848"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165592" y="2130552"/>
            <a:ext cx="323697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Cómo se lee</a:t>
            </a:r>
            <a:endParaRPr lang="en-US" sz="1400" dirty="0"/>
          </a:p>
        </p:txBody>
      </p:sp>
      <p:sp>
        <p:nvSpPr>
          <p:cNvPr id="10" name="Text 7"/>
          <p:cNvSpPr/>
          <p:nvPr/>
        </p:nvSpPr>
        <p:spPr>
          <a:xfrm>
            <a:off x="7927848" y="2496312"/>
            <a:ext cx="3474720" cy="822960"/>
          </a:xfrm>
          <a:prstGeom prst="rect">
            <a:avLst/>
          </a:prstGeom>
          <a:noFill/>
          <a:ln/>
        </p:spPr>
        <p:txBody>
          <a:bodyPr wrap="square" lIns="0" tIns="0" rIns="0" bIns="0" rtlCol="0" anchor="t"/>
          <a:lstStyle/>
          <a:p>
            <a:pPr marL="0" indent="0" algn="l">
              <a:lnSpc>
                <a:spcPct val="106000"/>
              </a:lnSpc>
              <a:buNone/>
            </a:pPr>
            <a:r>
              <a:rPr lang="en-US" sz="1150" dirty="0">
                <a:solidFill>
                  <a:srgbClr val="C9D6F2"/>
                </a:solidFill>
                <a:latin typeface="Calibri" pitchFamily="34" charset="0"/>
                <a:ea typeface="Calibri" pitchFamily="34" charset="-122"/>
                <a:cs typeface="Calibri" pitchFamily="34" charset="-120"/>
              </a:rPr>
              <a:t>En las cuatro situaciones las dos poblaciones tienen LA MISMA media: H₀ es verdadera. Cada barra es el porcentaje de veces que la prueba la rechaza. Debería ser 5 % en todas.</a:t>
            </a:r>
            <a:endParaRPr lang="en-US" sz="1150" dirty="0"/>
          </a:p>
        </p:txBody>
      </p:sp>
      <p:sp>
        <p:nvSpPr>
          <p:cNvPr id="11" name="Shape 8"/>
          <p:cNvSpPr/>
          <p:nvPr/>
        </p:nvSpPr>
        <p:spPr>
          <a:xfrm>
            <a:off x="7680960" y="3520440"/>
            <a:ext cx="3959352" cy="804672"/>
          </a:xfrm>
          <a:prstGeom prst="roundRect">
            <a:avLst>
              <a:gd name="adj" fmla="val 6818"/>
            </a:avLst>
          </a:prstGeom>
          <a:solidFill>
            <a:srgbClr val="FFFFFF"/>
          </a:solidFill>
          <a:ln w="12700">
            <a:solidFill>
              <a:srgbClr val="D2DBEC"/>
            </a:solidFill>
            <a:prstDash val="solid"/>
          </a:ln>
        </p:spPr>
      </p:sp>
      <p:sp>
        <p:nvSpPr>
          <p:cNvPr id="12" name="Shape 9"/>
          <p:cNvSpPr/>
          <p:nvPr/>
        </p:nvSpPr>
        <p:spPr>
          <a:xfrm>
            <a:off x="7909560" y="3666744"/>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165592" y="3584448"/>
            <a:ext cx="3200400" cy="256032"/>
          </a:xfrm>
          <a:prstGeom prst="rect">
            <a:avLst/>
          </a:prstGeom>
          <a:noFill/>
          <a:ln/>
        </p:spPr>
        <p:txBody>
          <a:bodyPr wrap="square" lIns="0" tIns="0" rIns="0" bIns="0" rtlCol="0" anchor="ctr"/>
          <a:lstStyle/>
          <a:p>
            <a:pPr marL="0" indent="0">
              <a:buNone/>
            </a:pPr>
            <a:r>
              <a:rPr lang="en-US" sz="1150" b="1" dirty="0">
                <a:solidFill>
                  <a:srgbClr val="0A2559"/>
                </a:solidFill>
                <a:latin typeface="Calibri" pitchFamily="34" charset="0"/>
                <a:ea typeface="Calibri" pitchFamily="34" charset="-122"/>
                <a:cs typeface="Calibri" pitchFamily="34" charset="-120"/>
              </a:rPr>
              <a:t>Caso 1</a:t>
            </a:r>
            <a:endParaRPr lang="en-US" sz="1150" dirty="0"/>
          </a:p>
        </p:txBody>
      </p:sp>
      <p:sp>
        <p:nvSpPr>
          <p:cNvPr id="14" name="Text 11"/>
          <p:cNvSpPr/>
          <p:nvPr/>
        </p:nvSpPr>
        <p:spPr>
          <a:xfrm>
            <a:off x="7909560" y="3849624"/>
            <a:ext cx="3566160" cy="420624"/>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Student da 17.1 %: triplica su propia tasa de error. El grupo chico es el disperso.</a:t>
            </a:r>
            <a:endParaRPr lang="en-US" sz="1050" dirty="0"/>
          </a:p>
        </p:txBody>
      </p:sp>
      <p:sp>
        <p:nvSpPr>
          <p:cNvPr id="15" name="Shape 12"/>
          <p:cNvSpPr/>
          <p:nvPr/>
        </p:nvSpPr>
        <p:spPr>
          <a:xfrm>
            <a:off x="7680960" y="4416552"/>
            <a:ext cx="3959352" cy="804672"/>
          </a:xfrm>
          <a:prstGeom prst="roundRect">
            <a:avLst>
              <a:gd name="adj" fmla="val 6818"/>
            </a:avLst>
          </a:prstGeom>
          <a:solidFill>
            <a:srgbClr val="FFFFFF"/>
          </a:solidFill>
          <a:ln w="12700">
            <a:solidFill>
              <a:srgbClr val="D2DBEC"/>
            </a:solidFill>
            <a:prstDash val="solid"/>
          </a:ln>
        </p:spPr>
      </p:sp>
      <p:sp>
        <p:nvSpPr>
          <p:cNvPr id="16" name="Shape 13"/>
          <p:cNvSpPr/>
          <p:nvPr/>
        </p:nvSpPr>
        <p:spPr>
          <a:xfrm>
            <a:off x="7909560" y="4562856"/>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8165592" y="4480560"/>
            <a:ext cx="3200400" cy="256032"/>
          </a:xfrm>
          <a:prstGeom prst="rect">
            <a:avLst/>
          </a:prstGeom>
          <a:noFill/>
          <a:ln/>
        </p:spPr>
        <p:txBody>
          <a:bodyPr wrap="square" lIns="0" tIns="0" rIns="0" bIns="0" rtlCol="0" anchor="ctr"/>
          <a:lstStyle/>
          <a:p>
            <a:pPr marL="0" indent="0">
              <a:buNone/>
            </a:pPr>
            <a:r>
              <a:rPr lang="en-US" sz="1150" b="1" dirty="0">
                <a:solidFill>
                  <a:srgbClr val="0A2559"/>
                </a:solidFill>
                <a:latin typeface="Calibri" pitchFamily="34" charset="0"/>
                <a:ea typeface="Calibri" pitchFamily="34" charset="-122"/>
                <a:cs typeface="Calibri" pitchFamily="34" charset="-120"/>
              </a:rPr>
              <a:t>Caso 2</a:t>
            </a:r>
            <a:endParaRPr lang="en-US" sz="1150" dirty="0"/>
          </a:p>
        </p:txBody>
      </p:sp>
      <p:sp>
        <p:nvSpPr>
          <p:cNvPr id="18" name="Text 15"/>
          <p:cNvSpPr/>
          <p:nvPr/>
        </p:nvSpPr>
        <p:spPr>
          <a:xfrm>
            <a:off x="7909560" y="4745736"/>
            <a:ext cx="3566160" cy="420624"/>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Student da 0.7 %: ahora es ultraconservador y pierde potencia. Mismo problema, otro signo.</a:t>
            </a:r>
            <a:endParaRPr lang="en-US" sz="1050" dirty="0"/>
          </a:p>
        </p:txBody>
      </p:sp>
      <p:sp>
        <p:nvSpPr>
          <p:cNvPr id="19" name="Shape 16"/>
          <p:cNvSpPr/>
          <p:nvPr/>
        </p:nvSpPr>
        <p:spPr>
          <a:xfrm>
            <a:off x="7680960" y="5312664"/>
            <a:ext cx="3959352" cy="804672"/>
          </a:xfrm>
          <a:prstGeom prst="roundRect">
            <a:avLst>
              <a:gd name="adj" fmla="val 6818"/>
            </a:avLst>
          </a:prstGeom>
          <a:solidFill>
            <a:srgbClr val="FFFFFF"/>
          </a:solidFill>
          <a:ln w="12700">
            <a:solidFill>
              <a:srgbClr val="D2DBEC"/>
            </a:solidFill>
            <a:prstDash val="solid"/>
          </a:ln>
        </p:spPr>
      </p:sp>
      <p:sp>
        <p:nvSpPr>
          <p:cNvPr id="20" name="Shape 17"/>
          <p:cNvSpPr/>
          <p:nvPr/>
        </p:nvSpPr>
        <p:spPr>
          <a:xfrm>
            <a:off x="7909560" y="5458968"/>
            <a:ext cx="118872" cy="118872"/>
          </a:xfrm>
          <a:prstGeom prst="roundRect">
            <a:avLst>
              <a:gd name="adj" fmla="val 30769"/>
            </a:avLst>
          </a:prstGeom>
          <a:solidFill>
            <a:srgbClr val="12B886"/>
          </a:solidFill>
          <a:ln w="12700">
            <a:solidFill>
              <a:srgbClr val="12B886"/>
            </a:solidFill>
            <a:prstDash val="solid"/>
          </a:ln>
        </p:spPr>
      </p:sp>
      <p:sp>
        <p:nvSpPr>
          <p:cNvPr id="21" name="Text 18"/>
          <p:cNvSpPr/>
          <p:nvPr/>
        </p:nvSpPr>
        <p:spPr>
          <a:xfrm>
            <a:off x="8165592" y="5376672"/>
            <a:ext cx="3200400" cy="256032"/>
          </a:xfrm>
          <a:prstGeom prst="rect">
            <a:avLst/>
          </a:prstGeom>
          <a:noFill/>
          <a:ln/>
        </p:spPr>
        <p:txBody>
          <a:bodyPr wrap="square" lIns="0" tIns="0" rIns="0" bIns="0" rtlCol="0" anchor="ctr"/>
          <a:lstStyle/>
          <a:p>
            <a:pPr marL="0" indent="0">
              <a:buNone/>
            </a:pPr>
            <a:r>
              <a:rPr lang="en-US" sz="1150" b="1" dirty="0">
                <a:solidFill>
                  <a:srgbClr val="0A2559"/>
                </a:solidFill>
                <a:latin typeface="Calibri" pitchFamily="34" charset="0"/>
                <a:ea typeface="Calibri" pitchFamily="34" charset="-122"/>
                <a:cs typeface="Calibri" pitchFamily="34" charset="-120"/>
              </a:rPr>
              <a:t>Casos 3 y 4</a:t>
            </a:r>
            <a:endParaRPr lang="en-US" sz="1150" dirty="0"/>
          </a:p>
        </p:txBody>
      </p:sp>
      <p:sp>
        <p:nvSpPr>
          <p:cNvPr id="22" name="Text 19"/>
          <p:cNvSpPr/>
          <p:nvPr/>
        </p:nvSpPr>
        <p:spPr>
          <a:xfrm>
            <a:off x="7909560" y="5641848"/>
            <a:ext cx="3566160" cy="420624"/>
          </a:xfrm>
          <a:prstGeom prst="rect">
            <a:avLst/>
          </a:prstGeom>
          <a:noFill/>
          <a:ln/>
        </p:spPr>
        <p:txBody>
          <a:bodyPr wrap="square" lIns="0" tIns="0" rIns="0" bIns="0" rtlCol="0" anchor="t"/>
          <a:lstStyle/>
          <a:p>
            <a:pPr marL="0" indent="0" algn="l">
              <a:lnSpc>
                <a:spcPct val="102000"/>
              </a:lnSpc>
              <a:buNone/>
            </a:pPr>
            <a:r>
              <a:rPr lang="en-US" sz="1050" dirty="0">
                <a:solidFill>
                  <a:srgbClr val="2C3A55"/>
                </a:solidFill>
                <a:latin typeface="Calibri" pitchFamily="34" charset="0"/>
                <a:ea typeface="Calibri" pitchFamily="34" charset="-122"/>
                <a:cs typeface="Calibri" pitchFamily="34" charset="-120"/>
              </a:rPr>
              <a:t>Con n iguales, o con varianzas iguales, Student se comporta bien. Ahí sí da lo mismo.</a:t>
            </a:r>
            <a:endParaRPr lang="en-US" sz="1050" dirty="0"/>
          </a:p>
        </p:txBody>
      </p:sp>
      <p:sp>
        <p:nvSpPr>
          <p:cNvPr id="23" name="Shape 20"/>
          <p:cNvSpPr/>
          <p:nvPr/>
        </p:nvSpPr>
        <p:spPr>
          <a:xfrm>
            <a:off x="548640" y="5285232"/>
            <a:ext cx="6949440" cy="1005840"/>
          </a:xfrm>
          <a:prstGeom prst="roundRect">
            <a:avLst>
              <a:gd name="adj" fmla="val 5455"/>
            </a:avLst>
          </a:prstGeom>
          <a:solidFill>
            <a:srgbClr val="0A2559"/>
          </a:solidFill>
          <a:ln w="12700">
            <a:solidFill>
              <a:srgbClr val="0A2559"/>
            </a:solidFill>
            <a:prstDash val="solid"/>
          </a:ln>
        </p:spPr>
      </p:sp>
      <p:sp>
        <p:nvSpPr>
          <p:cNvPr id="24" name="Shape 21"/>
          <p:cNvSpPr/>
          <p:nvPr/>
        </p:nvSpPr>
        <p:spPr>
          <a:xfrm>
            <a:off x="804672" y="5495544"/>
            <a:ext cx="118872" cy="118872"/>
          </a:xfrm>
          <a:prstGeom prst="roundRect">
            <a:avLst>
              <a:gd name="adj" fmla="val 30769"/>
            </a:avLst>
          </a:prstGeom>
          <a:solidFill>
            <a:srgbClr val="E6115E"/>
          </a:solidFill>
          <a:ln w="12700">
            <a:solidFill>
              <a:srgbClr val="E6115E"/>
            </a:solidFill>
            <a:prstDash val="solid"/>
          </a:ln>
        </p:spPr>
      </p:sp>
      <p:sp>
        <p:nvSpPr>
          <p:cNvPr id="25" name="Text 22"/>
          <p:cNvSpPr/>
          <p:nvPr/>
        </p:nvSpPr>
        <p:spPr>
          <a:xfrm>
            <a:off x="1042416" y="5394960"/>
            <a:ext cx="52486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conclusión operativa</a:t>
            </a:r>
            <a:endParaRPr lang="en-US" sz="1400" dirty="0"/>
          </a:p>
        </p:txBody>
      </p:sp>
      <p:sp>
        <p:nvSpPr>
          <p:cNvPr id="26" name="Text 23"/>
          <p:cNvSpPr/>
          <p:nvPr/>
        </p:nvSpPr>
        <p:spPr>
          <a:xfrm>
            <a:off x="804672" y="5705856"/>
            <a:ext cx="6446520" cy="548640"/>
          </a:xfrm>
          <a:prstGeom prst="rect">
            <a:avLst/>
          </a:prstGeom>
          <a:noFill/>
          <a:ln/>
        </p:spPr>
        <p:txBody>
          <a:bodyPr wrap="square" lIns="0" tIns="0" rIns="0" bIns="0" rtlCol="0" anchor="t"/>
          <a:lstStyle/>
          <a:p>
            <a:pPr marL="0" indent="0" algn="l">
              <a:lnSpc>
                <a:spcPct val="104000"/>
              </a:lnSpc>
              <a:buNone/>
            </a:pPr>
            <a:r>
              <a:rPr lang="en-US" sz="1100" dirty="0">
                <a:solidFill>
                  <a:srgbClr val="C9D6F2"/>
                </a:solidFill>
                <a:latin typeface="Calibri" pitchFamily="34" charset="0"/>
                <a:ea typeface="Calibri" pitchFamily="34" charset="-122"/>
                <a:cs typeface="Calibri" pitchFamily="34" charset="-120"/>
              </a:rPr>
              <a:t>Welch da 5 % en las cuatro situaciones. Cuando los supuestos de Student se cumplen, Welch pierde una fracción despreciable de potencia; cuando no se cumplen, es la única que funciona. Por eso el default razonable es Welch, siempre.</a:t>
            </a:r>
            <a:endParaRPr lang="en-US" sz="1100" dirty="0"/>
          </a:p>
        </p:txBody>
      </p:sp>
      <p:sp>
        <p:nvSpPr>
          <p:cNvPr id="27" name="Text 24"/>
          <p:cNvSpPr/>
          <p:nvPr/>
        </p:nvSpPr>
        <p:spPr>
          <a:xfrm>
            <a:off x="548640" y="6327648"/>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20 000 simulaciones por escenario, α nominal = 5 %, poblaciones normales con la misma media. Calculado con scipy.stats.ttest_ind. Lo reproduces en el bloque 2 del Colab.</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834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83464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CASO REAL · 1947</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El problema que Fisher no quiso resolver</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t de Welch tiene 78 años y sigue sin ser el default de la mayoría del software y de los cursos.</a:t>
            </a:r>
            <a:endParaRPr lang="en-US" sz="1400" dirty="0"/>
          </a:p>
        </p:txBody>
      </p:sp>
      <p:sp>
        <p:nvSpPr>
          <p:cNvPr id="6" name="Shape 4"/>
          <p:cNvSpPr/>
          <p:nvPr/>
        </p:nvSpPr>
        <p:spPr>
          <a:xfrm>
            <a:off x="566928" y="1975598"/>
            <a:ext cx="6858000" cy="2377440"/>
          </a:xfrm>
          <a:prstGeom prst="roundRect">
            <a:avLst>
              <a:gd name="adj" fmla="val 2308"/>
            </a:avLst>
          </a:prstGeom>
          <a:solidFill>
            <a:srgbClr val="FFFFFF"/>
          </a:solidFill>
          <a:ln w="12700">
            <a:solidFill>
              <a:srgbClr val="D2DBEC"/>
            </a:solidFill>
            <a:prstDash val="solid"/>
          </a:ln>
        </p:spPr>
      </p:sp>
      <p:sp>
        <p:nvSpPr>
          <p:cNvPr id="7" name="Shape 5"/>
          <p:cNvSpPr/>
          <p:nvPr/>
        </p:nvSpPr>
        <p:spPr>
          <a:xfrm>
            <a:off x="804672" y="2148840"/>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996696" y="2048256"/>
            <a:ext cx="616305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Qué pasó</a:t>
            </a:r>
            <a:endParaRPr lang="en-US" sz="1500" dirty="0"/>
          </a:p>
        </p:txBody>
      </p:sp>
      <p:sp>
        <p:nvSpPr>
          <p:cNvPr id="9" name="Text 7"/>
          <p:cNvSpPr/>
          <p:nvPr/>
        </p:nvSpPr>
        <p:spPr>
          <a:xfrm>
            <a:off x="789432" y="2353962"/>
            <a:ext cx="6355080" cy="1737360"/>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Comparar dos medias cuando las varianzas son desconocidas y distintas se conoce como el problema de Behrens-Fisher, y ocupó a los estadísticos durante décadas. Walter Behrens propuso una solución en los años veinte; Fisher trabajó sobre ella, y el asunto quedó envuelto en una disputa larga sobre qué significa exactamente </a:t>
            </a:r>
            <a:r>
              <a:rPr lang="en-US" sz="1150" dirty="0" err="1">
                <a:solidFill>
                  <a:srgbClr val="2C3A55"/>
                </a:solidFill>
                <a:latin typeface="Calibri" pitchFamily="34" charset="0"/>
                <a:ea typeface="Calibri" pitchFamily="34" charset="-122"/>
                <a:cs typeface="Calibri" pitchFamily="34" charset="-120"/>
              </a:rPr>
              <a:t>resolverlo</a:t>
            </a:r>
            <a:r>
              <a:rPr lang="en-US" sz="1150" dirty="0">
                <a:solidFill>
                  <a:srgbClr val="2C3A55"/>
                </a:solidFill>
                <a:latin typeface="Calibri" pitchFamily="34" charset="0"/>
                <a:ea typeface="Calibri" pitchFamily="34" charset="-122"/>
                <a:cs typeface="Calibri" pitchFamily="34" charset="-120"/>
              </a:rPr>
              <a:t>.</a:t>
            </a:r>
            <a:endParaRPr lang="en-US" sz="1150" dirty="0"/>
          </a:p>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En </a:t>
            </a:r>
            <a:r>
              <a:rPr lang="en-US" sz="1150" b="1" dirty="0">
                <a:solidFill>
                  <a:srgbClr val="2C3A55"/>
                </a:solidFill>
                <a:latin typeface="Calibri" pitchFamily="34" charset="0"/>
                <a:ea typeface="Calibri" pitchFamily="34" charset="-122"/>
                <a:cs typeface="Calibri" pitchFamily="34" charset="-120"/>
              </a:rPr>
              <a:t>1947</a:t>
            </a:r>
            <a:r>
              <a:rPr lang="en-US" sz="1150" dirty="0">
                <a:solidFill>
                  <a:srgbClr val="2C3A55"/>
                </a:solidFill>
                <a:latin typeface="Calibri" pitchFamily="34" charset="0"/>
                <a:ea typeface="Calibri" pitchFamily="34" charset="-122"/>
                <a:cs typeface="Calibri" pitchFamily="34" charset="-120"/>
              </a:rPr>
              <a:t> Bernard Lewis Welch publicó una solución aproximada y utilizable: ajustar los grados de libertad en función de las dos varianzas y de los dos tamaños de muestra. No es exacta en el sentido matemático estricto — de hecho no existe una solución exacta simple — pero funciona muy bien en la práctica, y eso se ha confirmado en décadas de estudios de </a:t>
            </a:r>
            <a:r>
              <a:rPr lang="en-US" sz="1150" dirty="0" err="1">
                <a:solidFill>
                  <a:srgbClr val="2C3A55"/>
                </a:solidFill>
                <a:latin typeface="Calibri" pitchFamily="34" charset="0"/>
                <a:ea typeface="Calibri" pitchFamily="34" charset="-122"/>
                <a:cs typeface="Calibri" pitchFamily="34" charset="-120"/>
              </a:rPr>
              <a:t>simulación</a:t>
            </a:r>
            <a:r>
              <a:rPr lang="en-US" sz="1150" dirty="0">
                <a:solidFill>
                  <a:srgbClr val="2C3A55"/>
                </a:solidFill>
                <a:latin typeface="Calibri" pitchFamily="34" charset="0"/>
                <a:ea typeface="Calibri" pitchFamily="34" charset="-122"/>
                <a:cs typeface="Calibri" pitchFamily="34" charset="-120"/>
              </a:rPr>
              <a:t>.</a:t>
            </a:r>
            <a:endParaRPr lang="en-US" sz="1150" dirty="0"/>
          </a:p>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Casi ocho décadas después, muchos cursos siguen enseñando Student como la prueba de dos muestras y Welch como «el caso especial».</a:t>
            </a:r>
            <a:endParaRPr lang="en-US" sz="1150" dirty="0"/>
          </a:p>
        </p:txBody>
      </p:sp>
      <p:sp>
        <p:nvSpPr>
          <p:cNvPr id="10" name="Shape 8"/>
          <p:cNvSpPr/>
          <p:nvPr/>
        </p:nvSpPr>
        <p:spPr>
          <a:xfrm>
            <a:off x="7543800" y="1965960"/>
            <a:ext cx="4096512" cy="1143000"/>
          </a:xfrm>
          <a:prstGeom prst="roundRect">
            <a:avLst>
              <a:gd name="adj" fmla="val 4800"/>
            </a:avLst>
          </a:prstGeom>
          <a:solidFill>
            <a:srgbClr val="0A2559"/>
          </a:solidFill>
          <a:ln w="12700">
            <a:solidFill>
              <a:srgbClr val="0A2559"/>
            </a:solidFill>
            <a:prstDash val="solid"/>
          </a:ln>
        </p:spPr>
      </p:sp>
      <p:sp>
        <p:nvSpPr>
          <p:cNvPr id="11" name="Shape 9"/>
          <p:cNvSpPr/>
          <p:nvPr/>
        </p:nvSpPr>
        <p:spPr>
          <a:xfrm>
            <a:off x="7790688" y="2212848"/>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8028432" y="2112264"/>
            <a:ext cx="34198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Por qué se quedó Student</a:t>
            </a:r>
            <a:endParaRPr lang="en-US" sz="1400" dirty="0"/>
          </a:p>
        </p:txBody>
      </p:sp>
      <p:sp>
        <p:nvSpPr>
          <p:cNvPr id="13" name="Text 11"/>
          <p:cNvSpPr/>
          <p:nvPr/>
        </p:nvSpPr>
        <p:spPr>
          <a:xfrm>
            <a:off x="7790688" y="2459736"/>
            <a:ext cx="3611880" cy="566928"/>
          </a:xfrm>
          <a:prstGeom prst="rect">
            <a:avLst/>
          </a:prstGeom>
          <a:noFill/>
          <a:ln/>
        </p:spPr>
        <p:txBody>
          <a:bodyPr wrap="square" lIns="0" tIns="0" rIns="0" bIns="0" rtlCol="0" anchor="t"/>
          <a:lstStyle/>
          <a:p>
            <a:pPr marL="0" indent="0" algn="l">
              <a:lnSpc>
                <a:spcPct val="104000"/>
              </a:lnSpc>
              <a:buNone/>
            </a:pPr>
            <a:r>
              <a:rPr lang="en-US" sz="1150" dirty="0">
                <a:solidFill>
                  <a:srgbClr val="C9D6F2"/>
                </a:solidFill>
                <a:latin typeface="Calibri" pitchFamily="34" charset="0"/>
                <a:ea typeface="Calibri" pitchFamily="34" charset="-122"/>
                <a:cs typeface="Calibri" pitchFamily="34" charset="-120"/>
              </a:rPr>
              <a:t>Es más simple de calcular a mano, y hasta los años ochenta eso importaba muchísimo. Hoy ya no importa nada.</a:t>
            </a:r>
            <a:endParaRPr lang="en-US" sz="1150" dirty="0"/>
          </a:p>
        </p:txBody>
      </p:sp>
      <p:sp>
        <p:nvSpPr>
          <p:cNvPr id="14" name="Shape 12"/>
          <p:cNvSpPr/>
          <p:nvPr/>
        </p:nvSpPr>
        <p:spPr>
          <a:xfrm>
            <a:off x="7543800" y="3200400"/>
            <a:ext cx="4096512" cy="1143000"/>
          </a:xfrm>
          <a:prstGeom prst="roundRect">
            <a:avLst>
              <a:gd name="adj" fmla="val 4800"/>
            </a:avLst>
          </a:prstGeom>
          <a:solidFill>
            <a:srgbClr val="E9EEF8"/>
          </a:solidFill>
          <a:ln w="12700">
            <a:solidFill>
              <a:srgbClr val="D2DBEC"/>
            </a:solidFill>
            <a:prstDash val="solid"/>
          </a:ln>
        </p:spPr>
      </p:sp>
      <p:sp>
        <p:nvSpPr>
          <p:cNvPr id="15" name="Shape 13"/>
          <p:cNvSpPr/>
          <p:nvPr/>
        </p:nvSpPr>
        <p:spPr>
          <a:xfrm>
            <a:off x="7790688" y="3447288"/>
            <a:ext cx="118872" cy="118872"/>
          </a:xfrm>
          <a:prstGeom prst="roundRect">
            <a:avLst>
              <a:gd name="adj" fmla="val 30769"/>
            </a:avLst>
          </a:prstGeom>
          <a:solidFill>
            <a:srgbClr val="1A56E8"/>
          </a:solidFill>
          <a:ln w="12700">
            <a:solidFill>
              <a:srgbClr val="1A56E8"/>
            </a:solidFill>
            <a:prstDash val="solid"/>
          </a:ln>
        </p:spPr>
      </p:sp>
      <p:sp>
        <p:nvSpPr>
          <p:cNvPr id="16" name="Text 14"/>
          <p:cNvSpPr/>
          <p:nvPr/>
        </p:nvSpPr>
        <p:spPr>
          <a:xfrm>
            <a:off x="8028432" y="3346704"/>
            <a:ext cx="34198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Y el error de método</a:t>
            </a:r>
            <a:endParaRPr lang="en-US" sz="1400" dirty="0"/>
          </a:p>
        </p:txBody>
      </p:sp>
      <p:sp>
        <p:nvSpPr>
          <p:cNvPr id="17" name="Text 15"/>
          <p:cNvSpPr/>
          <p:nvPr/>
        </p:nvSpPr>
        <p:spPr>
          <a:xfrm>
            <a:off x="7790688" y="3694176"/>
            <a:ext cx="3611880" cy="566928"/>
          </a:xfrm>
          <a:prstGeom prst="rect">
            <a:avLst/>
          </a:prstGeom>
          <a:noFill/>
          <a:ln/>
        </p:spPr>
        <p:txBody>
          <a:bodyPr wrap="square" lIns="0" tIns="0" rIns="0" bIns="0" rtlCol="0" anchor="t"/>
          <a:lstStyle/>
          <a:p>
            <a:pPr marL="0" indent="0" algn="l">
              <a:lnSpc>
                <a:spcPct val="104000"/>
              </a:lnSpc>
              <a:buNone/>
            </a:pPr>
            <a:r>
              <a:rPr lang="en-US" sz="1100" dirty="0">
                <a:solidFill>
                  <a:srgbClr val="2C3A55"/>
                </a:solidFill>
                <a:latin typeface="Calibri" pitchFamily="34" charset="0"/>
                <a:ea typeface="Calibri" pitchFamily="34" charset="-122"/>
                <a:cs typeface="Calibri" pitchFamily="34" charset="-120"/>
              </a:rPr>
              <a:t>La costumbre de correr Levene primero y elegir la prueba según su resultado: dos decisiones encadenadas, sin controlar la tasa de error global.</a:t>
            </a:r>
            <a:endParaRPr lang="en-US" sz="1100" dirty="0"/>
          </a:p>
        </p:txBody>
      </p:sp>
      <p:sp>
        <p:nvSpPr>
          <p:cNvPr id="18" name="Shape 16"/>
          <p:cNvSpPr/>
          <p:nvPr/>
        </p:nvSpPr>
        <p:spPr>
          <a:xfrm>
            <a:off x="516636" y="4718304"/>
            <a:ext cx="11091672" cy="1481328"/>
          </a:xfrm>
          <a:prstGeom prst="roundRect">
            <a:avLst>
              <a:gd name="adj" fmla="val 3704"/>
            </a:avLst>
          </a:prstGeom>
          <a:solidFill>
            <a:srgbClr val="0A2559"/>
          </a:solidFill>
          <a:ln w="12700">
            <a:solidFill>
              <a:srgbClr val="0A2559"/>
            </a:solidFill>
            <a:prstDash val="solid"/>
          </a:ln>
        </p:spPr>
      </p:sp>
      <p:sp>
        <p:nvSpPr>
          <p:cNvPr id="19" name="Shape 17"/>
          <p:cNvSpPr/>
          <p:nvPr/>
        </p:nvSpPr>
        <p:spPr>
          <a:xfrm>
            <a:off x="804672" y="4791456"/>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4690872"/>
            <a:ext cx="102778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La recomendación actual, y por qué es la sensata</a:t>
            </a:r>
            <a:endParaRPr lang="en-US" sz="1500" dirty="0"/>
          </a:p>
        </p:txBody>
      </p:sp>
      <p:sp>
        <p:nvSpPr>
          <p:cNvPr id="21" name="Text 19"/>
          <p:cNvSpPr/>
          <p:nvPr/>
        </p:nvSpPr>
        <p:spPr>
          <a:xfrm>
            <a:off x="804672" y="5056632"/>
            <a:ext cx="10515600" cy="896112"/>
          </a:xfrm>
          <a:prstGeom prst="rect">
            <a:avLst/>
          </a:prstGeom>
          <a:noFill/>
          <a:ln/>
        </p:spPr>
        <p:txBody>
          <a:bodyPr wrap="square" lIns="0" tIns="0" rIns="0" bIns="0" rtlCol="0" anchor="t"/>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La literatura metodológica reciente converge en usar Welch por defecto y no condicionar la elección a una prueba previa de varianzas. El razonamiento es asimétrico y por eso es convincente: cuando las varianzas SON iguales, Welch pierde muy poca potencia frente a Student; cuando NO lo son, Student deja de controlar su tasa de error, como acabas de ver en la slide anterior.</a:t>
            </a:r>
            <a:endParaRPr lang="en-US" sz="1200" dirty="0"/>
          </a:p>
          <a:p>
            <a:pPr marL="0" indent="0" algn="l">
              <a:lnSpc>
                <a:spcPct val="108000"/>
              </a:lnSpc>
              <a:buNone/>
            </a:pPr>
            <a:endParaRPr lang="en-US" sz="1200" dirty="0"/>
          </a:p>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Es decir: el costo de usar Welch cuando no hacía falta es pequeño y acotado. El costo de usar Student cuando hacía falta Welch no lo es.</a:t>
            </a:r>
            <a:endParaRPr lang="en-US" sz="1200" dirty="0"/>
          </a:p>
        </p:txBody>
      </p:sp>
      <p:sp>
        <p:nvSpPr>
          <p:cNvPr id="22" name="Text 20"/>
          <p:cNvSpPr/>
          <p:nvPr/>
        </p:nvSpPr>
        <p:spPr>
          <a:xfrm>
            <a:off x="544068" y="630021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Fuentes: Welch, B. L. (1947), «The generalization of Student's problem when several different population variances are involved», Biometrika 34; y Delacre, Lakens y Leys (2017), «Why Psychologists Should by Default Use Welch's t-test», International Review of Social Psychology 30(1).</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EL EFECTO</a:t>
            </a:r>
            <a:endParaRPr lang="en-US" sz="1150" dirty="0"/>
          </a:p>
        </p:txBody>
      </p:sp>
      <p:sp>
        <p:nvSpPr>
          <p:cNvPr id="4" name="Text 2"/>
          <p:cNvSpPr/>
          <p:nvPr/>
        </p:nvSpPr>
        <p:spPr>
          <a:xfrm>
            <a:off x="548640" y="822960"/>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Y ahora la pregunta de la Clase 5: ¿cuánto, en unidades del negocio?</a:t>
            </a:r>
            <a:endParaRPr lang="en-US" sz="3200" dirty="0"/>
          </a:p>
        </p:txBody>
      </p:sp>
      <p:sp>
        <p:nvSpPr>
          <p:cNvPr id="5" name="Text 3"/>
          <p:cNvSpPr/>
          <p:nvPr/>
        </p:nvSpPr>
        <p:spPr>
          <a:xfrm>
            <a:off x="548640" y="1568567"/>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p-valor te dijo que la diferencia es distinguible del ruido. No te dijo si le importa a alguien.</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224899506"/>
              </p:ext>
            </p:extLst>
          </p:nvPr>
        </p:nvGraphicFramePr>
        <p:xfrm>
          <a:off x="548640" y="1965960"/>
          <a:ext cx="11091672" cy="1609344"/>
        </p:xfrm>
        <a:graphic>
          <a:graphicData uri="http://schemas.openxmlformats.org/drawingml/2006/table">
            <a:tbl>
              <a:tblPr/>
              <a:tblGrid>
                <a:gridCol w="22860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3502152">
                  <a:extLst>
                    <a:ext uri="{9D8B030D-6E8A-4147-A177-3AD203B41FA5}">
                      <a16:colId xmlns:a16="http://schemas.microsoft.com/office/drawing/2014/main" val="20004"/>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Comparación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Diferencia (días)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 de Cohen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Lectura del efecto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 importa a la operación?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vs web</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0.69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0.292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pequeño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Difícilmente: menos de un día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vs agencia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4.10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0.867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grande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Sí: cuatro días de más por caso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web vs agencia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3.41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0.665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mediano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Probablemente: casi 3.5 días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48640" y="3657600"/>
            <a:ext cx="5468112" cy="1207008"/>
          </a:xfrm>
          <a:prstGeom prst="roundRect">
            <a:avLst>
              <a:gd name="adj" fmla="val 4545"/>
            </a:avLst>
          </a:prstGeom>
          <a:solidFill>
            <a:srgbClr val="0A2559"/>
          </a:solidFill>
          <a:ln w="12700">
            <a:solidFill>
              <a:srgbClr val="0A2559"/>
            </a:solidFill>
            <a:prstDash val="solid"/>
          </a:ln>
        </p:spPr>
      </p:sp>
      <p:sp>
        <p:nvSpPr>
          <p:cNvPr id="8" name="Shape 5"/>
          <p:cNvSpPr/>
          <p:nvPr/>
        </p:nvSpPr>
        <p:spPr>
          <a:xfrm>
            <a:off x="804672" y="3904488"/>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3803904"/>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d de Cohen para dos grupos</a:t>
            </a:r>
            <a:endParaRPr lang="en-US" sz="1400" dirty="0"/>
          </a:p>
        </p:txBody>
      </p:sp>
      <p:sp>
        <p:nvSpPr>
          <p:cNvPr id="10" name="Text 7"/>
          <p:cNvSpPr/>
          <p:nvPr/>
        </p:nvSpPr>
        <p:spPr>
          <a:xfrm>
            <a:off x="804672" y="4151376"/>
            <a:ext cx="4983480" cy="274320"/>
          </a:xfrm>
          <a:prstGeom prst="rect">
            <a:avLst/>
          </a:prstGeom>
          <a:noFill/>
          <a:ln/>
        </p:spPr>
        <p:txBody>
          <a:bodyPr wrap="square" lIns="0" tIns="0" rIns="0" bIns="0" rtlCol="0" anchor="ctr"/>
          <a:lstStyle/>
          <a:p>
            <a:pPr marL="0" indent="0">
              <a:buNone/>
            </a:pPr>
            <a:r>
              <a:rPr lang="en-US" sz="1500" b="1" dirty="0">
                <a:solidFill>
                  <a:srgbClr val="4A82FF"/>
                </a:solidFill>
                <a:latin typeface="Cambria" pitchFamily="34" charset="0"/>
                <a:ea typeface="Cambria" pitchFamily="34" charset="-122"/>
                <a:cs typeface="Cambria" pitchFamily="34" charset="-120"/>
              </a:rPr>
              <a:t>d = (x̄₁ − x̄₂) / sₚ</a:t>
            </a:r>
            <a:endParaRPr lang="en-US" sz="1500" dirty="0"/>
          </a:p>
        </p:txBody>
      </p:sp>
      <p:sp>
        <p:nvSpPr>
          <p:cNvPr id="6" name="Text 8"/>
          <p:cNvSpPr/>
          <p:nvPr/>
        </p:nvSpPr>
        <p:spPr>
          <a:xfrm>
            <a:off x="804672" y="4443984"/>
            <a:ext cx="4983480" cy="365760"/>
          </a:xfrm>
          <a:prstGeom prst="rect">
            <a:avLst/>
          </a:prstGeom>
          <a:noFill/>
          <a:ln/>
        </p:spPr>
        <p:txBody>
          <a:bodyPr wrap="square" lIns="0" tIns="0" rIns="0" bIns="0" rtlCol="0" anchor="t"/>
          <a:lstStyle/>
          <a:p>
            <a:pPr marL="0" indent="0" algn="l">
              <a:lnSpc>
                <a:spcPct val="104000"/>
              </a:lnSpc>
              <a:buNone/>
            </a:pPr>
            <a:r>
              <a:rPr lang="en-US" sz="1100" dirty="0">
                <a:solidFill>
                  <a:srgbClr val="C9D6F2"/>
                </a:solidFill>
                <a:latin typeface="Calibri" pitchFamily="34" charset="0"/>
                <a:ea typeface="Calibri" pitchFamily="34" charset="-122"/>
                <a:cs typeface="Calibri" pitchFamily="34" charset="-120"/>
              </a:rPr>
              <a:t>La diferencia, medida en desviaciones estándar agrupadas. Referencias: 0.2 pequeño, 0.5 mediano, 0.8 grande.</a:t>
            </a:r>
            <a:endParaRPr lang="en-US" sz="1100" dirty="0"/>
          </a:p>
        </p:txBody>
      </p:sp>
      <p:sp>
        <p:nvSpPr>
          <p:cNvPr id="12" name="Shape 9"/>
          <p:cNvSpPr/>
          <p:nvPr/>
        </p:nvSpPr>
        <p:spPr>
          <a:xfrm>
            <a:off x="6172200" y="3657600"/>
            <a:ext cx="5468112" cy="1207008"/>
          </a:xfrm>
          <a:prstGeom prst="roundRect">
            <a:avLst>
              <a:gd name="adj" fmla="val 4545"/>
            </a:avLst>
          </a:prstGeom>
          <a:solidFill>
            <a:srgbClr val="E9EEF8"/>
          </a:solidFill>
          <a:ln w="12700">
            <a:solidFill>
              <a:srgbClr val="D2DBEC"/>
            </a:solidFill>
            <a:prstDash val="solid"/>
          </a:ln>
        </p:spPr>
      </p:sp>
      <p:sp>
        <p:nvSpPr>
          <p:cNvPr id="13" name="Shape 10"/>
          <p:cNvSpPr/>
          <p:nvPr/>
        </p:nvSpPr>
        <p:spPr>
          <a:xfrm>
            <a:off x="6419088" y="3904488"/>
            <a:ext cx="118872" cy="118872"/>
          </a:xfrm>
          <a:prstGeom prst="roundRect">
            <a:avLst>
              <a:gd name="adj" fmla="val 30769"/>
            </a:avLst>
          </a:prstGeom>
          <a:solidFill>
            <a:srgbClr val="E6115E"/>
          </a:solidFill>
          <a:ln w="12700">
            <a:solidFill>
              <a:srgbClr val="E6115E"/>
            </a:solidFill>
            <a:prstDash val="solid"/>
          </a:ln>
        </p:spPr>
      </p:sp>
      <p:sp>
        <p:nvSpPr>
          <p:cNvPr id="14" name="Text 11"/>
          <p:cNvSpPr/>
          <p:nvPr/>
        </p:nvSpPr>
        <p:spPr>
          <a:xfrm>
            <a:off x="6656832" y="3803904"/>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Con muestras chicas: la g de Hedges</a:t>
            </a:r>
            <a:endParaRPr lang="en-US" sz="1400" dirty="0"/>
          </a:p>
        </p:txBody>
      </p:sp>
      <p:sp>
        <p:nvSpPr>
          <p:cNvPr id="15" name="Text 12"/>
          <p:cNvSpPr/>
          <p:nvPr/>
        </p:nvSpPr>
        <p:spPr>
          <a:xfrm>
            <a:off x="6419088" y="4151376"/>
            <a:ext cx="4983480" cy="640080"/>
          </a:xfrm>
          <a:prstGeom prst="rect">
            <a:avLst/>
          </a:prstGeom>
          <a:noFill/>
          <a:ln/>
        </p:spPr>
        <p:txBody>
          <a:bodyPr wrap="square" lIns="0" tIns="0" rIns="0" bIns="0" rtlCol="0" anchor="t"/>
          <a:lstStyle/>
          <a:p>
            <a:pPr marL="0" indent="0" algn="l">
              <a:lnSpc>
                <a:spcPct val="106000"/>
              </a:lnSpc>
              <a:buNone/>
            </a:pPr>
            <a:r>
              <a:rPr lang="en-US" sz="1100" dirty="0">
                <a:solidFill>
                  <a:srgbClr val="2C3A55"/>
                </a:solidFill>
                <a:latin typeface="Calibri" pitchFamily="34" charset="0"/>
                <a:ea typeface="Calibri" pitchFamily="34" charset="-122"/>
                <a:cs typeface="Calibri" pitchFamily="34" charset="-120"/>
              </a:rPr>
              <a:t>La d de Cohen tiene un ligero sesgo al alza con n pequeño. La g de Hedges es la misma cantidad con un factor de corrección. Con n = 60 y 25 la diferencia es de alrededor del 1 %: irrelevante aquí, no siempre.</a:t>
            </a:r>
            <a:endParaRPr lang="en-US" sz="1100" dirty="0"/>
          </a:p>
        </p:txBody>
      </p:sp>
      <p:sp>
        <p:nvSpPr>
          <p:cNvPr id="16" name="Shape 13"/>
          <p:cNvSpPr/>
          <p:nvPr/>
        </p:nvSpPr>
        <p:spPr>
          <a:xfrm>
            <a:off x="548640" y="5010911"/>
            <a:ext cx="11091672" cy="1340461"/>
          </a:xfrm>
          <a:prstGeom prst="roundRect">
            <a:avLst>
              <a:gd name="adj" fmla="val 4545"/>
            </a:avLst>
          </a:prstGeom>
          <a:solidFill>
            <a:srgbClr val="FFFFFF"/>
          </a:solidFill>
          <a:ln w="12700">
            <a:solidFill>
              <a:srgbClr val="D2DBEC"/>
            </a:solidFill>
            <a:prstDash val="solid"/>
          </a:ln>
        </p:spPr>
      </p:sp>
      <p:sp>
        <p:nvSpPr>
          <p:cNvPr id="17" name="Shape 14"/>
          <p:cNvSpPr/>
          <p:nvPr/>
        </p:nvSpPr>
        <p:spPr>
          <a:xfrm>
            <a:off x="804672" y="5257800"/>
            <a:ext cx="118872" cy="118872"/>
          </a:xfrm>
          <a:prstGeom prst="roundRect">
            <a:avLst>
              <a:gd name="adj" fmla="val 30769"/>
            </a:avLst>
          </a:prstGeom>
          <a:solidFill>
            <a:srgbClr val="E6115E"/>
          </a:solidFill>
          <a:ln w="12700">
            <a:solidFill>
              <a:srgbClr val="E6115E"/>
            </a:solidFill>
            <a:prstDash val="solid"/>
          </a:ln>
        </p:spPr>
      </p:sp>
      <p:sp>
        <p:nvSpPr>
          <p:cNvPr id="18" name="Text 15"/>
          <p:cNvSpPr/>
          <p:nvPr/>
        </p:nvSpPr>
        <p:spPr>
          <a:xfrm>
            <a:off x="1042416" y="5157216"/>
            <a:ext cx="7077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Lo que hay que reportar, y en este orden</a:t>
            </a:r>
            <a:endParaRPr lang="en-US" sz="1400" dirty="0"/>
          </a:p>
        </p:txBody>
      </p:sp>
      <p:sp>
        <p:nvSpPr>
          <p:cNvPr id="19" name="Text 16"/>
          <p:cNvSpPr/>
          <p:nvPr/>
        </p:nvSpPr>
        <p:spPr>
          <a:xfrm>
            <a:off x="804672" y="5504688"/>
            <a:ext cx="10607040" cy="640080"/>
          </a:xfrm>
          <a:prstGeom prst="rect">
            <a:avLst/>
          </a:prstGeom>
          <a:noFill/>
          <a:ln/>
        </p:spPr>
        <p:txBody>
          <a:bodyPr wrap="square" lIns="0" tIns="0" rIns="0" bIns="0" rtlCol="0" anchor="t"/>
          <a:lstStyle/>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«Los casos ingresados por agencia tardan en promedio 4.1 días más que los de la app (IC 95 % de la diferencia por calcular en el laboratorio; d = 0.87, efecto grande; t de Welch = −2.52, gl = 25.8, p = 0.018).»</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2C3A55"/>
                </a:solidFill>
                <a:latin typeface="Calibri" pitchFamily="34" charset="0"/>
                <a:ea typeface="Calibri" pitchFamily="34" charset="-122"/>
                <a:cs typeface="Calibri" pitchFamily="34" charset="-120"/>
              </a:rPr>
              <a:t>Primero el efecto en días, que es lo que decide si hay que actuar. Después la precisión. El p-valor al final, donde corresponde.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27432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490975" y="27432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CASO C · VARIOS GRUPOS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Con k grupos hay k(k−1)/2 comparaciones, y ahí vuelve el problema de la Clase 5</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Comparar todos contra todos sin corregir es la forma más común de fabricar hallazgos falsos.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6949440" cy="2673096"/>
        </p:xfrm>
        <a:graphic>
          <a:graphicData uri="http://schemas.openxmlformats.org/drawingml/2006/table">
            <a:tbl>
              <a:tblPr/>
              <a:tblGrid>
                <a:gridCol w="13716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Grupos (k)</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Comparaciones por pares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 1 falso positivo) al 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 Bonferroni, α exigido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14.3 %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0.0167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26.5 %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0.0083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40.1 %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0.0050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53.7 %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0.0033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4"/>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76.2 %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0.0018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5"/>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90.1 %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0.0011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6"/>
                  </a:ext>
                </a:extLst>
              </a:tr>
            </a:tbl>
          </a:graphicData>
        </a:graphic>
      </p:graphicFrame>
      <p:sp>
        <p:nvSpPr>
          <p:cNvPr id="7" name="Shape 4"/>
          <p:cNvSpPr/>
          <p:nvPr/>
        </p:nvSpPr>
        <p:spPr>
          <a:xfrm>
            <a:off x="7680960" y="1965960"/>
            <a:ext cx="3959352" cy="1463040"/>
          </a:xfrm>
          <a:prstGeom prst="roundRect">
            <a:avLst>
              <a:gd name="adj" fmla="val 3750"/>
            </a:avLst>
          </a:prstGeom>
          <a:solidFill>
            <a:srgbClr val="0A2559"/>
          </a:solidFill>
          <a:ln w="12700">
            <a:solidFill>
              <a:srgbClr val="0A2559"/>
            </a:solidFill>
            <a:prstDash val="solid"/>
          </a:ln>
        </p:spPr>
      </p:sp>
      <p:sp>
        <p:nvSpPr>
          <p:cNvPr id="8" name="Shape 5"/>
          <p:cNvSpPr/>
          <p:nvPr/>
        </p:nvSpPr>
        <p:spPr>
          <a:xfrm>
            <a:off x="7927848"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165592" y="2130552"/>
            <a:ext cx="323697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 tres canales ya son tres pruebas</a:t>
            </a:r>
            <a:endParaRPr lang="en-US" sz="1400" dirty="0"/>
          </a:p>
        </p:txBody>
      </p:sp>
      <p:sp>
        <p:nvSpPr>
          <p:cNvPr id="10" name="Text 7"/>
          <p:cNvSpPr/>
          <p:nvPr/>
        </p:nvSpPr>
        <p:spPr>
          <a:xfrm>
            <a:off x="7927848" y="2496312"/>
            <a:ext cx="3474720" cy="841248"/>
          </a:xfrm>
          <a:prstGeom prst="rect">
            <a:avLst/>
          </a:prstGeom>
          <a:noFill/>
          <a:ln/>
        </p:spPr>
        <p:txBody>
          <a:bodyPr wrap="square" lIns="0" tIns="0" rIns="0" bIns="0" rtlCol="0" anchor="t"/>
          <a:lstStyle/>
          <a:p>
            <a:pPr marL="0" indent="0" algn="l">
              <a:lnSpc>
                <a:spcPct val="106000"/>
              </a:lnSpc>
              <a:buNone/>
            </a:pPr>
            <a:r>
              <a:rPr lang="en-US" sz="1150" dirty="0">
                <a:solidFill>
                  <a:srgbClr val="C9D6F2"/>
                </a:solidFill>
                <a:latin typeface="Calibri" pitchFamily="34" charset="0"/>
                <a:ea typeface="Calibri" pitchFamily="34" charset="-122"/>
                <a:cs typeface="Calibri" pitchFamily="34" charset="-120"/>
              </a:rPr>
              <a:t>app-web, app-agencia, web-agencia. Tres pruebas al 5 % dan un 14.3 % de probabilidad de al menos un falso positivo. Con diez sucursales serían 45 pruebas y un 90 %.</a:t>
            </a:r>
            <a:endParaRPr lang="en-US" sz="1150" dirty="0"/>
          </a:p>
        </p:txBody>
      </p:sp>
      <p:sp>
        <p:nvSpPr>
          <p:cNvPr id="11" name="Shape 8"/>
          <p:cNvSpPr/>
          <p:nvPr/>
        </p:nvSpPr>
        <p:spPr>
          <a:xfrm>
            <a:off x="7680960" y="3566160"/>
            <a:ext cx="3959352" cy="1828800"/>
          </a:xfrm>
          <a:prstGeom prst="roundRect">
            <a:avLst>
              <a:gd name="adj" fmla="val 3000"/>
            </a:avLst>
          </a:prstGeom>
          <a:solidFill>
            <a:srgbClr val="FFFFFF"/>
          </a:solidFill>
          <a:ln w="12700">
            <a:solidFill>
              <a:srgbClr val="D2DBEC"/>
            </a:solidFill>
            <a:prstDash val="solid"/>
          </a:ln>
        </p:spPr>
      </p:sp>
      <p:sp>
        <p:nvSpPr>
          <p:cNvPr id="6" name="Shape 9"/>
          <p:cNvSpPr/>
          <p:nvPr/>
        </p:nvSpPr>
        <p:spPr>
          <a:xfrm>
            <a:off x="7927848" y="3831336"/>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165592" y="3730752"/>
            <a:ext cx="323697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Dos estrategias legítimas</a:t>
            </a:r>
            <a:endParaRPr lang="en-US" sz="1400" dirty="0"/>
          </a:p>
        </p:txBody>
      </p:sp>
      <p:sp>
        <p:nvSpPr>
          <p:cNvPr id="14" name="Text 11"/>
          <p:cNvSpPr/>
          <p:nvPr/>
        </p:nvSpPr>
        <p:spPr>
          <a:xfrm>
            <a:off x="7927848" y="4078224"/>
            <a:ext cx="3474720" cy="219456"/>
          </a:xfrm>
          <a:prstGeom prst="rect">
            <a:avLst/>
          </a:prstGeom>
          <a:noFill/>
          <a:ln/>
        </p:spPr>
        <p:txBody>
          <a:bodyPr wrap="square" lIns="0" tIns="0" rIns="0" bIns="0" rtlCol="0" anchor="t"/>
          <a:lstStyle/>
          <a:p>
            <a:pPr marL="0" indent="0" algn="l">
              <a:lnSpc>
                <a:spcPct val="108000"/>
              </a:lnSpc>
              <a:buNone/>
            </a:pPr>
            <a:r>
              <a:rPr lang="en-US" sz="1100" b="1" dirty="0">
                <a:solidFill>
                  <a:srgbClr val="E6115E"/>
                </a:solidFill>
                <a:latin typeface="Calibri" pitchFamily="34" charset="0"/>
                <a:ea typeface="Calibri" pitchFamily="34" charset="-122"/>
                <a:cs typeface="Calibri" pitchFamily="34" charset="-120"/>
              </a:rPr>
              <a:t>A · Directo con corrección</a:t>
            </a:r>
            <a:endParaRPr lang="en-US" sz="1100" dirty="0"/>
          </a:p>
        </p:txBody>
      </p:sp>
      <p:sp>
        <p:nvSpPr>
          <p:cNvPr id="15" name="Text 12"/>
          <p:cNvSpPr/>
          <p:nvPr/>
        </p:nvSpPr>
        <p:spPr>
          <a:xfrm>
            <a:off x="7927848" y="4297680"/>
            <a:ext cx="3520440" cy="438912"/>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Haces las comparaciones que te importan y ajustas con Holm. Sin ANOVA previo.</a:t>
            </a:r>
            <a:endParaRPr lang="en-US" sz="1050" dirty="0"/>
          </a:p>
        </p:txBody>
      </p:sp>
      <p:sp>
        <p:nvSpPr>
          <p:cNvPr id="16" name="Text 13"/>
          <p:cNvSpPr/>
          <p:nvPr/>
        </p:nvSpPr>
        <p:spPr>
          <a:xfrm>
            <a:off x="7927848" y="4773168"/>
            <a:ext cx="3474720" cy="219456"/>
          </a:xfrm>
          <a:prstGeom prst="rect">
            <a:avLst/>
          </a:prstGeom>
          <a:noFill/>
          <a:ln/>
        </p:spPr>
        <p:txBody>
          <a:bodyPr wrap="square" lIns="0" tIns="0" rIns="0" bIns="0" rtlCol="0" anchor="t"/>
          <a:lstStyle/>
          <a:p>
            <a:pPr marL="0" indent="0" algn="l">
              <a:lnSpc>
                <a:spcPct val="108000"/>
              </a:lnSpc>
              <a:buNone/>
            </a:pPr>
            <a:r>
              <a:rPr lang="en-US" sz="1100" b="1" dirty="0">
                <a:solidFill>
                  <a:srgbClr val="1A56E8"/>
                </a:solidFill>
                <a:latin typeface="Calibri" pitchFamily="34" charset="0"/>
                <a:ea typeface="Calibri" pitchFamily="34" charset="-122"/>
                <a:cs typeface="Calibri" pitchFamily="34" charset="-120"/>
              </a:rPr>
              <a:t>B · ANOVA primero</a:t>
            </a:r>
            <a:endParaRPr lang="en-US" sz="1100" dirty="0"/>
          </a:p>
        </p:txBody>
      </p:sp>
      <p:sp>
        <p:nvSpPr>
          <p:cNvPr id="17" name="Text 14"/>
          <p:cNvSpPr/>
          <p:nvPr/>
        </p:nvSpPr>
        <p:spPr>
          <a:xfrm>
            <a:off x="7927848" y="4992624"/>
            <a:ext cx="3520440" cy="438912"/>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Una sola prueba global. Si no rechaza, paras. Si rechaza, haces post-hoc corregido.</a:t>
            </a:r>
            <a:endParaRPr lang="en-US" sz="1050" dirty="0"/>
          </a:p>
        </p:txBody>
      </p:sp>
      <p:sp>
        <p:nvSpPr>
          <p:cNvPr id="18" name="Shape 15"/>
          <p:cNvSpPr/>
          <p:nvPr/>
        </p:nvSpPr>
        <p:spPr>
          <a:xfrm>
            <a:off x="548640" y="4650095"/>
            <a:ext cx="6949440" cy="914400"/>
          </a:xfrm>
          <a:prstGeom prst="roundRect">
            <a:avLst>
              <a:gd name="adj" fmla="val 6000"/>
            </a:avLst>
          </a:prstGeom>
          <a:solidFill>
            <a:srgbClr val="E9EEF8"/>
          </a:solidFill>
          <a:ln w="12700">
            <a:solidFill>
              <a:srgbClr val="D2DBEC"/>
            </a:solidFill>
            <a:prstDash val="solid"/>
          </a:ln>
        </p:spPr>
      </p:sp>
      <p:sp>
        <p:nvSpPr>
          <p:cNvPr id="19" name="Shape 16"/>
          <p:cNvSpPr/>
          <p:nvPr/>
        </p:nvSpPr>
        <p:spPr>
          <a:xfrm>
            <a:off x="804672" y="4709160"/>
            <a:ext cx="118872" cy="118872"/>
          </a:xfrm>
          <a:prstGeom prst="roundRect">
            <a:avLst>
              <a:gd name="adj" fmla="val 30769"/>
            </a:avLst>
          </a:prstGeom>
          <a:solidFill>
            <a:srgbClr val="E6115E"/>
          </a:solidFill>
          <a:ln w="12700">
            <a:solidFill>
              <a:srgbClr val="E6115E"/>
            </a:solidFill>
            <a:prstDash val="solid"/>
          </a:ln>
        </p:spPr>
      </p:sp>
      <p:sp>
        <p:nvSpPr>
          <p:cNvPr id="20" name="Text 17"/>
          <p:cNvSpPr/>
          <p:nvPr/>
        </p:nvSpPr>
        <p:spPr>
          <a:xfrm>
            <a:off x="1042416" y="4608576"/>
            <a:ext cx="52486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Cuál elegir</a:t>
            </a:r>
            <a:endParaRPr lang="en-US" sz="1400" dirty="0"/>
          </a:p>
        </p:txBody>
      </p:sp>
      <p:sp>
        <p:nvSpPr>
          <p:cNvPr id="21" name="Text 18"/>
          <p:cNvSpPr/>
          <p:nvPr/>
        </p:nvSpPr>
        <p:spPr>
          <a:xfrm>
            <a:off x="804672" y="4919472"/>
            <a:ext cx="6446520" cy="402336"/>
          </a:xfrm>
          <a:prstGeom prst="rect">
            <a:avLst/>
          </a:prstGeom>
          <a:noFill/>
          <a:ln/>
        </p:spPr>
        <p:txBody>
          <a:bodyPr wrap="square" lIns="0" tIns="0" rIns="0" bIns="0" rtlCol="0" anchor="t"/>
          <a:lstStyle/>
          <a:p>
            <a:pPr marL="0" indent="0" algn="l">
              <a:lnSpc>
                <a:spcPct val="104000"/>
              </a:lnSpc>
              <a:buNone/>
            </a:pPr>
            <a:r>
              <a:rPr lang="en-US" sz="1150" dirty="0">
                <a:solidFill>
                  <a:srgbClr val="2C3A55"/>
                </a:solidFill>
                <a:latin typeface="Calibri" pitchFamily="34" charset="0"/>
                <a:ea typeface="Calibri" pitchFamily="34" charset="-122"/>
                <a:cs typeface="Calibri" pitchFamily="34" charset="-120"/>
              </a:rPr>
              <a:t>Si tienes hipótesis concretas de antemano («¿agencia es más lenta que app?»), la estrategia A es más directa y más potente. </a:t>
            </a:r>
            <a:r>
              <a:rPr lang="en-US" sz="1150" b="1" dirty="0">
                <a:solidFill>
                  <a:srgbClr val="2C3A55"/>
                </a:solidFill>
                <a:latin typeface="Calibri" pitchFamily="34" charset="0"/>
                <a:ea typeface="Calibri" pitchFamily="34" charset="-122"/>
                <a:cs typeface="Calibri" pitchFamily="34" charset="-120"/>
              </a:rPr>
              <a:t>El ANOVA sirve cuando la pregunta genuinamente es «¿hay alguna diferencia en algún lado?».</a:t>
            </a:r>
            <a:endParaRPr lang="en-US" sz="1150" b="1" dirty="0"/>
          </a:p>
        </p:txBody>
      </p:sp>
      <p:sp>
        <p:nvSpPr>
          <p:cNvPr id="22" name="Shape 19"/>
          <p:cNvSpPr/>
          <p:nvPr/>
        </p:nvSpPr>
        <p:spPr>
          <a:xfrm>
            <a:off x="550164" y="5618988"/>
            <a:ext cx="11091672" cy="777240"/>
          </a:xfrm>
          <a:prstGeom prst="roundRect">
            <a:avLst>
              <a:gd name="adj" fmla="val 7059"/>
            </a:avLst>
          </a:prstGeom>
          <a:solidFill>
            <a:srgbClr val="0A2559"/>
          </a:solidFill>
          <a:ln w="12700">
            <a:solidFill>
              <a:srgbClr val="0A2559"/>
            </a:solidFill>
            <a:prstDash val="solid"/>
          </a:ln>
        </p:spPr>
      </p:sp>
      <p:sp>
        <p:nvSpPr>
          <p:cNvPr id="23" name="Text 20"/>
          <p:cNvSpPr/>
          <p:nvPr/>
        </p:nvSpPr>
        <p:spPr>
          <a:xfrm>
            <a:off x="777240" y="5650992"/>
            <a:ext cx="10607040" cy="777240"/>
          </a:xfrm>
          <a:prstGeom prst="rect">
            <a:avLst/>
          </a:prstGeom>
          <a:noFill/>
          <a:ln/>
        </p:spPr>
        <p:txBody>
          <a:bodyPr wrap="square" lIns="0" tIns="0" rIns="0" bIns="0" rtlCol="0" anchor="ctr"/>
          <a:lstStyle/>
          <a:p>
            <a:pPr marL="0" indent="0" algn="l">
              <a:lnSpc>
                <a:spcPct val="104000"/>
              </a:lnSpc>
              <a:buNone/>
            </a:pPr>
            <a:r>
              <a:rPr lang="en-US" sz="1200" dirty="0">
                <a:solidFill>
                  <a:srgbClr val="C9D6F2"/>
                </a:solidFill>
                <a:latin typeface="Calibri" pitchFamily="34" charset="0"/>
                <a:ea typeface="Calibri" pitchFamily="34" charset="-122"/>
                <a:cs typeface="Calibri" pitchFamily="34" charset="-120"/>
              </a:rPr>
              <a:t>Lo que no es legítimo: mirar las tres comparaciones, quedarte con la que salió significativa y reportar solo esa. Eso es la slide 15 de la Clase 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01752"/>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10896"/>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ANOVA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Una sola pregunta: ¿la variación entre grupos supera a la de dentro?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Se llama análisis de varianza porque compara dos varianzas, no dos medias.</a:t>
            </a:r>
            <a:endParaRPr lang="en-US" sz="1400" dirty="0"/>
          </a:p>
        </p:txBody>
      </p:sp>
      <p:sp>
        <p:nvSpPr>
          <p:cNvPr id="6" name="Shape 4"/>
          <p:cNvSpPr/>
          <p:nvPr/>
        </p:nvSpPr>
        <p:spPr>
          <a:xfrm>
            <a:off x="548640" y="1938528"/>
            <a:ext cx="11091672" cy="841248"/>
          </a:xfrm>
          <a:prstGeom prst="roundRect">
            <a:avLst>
              <a:gd name="adj" fmla="val 6522"/>
            </a:avLst>
          </a:prstGeom>
          <a:solidFill>
            <a:srgbClr val="0A2559"/>
          </a:solidFill>
          <a:ln w="12700">
            <a:solidFill>
              <a:srgbClr val="0A2559"/>
            </a:solidFill>
            <a:prstDash val="solid"/>
          </a:ln>
        </p:spPr>
      </p:sp>
      <p:sp>
        <p:nvSpPr>
          <p:cNvPr id="7" name="Text 5"/>
          <p:cNvSpPr/>
          <p:nvPr/>
        </p:nvSpPr>
        <p:spPr>
          <a:xfrm>
            <a:off x="548640" y="1938528"/>
            <a:ext cx="11091672" cy="841248"/>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F  =  variabilidad ENTRE los grupos  /  variabilidad DENTRO de los grupos</a:t>
            </a:r>
            <a:endParaRPr lang="en-US" sz="2100" dirty="0"/>
          </a:p>
        </p:txBody>
      </p:sp>
      <p:sp>
        <p:nvSpPr>
          <p:cNvPr id="8" name="Shape 6"/>
          <p:cNvSpPr/>
          <p:nvPr/>
        </p:nvSpPr>
        <p:spPr>
          <a:xfrm>
            <a:off x="548640" y="2999232"/>
            <a:ext cx="3520440" cy="1371600"/>
          </a:xfrm>
          <a:prstGeom prst="roundRect">
            <a:avLst>
              <a:gd name="adj" fmla="val 4000"/>
            </a:avLst>
          </a:prstGeom>
          <a:solidFill>
            <a:srgbClr val="FFFFFF"/>
          </a:solidFill>
          <a:ln w="12700">
            <a:solidFill>
              <a:srgbClr val="D2DBEC"/>
            </a:solidFill>
            <a:prstDash val="solid"/>
          </a:ln>
        </p:spPr>
      </p:sp>
      <p:sp>
        <p:nvSpPr>
          <p:cNvPr id="9" name="Text 7"/>
          <p:cNvSpPr/>
          <p:nvPr/>
        </p:nvSpPr>
        <p:spPr>
          <a:xfrm>
            <a:off x="777240" y="3145536"/>
            <a:ext cx="3063240" cy="219456"/>
          </a:xfrm>
          <a:prstGeom prst="rect">
            <a:avLst/>
          </a:prstGeom>
          <a:noFill/>
          <a:ln/>
        </p:spPr>
        <p:txBody>
          <a:bodyPr wrap="square" lIns="0" tIns="0" rIns="0" bIns="0" rtlCol="0" anchor="ctr"/>
          <a:lstStyle/>
          <a:p>
            <a:pPr marL="0" indent="0">
              <a:buNone/>
            </a:pPr>
            <a:r>
              <a:rPr lang="en-US" sz="950" b="1" kern="0" spc="60" dirty="0">
                <a:solidFill>
                  <a:srgbClr val="1A56E8"/>
                </a:solidFill>
                <a:latin typeface="Calibri" pitchFamily="34" charset="0"/>
                <a:ea typeface="Calibri" pitchFamily="34" charset="-122"/>
                <a:cs typeface="Calibri" pitchFamily="34" charset="-120"/>
              </a:rPr>
              <a:t>NUMERADOR</a:t>
            </a:r>
            <a:endParaRPr lang="en-US" sz="950" dirty="0"/>
          </a:p>
        </p:txBody>
      </p:sp>
      <p:sp>
        <p:nvSpPr>
          <p:cNvPr id="10" name="Text 8"/>
          <p:cNvSpPr/>
          <p:nvPr/>
        </p:nvSpPr>
        <p:spPr>
          <a:xfrm>
            <a:off x="777240" y="3383280"/>
            <a:ext cx="3063240"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ENTRE grupos</a:t>
            </a:r>
            <a:endParaRPr lang="en-US" sz="1400" dirty="0"/>
          </a:p>
        </p:txBody>
      </p:sp>
      <p:sp>
        <p:nvSpPr>
          <p:cNvPr id="11" name="Text 9"/>
          <p:cNvSpPr/>
          <p:nvPr/>
        </p:nvSpPr>
        <p:spPr>
          <a:xfrm>
            <a:off x="777240" y="3712464"/>
            <a:ext cx="3108960" cy="566928"/>
          </a:xfrm>
          <a:prstGeom prst="rect">
            <a:avLst/>
          </a:prstGeom>
          <a:noFill/>
          <a:ln/>
        </p:spPr>
        <p:txBody>
          <a:bodyPr wrap="square" lIns="0" tIns="0" rIns="0" bIns="0" rtlCol="0" anchor="t"/>
          <a:lstStyle/>
          <a:p>
            <a:pPr marL="0" indent="0" algn="l">
              <a:lnSpc>
                <a:spcPct val="106000"/>
              </a:lnSpc>
              <a:buNone/>
            </a:pPr>
            <a:r>
              <a:rPr lang="en-US" sz="1100" dirty="0">
                <a:solidFill>
                  <a:srgbClr val="2C3A55"/>
                </a:solidFill>
                <a:latin typeface="Calibri" pitchFamily="34" charset="0"/>
                <a:ea typeface="Calibri" pitchFamily="34" charset="-122"/>
                <a:cs typeface="Calibri" pitchFamily="34" charset="-120"/>
              </a:rPr>
              <a:t>Qué tan lejos están las medias de los grupos entre sí. Si los canales tardan muy distinto, esto crece.</a:t>
            </a:r>
            <a:endParaRPr lang="en-US" sz="1100" dirty="0"/>
          </a:p>
        </p:txBody>
      </p:sp>
      <p:sp>
        <p:nvSpPr>
          <p:cNvPr id="12" name="Shape 10"/>
          <p:cNvSpPr/>
          <p:nvPr/>
        </p:nvSpPr>
        <p:spPr>
          <a:xfrm>
            <a:off x="4297680" y="2999232"/>
            <a:ext cx="3520440" cy="1371600"/>
          </a:xfrm>
          <a:prstGeom prst="roundRect">
            <a:avLst>
              <a:gd name="adj" fmla="val 4000"/>
            </a:avLst>
          </a:prstGeom>
          <a:solidFill>
            <a:srgbClr val="FFFFFF"/>
          </a:solidFill>
          <a:ln w="12700">
            <a:solidFill>
              <a:srgbClr val="D2DBEC"/>
            </a:solidFill>
            <a:prstDash val="solid"/>
          </a:ln>
        </p:spPr>
      </p:sp>
      <p:sp>
        <p:nvSpPr>
          <p:cNvPr id="13" name="Text 11"/>
          <p:cNvSpPr/>
          <p:nvPr/>
        </p:nvSpPr>
        <p:spPr>
          <a:xfrm>
            <a:off x="4526280" y="3145536"/>
            <a:ext cx="3063240" cy="219456"/>
          </a:xfrm>
          <a:prstGeom prst="rect">
            <a:avLst/>
          </a:prstGeom>
          <a:noFill/>
          <a:ln/>
        </p:spPr>
        <p:txBody>
          <a:bodyPr wrap="square" lIns="0" tIns="0" rIns="0" bIns="0" rtlCol="0" anchor="ctr"/>
          <a:lstStyle/>
          <a:p>
            <a:pPr marL="0" indent="0">
              <a:buNone/>
            </a:pPr>
            <a:r>
              <a:rPr lang="en-US" sz="950" b="1" kern="0" spc="60" dirty="0">
                <a:solidFill>
                  <a:srgbClr val="1A56E8"/>
                </a:solidFill>
                <a:latin typeface="Calibri" pitchFamily="34" charset="0"/>
                <a:ea typeface="Calibri" pitchFamily="34" charset="-122"/>
                <a:cs typeface="Calibri" pitchFamily="34" charset="-120"/>
              </a:rPr>
              <a:t>DENOMINADOR</a:t>
            </a:r>
            <a:endParaRPr lang="en-US" sz="950" dirty="0"/>
          </a:p>
        </p:txBody>
      </p:sp>
      <p:sp>
        <p:nvSpPr>
          <p:cNvPr id="14" name="Text 12"/>
          <p:cNvSpPr/>
          <p:nvPr/>
        </p:nvSpPr>
        <p:spPr>
          <a:xfrm>
            <a:off x="4526280" y="3383280"/>
            <a:ext cx="3063240"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DENTRO de grupos</a:t>
            </a:r>
            <a:endParaRPr lang="en-US" sz="1400" dirty="0"/>
          </a:p>
        </p:txBody>
      </p:sp>
      <p:sp>
        <p:nvSpPr>
          <p:cNvPr id="15" name="Text 13"/>
          <p:cNvSpPr/>
          <p:nvPr/>
        </p:nvSpPr>
        <p:spPr>
          <a:xfrm>
            <a:off x="4526280" y="3712464"/>
            <a:ext cx="3108960" cy="566928"/>
          </a:xfrm>
          <a:prstGeom prst="rect">
            <a:avLst/>
          </a:prstGeom>
          <a:noFill/>
          <a:ln/>
        </p:spPr>
        <p:txBody>
          <a:bodyPr wrap="square" lIns="0" tIns="0" rIns="0" bIns="0" rtlCol="0" anchor="t"/>
          <a:lstStyle/>
          <a:p>
            <a:pPr marL="0" indent="0" algn="l">
              <a:lnSpc>
                <a:spcPct val="106000"/>
              </a:lnSpc>
              <a:buNone/>
            </a:pPr>
            <a:r>
              <a:rPr lang="en-US" sz="1100" dirty="0">
                <a:solidFill>
                  <a:srgbClr val="2C3A55"/>
                </a:solidFill>
                <a:latin typeface="Calibri" pitchFamily="34" charset="0"/>
                <a:ea typeface="Calibri" pitchFamily="34" charset="-122"/>
                <a:cs typeface="Calibri" pitchFamily="34" charset="-120"/>
              </a:rPr>
              <a:t>Qué tan dispersos son los casos dentro de un mismo canal. Es el ruido de fondo.</a:t>
            </a:r>
            <a:endParaRPr lang="en-US" sz="1100" dirty="0"/>
          </a:p>
        </p:txBody>
      </p:sp>
      <p:sp>
        <p:nvSpPr>
          <p:cNvPr id="16" name="Shape 14"/>
          <p:cNvSpPr/>
          <p:nvPr/>
        </p:nvSpPr>
        <p:spPr>
          <a:xfrm>
            <a:off x="8046720" y="2999232"/>
            <a:ext cx="3520440" cy="1371600"/>
          </a:xfrm>
          <a:prstGeom prst="roundRect">
            <a:avLst>
              <a:gd name="adj" fmla="val 4000"/>
            </a:avLst>
          </a:prstGeom>
          <a:solidFill>
            <a:srgbClr val="FFFFFF"/>
          </a:solidFill>
          <a:ln w="12700">
            <a:solidFill>
              <a:srgbClr val="D2DBEC"/>
            </a:solidFill>
            <a:prstDash val="solid"/>
          </a:ln>
        </p:spPr>
      </p:sp>
      <p:sp>
        <p:nvSpPr>
          <p:cNvPr id="17" name="Text 15"/>
          <p:cNvSpPr/>
          <p:nvPr/>
        </p:nvSpPr>
        <p:spPr>
          <a:xfrm>
            <a:off x="8275320" y="3145536"/>
            <a:ext cx="3063240" cy="219456"/>
          </a:xfrm>
          <a:prstGeom prst="rect">
            <a:avLst/>
          </a:prstGeom>
          <a:noFill/>
          <a:ln/>
        </p:spPr>
        <p:txBody>
          <a:bodyPr wrap="square" lIns="0" tIns="0" rIns="0" bIns="0" rtlCol="0" anchor="ctr"/>
          <a:lstStyle/>
          <a:p>
            <a:pPr marL="0" indent="0">
              <a:buNone/>
            </a:pPr>
            <a:r>
              <a:rPr lang="en-US" sz="950" b="1" kern="0" spc="60" dirty="0">
                <a:solidFill>
                  <a:srgbClr val="E6115E"/>
                </a:solidFill>
                <a:latin typeface="Calibri" pitchFamily="34" charset="0"/>
                <a:ea typeface="Calibri" pitchFamily="34" charset="-122"/>
                <a:cs typeface="Calibri" pitchFamily="34" charset="-120"/>
              </a:rPr>
              <a:t>EL COCIENTE</a:t>
            </a:r>
            <a:endParaRPr lang="en-US" sz="950" dirty="0"/>
          </a:p>
        </p:txBody>
      </p:sp>
      <p:sp>
        <p:nvSpPr>
          <p:cNvPr id="18" name="Text 16"/>
          <p:cNvSpPr/>
          <p:nvPr/>
        </p:nvSpPr>
        <p:spPr>
          <a:xfrm>
            <a:off x="8275320" y="3383280"/>
            <a:ext cx="3063240"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F</a:t>
            </a:r>
            <a:endParaRPr lang="en-US" sz="1400" dirty="0"/>
          </a:p>
        </p:txBody>
      </p:sp>
      <p:sp>
        <p:nvSpPr>
          <p:cNvPr id="19" name="Text 17"/>
          <p:cNvSpPr/>
          <p:nvPr/>
        </p:nvSpPr>
        <p:spPr>
          <a:xfrm>
            <a:off x="8275320" y="3712464"/>
            <a:ext cx="3108960" cy="566928"/>
          </a:xfrm>
          <a:prstGeom prst="rect">
            <a:avLst/>
          </a:prstGeom>
          <a:noFill/>
          <a:ln/>
        </p:spPr>
        <p:txBody>
          <a:bodyPr wrap="square" lIns="0" tIns="0" rIns="0" bIns="0" rtlCol="0" anchor="t"/>
          <a:lstStyle/>
          <a:p>
            <a:pPr marL="0" indent="0" algn="l">
              <a:lnSpc>
                <a:spcPct val="106000"/>
              </a:lnSpc>
              <a:buNone/>
            </a:pPr>
            <a:r>
              <a:rPr lang="en-US" sz="1100" dirty="0">
                <a:solidFill>
                  <a:srgbClr val="2C3A55"/>
                </a:solidFill>
                <a:latin typeface="Calibri" pitchFamily="34" charset="0"/>
                <a:ea typeface="Calibri" pitchFamily="34" charset="-122"/>
                <a:cs typeface="Calibri" pitchFamily="34" charset="-120"/>
              </a:rPr>
              <a:t>Si F es grande, la separación entre grupos destaca sobre el ruido. Si F ≈ 1, lo que ves cabe en el ruido.</a:t>
            </a:r>
            <a:endParaRPr lang="en-US" sz="1100" dirty="0"/>
          </a:p>
        </p:txBody>
      </p:sp>
      <p:sp>
        <p:nvSpPr>
          <p:cNvPr id="20" name="Shape 18"/>
          <p:cNvSpPr/>
          <p:nvPr/>
        </p:nvSpPr>
        <p:spPr>
          <a:xfrm>
            <a:off x="548640" y="4526280"/>
            <a:ext cx="5468112" cy="1691640"/>
          </a:xfrm>
          <a:prstGeom prst="roundRect">
            <a:avLst>
              <a:gd name="adj" fmla="val 3243"/>
            </a:avLst>
          </a:prstGeom>
          <a:solidFill>
            <a:srgbClr val="E9EEF8"/>
          </a:solidFill>
          <a:ln w="12700">
            <a:solidFill>
              <a:srgbClr val="D2DBEC"/>
            </a:solidFill>
            <a:prstDash val="solid"/>
          </a:ln>
        </p:spPr>
      </p:sp>
      <p:sp>
        <p:nvSpPr>
          <p:cNvPr id="21" name="Shape 19"/>
          <p:cNvSpPr/>
          <p:nvPr/>
        </p:nvSpPr>
        <p:spPr>
          <a:xfrm>
            <a:off x="804672" y="4773168"/>
            <a:ext cx="118872" cy="118872"/>
          </a:xfrm>
          <a:prstGeom prst="roundRect">
            <a:avLst>
              <a:gd name="adj" fmla="val 30769"/>
            </a:avLst>
          </a:prstGeom>
          <a:solidFill>
            <a:srgbClr val="E6115E"/>
          </a:solidFill>
          <a:ln w="12700">
            <a:solidFill>
              <a:srgbClr val="E6115E"/>
            </a:solidFill>
            <a:prstDash val="solid"/>
          </a:ln>
        </p:spPr>
      </p:sp>
      <p:sp>
        <p:nvSpPr>
          <p:cNvPr id="22" name="Text 20"/>
          <p:cNvSpPr/>
          <p:nvPr/>
        </p:nvSpPr>
        <p:spPr>
          <a:xfrm>
            <a:off x="1042416" y="4672584"/>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dice y qué no</a:t>
            </a:r>
            <a:endParaRPr lang="en-US" sz="1400" dirty="0"/>
          </a:p>
        </p:txBody>
      </p:sp>
      <p:sp>
        <p:nvSpPr>
          <p:cNvPr id="23" name="Text 21"/>
          <p:cNvSpPr/>
          <p:nvPr/>
        </p:nvSpPr>
        <p:spPr>
          <a:xfrm>
            <a:off x="804672" y="5010912"/>
            <a:ext cx="4983480" cy="201168"/>
          </a:xfrm>
          <a:prstGeom prst="rect">
            <a:avLst/>
          </a:prstGeom>
          <a:noFill/>
          <a:ln/>
        </p:spPr>
        <p:txBody>
          <a:bodyPr wrap="square" lIns="0" tIns="0" rIns="0" bIns="0" rtlCol="0" anchor="t"/>
          <a:lstStyle/>
          <a:p>
            <a:pPr marL="0" indent="0" algn="l">
              <a:lnSpc>
                <a:spcPct val="108000"/>
              </a:lnSpc>
              <a:buNone/>
            </a:pPr>
            <a:r>
              <a:rPr lang="en-US" sz="1050" b="1" dirty="0">
                <a:solidFill>
                  <a:srgbClr val="12B886"/>
                </a:solidFill>
                <a:latin typeface="Calibri" pitchFamily="34" charset="0"/>
                <a:ea typeface="Calibri" pitchFamily="34" charset="-122"/>
                <a:cs typeface="Calibri" pitchFamily="34" charset="-120"/>
              </a:rPr>
              <a:t>SÍ te dice:</a:t>
            </a:r>
            <a:endParaRPr lang="en-US" sz="1050" dirty="0"/>
          </a:p>
        </p:txBody>
      </p:sp>
      <p:sp>
        <p:nvSpPr>
          <p:cNvPr id="24" name="Text 22"/>
          <p:cNvSpPr/>
          <p:nvPr/>
        </p:nvSpPr>
        <p:spPr>
          <a:xfrm>
            <a:off x="804672" y="5212080"/>
            <a:ext cx="4983480" cy="256032"/>
          </a:xfrm>
          <a:prstGeom prst="rect">
            <a:avLst/>
          </a:prstGeom>
          <a:noFill/>
          <a:ln/>
        </p:spPr>
        <p:txBody>
          <a:bodyPr wrap="square" lIns="0" tIns="0" rIns="0" bIns="0" rtlCol="0" anchor="t"/>
          <a:lstStyle/>
          <a:p>
            <a:pPr marL="0" indent="0" algn="l">
              <a:lnSpc>
                <a:spcPct val="104000"/>
              </a:lnSpc>
              <a:buNone/>
            </a:pPr>
            <a:r>
              <a:rPr lang="en-US" sz="1100" i="1" dirty="0">
                <a:solidFill>
                  <a:srgbClr val="2C3A55"/>
                </a:solidFill>
                <a:latin typeface="Calibri" pitchFamily="34" charset="0"/>
                <a:ea typeface="Calibri" pitchFamily="34" charset="-122"/>
                <a:cs typeface="Calibri" pitchFamily="34" charset="-120"/>
              </a:rPr>
              <a:t>«Al menos uno de los grupos difiere de algún otro.»</a:t>
            </a:r>
            <a:endParaRPr lang="en-US" sz="1100" dirty="0"/>
          </a:p>
        </p:txBody>
      </p:sp>
      <p:sp>
        <p:nvSpPr>
          <p:cNvPr id="25" name="Text 23"/>
          <p:cNvSpPr/>
          <p:nvPr/>
        </p:nvSpPr>
        <p:spPr>
          <a:xfrm>
            <a:off x="804672" y="5504688"/>
            <a:ext cx="4983480" cy="201168"/>
          </a:xfrm>
          <a:prstGeom prst="rect">
            <a:avLst/>
          </a:prstGeom>
          <a:noFill/>
          <a:ln/>
        </p:spPr>
        <p:txBody>
          <a:bodyPr wrap="square" lIns="0" tIns="0" rIns="0" bIns="0" rtlCol="0" anchor="t"/>
          <a:lstStyle/>
          <a:p>
            <a:pPr marL="0" indent="0" algn="l">
              <a:lnSpc>
                <a:spcPct val="108000"/>
              </a:lnSpc>
              <a:buNone/>
            </a:pPr>
            <a:r>
              <a:rPr lang="en-US" sz="1050" b="1" dirty="0">
                <a:solidFill>
                  <a:srgbClr val="E6115E"/>
                </a:solidFill>
                <a:latin typeface="Calibri" pitchFamily="34" charset="0"/>
                <a:ea typeface="Calibri" pitchFamily="34" charset="-122"/>
                <a:cs typeface="Calibri" pitchFamily="34" charset="-120"/>
              </a:rPr>
              <a:t>NO te dice:</a:t>
            </a:r>
            <a:endParaRPr lang="en-US" sz="1050" dirty="0"/>
          </a:p>
        </p:txBody>
      </p:sp>
      <p:sp>
        <p:nvSpPr>
          <p:cNvPr id="26" name="Text 24"/>
          <p:cNvSpPr/>
          <p:nvPr/>
        </p:nvSpPr>
        <p:spPr>
          <a:xfrm>
            <a:off x="804672" y="5705856"/>
            <a:ext cx="4983480" cy="402336"/>
          </a:xfrm>
          <a:prstGeom prst="rect">
            <a:avLst/>
          </a:prstGeom>
          <a:noFill/>
          <a:ln/>
        </p:spPr>
        <p:txBody>
          <a:bodyPr wrap="square" lIns="0" tIns="0" rIns="0" bIns="0" rtlCol="0" anchor="t"/>
          <a:lstStyle/>
          <a:p>
            <a:pPr marL="0" indent="0" algn="l">
              <a:lnSpc>
                <a:spcPct val="104000"/>
              </a:lnSpc>
              <a:buNone/>
            </a:pPr>
            <a:r>
              <a:rPr lang="en-US" sz="1100" i="1" dirty="0">
                <a:solidFill>
                  <a:srgbClr val="2C3A55"/>
                </a:solidFill>
                <a:latin typeface="Calibri" pitchFamily="34" charset="0"/>
                <a:ea typeface="Calibri" pitchFamily="34" charset="-122"/>
                <a:cs typeface="Calibri" pitchFamily="34" charset="-120"/>
              </a:rPr>
              <a:t>Cuál difiere de cuál, ni en qué dirección, ni cuánto. Para eso está el post-hoc de la slide 14.</a:t>
            </a:r>
            <a:endParaRPr lang="en-US" sz="1100" dirty="0"/>
          </a:p>
        </p:txBody>
      </p:sp>
      <p:sp>
        <p:nvSpPr>
          <p:cNvPr id="27" name="Shape 25"/>
          <p:cNvSpPr/>
          <p:nvPr/>
        </p:nvSpPr>
        <p:spPr>
          <a:xfrm>
            <a:off x="6172200" y="4526280"/>
            <a:ext cx="5468112" cy="1691640"/>
          </a:xfrm>
          <a:prstGeom prst="roundRect">
            <a:avLst>
              <a:gd name="adj" fmla="val 3243"/>
            </a:avLst>
          </a:prstGeom>
          <a:solidFill>
            <a:srgbClr val="0A2559"/>
          </a:solidFill>
          <a:ln w="12700">
            <a:solidFill>
              <a:srgbClr val="0A2559"/>
            </a:solidFill>
            <a:prstDash val="solid"/>
          </a:ln>
        </p:spPr>
      </p:sp>
      <p:sp>
        <p:nvSpPr>
          <p:cNvPr id="28" name="Shape 26"/>
          <p:cNvSpPr/>
          <p:nvPr/>
        </p:nvSpPr>
        <p:spPr>
          <a:xfrm>
            <a:off x="6419088" y="4773168"/>
            <a:ext cx="118872" cy="118872"/>
          </a:xfrm>
          <a:prstGeom prst="roundRect">
            <a:avLst>
              <a:gd name="adj" fmla="val 30769"/>
            </a:avLst>
          </a:prstGeom>
          <a:solidFill>
            <a:srgbClr val="E6115E"/>
          </a:solidFill>
          <a:ln w="12700">
            <a:solidFill>
              <a:srgbClr val="E6115E"/>
            </a:solidFill>
            <a:prstDash val="solid"/>
          </a:ln>
        </p:spPr>
      </p:sp>
      <p:sp>
        <p:nvSpPr>
          <p:cNvPr id="29" name="Text 27"/>
          <p:cNvSpPr/>
          <p:nvPr/>
        </p:nvSpPr>
        <p:spPr>
          <a:xfrm>
            <a:off x="6656832" y="4672584"/>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Los tres supuestos, y su fragilidad</a:t>
            </a:r>
            <a:endParaRPr lang="en-US" sz="1400" dirty="0"/>
          </a:p>
        </p:txBody>
      </p:sp>
      <p:sp>
        <p:nvSpPr>
          <p:cNvPr id="30" name="Text 28"/>
          <p:cNvSpPr/>
          <p:nvPr/>
        </p:nvSpPr>
        <p:spPr>
          <a:xfrm>
            <a:off x="6419088" y="5029200"/>
            <a:ext cx="2377440" cy="329184"/>
          </a:xfrm>
          <a:prstGeom prst="rect">
            <a:avLst/>
          </a:prstGeom>
          <a:noFill/>
          <a:ln/>
        </p:spPr>
        <p:txBody>
          <a:bodyPr wrap="square" lIns="0" tIns="0" rIns="0" bIns="0" rtlCol="0" anchor="ctr"/>
          <a:lstStyle/>
          <a:p>
            <a:pPr marL="0" indent="0">
              <a:buNone/>
            </a:pPr>
            <a:r>
              <a:rPr lang="en-US" sz="1050" b="1" dirty="0">
                <a:solidFill>
                  <a:srgbClr val="C9D6F2"/>
                </a:solidFill>
                <a:latin typeface="Calibri" pitchFamily="34" charset="0"/>
                <a:ea typeface="Calibri" pitchFamily="34" charset="-122"/>
                <a:cs typeface="Calibri" pitchFamily="34" charset="-120"/>
              </a:rPr>
              <a:t>Independencia</a:t>
            </a:r>
            <a:endParaRPr lang="en-US" sz="1050" dirty="0"/>
          </a:p>
        </p:txBody>
      </p:sp>
      <p:sp>
        <p:nvSpPr>
          <p:cNvPr id="31" name="Text 29"/>
          <p:cNvSpPr/>
          <p:nvPr/>
        </p:nvSpPr>
        <p:spPr>
          <a:xfrm>
            <a:off x="8869680" y="5029200"/>
            <a:ext cx="2560320" cy="329184"/>
          </a:xfrm>
          <a:prstGeom prst="rect">
            <a:avLst/>
          </a:prstGeom>
          <a:noFill/>
          <a:ln/>
        </p:spPr>
        <p:txBody>
          <a:bodyPr wrap="square" lIns="0" tIns="0" rIns="0" bIns="0" rtlCol="0" anchor="ctr"/>
          <a:lstStyle/>
          <a:p>
            <a:pPr marL="0" indent="0" algn="l">
              <a:lnSpc>
                <a:spcPct val="100000"/>
              </a:lnSpc>
              <a:buNone/>
            </a:pPr>
            <a:r>
              <a:rPr lang="en-US" sz="1000" dirty="0">
                <a:solidFill>
                  <a:srgbClr val="8FA6D4"/>
                </a:solidFill>
                <a:latin typeface="Calibri" pitchFamily="34" charset="0"/>
                <a:ea typeface="Calibri" pitchFamily="34" charset="-122"/>
                <a:cs typeface="Calibri" pitchFamily="34" charset="-120"/>
              </a:rPr>
              <a:t>Crítico. No hay arreglo si falla.</a:t>
            </a:r>
            <a:endParaRPr lang="en-US" sz="1000" dirty="0"/>
          </a:p>
        </p:txBody>
      </p:sp>
      <p:sp>
        <p:nvSpPr>
          <p:cNvPr id="32" name="Text 30"/>
          <p:cNvSpPr/>
          <p:nvPr/>
        </p:nvSpPr>
        <p:spPr>
          <a:xfrm>
            <a:off x="6419088" y="5413248"/>
            <a:ext cx="2377440" cy="329184"/>
          </a:xfrm>
          <a:prstGeom prst="rect">
            <a:avLst/>
          </a:prstGeom>
          <a:noFill/>
          <a:ln/>
        </p:spPr>
        <p:txBody>
          <a:bodyPr wrap="square" lIns="0" tIns="0" rIns="0" bIns="0" rtlCol="0" anchor="ctr"/>
          <a:lstStyle/>
          <a:p>
            <a:pPr marL="0" indent="0">
              <a:buNone/>
            </a:pPr>
            <a:r>
              <a:rPr lang="en-US" sz="1050" b="1" dirty="0">
                <a:solidFill>
                  <a:srgbClr val="C9D6F2"/>
                </a:solidFill>
                <a:latin typeface="Calibri" pitchFamily="34" charset="0"/>
                <a:ea typeface="Calibri" pitchFamily="34" charset="-122"/>
                <a:cs typeface="Calibri" pitchFamily="34" charset="-120"/>
              </a:rPr>
              <a:t>Normalidad de los residuos</a:t>
            </a:r>
            <a:endParaRPr lang="en-US" sz="1050" dirty="0"/>
          </a:p>
        </p:txBody>
      </p:sp>
      <p:sp>
        <p:nvSpPr>
          <p:cNvPr id="33" name="Text 31"/>
          <p:cNvSpPr/>
          <p:nvPr/>
        </p:nvSpPr>
        <p:spPr>
          <a:xfrm>
            <a:off x="8869680" y="5413248"/>
            <a:ext cx="2560320" cy="329184"/>
          </a:xfrm>
          <a:prstGeom prst="rect">
            <a:avLst/>
          </a:prstGeom>
          <a:noFill/>
          <a:ln/>
        </p:spPr>
        <p:txBody>
          <a:bodyPr wrap="square" lIns="0" tIns="0" rIns="0" bIns="0" rtlCol="0" anchor="ctr"/>
          <a:lstStyle/>
          <a:p>
            <a:pPr marL="0" indent="0" algn="l">
              <a:lnSpc>
                <a:spcPct val="100000"/>
              </a:lnSpc>
              <a:buNone/>
            </a:pPr>
            <a:r>
              <a:rPr lang="en-US" sz="1000" dirty="0">
                <a:solidFill>
                  <a:srgbClr val="8FA6D4"/>
                </a:solidFill>
                <a:latin typeface="Calibri" pitchFamily="34" charset="0"/>
                <a:ea typeface="Calibri" pitchFamily="34" charset="-122"/>
                <a:cs typeface="Calibri" pitchFamily="34" charset="-120"/>
              </a:rPr>
              <a:t>Robusto con n grande, por el TLC de la Clase 3.</a:t>
            </a:r>
            <a:endParaRPr lang="en-US" sz="1000" dirty="0"/>
          </a:p>
        </p:txBody>
      </p:sp>
      <p:sp>
        <p:nvSpPr>
          <p:cNvPr id="34" name="Text 32"/>
          <p:cNvSpPr/>
          <p:nvPr/>
        </p:nvSpPr>
        <p:spPr>
          <a:xfrm>
            <a:off x="6419088" y="5797296"/>
            <a:ext cx="2377440" cy="329184"/>
          </a:xfrm>
          <a:prstGeom prst="rect">
            <a:avLst/>
          </a:prstGeom>
          <a:noFill/>
          <a:ln/>
        </p:spPr>
        <p:txBody>
          <a:bodyPr wrap="square" lIns="0" tIns="0" rIns="0" bIns="0" rtlCol="0" anchor="ctr"/>
          <a:lstStyle/>
          <a:p>
            <a:pPr marL="0" indent="0">
              <a:buNone/>
            </a:pPr>
            <a:r>
              <a:rPr lang="en-US" sz="1050" b="1" dirty="0">
                <a:solidFill>
                  <a:srgbClr val="E6115E"/>
                </a:solidFill>
                <a:latin typeface="Calibri" pitchFamily="34" charset="0"/>
                <a:ea typeface="Calibri" pitchFamily="34" charset="-122"/>
                <a:cs typeface="Calibri" pitchFamily="34" charset="-120"/>
              </a:rPr>
              <a:t>Igualdad de varianzas</a:t>
            </a:r>
            <a:endParaRPr lang="en-US" sz="1050" dirty="0"/>
          </a:p>
        </p:txBody>
      </p:sp>
      <p:sp>
        <p:nvSpPr>
          <p:cNvPr id="35" name="Text 33"/>
          <p:cNvSpPr/>
          <p:nvPr/>
        </p:nvSpPr>
        <p:spPr>
          <a:xfrm>
            <a:off x="8869680" y="5797296"/>
            <a:ext cx="2560320" cy="329184"/>
          </a:xfrm>
          <a:prstGeom prst="rect">
            <a:avLst/>
          </a:prstGeom>
          <a:noFill/>
          <a:ln/>
        </p:spPr>
        <p:txBody>
          <a:bodyPr wrap="square" lIns="0" tIns="0" rIns="0" bIns="0" rtlCol="0" anchor="ctr"/>
          <a:lstStyle/>
          <a:p>
            <a:pPr marL="0" indent="0" algn="l">
              <a:lnSpc>
                <a:spcPct val="100000"/>
              </a:lnSpc>
              <a:buNone/>
            </a:pPr>
            <a:r>
              <a:rPr lang="en-US" sz="1000" dirty="0">
                <a:solidFill>
                  <a:srgbClr val="8FA6D4"/>
                </a:solidFill>
                <a:latin typeface="Calibri" pitchFamily="34" charset="0"/>
                <a:ea typeface="Calibri" pitchFamily="34" charset="-122"/>
                <a:cs typeface="Calibri" pitchFamily="34" charset="-120"/>
              </a:rPr>
              <a:t>FRÁGIL. Y es el que falla en nuestros datos.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1089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31089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ANOVA EN LA PRÁCTICA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El ANOVA clásico tiene el mismo problema que Student</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Y la solución también es la misma: una versión que no asume varianzas iguales.</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1536192"/>
        </p:xfrm>
        <a:graphic>
          <a:graphicData uri="http://schemas.openxmlformats.org/drawingml/2006/table">
            <a:tbl>
              <a:tblPr/>
              <a:tblGrid>
                <a:gridCol w="30175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3685032">
                  <a:extLst>
                    <a:ext uri="{9D8B030D-6E8A-4147-A177-3AD203B41FA5}">
                      <a16:colId xmlns:a16="http://schemas.microsoft.com/office/drawing/2014/main" val="20004"/>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Prueba global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p-valor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¿Asume varianzas iguales?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ANOVA clásico (f_oneway)</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9.149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2, 127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0.000194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Sí — y aquí no se cumplen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12B886"/>
                          </a:solidFill>
                          <a:latin typeface="Calibri" pitchFamily="34" charset="0"/>
                          <a:ea typeface="Calibri" pitchFamily="34" charset="-122"/>
                          <a:cs typeface="Calibri" pitchFamily="34" charset="-120"/>
                        </a:rPr>
                        <a:t>ANOVA de Welch</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2B886"/>
                          </a:solidFill>
                          <a:latin typeface="Calibri" pitchFamily="34" charset="0"/>
                          <a:ea typeface="Calibri" pitchFamily="34" charset="-122"/>
                          <a:cs typeface="Calibri" pitchFamily="34" charset="-120"/>
                        </a:rPr>
                        <a:t>3.828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2B886"/>
                          </a:solidFill>
                          <a:latin typeface="Calibri" pitchFamily="34" charset="0"/>
                          <a:ea typeface="Calibri" pitchFamily="34" charset="-122"/>
                          <a:cs typeface="Calibri" pitchFamily="34" charset="-120"/>
                        </a:rPr>
                        <a:t>2, 52.3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0.028098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Kruskal-Wallis (no paramétrica)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H = 8.013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0.018199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No, ni normalidad</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bl>
          </a:graphicData>
        </a:graphic>
      </p:graphicFrame>
      <p:graphicFrame>
        <p:nvGraphicFramePr>
          <p:cNvPr id="7" name="Chart 0"/>
          <p:cNvGraphicFramePr/>
          <p:nvPr/>
        </p:nvGraphicFramePr>
        <p:xfrm>
          <a:off x="548640" y="3913632"/>
          <a:ext cx="6583680" cy="20574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4"/>
          <p:cNvSpPr/>
          <p:nvPr/>
        </p:nvSpPr>
        <p:spPr>
          <a:xfrm>
            <a:off x="548640" y="3675888"/>
            <a:ext cx="6583680" cy="219456"/>
          </a:xfrm>
          <a:prstGeom prst="rect">
            <a:avLst/>
          </a:prstGeom>
          <a:noFill/>
          <a:ln/>
        </p:spPr>
        <p:txBody>
          <a:bodyPr wrap="square" lIns="0" tIns="0" rIns="0" bIns="0" rtlCol="0" anchor="t"/>
          <a:lstStyle/>
          <a:p>
            <a:pPr marL="0" indent="0" algn="ctr">
              <a:lnSpc>
                <a:spcPct val="108000"/>
              </a:lnSpc>
              <a:buNone/>
            </a:pPr>
            <a:r>
              <a:rPr lang="en-US" sz="1000" i="1" dirty="0">
                <a:solidFill>
                  <a:srgbClr val="5B6B87"/>
                </a:solidFill>
                <a:latin typeface="Calibri" pitchFamily="34" charset="0"/>
                <a:ea typeface="Calibri" pitchFamily="34" charset="-122"/>
                <a:cs typeface="Calibri" pitchFamily="34" charset="-120"/>
              </a:rPr>
              <a:t>Tasa real de error tipo I cuando H₀ es verdadera (α nominal = 5 %)</a:t>
            </a:r>
            <a:endParaRPr lang="en-US" sz="1000" dirty="0"/>
          </a:p>
        </p:txBody>
      </p:sp>
      <p:sp>
        <p:nvSpPr>
          <p:cNvPr id="9" name="Shape 5"/>
          <p:cNvSpPr/>
          <p:nvPr/>
        </p:nvSpPr>
        <p:spPr>
          <a:xfrm>
            <a:off x="7315200" y="3703320"/>
            <a:ext cx="4325112" cy="1051560"/>
          </a:xfrm>
          <a:prstGeom prst="roundRect">
            <a:avLst>
              <a:gd name="adj" fmla="val 5217"/>
            </a:avLst>
          </a:prstGeom>
          <a:solidFill>
            <a:srgbClr val="0A2559"/>
          </a:solidFill>
          <a:ln w="12700">
            <a:solidFill>
              <a:srgbClr val="0A2559"/>
            </a:solidFill>
            <a:prstDash val="solid"/>
          </a:ln>
        </p:spPr>
      </p:sp>
      <p:sp>
        <p:nvSpPr>
          <p:cNvPr id="10" name="Shape 6"/>
          <p:cNvSpPr/>
          <p:nvPr/>
        </p:nvSpPr>
        <p:spPr>
          <a:xfrm>
            <a:off x="7562088" y="3941064"/>
            <a:ext cx="118872" cy="118872"/>
          </a:xfrm>
          <a:prstGeom prst="roundRect">
            <a:avLst>
              <a:gd name="adj" fmla="val 30769"/>
            </a:avLst>
          </a:prstGeom>
          <a:solidFill>
            <a:srgbClr val="E6115E"/>
          </a:solidFill>
          <a:ln w="12700">
            <a:solidFill>
              <a:srgbClr val="E6115E"/>
            </a:solidFill>
            <a:prstDash val="solid"/>
          </a:ln>
        </p:spPr>
      </p:sp>
      <p:sp>
        <p:nvSpPr>
          <p:cNvPr id="11" name="Text 7"/>
          <p:cNvSpPr/>
          <p:nvPr/>
        </p:nvSpPr>
        <p:spPr>
          <a:xfrm>
            <a:off x="7799832" y="3840480"/>
            <a:ext cx="360273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diagnóstico previo</a:t>
            </a:r>
            <a:endParaRPr lang="en-US" sz="1400" dirty="0"/>
          </a:p>
        </p:txBody>
      </p:sp>
      <p:sp>
        <p:nvSpPr>
          <p:cNvPr id="12" name="Text 8"/>
          <p:cNvSpPr/>
          <p:nvPr/>
        </p:nvSpPr>
        <p:spPr>
          <a:xfrm>
            <a:off x="7562088" y="4169664"/>
            <a:ext cx="3840480" cy="530352"/>
          </a:xfrm>
          <a:prstGeom prst="rect">
            <a:avLst/>
          </a:prstGeom>
          <a:noFill/>
          <a:ln/>
        </p:spPr>
        <p:txBody>
          <a:bodyPr wrap="square" lIns="0" tIns="0" rIns="0" bIns="0" rtlCol="0" anchor="t"/>
          <a:lstStyle/>
          <a:p>
            <a:pPr marL="0" indent="0" algn="l">
              <a:lnSpc>
                <a:spcPct val="104000"/>
              </a:lnSpc>
              <a:buNone/>
            </a:pPr>
            <a:r>
              <a:rPr lang="en-US" sz="1100" dirty="0">
                <a:solidFill>
                  <a:srgbClr val="C9D6F2"/>
                </a:solidFill>
                <a:latin typeface="Calibri" pitchFamily="34" charset="0"/>
                <a:ea typeface="Calibri" pitchFamily="34" charset="-122"/>
                <a:cs typeface="Calibri" pitchFamily="34" charset="-120"/>
              </a:rPr>
              <a:t>Levene sobre los tres canales: p &lt; 0.001. Las varianzas son claramente distintas, así que el ANOVA clásico no es de fiar aquí.</a:t>
            </a:r>
            <a:endParaRPr lang="en-US" sz="1100" dirty="0"/>
          </a:p>
        </p:txBody>
      </p:sp>
      <p:sp>
        <p:nvSpPr>
          <p:cNvPr id="13" name="Shape 9"/>
          <p:cNvSpPr/>
          <p:nvPr/>
        </p:nvSpPr>
        <p:spPr>
          <a:xfrm>
            <a:off x="7315200" y="4864608"/>
            <a:ext cx="4325112" cy="1097280"/>
          </a:xfrm>
          <a:prstGeom prst="roundRect">
            <a:avLst>
              <a:gd name="adj" fmla="val 5000"/>
            </a:avLst>
          </a:prstGeom>
          <a:solidFill>
            <a:srgbClr val="FFFFFF"/>
          </a:solidFill>
          <a:ln w="12700">
            <a:solidFill>
              <a:srgbClr val="D2DBEC"/>
            </a:solidFill>
            <a:prstDash val="solid"/>
          </a:ln>
        </p:spPr>
      </p:sp>
      <p:sp>
        <p:nvSpPr>
          <p:cNvPr id="6" name="Shape 10"/>
          <p:cNvSpPr/>
          <p:nvPr/>
        </p:nvSpPr>
        <p:spPr>
          <a:xfrm>
            <a:off x="7562088" y="5102352"/>
            <a:ext cx="118872" cy="118872"/>
          </a:xfrm>
          <a:prstGeom prst="roundRect">
            <a:avLst>
              <a:gd name="adj" fmla="val 30769"/>
            </a:avLst>
          </a:prstGeom>
          <a:solidFill>
            <a:srgbClr val="E6115E"/>
          </a:solidFill>
          <a:ln w="12700">
            <a:solidFill>
              <a:srgbClr val="E6115E"/>
            </a:solidFill>
            <a:prstDash val="solid"/>
          </a:ln>
        </p:spPr>
      </p:sp>
      <p:sp>
        <p:nvSpPr>
          <p:cNvPr id="15" name="Text 11"/>
          <p:cNvSpPr/>
          <p:nvPr/>
        </p:nvSpPr>
        <p:spPr>
          <a:xfrm>
            <a:off x="7799832" y="5001768"/>
            <a:ext cx="360273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usar entonces</a:t>
            </a:r>
            <a:endParaRPr lang="en-US" sz="1400" dirty="0"/>
          </a:p>
        </p:txBody>
      </p:sp>
      <p:sp>
        <p:nvSpPr>
          <p:cNvPr id="16" name="Text 12"/>
          <p:cNvSpPr/>
          <p:nvPr/>
        </p:nvSpPr>
        <p:spPr>
          <a:xfrm>
            <a:off x="7562088" y="5340096"/>
            <a:ext cx="3840480" cy="530352"/>
          </a:xfrm>
          <a:prstGeom prst="rect">
            <a:avLst/>
          </a:prstGeom>
          <a:noFill/>
          <a:ln/>
        </p:spPr>
        <p:txBody>
          <a:bodyPr wrap="square" lIns="0" tIns="0" rIns="0" bIns="0" rtlCol="0" anchor="t"/>
          <a:lstStyle/>
          <a:p>
            <a:pPr marL="0" indent="0" algn="l">
              <a:lnSpc>
                <a:spcPct val="104000"/>
              </a:lnSpc>
              <a:buNone/>
            </a:pPr>
            <a:r>
              <a:rPr lang="en-US" sz="1100" dirty="0">
                <a:solidFill>
                  <a:srgbClr val="2C3A55"/>
                </a:solidFill>
                <a:latin typeface="Calibri" pitchFamily="34" charset="0"/>
                <a:ea typeface="Calibri" pitchFamily="34" charset="-122"/>
                <a:cs typeface="Calibri" pitchFamily="34" charset="-120"/>
              </a:rPr>
              <a:t>ANOVA de Welch por defecto. Está en pingouin (welch_anova) y se implementa en veinte líneas, como harás en el bloque 3.</a:t>
            </a:r>
            <a:endParaRPr lang="en-US" sz="1100" dirty="0"/>
          </a:p>
        </p:txBody>
      </p:sp>
      <p:sp>
        <p:nvSpPr>
          <p:cNvPr id="17" name="Text 13"/>
          <p:cNvSpPr/>
          <p:nvPr/>
        </p:nvSpPr>
        <p:spPr>
          <a:xfrm>
            <a:off x="548640" y="6144768"/>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8 000 simulaciones por escenario. El ANOVA de Welch se implementó con la corrección de Welch (1951) y se verificó contra pingouin.welch_anova.</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01168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01168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POST-HOC</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Dos análisis defendibles, conclusiones opuestas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Aquí es donde la estadística deja de ser mecánica y empieza a requerir criterio. Mira la tabla despacio.</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1740408"/>
        </p:xfrm>
        <a:graphic>
          <a:graphicData uri="http://schemas.openxmlformats.org/drawingml/2006/table">
            <a:tbl>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gridCol w="2267712">
                  <a:extLst>
                    <a:ext uri="{9D8B030D-6E8A-4147-A177-3AD203B41FA5}">
                      <a16:colId xmlns:a16="http://schemas.microsoft.com/office/drawing/2014/main" val="20005"/>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Comparación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Dif. (días)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Tukey HSD</a:t>
                      </a:r>
                      <a:endParaRPr lang="en-US" sz="1150" dirty="0">
                        <a:latin typeface="Calibri" charset="0"/>
                        <a:ea typeface="Calibri" charset="0"/>
                        <a:cs typeface="Calibri" charset="0"/>
                      </a:endParaRPr>
                    </a:p>
                    <a:p>
                      <a:pPr marL="0" indent="0">
                        <a:buNone/>
                      </a:pPr>
                      <a:r>
                        <a:rPr lang="en-US" sz="1150" b="1" dirty="0">
                          <a:solidFill>
                            <a:srgbClr val="FFFFFF"/>
                          </a:solidFill>
                          <a:latin typeface="Calibri" pitchFamily="34" charset="0"/>
                          <a:ea typeface="Calibri" pitchFamily="34" charset="-122"/>
                          <a:cs typeface="Calibri" pitchFamily="34" charset="-120"/>
                        </a:rPr>
                        <a:t>p ajustado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Welch + Holm</a:t>
                      </a:r>
                      <a:endParaRPr lang="en-US" sz="1150" dirty="0">
                        <a:latin typeface="Calibri" charset="0"/>
                        <a:ea typeface="Calibri" charset="0"/>
                        <a:cs typeface="Calibri" charset="0"/>
                      </a:endParaRPr>
                    </a:p>
                    <a:p>
                      <a:pPr marL="0" indent="0">
                        <a:buNone/>
                      </a:pPr>
                      <a:r>
                        <a:rPr lang="en-US" sz="1150" b="1" dirty="0">
                          <a:solidFill>
                            <a:srgbClr val="FFFFFF"/>
                          </a:solidFill>
                          <a:latin typeface="Calibri" pitchFamily="34" charset="0"/>
                          <a:ea typeface="Calibri" pitchFamily="34" charset="-122"/>
                          <a:cs typeface="Calibri" pitchFamily="34" charset="-120"/>
                        </a:rPr>
                        <a:t>p ajustado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¿Contradicción?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vs web</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0.69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0.29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0.6644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0.1440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app vs agencia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0.87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0.0001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0.0544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web vs agencia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3.41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0.67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0.0031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5B6B87"/>
                          </a:solidFill>
                          <a:latin typeface="Calibri" pitchFamily="34" charset="0"/>
                          <a:ea typeface="Calibri" pitchFamily="34" charset="-122"/>
                          <a:cs typeface="Calibri" pitchFamily="34" charset="-120"/>
                        </a:rPr>
                        <a:t>0.0944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bl>
          </a:graphicData>
        </a:graphic>
      </p:graphicFrame>
      <p:sp>
        <p:nvSpPr>
          <p:cNvPr id="7" name="Shape 4"/>
          <p:cNvSpPr/>
          <p:nvPr/>
        </p:nvSpPr>
        <p:spPr>
          <a:xfrm>
            <a:off x="548640" y="3767328"/>
            <a:ext cx="5468112" cy="1325880"/>
          </a:xfrm>
          <a:prstGeom prst="roundRect">
            <a:avLst>
              <a:gd name="adj" fmla="val 4138"/>
            </a:avLst>
          </a:prstGeom>
          <a:solidFill>
            <a:srgbClr val="E9EEF8"/>
          </a:solidFill>
          <a:ln w="12700">
            <a:solidFill>
              <a:srgbClr val="D2DBEC"/>
            </a:solidFill>
            <a:prstDash val="solid"/>
          </a:ln>
        </p:spPr>
      </p:sp>
      <p:sp>
        <p:nvSpPr>
          <p:cNvPr id="8" name="Shape 5"/>
          <p:cNvSpPr/>
          <p:nvPr/>
        </p:nvSpPr>
        <p:spPr>
          <a:xfrm>
            <a:off x="804672" y="3995928"/>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3895344"/>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Lo que dice Tukey</a:t>
            </a:r>
            <a:endParaRPr lang="en-US" sz="1400" dirty="0"/>
          </a:p>
        </p:txBody>
      </p:sp>
      <p:sp>
        <p:nvSpPr>
          <p:cNvPr id="10" name="Text 7"/>
          <p:cNvSpPr/>
          <p:nvPr/>
        </p:nvSpPr>
        <p:spPr>
          <a:xfrm>
            <a:off x="804672" y="4224528"/>
            <a:ext cx="4983480" cy="777240"/>
          </a:xfrm>
          <a:prstGeom prst="rect">
            <a:avLst/>
          </a:prstGeom>
          <a:noFill/>
          <a:ln/>
        </p:spPr>
        <p:txBody>
          <a:bodyPr wrap="square" lIns="0" tIns="0" rIns="0" bIns="0" rtlCol="0" anchor="t"/>
          <a:lstStyle/>
          <a:p>
            <a:pPr marL="0" indent="0" algn="l">
              <a:lnSpc>
                <a:spcPct val="106000"/>
              </a:lnSpc>
              <a:buNone/>
            </a:pPr>
            <a:r>
              <a:rPr lang="en-US" sz="1050" dirty="0">
                <a:solidFill>
                  <a:srgbClr val="2C3A55"/>
                </a:solidFill>
                <a:latin typeface="Calibri" pitchFamily="34" charset="0"/>
                <a:ea typeface="Calibri" pitchFamily="34" charset="-122"/>
                <a:cs typeface="Calibri" pitchFamily="34" charset="-120"/>
              </a:rPr>
              <a:t>Dos de las tres comparaciones son significativas: agencia difiere de app y de web. La conclusión sería «el canal agencia es más lento, claramente».</a:t>
            </a:r>
            <a:endParaRPr lang="en-US" sz="1050" dirty="0"/>
          </a:p>
          <a:p>
            <a:pPr marL="0" indent="0" algn="l">
              <a:lnSpc>
                <a:spcPct val="106000"/>
              </a:lnSpc>
              <a:buNone/>
            </a:pPr>
            <a:endParaRPr lang="en-US" sz="1050" dirty="0"/>
          </a:p>
          <a:p>
            <a:pPr marL="0" indent="0" algn="l">
              <a:lnSpc>
                <a:spcPct val="106000"/>
              </a:lnSpc>
              <a:buNone/>
            </a:pPr>
            <a:r>
              <a:rPr lang="en-US" sz="1050" dirty="0">
                <a:solidFill>
                  <a:srgbClr val="2C3A55"/>
                </a:solidFill>
                <a:latin typeface="Calibri" pitchFamily="34" charset="0"/>
                <a:ea typeface="Calibri" pitchFamily="34" charset="-122"/>
                <a:cs typeface="Calibri" pitchFamily="34" charset="-120"/>
              </a:rPr>
              <a:t>Pero Tukey asume varianzas iguales — el mismo supuesto que Levene rechazó.</a:t>
            </a:r>
            <a:endParaRPr lang="en-US" sz="1050" dirty="0"/>
          </a:p>
        </p:txBody>
      </p:sp>
      <p:sp>
        <p:nvSpPr>
          <p:cNvPr id="11" name="Shape 8"/>
          <p:cNvSpPr/>
          <p:nvPr/>
        </p:nvSpPr>
        <p:spPr>
          <a:xfrm>
            <a:off x="6172200" y="3767328"/>
            <a:ext cx="5468112" cy="1325880"/>
          </a:xfrm>
          <a:prstGeom prst="roundRect">
            <a:avLst>
              <a:gd name="adj" fmla="val 4138"/>
            </a:avLst>
          </a:prstGeom>
          <a:solidFill>
            <a:srgbClr val="0A2559"/>
          </a:solidFill>
          <a:ln w="12700">
            <a:solidFill>
              <a:srgbClr val="0A2559"/>
            </a:solidFill>
            <a:prstDash val="solid"/>
          </a:ln>
        </p:spPr>
      </p:sp>
      <p:sp>
        <p:nvSpPr>
          <p:cNvPr id="12" name="Shape 9"/>
          <p:cNvSpPr/>
          <p:nvPr/>
        </p:nvSpPr>
        <p:spPr>
          <a:xfrm>
            <a:off x="6419088" y="3995928"/>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6656832" y="3895344"/>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 que dice Welch + Holm</a:t>
            </a:r>
            <a:endParaRPr lang="en-US" sz="1400" dirty="0"/>
          </a:p>
        </p:txBody>
      </p:sp>
      <p:sp>
        <p:nvSpPr>
          <p:cNvPr id="14" name="Text 11"/>
          <p:cNvSpPr/>
          <p:nvPr/>
        </p:nvSpPr>
        <p:spPr>
          <a:xfrm>
            <a:off x="6419088" y="4224528"/>
            <a:ext cx="4983480" cy="777240"/>
          </a:xfrm>
          <a:prstGeom prst="rect">
            <a:avLst/>
          </a:prstGeom>
          <a:noFill/>
          <a:ln/>
        </p:spPr>
        <p:txBody>
          <a:bodyPr wrap="square" lIns="0" tIns="0" rIns="0" bIns="0" rtlCol="0" anchor="t"/>
          <a:lstStyle/>
          <a:p>
            <a:pPr marL="0" indent="0" algn="l">
              <a:lnSpc>
                <a:spcPct val="106000"/>
              </a:lnSpc>
              <a:buNone/>
            </a:pPr>
            <a:r>
              <a:rPr lang="en-US" sz="1050" dirty="0">
                <a:solidFill>
                  <a:srgbClr val="C9D6F2"/>
                </a:solidFill>
                <a:latin typeface="Calibri" pitchFamily="34" charset="0"/>
                <a:ea typeface="Calibri" pitchFamily="34" charset="-122"/>
                <a:cs typeface="Calibri" pitchFamily="34" charset="-120"/>
              </a:rPr>
              <a:t>Ninguna comparación sobrevive la corrección. La más fuerte queda en p = 0.054, a un pelo del umbral.</a:t>
            </a:r>
            <a:endParaRPr lang="en-US" sz="1050" dirty="0"/>
          </a:p>
          <a:p>
            <a:pPr marL="0" indent="0" algn="l">
              <a:lnSpc>
                <a:spcPct val="106000"/>
              </a:lnSpc>
              <a:buNone/>
            </a:pPr>
            <a:endParaRPr lang="en-US" sz="1050" dirty="0"/>
          </a:p>
          <a:p>
            <a:pPr marL="0" indent="0" algn="l">
              <a:lnSpc>
                <a:spcPct val="106000"/>
              </a:lnSpc>
              <a:buNone/>
            </a:pPr>
            <a:r>
              <a:rPr lang="en-US" sz="1050" dirty="0">
                <a:solidFill>
                  <a:srgbClr val="C9D6F2"/>
                </a:solidFill>
                <a:latin typeface="Calibri" pitchFamily="34" charset="0"/>
                <a:ea typeface="Calibri" pitchFamily="34" charset="-122"/>
                <a:cs typeface="Calibri" pitchFamily="34" charset="-120"/>
              </a:rPr>
              <a:t>La conclusión sería «hay señal de que agencia es más lenta, pero con esta muestra no alcanza para afirmarlo».</a:t>
            </a:r>
            <a:endParaRPr lang="en-US" sz="1050" dirty="0"/>
          </a:p>
        </p:txBody>
      </p:sp>
      <p:sp>
        <p:nvSpPr>
          <p:cNvPr id="6" name="Shape 12"/>
          <p:cNvSpPr/>
          <p:nvPr/>
        </p:nvSpPr>
        <p:spPr>
          <a:xfrm>
            <a:off x="548640" y="5193792"/>
            <a:ext cx="11091672" cy="1371600"/>
          </a:xfrm>
          <a:prstGeom prst="roundRect">
            <a:avLst>
              <a:gd name="adj" fmla="val 4000"/>
            </a:avLst>
          </a:prstGeom>
          <a:solidFill>
            <a:srgbClr val="FFFFFF"/>
          </a:solidFill>
          <a:ln w="12700">
            <a:solidFill>
              <a:srgbClr val="D2DBEC"/>
            </a:solidFill>
            <a:prstDash val="solid"/>
          </a:ln>
        </p:spPr>
      </p:sp>
      <p:sp>
        <p:nvSpPr>
          <p:cNvPr id="16" name="Shape 13"/>
          <p:cNvSpPr/>
          <p:nvPr/>
        </p:nvSpPr>
        <p:spPr>
          <a:xfrm>
            <a:off x="804672" y="5431536"/>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1042416" y="5330952"/>
            <a:ext cx="707745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Cómo se resuelve esto de verdad</a:t>
            </a:r>
            <a:endParaRPr lang="en-US" sz="1500" dirty="0"/>
          </a:p>
        </p:txBody>
      </p:sp>
      <p:sp>
        <p:nvSpPr>
          <p:cNvPr id="18" name="Text 15"/>
          <p:cNvSpPr/>
          <p:nvPr/>
        </p:nvSpPr>
        <p:spPr>
          <a:xfrm>
            <a:off x="804672" y="5632704"/>
            <a:ext cx="10607040" cy="877824"/>
          </a:xfrm>
          <a:prstGeom prst="rect">
            <a:avLst/>
          </a:prstGeom>
          <a:noFill/>
          <a:ln/>
        </p:spPr>
        <p:txBody>
          <a:bodyPr wrap="square" lIns="0" tIns="0" rIns="0" bIns="0" rtlCol="0" anchor="t"/>
          <a:lstStyle/>
          <a:p>
            <a:pPr marL="0" indent="0" algn="l">
              <a:lnSpc>
                <a:spcPct val="112000"/>
              </a:lnSpc>
              <a:buNone/>
            </a:pPr>
            <a:r>
              <a:rPr lang="en-US" sz="1050" dirty="0">
                <a:solidFill>
                  <a:srgbClr val="2C3A55"/>
                </a:solidFill>
                <a:latin typeface="Calibri" pitchFamily="34" charset="0"/>
                <a:ea typeface="Calibri" pitchFamily="34" charset="-122"/>
                <a:cs typeface="Calibri" pitchFamily="34" charset="-120"/>
              </a:rPr>
              <a:t>No eligiendo el resultado que más gusta. Se resuelve así:</a:t>
            </a:r>
            <a:endParaRPr lang="en-US" sz="1050" dirty="0"/>
          </a:p>
          <a:p>
            <a:pPr marL="0" indent="0" algn="l">
              <a:lnSpc>
                <a:spcPct val="112000"/>
              </a:lnSpc>
              <a:buNone/>
            </a:pPr>
            <a:r>
              <a:rPr lang="en-US" sz="1050" dirty="0">
                <a:solidFill>
                  <a:srgbClr val="2C3A55"/>
                </a:solidFill>
                <a:latin typeface="Calibri" pitchFamily="34" charset="0"/>
                <a:ea typeface="Calibri" pitchFamily="34" charset="-122"/>
                <a:cs typeface="Calibri" pitchFamily="34" charset="-120"/>
              </a:rPr>
              <a:t>1 · Los supuestos deciden el método, no al revés. Levene rechaza igualdad de varianzas, así que Welch + Holm es la vía defendible y Tukey no lo es aquí.</a:t>
            </a:r>
            <a:endParaRPr lang="en-US" sz="1050" dirty="0"/>
          </a:p>
          <a:p>
            <a:pPr marL="0" indent="0" algn="l">
              <a:lnSpc>
                <a:spcPct val="112000"/>
              </a:lnSpc>
              <a:buNone/>
            </a:pPr>
            <a:r>
              <a:rPr lang="en-US" sz="1050" dirty="0">
                <a:solidFill>
                  <a:srgbClr val="2C3A55"/>
                </a:solidFill>
                <a:latin typeface="Calibri" pitchFamily="34" charset="0"/>
                <a:ea typeface="Calibri" pitchFamily="34" charset="-122"/>
                <a:cs typeface="Calibri" pitchFamily="34" charset="-120"/>
              </a:rPr>
              <a:t>2 · El efecto no desaparece porque el p-valor no cruce: agencia tarda 4.1 días más con d = 0.87, que es un efecto grande y operativamente relevante.</a:t>
            </a:r>
            <a:endParaRPr lang="en-US" sz="1050" dirty="0"/>
          </a:p>
          <a:p>
            <a:pPr marL="0" indent="0" algn="l">
              <a:lnSpc>
                <a:spcPct val="112000"/>
              </a:lnSpc>
              <a:buNone/>
            </a:pPr>
            <a:r>
              <a:rPr lang="en-US" sz="1050" dirty="0">
                <a:solidFill>
                  <a:srgbClr val="2C3A55"/>
                </a:solidFill>
                <a:latin typeface="Calibri" pitchFamily="34" charset="0"/>
                <a:ea typeface="Calibri" pitchFamily="34" charset="-122"/>
                <a:cs typeface="Calibri" pitchFamily="34" charset="-120"/>
              </a:rPr>
              <a:t>3 · La conclusión honesta es «señal fuerte, evidencia insuficiente», y la acción correcta es conseguir más datos de agencia — que tiene solo 25 casos.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EL EFECTO EN k GRUPOS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Cuánta de la variación total explica el canal</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F te dice si la señal destaca del ruido. El η² te dice qué fracción del total es señal.</a:t>
            </a:r>
            <a:endParaRPr lang="en-US" sz="1400" dirty="0"/>
          </a:p>
        </p:txBody>
      </p:sp>
      <p:sp>
        <p:nvSpPr>
          <p:cNvPr id="6" name="Text 4"/>
          <p:cNvSpPr/>
          <p:nvPr/>
        </p:nvSpPr>
        <p:spPr>
          <a:xfrm>
            <a:off x="777240" y="2057400"/>
            <a:ext cx="3474720" cy="603504"/>
          </a:xfrm>
          <a:prstGeom prst="rect">
            <a:avLst/>
          </a:prstGeom>
          <a:noFill/>
          <a:ln/>
        </p:spPr>
        <p:txBody>
          <a:bodyPr wrap="square" lIns="0" tIns="0" rIns="0" bIns="0" rtlCol="0" anchor="ctr"/>
          <a:lstStyle/>
          <a:p>
            <a:pPr marL="0" indent="0" algn="l">
              <a:buNone/>
            </a:pPr>
            <a:r>
              <a:rPr lang="en-US" sz="3400" b="1" dirty="0">
                <a:solidFill>
                  <a:srgbClr val="1A56E8"/>
                </a:solidFill>
                <a:latin typeface="Calibri" pitchFamily="34" charset="0"/>
                <a:ea typeface="Calibri" pitchFamily="34" charset="-122"/>
                <a:cs typeface="Calibri" pitchFamily="34" charset="-120"/>
              </a:rPr>
              <a:t>12.6 %</a:t>
            </a:r>
            <a:endParaRPr lang="en-US" sz="3400" dirty="0"/>
          </a:p>
        </p:txBody>
      </p:sp>
      <p:sp>
        <p:nvSpPr>
          <p:cNvPr id="7" name="Text 5"/>
          <p:cNvSpPr/>
          <p:nvPr/>
        </p:nvSpPr>
        <p:spPr>
          <a:xfrm>
            <a:off x="777240" y="2624328"/>
            <a:ext cx="347472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η²  «eta cuadrado»</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de la variación total en los tiempos</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la explica el canal de ingreso</a:t>
            </a:r>
            <a:endParaRPr lang="en-US" sz="1150" dirty="0"/>
          </a:p>
        </p:txBody>
      </p:sp>
      <p:sp>
        <p:nvSpPr>
          <p:cNvPr id="8" name="Text 6"/>
          <p:cNvSpPr/>
          <p:nvPr/>
        </p:nvSpPr>
        <p:spPr>
          <a:xfrm>
            <a:off x="4572000" y="2057400"/>
            <a:ext cx="3474720" cy="603504"/>
          </a:xfrm>
          <a:prstGeom prst="rect">
            <a:avLst/>
          </a:prstGeom>
          <a:noFill/>
          <a:ln/>
        </p:spPr>
        <p:txBody>
          <a:bodyPr wrap="square" lIns="0" tIns="0" rIns="0" bIns="0" rtlCol="0" anchor="ctr"/>
          <a:lstStyle/>
          <a:p>
            <a:pPr marL="0" indent="0" algn="l">
              <a:buNone/>
            </a:pPr>
            <a:r>
              <a:rPr lang="en-US" sz="3400" b="1" dirty="0">
                <a:solidFill>
                  <a:srgbClr val="12B886"/>
                </a:solidFill>
                <a:latin typeface="Calibri" pitchFamily="34" charset="0"/>
                <a:ea typeface="Calibri" pitchFamily="34" charset="-122"/>
                <a:cs typeface="Calibri" pitchFamily="34" charset="-120"/>
              </a:rPr>
              <a:t>11.1 %</a:t>
            </a:r>
            <a:endParaRPr lang="en-US" sz="3400" dirty="0"/>
          </a:p>
        </p:txBody>
      </p:sp>
      <p:sp>
        <p:nvSpPr>
          <p:cNvPr id="9" name="Text 7"/>
          <p:cNvSpPr/>
          <p:nvPr/>
        </p:nvSpPr>
        <p:spPr>
          <a:xfrm>
            <a:off x="4572000" y="2624328"/>
            <a:ext cx="347472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ω²  «omega cuadrado»</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la misma cantidad, corregida</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por el sesgo al alza de η²</a:t>
            </a:r>
            <a:endParaRPr lang="en-US" sz="1150" dirty="0"/>
          </a:p>
        </p:txBody>
      </p:sp>
      <p:sp>
        <p:nvSpPr>
          <p:cNvPr id="10" name="Text 8"/>
          <p:cNvSpPr/>
          <p:nvPr/>
        </p:nvSpPr>
        <p:spPr>
          <a:xfrm>
            <a:off x="8366760" y="2057400"/>
            <a:ext cx="3291840" cy="603504"/>
          </a:xfrm>
          <a:prstGeom prst="rect">
            <a:avLst/>
          </a:prstGeom>
          <a:noFill/>
          <a:ln/>
        </p:spPr>
        <p:txBody>
          <a:bodyPr wrap="square" lIns="0" tIns="0" rIns="0" bIns="0" rtlCol="0" anchor="ctr"/>
          <a:lstStyle/>
          <a:p>
            <a:pPr marL="0" indent="0" algn="l">
              <a:buNone/>
            </a:pPr>
            <a:r>
              <a:rPr lang="en-US" sz="3400" b="1" dirty="0">
                <a:solidFill>
                  <a:srgbClr val="E6115E"/>
                </a:solidFill>
                <a:latin typeface="Calibri" pitchFamily="34" charset="0"/>
                <a:ea typeface="Calibri" pitchFamily="34" charset="-122"/>
                <a:cs typeface="Calibri" pitchFamily="34" charset="-120"/>
              </a:rPr>
              <a:t>87.4 %</a:t>
            </a:r>
            <a:endParaRPr lang="en-US" sz="3400" dirty="0"/>
          </a:p>
        </p:txBody>
      </p:sp>
      <p:sp>
        <p:nvSpPr>
          <p:cNvPr id="11" name="Text 9"/>
          <p:cNvSpPr/>
          <p:nvPr/>
        </p:nvSpPr>
        <p:spPr>
          <a:xfrm>
            <a:off x="8366760" y="2624328"/>
            <a:ext cx="329184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lo que NO explica el canal</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variación entre casos del mismo canal:</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complejidad, analista, día</a:t>
            </a:r>
            <a:endParaRPr lang="en-US" sz="1150" dirty="0"/>
          </a:p>
        </p:txBody>
      </p:sp>
      <p:sp>
        <p:nvSpPr>
          <p:cNvPr id="12" name="Shape 10"/>
          <p:cNvSpPr/>
          <p:nvPr/>
        </p:nvSpPr>
        <p:spPr>
          <a:xfrm>
            <a:off x="777240" y="3456432"/>
            <a:ext cx="10607040" cy="0"/>
          </a:xfrm>
          <a:prstGeom prst="line">
            <a:avLst/>
          </a:prstGeom>
          <a:noFill/>
          <a:ln w="12700">
            <a:solidFill>
              <a:srgbClr val="D2DBEC"/>
            </a:solidFill>
            <a:prstDash val="solid"/>
          </a:ln>
        </p:spPr>
      </p:sp>
      <p:sp>
        <p:nvSpPr>
          <p:cNvPr id="13" name="Shape 11"/>
          <p:cNvSpPr/>
          <p:nvPr/>
        </p:nvSpPr>
        <p:spPr>
          <a:xfrm>
            <a:off x="548640" y="3657600"/>
            <a:ext cx="5468112" cy="1417320"/>
          </a:xfrm>
          <a:prstGeom prst="roundRect">
            <a:avLst>
              <a:gd name="adj" fmla="val 3871"/>
            </a:avLst>
          </a:prstGeom>
          <a:solidFill>
            <a:srgbClr val="0A2559"/>
          </a:solidFill>
          <a:ln w="12700">
            <a:solidFill>
              <a:srgbClr val="0A2559"/>
            </a:solidFill>
            <a:prstDash val="solid"/>
          </a:ln>
        </p:spPr>
      </p:sp>
      <p:sp>
        <p:nvSpPr>
          <p:cNvPr id="14" name="Shape 12"/>
          <p:cNvSpPr/>
          <p:nvPr/>
        </p:nvSpPr>
        <p:spPr>
          <a:xfrm>
            <a:off x="804672" y="3904488"/>
            <a:ext cx="118872" cy="118872"/>
          </a:xfrm>
          <a:prstGeom prst="roundRect">
            <a:avLst>
              <a:gd name="adj" fmla="val 30769"/>
            </a:avLst>
          </a:prstGeom>
          <a:solidFill>
            <a:srgbClr val="E6115E"/>
          </a:solidFill>
          <a:ln w="12700">
            <a:solidFill>
              <a:srgbClr val="E6115E"/>
            </a:solidFill>
            <a:prstDash val="solid"/>
          </a:ln>
        </p:spPr>
      </p:sp>
      <p:sp>
        <p:nvSpPr>
          <p:cNvPr id="15" name="Text 13"/>
          <p:cNvSpPr/>
          <p:nvPr/>
        </p:nvSpPr>
        <p:spPr>
          <a:xfrm>
            <a:off x="1042416" y="3803904"/>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Cómo se lee el 12.6 %</a:t>
            </a:r>
            <a:endParaRPr lang="en-US" sz="1400" dirty="0"/>
          </a:p>
        </p:txBody>
      </p:sp>
      <p:sp>
        <p:nvSpPr>
          <p:cNvPr id="16" name="Text 14"/>
          <p:cNvSpPr/>
          <p:nvPr/>
        </p:nvSpPr>
        <p:spPr>
          <a:xfrm>
            <a:off x="804672" y="4151376"/>
            <a:ext cx="4983480" cy="841248"/>
          </a:xfrm>
          <a:prstGeom prst="rect">
            <a:avLst/>
          </a:prstGeom>
          <a:noFill/>
          <a:ln/>
        </p:spPr>
        <p:txBody>
          <a:bodyPr wrap="square" lIns="0" tIns="0" rIns="0" bIns="0" rtlCol="0" anchor="t"/>
          <a:lstStyle/>
          <a:p>
            <a:pPr marL="0" indent="0" algn="l">
              <a:lnSpc>
                <a:spcPct val="106000"/>
              </a:lnSpc>
              <a:buNone/>
            </a:pPr>
            <a:r>
              <a:rPr lang="en-US" sz="1100" dirty="0">
                <a:solidFill>
                  <a:srgbClr val="C9D6F2"/>
                </a:solidFill>
                <a:latin typeface="Calibri" pitchFamily="34" charset="0"/>
                <a:ea typeface="Calibri" pitchFamily="34" charset="-122"/>
                <a:cs typeface="Calibri" pitchFamily="34" charset="-120"/>
              </a:rPr>
              <a:t>Saber por qué canal entró un caso te explica alrededor de un octavo de por qué unos tardan más que otros. Es un efecto real y nada despreciable — pero el 87 % de la variación viene de otras cosas que no estás midiendo.</a:t>
            </a:r>
            <a:endParaRPr lang="en-US" sz="1100" dirty="0"/>
          </a:p>
          <a:p>
            <a:pPr marL="0" indent="0" algn="l">
              <a:lnSpc>
                <a:spcPct val="106000"/>
              </a:lnSpc>
              <a:buNone/>
            </a:pPr>
            <a:endParaRPr lang="en-US" sz="1100" dirty="0"/>
          </a:p>
          <a:p>
            <a:pPr marL="0" indent="0" algn="l">
              <a:lnSpc>
                <a:spcPct val="106000"/>
              </a:lnSpc>
              <a:buNone/>
            </a:pPr>
            <a:r>
              <a:rPr lang="en-US" sz="1100" dirty="0">
                <a:solidFill>
                  <a:srgbClr val="C9D6F2"/>
                </a:solidFill>
                <a:latin typeface="Calibri" pitchFamily="34" charset="0"/>
                <a:ea typeface="Calibri" pitchFamily="34" charset="-122"/>
                <a:cs typeface="Calibri" pitchFamily="34" charset="-120"/>
              </a:rPr>
              <a:t>Referencias habituales para η²: 0.01 pequeño, 0.06 mediano, 0.14 grande.</a:t>
            </a:r>
            <a:endParaRPr lang="en-US" sz="1100" dirty="0"/>
          </a:p>
        </p:txBody>
      </p:sp>
      <p:sp>
        <p:nvSpPr>
          <p:cNvPr id="17" name="Shape 15"/>
          <p:cNvSpPr/>
          <p:nvPr/>
        </p:nvSpPr>
        <p:spPr>
          <a:xfrm>
            <a:off x="6172200" y="3657600"/>
            <a:ext cx="5468112" cy="1417320"/>
          </a:xfrm>
          <a:prstGeom prst="roundRect">
            <a:avLst>
              <a:gd name="adj" fmla="val 3871"/>
            </a:avLst>
          </a:prstGeom>
          <a:solidFill>
            <a:srgbClr val="FFFFFF"/>
          </a:solidFill>
          <a:ln w="12700">
            <a:solidFill>
              <a:srgbClr val="D2DBEC"/>
            </a:solidFill>
            <a:prstDash val="solid"/>
          </a:ln>
        </p:spPr>
      </p:sp>
      <p:sp>
        <p:nvSpPr>
          <p:cNvPr id="18" name="Shape 16"/>
          <p:cNvSpPr/>
          <p:nvPr/>
        </p:nvSpPr>
        <p:spPr>
          <a:xfrm>
            <a:off x="6419088" y="3904488"/>
            <a:ext cx="118872" cy="118872"/>
          </a:xfrm>
          <a:prstGeom prst="roundRect">
            <a:avLst>
              <a:gd name="adj" fmla="val 30769"/>
            </a:avLst>
          </a:prstGeom>
          <a:solidFill>
            <a:srgbClr val="E6115E"/>
          </a:solidFill>
          <a:ln w="12700">
            <a:solidFill>
              <a:srgbClr val="E6115E"/>
            </a:solidFill>
            <a:prstDash val="solid"/>
          </a:ln>
        </p:spPr>
      </p:sp>
      <p:sp>
        <p:nvSpPr>
          <p:cNvPr id="19" name="Text 17"/>
          <p:cNvSpPr/>
          <p:nvPr/>
        </p:nvSpPr>
        <p:spPr>
          <a:xfrm>
            <a:off x="6656832" y="3803904"/>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preferir ω² cuando puedas</a:t>
            </a:r>
            <a:endParaRPr lang="en-US" sz="1400" dirty="0"/>
          </a:p>
        </p:txBody>
      </p:sp>
      <p:sp>
        <p:nvSpPr>
          <p:cNvPr id="20" name="Text 18"/>
          <p:cNvSpPr/>
          <p:nvPr/>
        </p:nvSpPr>
        <p:spPr>
          <a:xfrm>
            <a:off x="6419088" y="4151376"/>
            <a:ext cx="4983480" cy="841248"/>
          </a:xfrm>
          <a:prstGeom prst="rect">
            <a:avLst/>
          </a:prstGeom>
          <a:noFill/>
          <a:ln/>
        </p:spPr>
        <p:txBody>
          <a:bodyPr wrap="square" lIns="0" tIns="0" rIns="0" bIns="0" rtlCol="0" anchor="t"/>
          <a:lstStyle/>
          <a:p>
            <a:pPr marL="0" indent="0" algn="l">
              <a:lnSpc>
                <a:spcPct val="106000"/>
              </a:lnSpc>
              <a:buNone/>
            </a:pPr>
            <a:r>
              <a:rPr lang="en-US" sz="1100" dirty="0">
                <a:solidFill>
                  <a:srgbClr val="2C3A55"/>
                </a:solidFill>
                <a:latin typeface="Calibri" pitchFamily="34" charset="0"/>
                <a:ea typeface="Calibri" pitchFamily="34" charset="-122"/>
                <a:cs typeface="Calibri" pitchFamily="34" charset="-120"/>
              </a:rPr>
              <a:t>η² se calcula con la variación observada en tu muestra y por eso sobreestima ligeramente el efecto poblacional, sobre todo con muestras chicas o muchos grupos. ω² aplica una corrección. Aquí bajan de 12.6 % a 11.1 %: poca diferencia, pero reportar ω² es la práctica más honesta.</a:t>
            </a:r>
            <a:endParaRPr lang="en-US" sz="1100" dirty="0"/>
          </a:p>
        </p:txBody>
      </p:sp>
      <p:sp>
        <p:nvSpPr>
          <p:cNvPr id="21" name="Shape 19"/>
          <p:cNvSpPr/>
          <p:nvPr/>
        </p:nvSpPr>
        <p:spPr>
          <a:xfrm>
            <a:off x="548640" y="5212080"/>
            <a:ext cx="11091672" cy="1005840"/>
          </a:xfrm>
          <a:prstGeom prst="roundRect">
            <a:avLst>
              <a:gd name="adj" fmla="val 5455"/>
            </a:avLst>
          </a:prstGeom>
          <a:solidFill>
            <a:srgbClr val="E9EEF8"/>
          </a:solidFill>
          <a:ln w="12700">
            <a:solidFill>
              <a:srgbClr val="D2DBEC"/>
            </a:solidFill>
            <a:prstDash val="solid"/>
          </a:ln>
        </p:spPr>
      </p:sp>
      <p:sp>
        <p:nvSpPr>
          <p:cNvPr id="22" name="Shape 20"/>
          <p:cNvSpPr/>
          <p:nvPr/>
        </p:nvSpPr>
        <p:spPr>
          <a:xfrm>
            <a:off x="804672" y="5449824"/>
            <a:ext cx="118872" cy="118872"/>
          </a:xfrm>
          <a:prstGeom prst="roundRect">
            <a:avLst>
              <a:gd name="adj" fmla="val 30769"/>
            </a:avLst>
          </a:prstGeom>
          <a:solidFill>
            <a:srgbClr val="E6115E"/>
          </a:solidFill>
          <a:ln w="12700">
            <a:solidFill>
              <a:srgbClr val="E6115E"/>
            </a:solidFill>
            <a:prstDash val="solid"/>
          </a:ln>
        </p:spPr>
      </p:sp>
      <p:sp>
        <p:nvSpPr>
          <p:cNvPr id="23" name="Text 21"/>
          <p:cNvSpPr/>
          <p:nvPr/>
        </p:nvSpPr>
        <p:spPr>
          <a:xfrm>
            <a:off x="1042416" y="5349240"/>
            <a:ext cx="7077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pregunta de negocio que esto habilita</a:t>
            </a:r>
            <a:endParaRPr lang="en-US" sz="1400" dirty="0"/>
          </a:p>
        </p:txBody>
      </p:sp>
      <p:sp>
        <p:nvSpPr>
          <p:cNvPr id="24" name="Text 22"/>
          <p:cNvSpPr/>
          <p:nvPr/>
        </p:nvSpPr>
        <p:spPr>
          <a:xfrm>
            <a:off x="804672" y="5669280"/>
            <a:ext cx="10607040" cy="457200"/>
          </a:xfrm>
          <a:prstGeom prst="rect">
            <a:avLst/>
          </a:prstGeom>
          <a:noFill/>
          <a:ln/>
        </p:spPr>
        <p:txBody>
          <a:bodyPr wrap="square" lIns="0" tIns="0" rIns="0" bIns="0" rtlCol="0" anchor="t"/>
          <a:lstStyle/>
          <a:p>
            <a:pPr marL="0" indent="0" algn="l">
              <a:lnSpc>
                <a:spcPct val="106000"/>
              </a:lnSpc>
              <a:buNone/>
            </a:pPr>
            <a:r>
              <a:rPr lang="en-US" sz="1150" dirty="0">
                <a:solidFill>
                  <a:srgbClr val="2C3A55"/>
                </a:solidFill>
                <a:latin typeface="Calibri" pitchFamily="34" charset="0"/>
                <a:ea typeface="Calibri" pitchFamily="34" charset="-122"/>
                <a:cs typeface="Calibri" pitchFamily="34" charset="-120"/>
              </a:rPr>
              <a:t>Si el canal explica el 12.6 % de la variación, optimizar el canal tiene un techo. Antes de rediseñar el proceso de agencia, vale la pena preguntarse qué explica el 87 % restante — porque ahí está la mayor parte del problema. Un η² pequeño con p significativo es una señal de «real pero no es tu palanca principal».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SIN SUPUESTO DE FORMA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Las no paramétricas: qué comparan realmente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No son «la versión segura» de las paramétricas. Contestan una pregunta parecida pero distinta, y hay que saber cuál.</a:t>
            </a:r>
            <a:endParaRPr lang="en-US" sz="1400" dirty="0"/>
          </a:p>
        </p:txBody>
      </p:sp>
      <p:sp>
        <p:nvSpPr>
          <p:cNvPr id="6" name="Shape 4"/>
          <p:cNvSpPr/>
          <p:nvPr/>
        </p:nvSpPr>
        <p:spPr>
          <a:xfrm>
            <a:off x="548640" y="1965960"/>
            <a:ext cx="3520440" cy="2103120"/>
          </a:xfrm>
          <a:prstGeom prst="roundRect">
            <a:avLst>
              <a:gd name="adj" fmla="val 2609"/>
            </a:avLst>
          </a:prstGeom>
          <a:solidFill>
            <a:srgbClr val="FFFFFF"/>
          </a:solidFill>
          <a:ln w="12700">
            <a:solidFill>
              <a:srgbClr val="D2DBEC"/>
            </a:solidFill>
            <a:prstDash val="solid"/>
          </a:ln>
        </p:spPr>
      </p:sp>
      <p:sp>
        <p:nvSpPr>
          <p:cNvPr id="7" name="Text 5"/>
          <p:cNvSpPr/>
          <p:nvPr/>
        </p:nvSpPr>
        <p:spPr>
          <a:xfrm>
            <a:off x="777240" y="2148840"/>
            <a:ext cx="3063240" cy="310896"/>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Mann-Whitney U</a:t>
            </a:r>
            <a:endParaRPr lang="en-US" sz="1400" dirty="0"/>
          </a:p>
        </p:txBody>
      </p:sp>
      <p:sp>
        <p:nvSpPr>
          <p:cNvPr id="8" name="Shape 6"/>
          <p:cNvSpPr/>
          <p:nvPr/>
        </p:nvSpPr>
        <p:spPr>
          <a:xfrm>
            <a:off x="777240" y="2505456"/>
            <a:ext cx="3063240" cy="274320"/>
          </a:xfrm>
          <a:prstGeom prst="roundRect">
            <a:avLst>
              <a:gd name="adj" fmla="val 50000"/>
            </a:avLst>
          </a:prstGeom>
          <a:solidFill>
            <a:srgbClr val="1A56E8"/>
          </a:solidFill>
          <a:ln w="12700">
            <a:solidFill>
              <a:srgbClr val="1A56E8"/>
            </a:solidFill>
            <a:prstDash val="solid"/>
          </a:ln>
        </p:spPr>
      </p:sp>
      <p:sp>
        <p:nvSpPr>
          <p:cNvPr id="9" name="Text 7"/>
          <p:cNvSpPr/>
          <p:nvPr/>
        </p:nvSpPr>
        <p:spPr>
          <a:xfrm>
            <a:off x="777240" y="2505456"/>
            <a:ext cx="3063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dos grupos independientes</a:t>
            </a:r>
            <a:endParaRPr lang="en-US" sz="900" dirty="0"/>
          </a:p>
        </p:txBody>
      </p:sp>
      <p:sp>
        <p:nvSpPr>
          <p:cNvPr id="10" name="Text 8"/>
          <p:cNvSpPr/>
          <p:nvPr/>
        </p:nvSpPr>
        <p:spPr>
          <a:xfrm>
            <a:off x="777240" y="2852928"/>
            <a:ext cx="3063240" cy="256032"/>
          </a:xfrm>
          <a:prstGeom prst="rect">
            <a:avLst/>
          </a:prstGeom>
          <a:noFill/>
          <a:ln/>
        </p:spPr>
        <p:txBody>
          <a:bodyPr wrap="square" lIns="0" tIns="0" rIns="0" bIns="0" rtlCol="0" anchor="ctr"/>
          <a:lstStyle/>
          <a:p>
            <a:pPr marL="0" indent="0">
              <a:buNone/>
            </a:pPr>
            <a:r>
              <a:rPr lang="en-US" sz="1000" dirty="0">
                <a:solidFill>
                  <a:srgbClr val="1A56E8"/>
                </a:solidFill>
                <a:latin typeface="Courier New" pitchFamily="34" charset="0"/>
                <a:ea typeface="Courier New" pitchFamily="34" charset="-122"/>
                <a:cs typeface="Courier New" pitchFamily="34" charset="-120"/>
              </a:rPr>
              <a:t>stats.mannwhitneyu</a:t>
            </a:r>
            <a:endParaRPr lang="en-US" sz="1000" dirty="0"/>
          </a:p>
        </p:txBody>
      </p:sp>
      <p:sp>
        <p:nvSpPr>
          <p:cNvPr id="11" name="Text 9"/>
          <p:cNvSpPr/>
          <p:nvPr/>
        </p:nvSpPr>
        <p:spPr>
          <a:xfrm>
            <a:off x="777240" y="3163824"/>
            <a:ext cx="3108960" cy="777240"/>
          </a:xfrm>
          <a:prstGeom prst="rect">
            <a:avLst/>
          </a:prstGeom>
          <a:noFill/>
          <a:ln/>
        </p:spPr>
        <p:txBody>
          <a:bodyPr wrap="square" lIns="0" tIns="0" rIns="0" bIns="0" rtlCol="0" anchor="t"/>
          <a:lstStyle/>
          <a:p>
            <a:pPr marL="0" indent="0" algn="l">
              <a:lnSpc>
                <a:spcPct val="106000"/>
              </a:lnSpc>
              <a:buNone/>
            </a:pPr>
            <a:r>
              <a:rPr lang="en-US" sz="1100" i="1" dirty="0">
                <a:solidFill>
                  <a:srgbClr val="2C3A55"/>
                </a:solidFill>
                <a:latin typeface="Calibri" pitchFamily="34" charset="0"/>
                <a:ea typeface="Calibri" pitchFamily="34" charset="-122"/>
                <a:cs typeface="Calibri" pitchFamily="34" charset="-120"/>
              </a:rPr>
              <a:t>¿Es probable que un valor tomado de un grupo supere a uno del otro?</a:t>
            </a:r>
            <a:endParaRPr lang="en-US" sz="1100" dirty="0"/>
          </a:p>
        </p:txBody>
      </p:sp>
      <p:sp>
        <p:nvSpPr>
          <p:cNvPr id="12" name="Shape 10"/>
          <p:cNvSpPr/>
          <p:nvPr/>
        </p:nvSpPr>
        <p:spPr>
          <a:xfrm>
            <a:off x="4297680" y="1965960"/>
            <a:ext cx="3520440" cy="2103120"/>
          </a:xfrm>
          <a:prstGeom prst="roundRect">
            <a:avLst>
              <a:gd name="adj" fmla="val 2609"/>
            </a:avLst>
          </a:prstGeom>
          <a:solidFill>
            <a:srgbClr val="FFFFFF"/>
          </a:solidFill>
          <a:ln w="12700">
            <a:solidFill>
              <a:srgbClr val="D2DBEC"/>
            </a:solidFill>
            <a:prstDash val="solid"/>
          </a:ln>
        </p:spPr>
      </p:sp>
      <p:sp>
        <p:nvSpPr>
          <p:cNvPr id="13" name="Text 11"/>
          <p:cNvSpPr/>
          <p:nvPr/>
        </p:nvSpPr>
        <p:spPr>
          <a:xfrm>
            <a:off x="4526280" y="2148840"/>
            <a:ext cx="3063240" cy="310896"/>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Wilcoxon de signos</a:t>
            </a:r>
            <a:endParaRPr lang="en-US" sz="1400" dirty="0"/>
          </a:p>
        </p:txBody>
      </p:sp>
      <p:sp>
        <p:nvSpPr>
          <p:cNvPr id="14" name="Shape 12"/>
          <p:cNvSpPr/>
          <p:nvPr/>
        </p:nvSpPr>
        <p:spPr>
          <a:xfrm>
            <a:off x="4526280" y="2505456"/>
            <a:ext cx="3063240" cy="274320"/>
          </a:xfrm>
          <a:prstGeom prst="roundRect">
            <a:avLst>
              <a:gd name="adj" fmla="val 50000"/>
            </a:avLst>
          </a:prstGeom>
          <a:solidFill>
            <a:srgbClr val="E6115E"/>
          </a:solidFill>
          <a:ln w="12700">
            <a:solidFill>
              <a:srgbClr val="E6115E"/>
            </a:solidFill>
            <a:prstDash val="solid"/>
          </a:ln>
        </p:spPr>
      </p:sp>
      <p:sp>
        <p:nvSpPr>
          <p:cNvPr id="15" name="Text 13"/>
          <p:cNvSpPr/>
          <p:nvPr/>
        </p:nvSpPr>
        <p:spPr>
          <a:xfrm>
            <a:off x="4526280" y="2505456"/>
            <a:ext cx="3063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dos medidas emparejadas</a:t>
            </a:r>
            <a:endParaRPr lang="en-US" sz="900" dirty="0"/>
          </a:p>
        </p:txBody>
      </p:sp>
      <p:sp>
        <p:nvSpPr>
          <p:cNvPr id="16" name="Text 14"/>
          <p:cNvSpPr/>
          <p:nvPr/>
        </p:nvSpPr>
        <p:spPr>
          <a:xfrm>
            <a:off x="4526280" y="2852928"/>
            <a:ext cx="3063240" cy="256032"/>
          </a:xfrm>
          <a:prstGeom prst="rect">
            <a:avLst/>
          </a:prstGeom>
          <a:noFill/>
          <a:ln/>
        </p:spPr>
        <p:txBody>
          <a:bodyPr wrap="square" lIns="0" tIns="0" rIns="0" bIns="0" rtlCol="0" anchor="ctr"/>
          <a:lstStyle/>
          <a:p>
            <a:pPr marL="0" indent="0">
              <a:buNone/>
            </a:pPr>
            <a:r>
              <a:rPr lang="en-US" sz="1000" dirty="0">
                <a:solidFill>
                  <a:srgbClr val="1A56E8"/>
                </a:solidFill>
                <a:latin typeface="Courier New" pitchFamily="34" charset="0"/>
                <a:ea typeface="Courier New" pitchFamily="34" charset="-122"/>
                <a:cs typeface="Courier New" pitchFamily="34" charset="-120"/>
              </a:rPr>
              <a:t>stats.wilcoxon</a:t>
            </a:r>
            <a:endParaRPr lang="en-US" sz="1000" dirty="0"/>
          </a:p>
        </p:txBody>
      </p:sp>
      <p:sp>
        <p:nvSpPr>
          <p:cNvPr id="17" name="Text 15"/>
          <p:cNvSpPr/>
          <p:nvPr/>
        </p:nvSpPr>
        <p:spPr>
          <a:xfrm>
            <a:off x="4526280" y="3163824"/>
            <a:ext cx="3108960" cy="777240"/>
          </a:xfrm>
          <a:prstGeom prst="rect">
            <a:avLst/>
          </a:prstGeom>
          <a:noFill/>
          <a:ln/>
        </p:spPr>
        <p:txBody>
          <a:bodyPr wrap="square" lIns="0" tIns="0" rIns="0" bIns="0" rtlCol="0" anchor="t"/>
          <a:lstStyle/>
          <a:p>
            <a:pPr marL="0" indent="0" algn="l">
              <a:lnSpc>
                <a:spcPct val="106000"/>
              </a:lnSpc>
              <a:buNone/>
            </a:pPr>
            <a:r>
              <a:rPr lang="en-US" sz="1100" i="1" dirty="0">
                <a:solidFill>
                  <a:srgbClr val="2C3A55"/>
                </a:solidFill>
                <a:latin typeface="Calibri" pitchFamily="34" charset="0"/>
                <a:ea typeface="Calibri" pitchFamily="34" charset="-122"/>
                <a:cs typeface="Calibri" pitchFamily="34" charset="-120"/>
              </a:rPr>
              <a:t>¿Las diferencias emparejadas se reparten simétricamente en torno a cero?</a:t>
            </a:r>
            <a:endParaRPr lang="en-US" sz="1100" dirty="0"/>
          </a:p>
        </p:txBody>
      </p:sp>
      <p:sp>
        <p:nvSpPr>
          <p:cNvPr id="18" name="Shape 16"/>
          <p:cNvSpPr/>
          <p:nvPr/>
        </p:nvSpPr>
        <p:spPr>
          <a:xfrm>
            <a:off x="8046720" y="1965960"/>
            <a:ext cx="3520440" cy="2103120"/>
          </a:xfrm>
          <a:prstGeom prst="roundRect">
            <a:avLst>
              <a:gd name="adj" fmla="val 2609"/>
            </a:avLst>
          </a:prstGeom>
          <a:solidFill>
            <a:srgbClr val="FFFFFF"/>
          </a:solidFill>
          <a:ln w="12700">
            <a:solidFill>
              <a:srgbClr val="D2DBEC"/>
            </a:solidFill>
            <a:prstDash val="solid"/>
          </a:ln>
        </p:spPr>
      </p:sp>
      <p:sp>
        <p:nvSpPr>
          <p:cNvPr id="19" name="Text 17"/>
          <p:cNvSpPr/>
          <p:nvPr/>
        </p:nvSpPr>
        <p:spPr>
          <a:xfrm>
            <a:off x="8275320" y="2148840"/>
            <a:ext cx="3063240" cy="310896"/>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Kruskal-Wallis</a:t>
            </a:r>
            <a:endParaRPr lang="en-US" sz="1400" dirty="0"/>
          </a:p>
        </p:txBody>
      </p:sp>
      <p:sp>
        <p:nvSpPr>
          <p:cNvPr id="20" name="Shape 18"/>
          <p:cNvSpPr/>
          <p:nvPr/>
        </p:nvSpPr>
        <p:spPr>
          <a:xfrm>
            <a:off x="8275320" y="2505456"/>
            <a:ext cx="3063240" cy="274320"/>
          </a:xfrm>
          <a:prstGeom prst="roundRect">
            <a:avLst>
              <a:gd name="adj" fmla="val 50000"/>
            </a:avLst>
          </a:prstGeom>
          <a:solidFill>
            <a:srgbClr val="12B886"/>
          </a:solidFill>
          <a:ln w="12700">
            <a:solidFill>
              <a:srgbClr val="12B886"/>
            </a:solidFill>
            <a:prstDash val="solid"/>
          </a:ln>
        </p:spPr>
      </p:sp>
      <p:sp>
        <p:nvSpPr>
          <p:cNvPr id="21" name="Text 19"/>
          <p:cNvSpPr/>
          <p:nvPr/>
        </p:nvSpPr>
        <p:spPr>
          <a:xfrm>
            <a:off x="8275320" y="2505456"/>
            <a:ext cx="3063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tres o más grupos</a:t>
            </a:r>
            <a:endParaRPr lang="en-US" sz="900" dirty="0"/>
          </a:p>
        </p:txBody>
      </p:sp>
      <p:sp>
        <p:nvSpPr>
          <p:cNvPr id="22" name="Text 20"/>
          <p:cNvSpPr/>
          <p:nvPr/>
        </p:nvSpPr>
        <p:spPr>
          <a:xfrm>
            <a:off x="8275320" y="2852928"/>
            <a:ext cx="3063240" cy="256032"/>
          </a:xfrm>
          <a:prstGeom prst="rect">
            <a:avLst/>
          </a:prstGeom>
          <a:noFill/>
          <a:ln/>
        </p:spPr>
        <p:txBody>
          <a:bodyPr wrap="square" lIns="0" tIns="0" rIns="0" bIns="0" rtlCol="0" anchor="ctr"/>
          <a:lstStyle/>
          <a:p>
            <a:pPr marL="0" indent="0">
              <a:buNone/>
            </a:pPr>
            <a:r>
              <a:rPr lang="en-US" sz="1000" dirty="0">
                <a:solidFill>
                  <a:srgbClr val="1A56E8"/>
                </a:solidFill>
                <a:latin typeface="Courier New" pitchFamily="34" charset="0"/>
                <a:ea typeface="Courier New" pitchFamily="34" charset="-122"/>
                <a:cs typeface="Courier New" pitchFamily="34" charset="-120"/>
              </a:rPr>
              <a:t>stats.kruskal</a:t>
            </a:r>
            <a:endParaRPr lang="en-US" sz="1000" dirty="0"/>
          </a:p>
        </p:txBody>
      </p:sp>
      <p:sp>
        <p:nvSpPr>
          <p:cNvPr id="23" name="Text 21"/>
          <p:cNvSpPr/>
          <p:nvPr/>
        </p:nvSpPr>
        <p:spPr>
          <a:xfrm>
            <a:off x="8275320" y="3163824"/>
            <a:ext cx="3108960" cy="777240"/>
          </a:xfrm>
          <a:prstGeom prst="rect">
            <a:avLst/>
          </a:prstGeom>
          <a:noFill/>
          <a:ln/>
        </p:spPr>
        <p:txBody>
          <a:bodyPr wrap="square" lIns="0" tIns="0" rIns="0" bIns="0" rtlCol="0" anchor="t"/>
          <a:lstStyle/>
          <a:p>
            <a:pPr marL="0" indent="0" algn="l">
              <a:lnSpc>
                <a:spcPct val="106000"/>
              </a:lnSpc>
              <a:buNone/>
            </a:pPr>
            <a:r>
              <a:rPr lang="en-US" sz="1100" i="1" dirty="0">
                <a:solidFill>
                  <a:srgbClr val="2C3A55"/>
                </a:solidFill>
                <a:latin typeface="Calibri" pitchFamily="34" charset="0"/>
                <a:ea typeface="Calibri" pitchFamily="34" charset="-122"/>
                <a:cs typeface="Calibri" pitchFamily="34" charset="-120"/>
              </a:rPr>
              <a:t>¿Alguno de los grupos tiende a dar valores más altos que los demás?</a:t>
            </a:r>
            <a:endParaRPr lang="en-US" sz="1100" dirty="0"/>
          </a:p>
        </p:txBody>
      </p:sp>
      <p:sp>
        <p:nvSpPr>
          <p:cNvPr id="24" name="Shape 22"/>
          <p:cNvSpPr/>
          <p:nvPr/>
        </p:nvSpPr>
        <p:spPr>
          <a:xfrm>
            <a:off x="548640" y="4224528"/>
            <a:ext cx="5468112" cy="1664208"/>
          </a:xfrm>
          <a:prstGeom prst="roundRect">
            <a:avLst>
              <a:gd name="adj" fmla="val 3297"/>
            </a:avLst>
          </a:prstGeom>
          <a:solidFill>
            <a:srgbClr val="0A2559"/>
          </a:solidFill>
          <a:ln w="12700">
            <a:solidFill>
              <a:srgbClr val="0A2559"/>
            </a:solidFill>
            <a:prstDash val="solid"/>
          </a:ln>
        </p:spPr>
      </p:sp>
      <p:sp>
        <p:nvSpPr>
          <p:cNvPr id="25" name="Shape 23"/>
          <p:cNvSpPr/>
          <p:nvPr/>
        </p:nvSpPr>
        <p:spPr>
          <a:xfrm>
            <a:off x="804672" y="4471416"/>
            <a:ext cx="118872" cy="118872"/>
          </a:xfrm>
          <a:prstGeom prst="roundRect">
            <a:avLst>
              <a:gd name="adj" fmla="val 30769"/>
            </a:avLst>
          </a:prstGeom>
          <a:solidFill>
            <a:srgbClr val="E6115E"/>
          </a:solidFill>
          <a:ln w="12700">
            <a:solidFill>
              <a:srgbClr val="E6115E"/>
            </a:solidFill>
            <a:prstDash val="solid"/>
          </a:ln>
        </p:spPr>
      </p:sp>
      <p:sp>
        <p:nvSpPr>
          <p:cNvPr id="26" name="Text 24"/>
          <p:cNvSpPr/>
          <p:nvPr/>
        </p:nvSpPr>
        <p:spPr>
          <a:xfrm>
            <a:off x="1042416" y="4370832"/>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malentendido más común</a:t>
            </a:r>
            <a:endParaRPr lang="en-US" sz="1400" dirty="0"/>
          </a:p>
        </p:txBody>
      </p:sp>
      <p:sp>
        <p:nvSpPr>
          <p:cNvPr id="27" name="Text 25"/>
          <p:cNvSpPr/>
          <p:nvPr/>
        </p:nvSpPr>
        <p:spPr>
          <a:xfrm>
            <a:off x="804672" y="4700016"/>
            <a:ext cx="4983480" cy="1115568"/>
          </a:xfrm>
          <a:prstGeom prst="rect">
            <a:avLst/>
          </a:prstGeom>
          <a:noFill/>
          <a:ln/>
        </p:spPr>
        <p:txBody>
          <a:bodyPr wrap="square" lIns="0" tIns="0" rIns="0" bIns="0" rtlCol="0" anchor="t"/>
          <a:lstStyle/>
          <a:p>
            <a:pPr marL="0" indent="0" algn="l">
              <a:lnSpc>
                <a:spcPct val="106000"/>
              </a:lnSpc>
              <a:buNone/>
            </a:pPr>
            <a:r>
              <a:rPr lang="en-US" sz="1050" dirty="0">
                <a:solidFill>
                  <a:srgbClr val="C9D6F2"/>
                </a:solidFill>
                <a:latin typeface="Calibri" pitchFamily="34" charset="0"/>
                <a:ea typeface="Calibri" pitchFamily="34" charset="-122"/>
                <a:cs typeface="Calibri" pitchFamily="34" charset="-120"/>
              </a:rPr>
              <a:t>«Mann-Whitney compara medianas.» No exactamente. Compara si un grupo tiende a dar valores mayores que el otro. Coincide con comparar medianas solo cuando las distribuciones tienen forma parecida.</a:t>
            </a:r>
            <a:endParaRPr lang="en-US" sz="1050" dirty="0"/>
          </a:p>
          <a:p>
            <a:pPr marL="0" indent="0" algn="l">
              <a:lnSpc>
                <a:spcPct val="106000"/>
              </a:lnSpc>
              <a:buNone/>
            </a:pPr>
            <a:endParaRPr lang="en-US" sz="1050" dirty="0"/>
          </a:p>
          <a:p>
            <a:pPr marL="0" indent="0" algn="l">
              <a:lnSpc>
                <a:spcPct val="106000"/>
              </a:lnSpc>
              <a:buNone/>
            </a:pPr>
            <a:r>
              <a:rPr lang="en-US" sz="1050" dirty="0">
                <a:solidFill>
                  <a:srgbClr val="C9D6F2"/>
                </a:solidFill>
                <a:latin typeface="Calibri" pitchFamily="34" charset="0"/>
                <a:ea typeface="Calibri" pitchFamily="34" charset="-122"/>
                <a:cs typeface="Calibri" pitchFamily="34" charset="-120"/>
              </a:rPr>
              <a:t>Si las formas difieren mucho, un resultado significativo puede deberse a la diferencia de forma y no de nivel — y entonces «el grupo A tarda más» no es la lectura correcta.</a:t>
            </a:r>
            <a:endParaRPr lang="en-US" sz="1050" dirty="0"/>
          </a:p>
        </p:txBody>
      </p:sp>
      <p:sp>
        <p:nvSpPr>
          <p:cNvPr id="28" name="Shape 26"/>
          <p:cNvSpPr/>
          <p:nvPr/>
        </p:nvSpPr>
        <p:spPr>
          <a:xfrm>
            <a:off x="6172200" y="4224528"/>
            <a:ext cx="5468112" cy="1664208"/>
          </a:xfrm>
          <a:prstGeom prst="roundRect">
            <a:avLst>
              <a:gd name="adj" fmla="val 3297"/>
            </a:avLst>
          </a:prstGeom>
          <a:solidFill>
            <a:srgbClr val="E9EEF8"/>
          </a:solidFill>
          <a:ln w="12700">
            <a:solidFill>
              <a:srgbClr val="D2DBEC"/>
            </a:solidFill>
            <a:prstDash val="solid"/>
          </a:ln>
        </p:spPr>
      </p:sp>
      <p:sp>
        <p:nvSpPr>
          <p:cNvPr id="29" name="Shape 27"/>
          <p:cNvSpPr/>
          <p:nvPr/>
        </p:nvSpPr>
        <p:spPr>
          <a:xfrm>
            <a:off x="6419088" y="4471416"/>
            <a:ext cx="118872" cy="118872"/>
          </a:xfrm>
          <a:prstGeom prst="roundRect">
            <a:avLst>
              <a:gd name="adj" fmla="val 30769"/>
            </a:avLst>
          </a:prstGeom>
          <a:solidFill>
            <a:srgbClr val="E6115E"/>
          </a:solidFill>
          <a:ln w="12700">
            <a:solidFill>
              <a:srgbClr val="E6115E"/>
            </a:solidFill>
            <a:prstDash val="solid"/>
          </a:ln>
        </p:spPr>
      </p:sp>
      <p:sp>
        <p:nvSpPr>
          <p:cNvPr id="30" name="Text 28"/>
          <p:cNvSpPr/>
          <p:nvPr/>
        </p:nvSpPr>
        <p:spPr>
          <a:xfrm>
            <a:off x="6656832" y="437083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Cuándo sí y cuándo no</a:t>
            </a:r>
            <a:endParaRPr lang="en-US" sz="1400" dirty="0"/>
          </a:p>
        </p:txBody>
      </p:sp>
      <p:sp>
        <p:nvSpPr>
          <p:cNvPr id="31" name="Text 29"/>
          <p:cNvSpPr/>
          <p:nvPr/>
        </p:nvSpPr>
        <p:spPr>
          <a:xfrm>
            <a:off x="6419088" y="4700016"/>
            <a:ext cx="4983480" cy="1097280"/>
          </a:xfrm>
          <a:prstGeom prst="rect">
            <a:avLst/>
          </a:prstGeom>
          <a:noFill/>
          <a:ln/>
        </p:spPr>
        <p:txBody>
          <a:bodyPr wrap="square" lIns="0" tIns="0" rIns="0" bIns="0" rtlCol="0" anchor="t"/>
          <a:lstStyle/>
          <a:p>
            <a:pPr marL="342900" indent="-342900">
              <a:buSzPct val="100000"/>
              <a:buChar char="•"/>
            </a:pPr>
            <a:r>
              <a:rPr lang="en-US" sz="1000" dirty="0">
                <a:solidFill>
                  <a:srgbClr val="2C3A55"/>
                </a:solidFill>
                <a:latin typeface="Calibri" pitchFamily="34" charset="0"/>
                <a:ea typeface="Calibri" pitchFamily="34" charset="-122"/>
                <a:cs typeface="Calibri" pitchFamily="34" charset="-120"/>
              </a:rPr>
              <a:t>Sí: n pequeño y datos claramente no normales.</a:t>
            </a:r>
            <a:endParaRPr lang="en-US" sz="1000" dirty="0"/>
          </a:p>
          <a:p>
            <a:pPr marL="342900" indent="-342900">
              <a:buSzPct val="100000"/>
              <a:buChar char="•"/>
            </a:pPr>
            <a:r>
              <a:rPr lang="en-US" sz="1000" dirty="0">
                <a:solidFill>
                  <a:srgbClr val="2C3A55"/>
                </a:solidFill>
                <a:latin typeface="Calibri" pitchFamily="34" charset="0"/>
                <a:ea typeface="Calibri" pitchFamily="34" charset="-122"/>
                <a:cs typeface="Calibri" pitchFamily="34" charset="-120"/>
              </a:rPr>
              <a:t>Sí: hay valores extremos que dominan la media.</a:t>
            </a:r>
            <a:endParaRPr lang="en-US" sz="1000" dirty="0"/>
          </a:p>
          <a:p>
            <a:pPr marL="342900" indent="-342900">
              <a:buSzPct val="100000"/>
              <a:buChar char="•"/>
            </a:pPr>
            <a:r>
              <a:rPr lang="en-US" sz="1000" dirty="0">
                <a:solidFill>
                  <a:srgbClr val="2C3A55"/>
                </a:solidFill>
                <a:latin typeface="Calibri" pitchFamily="34" charset="0"/>
                <a:ea typeface="Calibri" pitchFamily="34" charset="-122"/>
                <a:cs typeface="Calibri" pitchFamily="34" charset="-120"/>
              </a:rPr>
              <a:t>Sí: la variable es ordinal (escalas de 1 a 5).</a:t>
            </a:r>
            <a:endParaRPr lang="en-US" sz="1000" dirty="0"/>
          </a:p>
          <a:p>
            <a:pPr marL="342900" indent="-342900">
              <a:buSzPct val="100000"/>
              <a:buChar char="•"/>
            </a:pPr>
            <a:r>
              <a:rPr lang="en-US" sz="1000" dirty="0">
                <a:solidFill>
                  <a:srgbClr val="2C3A55"/>
                </a:solidFill>
                <a:latin typeface="Calibri" pitchFamily="34" charset="0"/>
                <a:ea typeface="Calibri" pitchFamily="34" charset="-122"/>
                <a:cs typeface="Calibri" pitchFamily="34" charset="-120"/>
              </a:rPr>
              <a:t>No: solo por «seguridad» con n grande — pierdes interpretabilidad y potencia sin necesidad.</a:t>
            </a:r>
            <a:endParaRPr lang="en-US" sz="1000" dirty="0"/>
          </a:p>
          <a:p>
            <a:pPr marL="342900" indent="-342900">
              <a:buSzPct val="100000"/>
              <a:buChar char="•"/>
            </a:pPr>
            <a:r>
              <a:rPr lang="en-US" sz="1000" dirty="0">
                <a:solidFill>
                  <a:srgbClr val="2C3A55"/>
                </a:solidFill>
                <a:latin typeface="Calibri" pitchFamily="34" charset="0"/>
                <a:ea typeface="Calibri" pitchFamily="34" charset="-122"/>
                <a:cs typeface="Calibri" pitchFamily="34" charset="-120"/>
              </a:rPr>
              <a:t>No: si el objetivo es reportar una diferencia en días o soles. Las no paramétricas no dan eso.</a:t>
            </a:r>
            <a:endParaRPr lang="en-US" sz="1000" dirty="0"/>
          </a:p>
        </p:txBody>
      </p:sp>
      <p:sp>
        <p:nvSpPr>
          <p:cNvPr id="32" name="Shape 30"/>
          <p:cNvSpPr/>
          <p:nvPr/>
        </p:nvSpPr>
        <p:spPr>
          <a:xfrm>
            <a:off x="548640" y="6016752"/>
            <a:ext cx="11091672" cy="530352"/>
          </a:xfrm>
          <a:prstGeom prst="roundRect">
            <a:avLst>
              <a:gd name="adj" fmla="val 10345"/>
            </a:avLst>
          </a:prstGeom>
          <a:solidFill>
            <a:srgbClr val="FFFFFF"/>
          </a:solidFill>
          <a:ln w="12700">
            <a:solidFill>
              <a:srgbClr val="D2DBEC"/>
            </a:solidFill>
            <a:prstDash val="solid"/>
          </a:ln>
        </p:spPr>
      </p:sp>
      <p:sp>
        <p:nvSpPr>
          <p:cNvPr id="33" name="Text 31"/>
          <p:cNvSpPr/>
          <p:nvPr/>
        </p:nvSpPr>
        <p:spPr>
          <a:xfrm>
            <a:off x="822960" y="6016752"/>
            <a:ext cx="10607040" cy="530352"/>
          </a:xfrm>
          <a:prstGeom prst="rect">
            <a:avLst/>
          </a:prstGeom>
          <a:noFill/>
          <a:ln/>
        </p:spPr>
        <p:txBody>
          <a:bodyPr wrap="square" lIns="0" tIns="0" rIns="0" bIns="0" rtlCol="0" anchor="ctr"/>
          <a:lstStyle/>
          <a:p>
            <a:pPr marL="0" indent="0" algn="l">
              <a:lnSpc>
                <a:spcPct val="108000"/>
              </a:lnSpc>
              <a:buNone/>
            </a:pPr>
            <a:r>
              <a:rPr lang="en-US" sz="1100" dirty="0">
                <a:solidFill>
                  <a:srgbClr val="2C3A55"/>
                </a:solidFill>
                <a:latin typeface="Calibri" pitchFamily="34" charset="0"/>
                <a:ea typeface="Calibri" pitchFamily="34" charset="-122"/>
                <a:cs typeface="Calibri" pitchFamily="34" charset="-120"/>
              </a:rPr>
              <a:t>En nuestros datos: Mann-Whitney para app contra agencia da p = 0.0104, y Welch daba p = 0.0181. Coinciden en la conclusión, y eso es tranquilizador.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CHULETA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El árbol de decisión completo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Acumulada de la sesión. Esta es la slide que vas a fotografiar.</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2880360"/>
        </p:xfrm>
        <a:graphic>
          <a:graphicData uri="http://schemas.openxmlformats.org/drawingml/2006/table">
            <a:tbl>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3227832">
                  <a:extLst>
                    <a:ext uri="{9D8B030D-6E8A-4147-A177-3AD203B41FA5}">
                      <a16:colId xmlns:a16="http://schemas.microsoft.com/office/drawing/2014/main" val="20004"/>
                    </a:ext>
                  </a:extLst>
                </a:gridCol>
              </a:tblGrid>
              <a:tr h="32004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Cuántos grupos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Diseño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Situación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Prueba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 código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independientes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caso general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t de Welch</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ttest_ind(a, b, equal_var=False)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independientes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 chico y muy no normal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Mann-Whitney U</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mannwhitneyu(a, b)</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emparejados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caso general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t emparejada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ttest_rel(antes, despues)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emparejados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 chico y muy no normal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Wilcoxon de signos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wilcoxon(antes, despues)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 o más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independientes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varianzas desiguales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ANOVA de Welch</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pingouin.welch_anova(...)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 o más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independientes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varianzas parecidas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ANOVA clásico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f_oneway(g1, g2, g3)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 o más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independientes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muy no normal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Kruskal-Wallis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kruskal(g1, g2, g3)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4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 o más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cualquiera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después de rechazar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9A6B00"/>
                          </a:solidFill>
                          <a:latin typeface="Calibri" pitchFamily="34" charset="0"/>
                          <a:ea typeface="Calibri" pitchFamily="34" charset="-122"/>
                          <a:cs typeface="Calibri" pitchFamily="34" charset="-120"/>
                        </a:rPr>
                        <a:t>post-hoc + Holm</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multipletests(ps, method='holm')</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Shape 4"/>
          <p:cNvSpPr/>
          <p:nvPr/>
        </p:nvSpPr>
        <p:spPr>
          <a:xfrm>
            <a:off x="521208" y="4964286"/>
            <a:ext cx="11091672" cy="1188720"/>
          </a:xfrm>
          <a:prstGeom prst="roundRect">
            <a:avLst>
              <a:gd name="adj" fmla="val 4615"/>
            </a:avLst>
          </a:prstGeom>
          <a:solidFill>
            <a:srgbClr val="0A2559"/>
          </a:solidFill>
          <a:ln w="12700">
            <a:solidFill>
              <a:srgbClr val="0A2559"/>
            </a:solidFill>
            <a:prstDash val="solid"/>
          </a:ln>
        </p:spPr>
      </p:sp>
      <p:sp>
        <p:nvSpPr>
          <p:cNvPr id="8" name="Shape 5"/>
          <p:cNvSpPr/>
          <p:nvPr/>
        </p:nvSpPr>
        <p:spPr>
          <a:xfrm>
            <a:off x="804672" y="52029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5102352"/>
            <a:ext cx="7077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Y las tres preguntas que van antes de toda la tabla</a:t>
            </a:r>
            <a:endParaRPr lang="en-US" sz="1400" dirty="0"/>
          </a:p>
        </p:txBody>
      </p:sp>
      <p:sp>
        <p:nvSpPr>
          <p:cNvPr id="10" name="Text 7"/>
          <p:cNvSpPr/>
          <p:nvPr/>
        </p:nvSpPr>
        <p:spPr>
          <a:xfrm>
            <a:off x="804672" y="5431536"/>
            <a:ext cx="10515600" cy="640080"/>
          </a:xfrm>
          <a:prstGeom prst="rect">
            <a:avLst/>
          </a:prstGeom>
          <a:noFill/>
          <a:ln/>
        </p:spPr>
        <p:txBody>
          <a:bodyPr wrap="square" lIns="0" tIns="0" rIns="0" bIns="0" rtlCol="0" anchor="t"/>
          <a:lstStyle/>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1 · ¿Es emparejado o independiente? Se decide mirando cómo se recogieron los datos, no eligiendo.</a:t>
            </a:r>
            <a:endParaRPr lang="en-US" sz="1150" dirty="0"/>
          </a:p>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2 · ¿Qué decisión vas a tomar con el resultado? Si ninguna, describe y no pruebes nada.</a:t>
            </a:r>
            <a:endParaRPr lang="en-US" sz="1150" dirty="0"/>
          </a:p>
          <a:p>
            <a:pPr marL="0" indent="0" algn="l">
              <a:lnSpc>
                <a:spcPct val="112000"/>
              </a:lnSpc>
              <a:buNone/>
            </a:pPr>
            <a:r>
              <a:rPr lang="en-US" sz="1150" dirty="0">
                <a:solidFill>
                  <a:srgbClr val="C9D6F2"/>
                </a:solidFill>
                <a:latin typeface="Calibri" pitchFamily="34" charset="0"/>
                <a:ea typeface="Calibri" pitchFamily="34" charset="-122"/>
                <a:cs typeface="Calibri" pitchFamily="34" charset="-120"/>
              </a:rPr>
              <a:t>3 · ¿Cuántas comparaciones vas a hacer en total? Decídelo antes, y corrige.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2918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29184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ANTES DEL LABORATORIO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Cuatro errores que vas a ver en informes reales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Los cuatro se cometen con el código correcto. Ninguno lo detecta una revisión de pull request.</a:t>
            </a:r>
            <a:endParaRPr lang="en-US" sz="1400" dirty="0"/>
          </a:p>
        </p:txBody>
      </p:sp>
      <p:sp>
        <p:nvSpPr>
          <p:cNvPr id="6" name="Shape 4"/>
          <p:cNvSpPr/>
          <p:nvPr/>
        </p:nvSpPr>
        <p:spPr>
          <a:xfrm>
            <a:off x="548640" y="2011680"/>
            <a:ext cx="5422392" cy="1828800"/>
          </a:xfrm>
          <a:prstGeom prst="roundRect">
            <a:avLst>
              <a:gd name="adj" fmla="val 3000"/>
            </a:avLst>
          </a:prstGeom>
          <a:solidFill>
            <a:srgbClr val="0A2559"/>
          </a:solidFill>
          <a:ln w="12700">
            <a:solidFill>
              <a:srgbClr val="0A2559"/>
            </a:solidFill>
            <a:prstDash val="solid"/>
          </a:ln>
        </p:spPr>
      </p:sp>
      <p:sp>
        <p:nvSpPr>
          <p:cNvPr id="7" name="Shape 5"/>
          <p:cNvSpPr/>
          <p:nvPr/>
        </p:nvSpPr>
        <p:spPr>
          <a:xfrm>
            <a:off x="777240" y="2212848"/>
            <a:ext cx="384048" cy="384048"/>
          </a:xfrm>
          <a:prstGeom prst="roundRect">
            <a:avLst>
              <a:gd name="adj" fmla="val 50000"/>
            </a:avLst>
          </a:prstGeom>
          <a:solidFill>
            <a:srgbClr val="E6115E"/>
          </a:solidFill>
          <a:ln w="12700">
            <a:solidFill>
              <a:srgbClr val="E6115E"/>
            </a:solidFill>
            <a:prstDash val="solid"/>
          </a:ln>
        </p:spPr>
      </p:sp>
      <p:sp>
        <p:nvSpPr>
          <p:cNvPr id="8" name="Text 6"/>
          <p:cNvSpPr/>
          <p:nvPr/>
        </p:nvSpPr>
        <p:spPr>
          <a:xfrm>
            <a:off x="777240" y="221284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194560"/>
            <a:ext cx="4480560" cy="42062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Usar el default de scipy sin pensarlo</a:t>
            </a:r>
            <a:endParaRPr lang="en-US" sz="1250" dirty="0"/>
          </a:p>
        </p:txBody>
      </p:sp>
      <p:sp>
        <p:nvSpPr>
          <p:cNvPr id="10" name="Text 8"/>
          <p:cNvSpPr/>
          <p:nvPr/>
        </p:nvSpPr>
        <p:spPr>
          <a:xfrm>
            <a:off x="777240" y="2724912"/>
            <a:ext cx="4983480" cy="987552"/>
          </a:xfrm>
          <a:prstGeom prst="rect">
            <a:avLst/>
          </a:prstGeom>
          <a:noFill/>
          <a:ln/>
        </p:spPr>
        <p:txBody>
          <a:bodyPr wrap="square" lIns="0" tIns="0" rIns="0" bIns="0" rtlCol="0" anchor="t"/>
          <a:lstStyle/>
          <a:p>
            <a:pPr marL="0" indent="0" algn="l">
              <a:lnSpc>
                <a:spcPct val="108000"/>
              </a:lnSpc>
              <a:buNone/>
            </a:pPr>
            <a:r>
              <a:rPr lang="en-US" sz="1100" dirty="0">
                <a:solidFill>
                  <a:srgbClr val="C9D6F2"/>
                </a:solidFill>
                <a:latin typeface="Calibri" pitchFamily="34" charset="0"/>
                <a:ea typeface="Calibri" pitchFamily="34" charset="-122"/>
                <a:cs typeface="Calibri" pitchFamily="34" charset="-120"/>
              </a:rPr>
              <a:t>ttest_ind(a, b) asume varianzas iguales. Con grupos de tamaño desigual y dispersión desigual, su tasa real de falsos positivos llega al 17 % en lugar del 5 %. Escribir equal_var=False cuesta 17 caracteres.</a:t>
            </a:r>
            <a:endParaRPr lang="en-US" sz="1100" dirty="0"/>
          </a:p>
        </p:txBody>
      </p:sp>
      <p:sp>
        <p:nvSpPr>
          <p:cNvPr id="11" name="Shape 9"/>
          <p:cNvSpPr/>
          <p:nvPr/>
        </p:nvSpPr>
        <p:spPr>
          <a:xfrm>
            <a:off x="6217920" y="2011680"/>
            <a:ext cx="5422392" cy="1828800"/>
          </a:xfrm>
          <a:prstGeom prst="roundRect">
            <a:avLst>
              <a:gd name="adj" fmla="val 3000"/>
            </a:avLst>
          </a:prstGeom>
          <a:solidFill>
            <a:srgbClr val="FFFFFF"/>
          </a:solidFill>
          <a:ln w="12700">
            <a:solidFill>
              <a:srgbClr val="D2DBEC"/>
            </a:solidFill>
            <a:prstDash val="solid"/>
          </a:ln>
        </p:spPr>
      </p:sp>
      <p:sp>
        <p:nvSpPr>
          <p:cNvPr id="12" name="Shape 10"/>
          <p:cNvSpPr/>
          <p:nvPr/>
        </p:nvSpPr>
        <p:spPr>
          <a:xfrm>
            <a:off x="6446520" y="2212848"/>
            <a:ext cx="384048" cy="384048"/>
          </a:xfrm>
          <a:prstGeom prst="roundRect">
            <a:avLst>
              <a:gd name="adj" fmla="val 50000"/>
            </a:avLst>
          </a:prstGeom>
          <a:solidFill>
            <a:srgbClr val="0A2559"/>
          </a:solidFill>
          <a:ln w="12700">
            <a:solidFill>
              <a:srgbClr val="0A2559"/>
            </a:solidFill>
            <a:prstDash val="solid"/>
          </a:ln>
        </p:spPr>
      </p:sp>
      <p:sp>
        <p:nvSpPr>
          <p:cNvPr id="13" name="Text 11"/>
          <p:cNvSpPr/>
          <p:nvPr/>
        </p:nvSpPr>
        <p:spPr>
          <a:xfrm>
            <a:off x="6446520" y="221284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967728" y="2194560"/>
            <a:ext cx="4480560" cy="420624"/>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Tratar datos emparejados como independientes</a:t>
            </a:r>
            <a:endParaRPr lang="en-US" sz="1250" dirty="0"/>
          </a:p>
        </p:txBody>
      </p:sp>
      <p:sp>
        <p:nvSpPr>
          <p:cNvPr id="15" name="Text 13"/>
          <p:cNvSpPr/>
          <p:nvPr/>
        </p:nvSpPr>
        <p:spPr>
          <a:xfrm>
            <a:off x="6446520" y="2724912"/>
            <a:ext cx="4983480" cy="987552"/>
          </a:xfrm>
          <a:prstGeom prst="rect">
            <a:avLst/>
          </a:prstGeom>
          <a:noFill/>
          <a:ln/>
        </p:spPr>
        <p:txBody>
          <a:bodyPr wrap="square" lIns="0" tIns="0" rIns="0" bIns="0" rtlCol="0" anchor="t"/>
          <a:lstStyle/>
          <a:p>
            <a:pPr marL="0" indent="0" algn="l">
              <a:lnSpc>
                <a:spcPct val="108000"/>
              </a:lnSpc>
              <a:buNone/>
            </a:pPr>
            <a:r>
              <a:rPr lang="en-US" sz="1100" dirty="0">
                <a:solidFill>
                  <a:srgbClr val="2C3A55"/>
                </a:solidFill>
                <a:latin typeface="Calibri" pitchFamily="34" charset="0"/>
                <a:ea typeface="Calibri" pitchFamily="34" charset="-122"/>
                <a:cs typeface="Calibri" pitchFamily="34" charset="-120"/>
              </a:rPr>
              <a:t>Los mismos sujetos medidos dos veces no son dos grupos. En nuestro ejemplo, la prueba correcta da p = 1.6 × 10⁻⁸ y la incorrecta da p = 0.26: el efecto real desaparece por completo.</a:t>
            </a:r>
            <a:endParaRPr lang="en-US" sz="1100" dirty="0"/>
          </a:p>
        </p:txBody>
      </p:sp>
      <p:sp>
        <p:nvSpPr>
          <p:cNvPr id="16" name="Shape 14"/>
          <p:cNvSpPr/>
          <p:nvPr/>
        </p:nvSpPr>
        <p:spPr>
          <a:xfrm>
            <a:off x="548640" y="4059936"/>
            <a:ext cx="5422392" cy="1828800"/>
          </a:xfrm>
          <a:prstGeom prst="roundRect">
            <a:avLst>
              <a:gd name="adj" fmla="val 3000"/>
            </a:avLst>
          </a:prstGeom>
          <a:solidFill>
            <a:srgbClr val="FFFFFF"/>
          </a:solidFill>
          <a:ln w="12700">
            <a:solidFill>
              <a:srgbClr val="D2DBEC"/>
            </a:solidFill>
            <a:prstDash val="solid"/>
          </a:ln>
        </p:spPr>
      </p:sp>
      <p:sp>
        <p:nvSpPr>
          <p:cNvPr id="17" name="Shape 15"/>
          <p:cNvSpPr/>
          <p:nvPr/>
        </p:nvSpPr>
        <p:spPr>
          <a:xfrm>
            <a:off x="777240" y="4261104"/>
            <a:ext cx="384048" cy="384048"/>
          </a:xfrm>
          <a:prstGeom prst="roundRect">
            <a:avLst>
              <a:gd name="adj" fmla="val 50000"/>
            </a:avLst>
          </a:prstGeom>
          <a:solidFill>
            <a:srgbClr val="0A2559"/>
          </a:solidFill>
          <a:ln w="12700">
            <a:solidFill>
              <a:srgbClr val="0A2559"/>
            </a:solidFill>
            <a:prstDash val="solid"/>
          </a:ln>
        </p:spPr>
      </p:sp>
      <p:sp>
        <p:nvSpPr>
          <p:cNvPr id="18" name="Text 16"/>
          <p:cNvSpPr/>
          <p:nvPr/>
        </p:nvSpPr>
        <p:spPr>
          <a:xfrm>
            <a:off x="777240" y="4261104"/>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298448" y="4242816"/>
            <a:ext cx="4480560" cy="420624"/>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Reportar el ANOVA y detenerse ahí</a:t>
            </a:r>
            <a:endParaRPr lang="en-US" sz="1250" dirty="0"/>
          </a:p>
        </p:txBody>
      </p:sp>
      <p:sp>
        <p:nvSpPr>
          <p:cNvPr id="20" name="Text 18"/>
          <p:cNvSpPr/>
          <p:nvPr/>
        </p:nvSpPr>
        <p:spPr>
          <a:xfrm>
            <a:off x="777240" y="4773168"/>
            <a:ext cx="4983480" cy="987552"/>
          </a:xfrm>
          <a:prstGeom prst="rect">
            <a:avLst/>
          </a:prstGeom>
          <a:noFill/>
          <a:ln/>
        </p:spPr>
        <p:txBody>
          <a:bodyPr wrap="square" lIns="0" tIns="0" rIns="0" bIns="0" rtlCol="0" anchor="t"/>
          <a:lstStyle/>
          <a:p>
            <a:pPr marL="0" indent="0" algn="l">
              <a:lnSpc>
                <a:spcPct val="108000"/>
              </a:lnSpc>
              <a:buNone/>
            </a:pPr>
            <a:r>
              <a:rPr lang="en-US" sz="1100" dirty="0">
                <a:solidFill>
                  <a:srgbClr val="2C3A55"/>
                </a:solidFill>
                <a:latin typeface="Calibri" pitchFamily="34" charset="0"/>
                <a:ea typeface="Calibri" pitchFamily="34" charset="-122"/>
                <a:cs typeface="Calibri" pitchFamily="34" charset="-120"/>
              </a:rPr>
              <a:t>Un F significativo dice «hay alguna diferencia en algún lado». No dice cuál ni cuánta. Sin post-hoc y sin tamaño del efecto, el resultado no permite ninguna decisión.</a:t>
            </a:r>
            <a:endParaRPr lang="en-US" sz="1100" dirty="0"/>
          </a:p>
        </p:txBody>
      </p:sp>
      <p:sp>
        <p:nvSpPr>
          <p:cNvPr id="21" name="Shape 19"/>
          <p:cNvSpPr/>
          <p:nvPr/>
        </p:nvSpPr>
        <p:spPr>
          <a:xfrm>
            <a:off x="6217920" y="4059936"/>
            <a:ext cx="5422392" cy="1828800"/>
          </a:xfrm>
          <a:prstGeom prst="roundRect">
            <a:avLst>
              <a:gd name="adj" fmla="val 3000"/>
            </a:avLst>
          </a:prstGeom>
          <a:solidFill>
            <a:srgbClr val="FFFFFF"/>
          </a:solidFill>
          <a:ln w="12700">
            <a:solidFill>
              <a:srgbClr val="D2DBEC"/>
            </a:solidFill>
            <a:prstDash val="solid"/>
          </a:ln>
        </p:spPr>
      </p:sp>
      <p:sp>
        <p:nvSpPr>
          <p:cNvPr id="22" name="Shape 20"/>
          <p:cNvSpPr/>
          <p:nvPr/>
        </p:nvSpPr>
        <p:spPr>
          <a:xfrm>
            <a:off x="6446520" y="4261104"/>
            <a:ext cx="384048" cy="384048"/>
          </a:xfrm>
          <a:prstGeom prst="roundRect">
            <a:avLst>
              <a:gd name="adj" fmla="val 50000"/>
            </a:avLst>
          </a:prstGeom>
          <a:solidFill>
            <a:srgbClr val="0A2559"/>
          </a:solidFill>
          <a:ln w="12700">
            <a:solidFill>
              <a:srgbClr val="0A2559"/>
            </a:solidFill>
            <a:prstDash val="solid"/>
          </a:ln>
        </p:spPr>
      </p:sp>
      <p:sp>
        <p:nvSpPr>
          <p:cNvPr id="23" name="Text 21"/>
          <p:cNvSpPr/>
          <p:nvPr/>
        </p:nvSpPr>
        <p:spPr>
          <a:xfrm>
            <a:off x="6446520" y="4261104"/>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6967728" y="4242816"/>
            <a:ext cx="4480560" cy="420624"/>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Elegir el método por el resultado</a:t>
            </a:r>
            <a:endParaRPr lang="en-US" sz="1250" dirty="0"/>
          </a:p>
        </p:txBody>
      </p:sp>
      <p:sp>
        <p:nvSpPr>
          <p:cNvPr id="25" name="Text 23"/>
          <p:cNvSpPr/>
          <p:nvPr/>
        </p:nvSpPr>
        <p:spPr>
          <a:xfrm>
            <a:off x="6446520" y="4773168"/>
            <a:ext cx="4983480" cy="987552"/>
          </a:xfrm>
          <a:prstGeom prst="rect">
            <a:avLst/>
          </a:prstGeom>
          <a:noFill/>
          <a:ln/>
        </p:spPr>
        <p:txBody>
          <a:bodyPr wrap="square" lIns="0" tIns="0" rIns="0" bIns="0" rtlCol="0" anchor="t"/>
          <a:lstStyle/>
          <a:p>
            <a:pPr marL="0" indent="0" algn="l">
              <a:lnSpc>
                <a:spcPct val="108000"/>
              </a:lnSpc>
              <a:buNone/>
            </a:pPr>
            <a:r>
              <a:rPr lang="en-US" sz="1100" dirty="0">
                <a:solidFill>
                  <a:srgbClr val="2C3A55"/>
                </a:solidFill>
                <a:latin typeface="Calibri" pitchFamily="34" charset="0"/>
                <a:ea typeface="Calibri" pitchFamily="34" charset="-122"/>
                <a:cs typeface="Calibri" pitchFamily="34" charset="-120"/>
              </a:rPr>
              <a:t>Correr Tukey y Welch+Holm y quedarse con el que salió significativo. Los supuestos deciden el método; si Levene rechaza, Tukey no es defendible aquí, aunque su p sea más bonito.</a:t>
            </a:r>
            <a:endParaRPr lang="en-US" sz="1100" dirty="0"/>
          </a:p>
        </p:txBody>
      </p:sp>
      <p:sp>
        <p:nvSpPr>
          <p:cNvPr id="26" name="Text 24"/>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Los cuatro tienen la misma raíz: elegir la prueba por costumbre o por conveniencia, en lugar de por el diseño de los datos y por los supuestos que se cumplen.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LABORATORIO · 65 MIN</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Los cinco bloques del notebook</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Cada bloque termina con una celda de verificación automática: si el número no coincide, te avisa antes de seguir.</a:t>
            </a:r>
            <a:endParaRPr lang="en-US" sz="1400" dirty="0"/>
          </a:p>
        </p:txBody>
      </p:sp>
      <p:sp>
        <p:nvSpPr>
          <p:cNvPr id="6" name="Shape 4"/>
          <p:cNvSpPr/>
          <p:nvPr/>
        </p:nvSpPr>
        <p:spPr>
          <a:xfrm>
            <a:off x="548640" y="1993392"/>
            <a:ext cx="11091672" cy="731520"/>
          </a:xfrm>
          <a:prstGeom prst="roundRect">
            <a:avLst>
              <a:gd name="adj" fmla="val 7500"/>
            </a:avLst>
          </a:prstGeom>
          <a:solidFill>
            <a:srgbClr val="FFFFFF"/>
          </a:solidFill>
          <a:ln w="12700">
            <a:solidFill>
              <a:srgbClr val="D2DBEC"/>
            </a:solidFill>
            <a:prstDash val="solid"/>
          </a:ln>
        </p:spPr>
      </p:sp>
      <p:sp>
        <p:nvSpPr>
          <p:cNvPr id="7" name="Shape 5"/>
          <p:cNvSpPr/>
          <p:nvPr/>
        </p:nvSpPr>
        <p:spPr>
          <a:xfrm>
            <a:off x="777240" y="2176272"/>
            <a:ext cx="384048" cy="384048"/>
          </a:xfrm>
          <a:prstGeom prst="roundRect">
            <a:avLst>
              <a:gd name="adj" fmla="val 50000"/>
            </a:avLst>
          </a:prstGeom>
          <a:solidFill>
            <a:srgbClr val="0A2559"/>
          </a:solidFill>
          <a:ln w="12700">
            <a:solidFill>
              <a:srgbClr val="0A2559"/>
            </a:solidFill>
            <a:prstDash val="solid"/>
          </a:ln>
        </p:spPr>
      </p:sp>
      <p:sp>
        <p:nvSpPr>
          <p:cNvPr id="8" name="Text 6"/>
          <p:cNvSpPr/>
          <p:nvPr/>
        </p:nvSpPr>
        <p:spPr>
          <a:xfrm>
            <a:off x="777240" y="217627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075688"/>
            <a:ext cx="3566160" cy="566928"/>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Diseño y datos emparejados</a:t>
            </a:r>
            <a:endParaRPr lang="en-US" sz="1250" dirty="0"/>
          </a:p>
        </p:txBody>
      </p:sp>
      <p:sp>
        <p:nvSpPr>
          <p:cNvPr id="10" name="Text 8"/>
          <p:cNvSpPr/>
          <p:nvPr/>
        </p:nvSpPr>
        <p:spPr>
          <a:xfrm>
            <a:off x="4892040" y="207568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12 min</a:t>
            </a:r>
            <a:endParaRPr lang="en-US" sz="1200" dirty="0"/>
          </a:p>
        </p:txBody>
      </p:sp>
      <p:sp>
        <p:nvSpPr>
          <p:cNvPr id="11" name="Text 9"/>
          <p:cNvSpPr/>
          <p:nvPr/>
        </p:nvSpPr>
        <p:spPr>
          <a:xfrm>
            <a:off x="5852160" y="2103120"/>
            <a:ext cx="5623560" cy="530352"/>
          </a:xfrm>
          <a:prstGeom prst="rect">
            <a:avLst/>
          </a:prstGeom>
          <a:noFill/>
          <a:ln/>
        </p:spPr>
        <p:txBody>
          <a:bodyPr wrap="square" lIns="0" tIns="0" rIns="0" bIns="0" rtlCol="0" anchor="ctr"/>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Construyes el dataset de canales y reproduces el p = 4 × 10⁻⁷ contra p = 0.13 del ejemplo emparejado.</a:t>
            </a:r>
            <a:endParaRPr lang="en-US" sz="1050" dirty="0"/>
          </a:p>
        </p:txBody>
      </p:sp>
      <p:sp>
        <p:nvSpPr>
          <p:cNvPr id="12" name="Shape 10"/>
          <p:cNvSpPr/>
          <p:nvPr/>
        </p:nvSpPr>
        <p:spPr>
          <a:xfrm>
            <a:off x="548640" y="2816352"/>
            <a:ext cx="11091672" cy="731520"/>
          </a:xfrm>
          <a:prstGeom prst="roundRect">
            <a:avLst>
              <a:gd name="adj" fmla="val 7500"/>
            </a:avLst>
          </a:prstGeom>
          <a:solidFill>
            <a:srgbClr val="E9EEF8"/>
          </a:solidFill>
          <a:ln w="12700">
            <a:solidFill>
              <a:srgbClr val="D2DBEC"/>
            </a:solidFill>
            <a:prstDash val="solid"/>
          </a:ln>
        </p:spPr>
      </p:sp>
      <p:sp>
        <p:nvSpPr>
          <p:cNvPr id="13" name="Shape 11"/>
          <p:cNvSpPr/>
          <p:nvPr/>
        </p:nvSpPr>
        <p:spPr>
          <a:xfrm>
            <a:off x="777240" y="2999232"/>
            <a:ext cx="384048" cy="384048"/>
          </a:xfrm>
          <a:prstGeom prst="roundRect">
            <a:avLst>
              <a:gd name="adj" fmla="val 50000"/>
            </a:avLst>
          </a:prstGeom>
          <a:solidFill>
            <a:srgbClr val="0A2559"/>
          </a:solidFill>
          <a:ln w="12700">
            <a:solidFill>
              <a:srgbClr val="0A2559"/>
            </a:solidFill>
            <a:prstDash val="solid"/>
          </a:ln>
        </p:spPr>
      </p:sp>
      <p:sp>
        <p:nvSpPr>
          <p:cNvPr id="14" name="Text 12"/>
          <p:cNvSpPr/>
          <p:nvPr/>
        </p:nvSpPr>
        <p:spPr>
          <a:xfrm>
            <a:off x="777240" y="299923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298448" y="2898648"/>
            <a:ext cx="3566160" cy="566928"/>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Student vs Welch, por simulación</a:t>
            </a:r>
            <a:endParaRPr lang="en-US" sz="1250" dirty="0"/>
          </a:p>
        </p:txBody>
      </p:sp>
      <p:sp>
        <p:nvSpPr>
          <p:cNvPr id="16" name="Text 14"/>
          <p:cNvSpPr/>
          <p:nvPr/>
        </p:nvSpPr>
        <p:spPr>
          <a:xfrm>
            <a:off x="4892040" y="289864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16 min</a:t>
            </a:r>
            <a:endParaRPr lang="en-US" sz="1200" dirty="0"/>
          </a:p>
        </p:txBody>
      </p:sp>
      <p:sp>
        <p:nvSpPr>
          <p:cNvPr id="17" name="Text 15"/>
          <p:cNvSpPr/>
          <p:nvPr/>
        </p:nvSpPr>
        <p:spPr>
          <a:xfrm>
            <a:off x="5852160" y="2926080"/>
            <a:ext cx="5623560" cy="530352"/>
          </a:xfrm>
          <a:prstGeom prst="rect">
            <a:avLst/>
          </a:prstGeom>
          <a:noFill/>
          <a:ln/>
        </p:spPr>
        <p:txBody>
          <a:bodyPr wrap="square" lIns="0" tIns="0" rIns="0" bIns="0" rtlCol="0" anchor="ctr"/>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Mides la tasa real de error tipo I de las dos pruebas en los cuatro escenarios. Reproduces el 17.1 % de la slide 8.</a:t>
            </a:r>
            <a:endParaRPr lang="en-US" sz="1050" dirty="0"/>
          </a:p>
        </p:txBody>
      </p:sp>
      <p:sp>
        <p:nvSpPr>
          <p:cNvPr id="18" name="Shape 16"/>
          <p:cNvSpPr/>
          <p:nvPr/>
        </p:nvSpPr>
        <p:spPr>
          <a:xfrm>
            <a:off x="548640" y="3639312"/>
            <a:ext cx="11091672" cy="731520"/>
          </a:xfrm>
          <a:prstGeom prst="roundRect">
            <a:avLst>
              <a:gd name="adj" fmla="val 7500"/>
            </a:avLst>
          </a:prstGeom>
          <a:solidFill>
            <a:srgbClr val="FFFFFF"/>
          </a:solidFill>
          <a:ln w="12700">
            <a:solidFill>
              <a:srgbClr val="D2DBEC"/>
            </a:solidFill>
            <a:prstDash val="solid"/>
          </a:ln>
        </p:spPr>
      </p:sp>
      <p:sp>
        <p:nvSpPr>
          <p:cNvPr id="19" name="Shape 17"/>
          <p:cNvSpPr/>
          <p:nvPr/>
        </p:nvSpPr>
        <p:spPr>
          <a:xfrm>
            <a:off x="777240" y="3822192"/>
            <a:ext cx="384048"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777240" y="382219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98448" y="3721608"/>
            <a:ext cx="3566160" cy="566928"/>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ANOVA y ANOVA de Welch</a:t>
            </a:r>
            <a:endParaRPr lang="en-US" sz="1250" dirty="0"/>
          </a:p>
        </p:txBody>
      </p:sp>
      <p:sp>
        <p:nvSpPr>
          <p:cNvPr id="22" name="Text 20"/>
          <p:cNvSpPr/>
          <p:nvPr/>
        </p:nvSpPr>
        <p:spPr>
          <a:xfrm>
            <a:off x="4892040" y="372160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14 min</a:t>
            </a:r>
            <a:endParaRPr lang="en-US" sz="1200" dirty="0"/>
          </a:p>
        </p:txBody>
      </p:sp>
      <p:sp>
        <p:nvSpPr>
          <p:cNvPr id="23" name="Text 21"/>
          <p:cNvSpPr/>
          <p:nvPr/>
        </p:nvSpPr>
        <p:spPr>
          <a:xfrm>
            <a:off x="5852160" y="3749040"/>
            <a:ext cx="5623560" cy="530352"/>
          </a:xfrm>
          <a:prstGeom prst="rect">
            <a:avLst/>
          </a:prstGeom>
          <a:noFill/>
          <a:ln/>
        </p:spPr>
        <p:txBody>
          <a:bodyPr wrap="square" lIns="0" tIns="0" rIns="0" bIns="0" rtlCol="0" anchor="ctr"/>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Implementas el ANOVA de Welch a mano en veinte líneas y compruebas que controla el error donde el clásico no.</a:t>
            </a:r>
            <a:endParaRPr lang="en-US" sz="1050" dirty="0"/>
          </a:p>
        </p:txBody>
      </p:sp>
      <p:sp>
        <p:nvSpPr>
          <p:cNvPr id="24" name="Shape 22"/>
          <p:cNvSpPr/>
          <p:nvPr/>
        </p:nvSpPr>
        <p:spPr>
          <a:xfrm>
            <a:off x="548640" y="4462272"/>
            <a:ext cx="11091672" cy="731520"/>
          </a:xfrm>
          <a:prstGeom prst="roundRect">
            <a:avLst>
              <a:gd name="adj" fmla="val 7500"/>
            </a:avLst>
          </a:prstGeom>
          <a:solidFill>
            <a:srgbClr val="E9EEF8"/>
          </a:solidFill>
          <a:ln w="12700">
            <a:solidFill>
              <a:srgbClr val="D2DBEC"/>
            </a:solidFill>
            <a:prstDash val="solid"/>
          </a:ln>
        </p:spPr>
      </p:sp>
      <p:sp>
        <p:nvSpPr>
          <p:cNvPr id="25" name="Shape 23"/>
          <p:cNvSpPr/>
          <p:nvPr/>
        </p:nvSpPr>
        <p:spPr>
          <a:xfrm>
            <a:off x="777240" y="4645152"/>
            <a:ext cx="384048" cy="384048"/>
          </a:xfrm>
          <a:prstGeom prst="roundRect">
            <a:avLst>
              <a:gd name="adj" fmla="val 50000"/>
            </a:avLst>
          </a:prstGeom>
          <a:solidFill>
            <a:srgbClr val="0A2559"/>
          </a:solidFill>
          <a:ln w="12700">
            <a:solidFill>
              <a:srgbClr val="0A2559"/>
            </a:solidFill>
            <a:prstDash val="solid"/>
          </a:ln>
        </p:spPr>
      </p:sp>
      <p:sp>
        <p:nvSpPr>
          <p:cNvPr id="26" name="Text 24"/>
          <p:cNvSpPr/>
          <p:nvPr/>
        </p:nvSpPr>
        <p:spPr>
          <a:xfrm>
            <a:off x="777240" y="464515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298448" y="4544568"/>
            <a:ext cx="3566160" cy="566928"/>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Post-hoc y la contradicción</a:t>
            </a:r>
            <a:endParaRPr lang="en-US" sz="1250" dirty="0"/>
          </a:p>
        </p:txBody>
      </p:sp>
      <p:sp>
        <p:nvSpPr>
          <p:cNvPr id="28" name="Text 26"/>
          <p:cNvSpPr/>
          <p:nvPr/>
        </p:nvSpPr>
        <p:spPr>
          <a:xfrm>
            <a:off x="4892040" y="454456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13 min</a:t>
            </a:r>
            <a:endParaRPr lang="en-US" sz="1200" dirty="0"/>
          </a:p>
        </p:txBody>
      </p:sp>
      <p:sp>
        <p:nvSpPr>
          <p:cNvPr id="29" name="Text 27"/>
          <p:cNvSpPr/>
          <p:nvPr/>
        </p:nvSpPr>
        <p:spPr>
          <a:xfrm>
            <a:off x="5852160" y="4572000"/>
            <a:ext cx="5623560" cy="530352"/>
          </a:xfrm>
          <a:prstGeom prst="rect">
            <a:avLst/>
          </a:prstGeom>
          <a:noFill/>
          <a:ln/>
        </p:spPr>
        <p:txBody>
          <a:bodyPr wrap="square" lIns="0" tIns="0" rIns="0" bIns="0" rtlCol="0" anchor="ctr"/>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Reproduces Tukey y Welch+Holm sobre los mismos datos, ves el conflicto y escribes tu conclusión razonada.</a:t>
            </a:r>
            <a:endParaRPr lang="en-US" sz="1050" dirty="0"/>
          </a:p>
        </p:txBody>
      </p:sp>
      <p:sp>
        <p:nvSpPr>
          <p:cNvPr id="30" name="Shape 28"/>
          <p:cNvSpPr/>
          <p:nvPr/>
        </p:nvSpPr>
        <p:spPr>
          <a:xfrm>
            <a:off x="548640" y="5285232"/>
            <a:ext cx="11091672" cy="731520"/>
          </a:xfrm>
          <a:prstGeom prst="roundRect">
            <a:avLst>
              <a:gd name="adj" fmla="val 7500"/>
            </a:avLst>
          </a:prstGeom>
          <a:solidFill>
            <a:srgbClr val="FFFFFF"/>
          </a:solidFill>
          <a:ln w="12700">
            <a:solidFill>
              <a:srgbClr val="D2DBEC"/>
            </a:solidFill>
            <a:prstDash val="solid"/>
          </a:ln>
        </p:spPr>
      </p:sp>
      <p:sp>
        <p:nvSpPr>
          <p:cNvPr id="31" name="Shape 29"/>
          <p:cNvSpPr/>
          <p:nvPr/>
        </p:nvSpPr>
        <p:spPr>
          <a:xfrm>
            <a:off x="777240" y="5468112"/>
            <a:ext cx="384048" cy="384048"/>
          </a:xfrm>
          <a:prstGeom prst="roundRect">
            <a:avLst>
              <a:gd name="adj" fmla="val 50000"/>
            </a:avLst>
          </a:prstGeom>
          <a:solidFill>
            <a:srgbClr val="0A2559"/>
          </a:solidFill>
          <a:ln w="12700">
            <a:solidFill>
              <a:srgbClr val="0A2559"/>
            </a:solidFill>
            <a:prstDash val="solid"/>
          </a:ln>
        </p:spPr>
      </p:sp>
      <p:sp>
        <p:nvSpPr>
          <p:cNvPr id="32" name="Text 30"/>
          <p:cNvSpPr/>
          <p:nvPr/>
        </p:nvSpPr>
        <p:spPr>
          <a:xfrm>
            <a:off x="777240" y="546811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1298448" y="5367528"/>
            <a:ext cx="3566160" cy="566928"/>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Efecto y no paramétricas</a:t>
            </a:r>
            <a:endParaRPr lang="en-US" sz="1250" dirty="0"/>
          </a:p>
        </p:txBody>
      </p:sp>
      <p:sp>
        <p:nvSpPr>
          <p:cNvPr id="34" name="Text 32"/>
          <p:cNvSpPr/>
          <p:nvPr/>
        </p:nvSpPr>
        <p:spPr>
          <a:xfrm>
            <a:off x="4892040" y="536752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10 min</a:t>
            </a:r>
            <a:endParaRPr lang="en-US" sz="1200" dirty="0"/>
          </a:p>
        </p:txBody>
      </p:sp>
      <p:sp>
        <p:nvSpPr>
          <p:cNvPr id="35" name="Text 33"/>
          <p:cNvSpPr/>
          <p:nvPr/>
        </p:nvSpPr>
        <p:spPr>
          <a:xfrm>
            <a:off x="5852160" y="5394960"/>
            <a:ext cx="5623560" cy="530352"/>
          </a:xfrm>
          <a:prstGeom prst="rect">
            <a:avLst/>
          </a:prstGeom>
          <a:noFill/>
          <a:ln/>
        </p:spPr>
        <p:txBody>
          <a:bodyPr wrap="square" lIns="0" tIns="0" rIns="0" bIns="0" rtlCol="0" anchor="ctr"/>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Calculas d, η² y ω², y comparas contra Mann-Whitney y Kruskal-Wallis.</a:t>
            </a:r>
            <a:endParaRPr lang="en-US" sz="1050" dirty="0"/>
          </a:p>
        </p:txBody>
      </p:sp>
      <p:sp>
        <p:nvSpPr>
          <p:cNvPr id="36" name="Shape 34"/>
          <p:cNvSpPr/>
          <p:nvPr/>
        </p:nvSpPr>
        <p:spPr>
          <a:xfrm>
            <a:off x="548640" y="6144768"/>
            <a:ext cx="11091672" cy="502920"/>
          </a:xfrm>
          <a:prstGeom prst="roundRect">
            <a:avLst>
              <a:gd name="adj" fmla="val 10909"/>
            </a:avLst>
          </a:prstGeom>
          <a:solidFill>
            <a:srgbClr val="0A2559"/>
          </a:solidFill>
          <a:ln w="12700">
            <a:solidFill>
              <a:srgbClr val="0A2559"/>
            </a:solidFill>
            <a:prstDash val="solid"/>
          </a:ln>
        </p:spPr>
      </p:sp>
      <p:sp>
        <p:nvSpPr>
          <p:cNvPr id="37" name="Text 35"/>
          <p:cNvSpPr/>
          <p:nvPr/>
        </p:nvSpPr>
        <p:spPr>
          <a:xfrm>
            <a:off x="822960" y="6144768"/>
            <a:ext cx="10607040" cy="502920"/>
          </a:xfrm>
          <a:prstGeom prst="rect">
            <a:avLst/>
          </a:prstGeom>
          <a:noFill/>
          <a:ln/>
        </p:spPr>
        <p:txBody>
          <a:bodyPr wrap="square" lIns="0" tIns="0" rIns="0" bIns="0" rtlCol="0" anchor="ctr"/>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El bloque 2 es el obligatorio: es donde ven con sus propios datos que la prueba del libro no controla su tasa de error.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LO QUE SE ESPERA DE TI</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Cómo se redacta una comparación de grupos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Con tres canales y supuestos violados, esto es lo que sí se puede escribir y defender.</a:t>
            </a:r>
            <a:endParaRPr lang="en-US" sz="1400" dirty="0"/>
          </a:p>
        </p:txBody>
      </p:sp>
      <p:sp>
        <p:nvSpPr>
          <p:cNvPr id="6" name="Shape 4"/>
          <p:cNvSpPr/>
          <p:nvPr/>
        </p:nvSpPr>
        <p:spPr>
          <a:xfrm>
            <a:off x="548640" y="1965960"/>
            <a:ext cx="5468112" cy="1783080"/>
          </a:xfrm>
          <a:prstGeom prst="roundRect">
            <a:avLst>
              <a:gd name="adj" fmla="val 3077"/>
            </a:avLst>
          </a:prstGeom>
          <a:solidFill>
            <a:srgbClr val="E9EEF8"/>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Versión incompleta — la habitual</a:t>
            </a:r>
            <a:endParaRPr lang="en-US" sz="1400" dirty="0"/>
          </a:p>
        </p:txBody>
      </p:sp>
      <p:sp>
        <p:nvSpPr>
          <p:cNvPr id="9" name="Text 7"/>
          <p:cNvSpPr/>
          <p:nvPr/>
        </p:nvSpPr>
        <p:spPr>
          <a:xfrm>
            <a:off x="804672" y="2542032"/>
            <a:ext cx="4983480" cy="502920"/>
          </a:xfrm>
          <a:prstGeom prst="rect">
            <a:avLst/>
          </a:prstGeom>
          <a:noFill/>
          <a:ln/>
        </p:spPr>
        <p:txBody>
          <a:bodyPr wrap="square" lIns="0" tIns="0" rIns="0" bIns="0" rtlCol="0" anchor="t"/>
          <a:lstStyle/>
          <a:p>
            <a:pPr marL="0" indent="0" algn="l">
              <a:lnSpc>
                <a:spcPct val="108000"/>
              </a:lnSpc>
              <a:buNone/>
            </a:pPr>
            <a:r>
              <a:rPr lang="en-US" sz="1200" i="1" dirty="0">
                <a:solidFill>
                  <a:srgbClr val="2C3A55"/>
                </a:solidFill>
                <a:latin typeface="Calibri" pitchFamily="34" charset="0"/>
                <a:ea typeface="Calibri" pitchFamily="34" charset="-122"/>
                <a:cs typeface="Calibri" pitchFamily="34" charset="-120"/>
              </a:rPr>
              <a:t>«Existen diferencias significativas en el tiempo de resolución entre canales (ANOVA, p &lt; 0.001).»</a:t>
            </a:r>
            <a:endParaRPr lang="en-US" sz="1200" dirty="0"/>
          </a:p>
        </p:txBody>
      </p:sp>
      <p:sp>
        <p:nvSpPr>
          <p:cNvPr id="10" name="Text 8"/>
          <p:cNvSpPr/>
          <p:nvPr/>
        </p:nvSpPr>
        <p:spPr>
          <a:xfrm>
            <a:off x="804672" y="3090672"/>
            <a:ext cx="4983480" cy="566928"/>
          </a:xfrm>
          <a:prstGeom prst="rect">
            <a:avLst/>
          </a:prstGeom>
          <a:noFill/>
          <a:ln/>
        </p:spPr>
        <p:txBody>
          <a:bodyPr wrap="square" lIns="0" tIns="0" rIns="0" bIns="0" rtlCol="0" anchor="t"/>
          <a:lstStyle/>
          <a:p>
            <a:pPr marL="0" indent="0" algn="l">
              <a:lnSpc>
                <a:spcPct val="106000"/>
              </a:lnSpc>
              <a:buNone/>
            </a:pPr>
            <a:r>
              <a:rPr lang="en-US" sz="1050" dirty="0">
                <a:solidFill>
                  <a:srgbClr val="5B6B87"/>
                </a:solidFill>
                <a:latin typeface="Calibri" pitchFamily="34" charset="0"/>
                <a:ea typeface="Calibri" pitchFamily="34" charset="-122"/>
                <a:cs typeface="Calibri" pitchFamily="34" charset="-120"/>
              </a:rPr>
              <a:t>Qué falta: qué canal contra qué canal, cuántos días, con qué precisión, y el detalle nada menor de que el ANOVA usado no cumplía sus supuestos.</a:t>
            </a:r>
            <a:endParaRPr lang="en-US" sz="1050" dirty="0"/>
          </a:p>
        </p:txBody>
      </p:sp>
      <p:sp>
        <p:nvSpPr>
          <p:cNvPr id="11" name="Shape 9"/>
          <p:cNvSpPr/>
          <p:nvPr/>
        </p:nvSpPr>
        <p:spPr>
          <a:xfrm>
            <a:off x="6172200" y="1965960"/>
            <a:ext cx="5468112" cy="1783080"/>
          </a:xfrm>
          <a:prstGeom prst="roundRect">
            <a:avLst>
              <a:gd name="adj" fmla="val 3077"/>
            </a:avLst>
          </a:prstGeom>
          <a:solidFill>
            <a:srgbClr val="0A2559"/>
          </a:solidFill>
          <a:ln w="12700">
            <a:solidFill>
              <a:srgbClr val="0A2559"/>
            </a:solidFill>
            <a:prstDash val="solid"/>
          </a:ln>
        </p:spPr>
      </p:sp>
      <p:sp>
        <p:nvSpPr>
          <p:cNvPr id="12" name="Shape 10"/>
          <p:cNvSpPr/>
          <p:nvPr/>
        </p:nvSpPr>
        <p:spPr>
          <a:xfrm>
            <a:off x="6419088" y="2231136"/>
            <a:ext cx="118872" cy="118872"/>
          </a:xfrm>
          <a:prstGeom prst="roundRect">
            <a:avLst>
              <a:gd name="adj" fmla="val 30769"/>
            </a:avLst>
          </a:prstGeom>
          <a:solidFill>
            <a:srgbClr val="E6115E"/>
          </a:solidFill>
          <a:ln w="12700">
            <a:solidFill>
              <a:srgbClr val="E6115E"/>
            </a:solidFill>
            <a:prstDash val="solid"/>
          </a:ln>
        </p:spPr>
      </p:sp>
      <p:sp>
        <p:nvSpPr>
          <p:cNvPr id="13" name="Text 11"/>
          <p:cNvSpPr/>
          <p:nvPr/>
        </p:nvSpPr>
        <p:spPr>
          <a:xfrm>
            <a:off x="6656832" y="2130552"/>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Versión completa — la que se audita bien</a:t>
            </a:r>
            <a:endParaRPr lang="en-US" sz="1400" dirty="0"/>
          </a:p>
        </p:txBody>
      </p:sp>
      <p:sp>
        <p:nvSpPr>
          <p:cNvPr id="14" name="Text 12"/>
          <p:cNvSpPr/>
          <p:nvPr/>
        </p:nvSpPr>
        <p:spPr>
          <a:xfrm>
            <a:off x="6419088" y="2542032"/>
            <a:ext cx="4983480" cy="1133856"/>
          </a:xfrm>
          <a:prstGeom prst="rect">
            <a:avLst/>
          </a:prstGeom>
          <a:noFill/>
          <a:ln/>
        </p:spPr>
        <p:txBody>
          <a:bodyPr wrap="square" lIns="0" tIns="0" rIns="0" bIns="0" rtlCol="0" anchor="t"/>
          <a:lstStyle/>
          <a:p>
            <a:pPr marL="0" indent="0" algn="l">
              <a:lnSpc>
                <a:spcPct val="106000"/>
              </a:lnSpc>
              <a:buNone/>
            </a:pPr>
            <a:r>
              <a:rPr lang="en-US" sz="1050" i="1" dirty="0">
                <a:solidFill>
                  <a:srgbClr val="C9D6F2"/>
                </a:solidFill>
                <a:latin typeface="Calibri" pitchFamily="34" charset="0"/>
                <a:ea typeface="Calibri" pitchFamily="34" charset="-122"/>
                <a:cs typeface="Calibri" pitchFamily="34" charset="-120"/>
              </a:rPr>
              <a:t>«Las varianzas difieren entre canales (Levene, p &lt; 0.001), por lo que se usó ANOVA de Welch: F = 3.83, gl = (2, 52.3), p = 0.028; η² = 0.126. En el post-hoc con t de Welch y corrección de Holm, ninguna comparación alcanza significancia (menor p ajustado = 0.054). La mayor diferencia observada es agencia contra app: 4.1 días (d = 0.87). Con n = 25 en agencia la potencia es limitada; se recomienda ampliar esa muestra antes de concluir.»</a:t>
            </a:r>
            <a:endParaRPr lang="en-US" sz="1050" dirty="0"/>
          </a:p>
        </p:txBody>
      </p:sp>
      <p:sp>
        <p:nvSpPr>
          <p:cNvPr id="15" name="Shape 13"/>
          <p:cNvSpPr/>
          <p:nvPr/>
        </p:nvSpPr>
        <p:spPr>
          <a:xfrm>
            <a:off x="548640" y="3913632"/>
            <a:ext cx="3520440" cy="1024128"/>
          </a:xfrm>
          <a:prstGeom prst="roundRect">
            <a:avLst>
              <a:gd name="adj" fmla="val 5357"/>
            </a:avLst>
          </a:prstGeom>
          <a:solidFill>
            <a:srgbClr val="FFFFFF"/>
          </a:solidFill>
          <a:ln w="12700">
            <a:solidFill>
              <a:srgbClr val="D2DBEC"/>
            </a:solidFill>
            <a:prstDash val="solid"/>
          </a:ln>
        </p:spPr>
      </p:sp>
      <p:sp>
        <p:nvSpPr>
          <p:cNvPr id="16" name="Shape 14"/>
          <p:cNvSpPr/>
          <p:nvPr/>
        </p:nvSpPr>
        <p:spPr>
          <a:xfrm>
            <a:off x="749808" y="4087368"/>
            <a:ext cx="118872" cy="118872"/>
          </a:xfrm>
          <a:prstGeom prst="roundRect">
            <a:avLst>
              <a:gd name="adj" fmla="val 30769"/>
            </a:avLst>
          </a:prstGeom>
          <a:solidFill>
            <a:srgbClr val="1A56E8"/>
          </a:solidFill>
          <a:ln w="12700">
            <a:solidFill>
              <a:srgbClr val="1A56E8"/>
            </a:solidFill>
            <a:prstDash val="solid"/>
          </a:ln>
        </p:spPr>
      </p:sp>
      <p:sp>
        <p:nvSpPr>
          <p:cNvPr id="17" name="Text 15"/>
          <p:cNvSpPr/>
          <p:nvPr/>
        </p:nvSpPr>
        <p:spPr>
          <a:xfrm>
            <a:off x="1005840" y="4005072"/>
            <a:ext cx="2880360" cy="292608"/>
          </a:xfrm>
          <a:prstGeom prst="rect">
            <a:avLst/>
          </a:prstGeom>
          <a:noFill/>
          <a:ln/>
        </p:spPr>
        <p:txBody>
          <a:bodyPr wrap="square" lIns="0" tIns="0" rIns="0" bIns="0" rtlCol="0" anchor="ctr"/>
          <a:lstStyle/>
          <a:p>
            <a:pPr marL="0" indent="0">
              <a:buNone/>
            </a:pPr>
            <a:r>
              <a:rPr lang="en-US" sz="1100" b="1" dirty="0">
                <a:solidFill>
                  <a:srgbClr val="0A2559"/>
                </a:solidFill>
                <a:latin typeface="Calibri" pitchFamily="34" charset="0"/>
                <a:ea typeface="Calibri" pitchFamily="34" charset="-122"/>
                <a:cs typeface="Calibri" pitchFamily="34" charset="-120"/>
              </a:rPr>
              <a:t>El diagnóstico de supuestos</a:t>
            </a:r>
            <a:endParaRPr lang="en-US" sz="1100" dirty="0"/>
          </a:p>
        </p:txBody>
      </p:sp>
      <p:sp>
        <p:nvSpPr>
          <p:cNvPr id="18" name="Text 16"/>
          <p:cNvSpPr/>
          <p:nvPr/>
        </p:nvSpPr>
        <p:spPr>
          <a:xfrm>
            <a:off x="749808" y="4352544"/>
            <a:ext cx="3108960" cy="512064"/>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Levene o el gráfico. Justifica por qué elegiste esa prueba.</a:t>
            </a:r>
            <a:endParaRPr lang="en-US" sz="1050" dirty="0"/>
          </a:p>
        </p:txBody>
      </p:sp>
      <p:sp>
        <p:nvSpPr>
          <p:cNvPr id="19" name="Shape 17"/>
          <p:cNvSpPr/>
          <p:nvPr/>
        </p:nvSpPr>
        <p:spPr>
          <a:xfrm>
            <a:off x="4297680" y="3913632"/>
            <a:ext cx="3520440" cy="1024128"/>
          </a:xfrm>
          <a:prstGeom prst="roundRect">
            <a:avLst>
              <a:gd name="adj" fmla="val 5357"/>
            </a:avLst>
          </a:prstGeom>
          <a:solidFill>
            <a:srgbClr val="FFFFFF"/>
          </a:solidFill>
          <a:ln w="12700">
            <a:solidFill>
              <a:srgbClr val="D2DBEC"/>
            </a:solidFill>
            <a:prstDash val="solid"/>
          </a:ln>
        </p:spPr>
      </p:sp>
      <p:sp>
        <p:nvSpPr>
          <p:cNvPr id="20" name="Shape 18"/>
          <p:cNvSpPr/>
          <p:nvPr/>
        </p:nvSpPr>
        <p:spPr>
          <a:xfrm>
            <a:off x="4498848" y="4087368"/>
            <a:ext cx="118872" cy="118872"/>
          </a:xfrm>
          <a:prstGeom prst="roundRect">
            <a:avLst>
              <a:gd name="adj" fmla="val 30769"/>
            </a:avLst>
          </a:prstGeom>
          <a:solidFill>
            <a:srgbClr val="1A56E8"/>
          </a:solidFill>
          <a:ln w="12700">
            <a:solidFill>
              <a:srgbClr val="1A56E8"/>
            </a:solidFill>
            <a:prstDash val="solid"/>
          </a:ln>
        </p:spPr>
      </p:sp>
      <p:sp>
        <p:nvSpPr>
          <p:cNvPr id="21" name="Text 19"/>
          <p:cNvSpPr/>
          <p:nvPr/>
        </p:nvSpPr>
        <p:spPr>
          <a:xfrm>
            <a:off x="4754880" y="4005072"/>
            <a:ext cx="2880360" cy="292608"/>
          </a:xfrm>
          <a:prstGeom prst="rect">
            <a:avLst/>
          </a:prstGeom>
          <a:noFill/>
          <a:ln/>
        </p:spPr>
        <p:txBody>
          <a:bodyPr wrap="square" lIns="0" tIns="0" rIns="0" bIns="0" rtlCol="0" anchor="ctr"/>
          <a:lstStyle/>
          <a:p>
            <a:pPr marL="0" indent="0">
              <a:buNone/>
            </a:pPr>
            <a:r>
              <a:rPr lang="en-US" sz="1100" b="1" dirty="0">
                <a:solidFill>
                  <a:srgbClr val="0A2559"/>
                </a:solidFill>
                <a:latin typeface="Calibri" pitchFamily="34" charset="0"/>
                <a:ea typeface="Calibri" pitchFamily="34" charset="-122"/>
                <a:cs typeface="Calibri" pitchFamily="34" charset="-120"/>
              </a:rPr>
              <a:t>La prueba con sus gl</a:t>
            </a:r>
            <a:endParaRPr lang="en-US" sz="1100" dirty="0"/>
          </a:p>
        </p:txBody>
      </p:sp>
      <p:sp>
        <p:nvSpPr>
          <p:cNvPr id="22" name="Text 20"/>
          <p:cNvSpPr/>
          <p:nvPr/>
        </p:nvSpPr>
        <p:spPr>
          <a:xfrm>
            <a:off x="4498848" y="4352544"/>
            <a:ext cx="3108960" cy="512064"/>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Y si son fraccionarios, es señal de que usaste Welch.</a:t>
            </a:r>
            <a:endParaRPr lang="en-US" sz="1050" dirty="0"/>
          </a:p>
        </p:txBody>
      </p:sp>
      <p:sp>
        <p:nvSpPr>
          <p:cNvPr id="23" name="Shape 21"/>
          <p:cNvSpPr/>
          <p:nvPr/>
        </p:nvSpPr>
        <p:spPr>
          <a:xfrm>
            <a:off x="8046720" y="3913632"/>
            <a:ext cx="3520440" cy="1024128"/>
          </a:xfrm>
          <a:prstGeom prst="roundRect">
            <a:avLst>
              <a:gd name="adj" fmla="val 5357"/>
            </a:avLst>
          </a:prstGeom>
          <a:solidFill>
            <a:srgbClr val="FFFFFF"/>
          </a:solidFill>
          <a:ln w="12700">
            <a:solidFill>
              <a:srgbClr val="D2DBEC"/>
            </a:solidFill>
            <a:prstDash val="solid"/>
          </a:ln>
        </p:spPr>
      </p:sp>
      <p:sp>
        <p:nvSpPr>
          <p:cNvPr id="24" name="Shape 22"/>
          <p:cNvSpPr/>
          <p:nvPr/>
        </p:nvSpPr>
        <p:spPr>
          <a:xfrm>
            <a:off x="8247888" y="4087368"/>
            <a:ext cx="118872" cy="118872"/>
          </a:xfrm>
          <a:prstGeom prst="roundRect">
            <a:avLst>
              <a:gd name="adj" fmla="val 30769"/>
            </a:avLst>
          </a:prstGeom>
          <a:solidFill>
            <a:srgbClr val="1A56E8"/>
          </a:solidFill>
          <a:ln w="12700">
            <a:solidFill>
              <a:srgbClr val="1A56E8"/>
            </a:solidFill>
            <a:prstDash val="solid"/>
          </a:ln>
        </p:spPr>
      </p:sp>
      <p:sp>
        <p:nvSpPr>
          <p:cNvPr id="25" name="Text 23"/>
          <p:cNvSpPr/>
          <p:nvPr/>
        </p:nvSpPr>
        <p:spPr>
          <a:xfrm>
            <a:off x="8503920" y="4005072"/>
            <a:ext cx="2880360" cy="292608"/>
          </a:xfrm>
          <a:prstGeom prst="rect">
            <a:avLst/>
          </a:prstGeom>
          <a:noFill/>
          <a:ln/>
        </p:spPr>
        <p:txBody>
          <a:bodyPr wrap="square" lIns="0" tIns="0" rIns="0" bIns="0" rtlCol="0" anchor="ctr"/>
          <a:lstStyle/>
          <a:p>
            <a:pPr marL="0" indent="0">
              <a:buNone/>
            </a:pPr>
            <a:r>
              <a:rPr lang="en-US" sz="1100" b="1" dirty="0">
                <a:solidFill>
                  <a:srgbClr val="0A2559"/>
                </a:solidFill>
                <a:latin typeface="Calibri" pitchFamily="34" charset="0"/>
                <a:ea typeface="Calibri" pitchFamily="34" charset="-122"/>
                <a:cs typeface="Calibri" pitchFamily="34" charset="-120"/>
              </a:rPr>
              <a:t>El efecto en unidades reales</a:t>
            </a:r>
            <a:endParaRPr lang="en-US" sz="1100" dirty="0"/>
          </a:p>
        </p:txBody>
      </p:sp>
      <p:sp>
        <p:nvSpPr>
          <p:cNvPr id="26" name="Text 24"/>
          <p:cNvSpPr/>
          <p:nvPr/>
        </p:nvSpPr>
        <p:spPr>
          <a:xfrm>
            <a:off x="8247888" y="4352544"/>
            <a:ext cx="3108960" cy="512064"/>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Días, soles, puntos. Antes que el p-valor.</a:t>
            </a:r>
            <a:endParaRPr lang="en-US" sz="1050" dirty="0"/>
          </a:p>
        </p:txBody>
      </p:sp>
      <p:sp>
        <p:nvSpPr>
          <p:cNvPr id="27" name="Shape 25"/>
          <p:cNvSpPr/>
          <p:nvPr/>
        </p:nvSpPr>
        <p:spPr>
          <a:xfrm>
            <a:off x="548640" y="5047488"/>
            <a:ext cx="3520440" cy="1024128"/>
          </a:xfrm>
          <a:prstGeom prst="roundRect">
            <a:avLst>
              <a:gd name="adj" fmla="val 5357"/>
            </a:avLst>
          </a:prstGeom>
          <a:solidFill>
            <a:srgbClr val="FFFFFF"/>
          </a:solidFill>
          <a:ln w="12700">
            <a:solidFill>
              <a:srgbClr val="D2DBEC"/>
            </a:solidFill>
            <a:prstDash val="solid"/>
          </a:ln>
        </p:spPr>
      </p:sp>
      <p:sp>
        <p:nvSpPr>
          <p:cNvPr id="28" name="Shape 26"/>
          <p:cNvSpPr/>
          <p:nvPr/>
        </p:nvSpPr>
        <p:spPr>
          <a:xfrm>
            <a:off x="749808" y="5221224"/>
            <a:ext cx="118872" cy="118872"/>
          </a:xfrm>
          <a:prstGeom prst="roundRect">
            <a:avLst>
              <a:gd name="adj" fmla="val 30769"/>
            </a:avLst>
          </a:prstGeom>
          <a:solidFill>
            <a:srgbClr val="1A56E8"/>
          </a:solidFill>
          <a:ln w="12700">
            <a:solidFill>
              <a:srgbClr val="1A56E8"/>
            </a:solidFill>
            <a:prstDash val="solid"/>
          </a:ln>
        </p:spPr>
      </p:sp>
      <p:sp>
        <p:nvSpPr>
          <p:cNvPr id="29" name="Text 27"/>
          <p:cNvSpPr/>
          <p:nvPr/>
        </p:nvSpPr>
        <p:spPr>
          <a:xfrm>
            <a:off x="1005840" y="5138928"/>
            <a:ext cx="2880360" cy="292608"/>
          </a:xfrm>
          <a:prstGeom prst="rect">
            <a:avLst/>
          </a:prstGeom>
          <a:noFill/>
          <a:ln/>
        </p:spPr>
        <p:txBody>
          <a:bodyPr wrap="square" lIns="0" tIns="0" rIns="0" bIns="0" rtlCol="0" anchor="ctr"/>
          <a:lstStyle/>
          <a:p>
            <a:pPr marL="0" indent="0">
              <a:buNone/>
            </a:pPr>
            <a:r>
              <a:rPr lang="en-US" sz="1100" b="1" dirty="0">
                <a:solidFill>
                  <a:srgbClr val="0A2559"/>
                </a:solidFill>
                <a:latin typeface="Calibri" pitchFamily="34" charset="0"/>
                <a:ea typeface="Calibri" pitchFamily="34" charset="-122"/>
                <a:cs typeface="Calibri" pitchFamily="34" charset="-120"/>
              </a:rPr>
              <a:t>El tamaño del efecto estandarizado</a:t>
            </a:r>
            <a:endParaRPr lang="en-US" sz="1100" dirty="0"/>
          </a:p>
        </p:txBody>
      </p:sp>
      <p:sp>
        <p:nvSpPr>
          <p:cNvPr id="30" name="Text 28"/>
          <p:cNvSpPr/>
          <p:nvPr/>
        </p:nvSpPr>
        <p:spPr>
          <a:xfrm>
            <a:off x="749808" y="5486400"/>
            <a:ext cx="3108960" cy="512064"/>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d para dos grupos, η² u ω² para varios.</a:t>
            </a:r>
            <a:endParaRPr lang="en-US" sz="1050" dirty="0"/>
          </a:p>
        </p:txBody>
      </p:sp>
      <p:sp>
        <p:nvSpPr>
          <p:cNvPr id="31" name="Shape 29"/>
          <p:cNvSpPr/>
          <p:nvPr/>
        </p:nvSpPr>
        <p:spPr>
          <a:xfrm>
            <a:off x="4297680" y="5047488"/>
            <a:ext cx="3520440" cy="1024128"/>
          </a:xfrm>
          <a:prstGeom prst="roundRect">
            <a:avLst>
              <a:gd name="adj" fmla="val 5357"/>
            </a:avLst>
          </a:prstGeom>
          <a:solidFill>
            <a:srgbClr val="FFFFFF"/>
          </a:solidFill>
          <a:ln w="12700">
            <a:solidFill>
              <a:srgbClr val="D2DBEC"/>
            </a:solidFill>
            <a:prstDash val="solid"/>
          </a:ln>
        </p:spPr>
      </p:sp>
      <p:sp>
        <p:nvSpPr>
          <p:cNvPr id="32" name="Shape 30"/>
          <p:cNvSpPr/>
          <p:nvPr/>
        </p:nvSpPr>
        <p:spPr>
          <a:xfrm>
            <a:off x="4498848" y="5221224"/>
            <a:ext cx="118872" cy="118872"/>
          </a:xfrm>
          <a:prstGeom prst="roundRect">
            <a:avLst>
              <a:gd name="adj" fmla="val 30769"/>
            </a:avLst>
          </a:prstGeom>
          <a:solidFill>
            <a:srgbClr val="1A56E8"/>
          </a:solidFill>
          <a:ln w="12700">
            <a:solidFill>
              <a:srgbClr val="1A56E8"/>
            </a:solidFill>
            <a:prstDash val="solid"/>
          </a:ln>
        </p:spPr>
      </p:sp>
      <p:sp>
        <p:nvSpPr>
          <p:cNvPr id="33" name="Text 31"/>
          <p:cNvSpPr/>
          <p:nvPr/>
        </p:nvSpPr>
        <p:spPr>
          <a:xfrm>
            <a:off x="4754880" y="5138928"/>
            <a:ext cx="2880360" cy="292608"/>
          </a:xfrm>
          <a:prstGeom prst="rect">
            <a:avLst/>
          </a:prstGeom>
          <a:noFill/>
          <a:ln/>
        </p:spPr>
        <p:txBody>
          <a:bodyPr wrap="square" lIns="0" tIns="0" rIns="0" bIns="0" rtlCol="0" anchor="ctr"/>
          <a:lstStyle/>
          <a:p>
            <a:pPr marL="0" indent="0">
              <a:buNone/>
            </a:pPr>
            <a:r>
              <a:rPr lang="en-US" sz="1100" b="1" dirty="0">
                <a:solidFill>
                  <a:srgbClr val="0A2559"/>
                </a:solidFill>
                <a:latin typeface="Calibri" pitchFamily="34" charset="0"/>
                <a:ea typeface="Calibri" pitchFamily="34" charset="-122"/>
                <a:cs typeface="Calibri" pitchFamily="34" charset="-120"/>
              </a:rPr>
              <a:t>Cuántas comparaciones y qué corrección</a:t>
            </a:r>
            <a:endParaRPr lang="en-US" sz="1100" dirty="0"/>
          </a:p>
        </p:txBody>
      </p:sp>
      <p:sp>
        <p:nvSpPr>
          <p:cNvPr id="34" name="Text 32"/>
          <p:cNvSpPr/>
          <p:nvPr/>
        </p:nvSpPr>
        <p:spPr>
          <a:xfrm>
            <a:off x="4498848" y="5486400"/>
            <a:ext cx="3108960" cy="512064"/>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Sin esto nadie puede juzgar el resultado.</a:t>
            </a:r>
            <a:endParaRPr lang="en-US" sz="1050" dirty="0"/>
          </a:p>
        </p:txBody>
      </p:sp>
      <p:sp>
        <p:nvSpPr>
          <p:cNvPr id="35" name="Shape 33"/>
          <p:cNvSpPr/>
          <p:nvPr/>
        </p:nvSpPr>
        <p:spPr>
          <a:xfrm>
            <a:off x="8046720" y="5047488"/>
            <a:ext cx="3520440" cy="1024128"/>
          </a:xfrm>
          <a:prstGeom prst="roundRect">
            <a:avLst>
              <a:gd name="adj" fmla="val 5357"/>
            </a:avLst>
          </a:prstGeom>
          <a:solidFill>
            <a:srgbClr val="FFFFFF"/>
          </a:solidFill>
          <a:ln w="12700">
            <a:solidFill>
              <a:srgbClr val="D2DBEC"/>
            </a:solidFill>
            <a:prstDash val="solid"/>
          </a:ln>
        </p:spPr>
      </p:sp>
      <p:sp>
        <p:nvSpPr>
          <p:cNvPr id="36" name="Shape 34"/>
          <p:cNvSpPr/>
          <p:nvPr/>
        </p:nvSpPr>
        <p:spPr>
          <a:xfrm>
            <a:off x="8247888" y="5221224"/>
            <a:ext cx="118872" cy="118872"/>
          </a:xfrm>
          <a:prstGeom prst="roundRect">
            <a:avLst>
              <a:gd name="adj" fmla="val 30769"/>
            </a:avLst>
          </a:prstGeom>
          <a:solidFill>
            <a:srgbClr val="1A56E8"/>
          </a:solidFill>
          <a:ln w="12700">
            <a:solidFill>
              <a:srgbClr val="1A56E8"/>
            </a:solidFill>
            <a:prstDash val="solid"/>
          </a:ln>
        </p:spPr>
      </p:sp>
      <p:sp>
        <p:nvSpPr>
          <p:cNvPr id="37" name="Text 35"/>
          <p:cNvSpPr/>
          <p:nvPr/>
        </p:nvSpPr>
        <p:spPr>
          <a:xfrm>
            <a:off x="8503920" y="5138928"/>
            <a:ext cx="2880360" cy="292608"/>
          </a:xfrm>
          <a:prstGeom prst="rect">
            <a:avLst/>
          </a:prstGeom>
          <a:noFill/>
          <a:ln/>
        </p:spPr>
        <p:txBody>
          <a:bodyPr wrap="square" lIns="0" tIns="0" rIns="0" bIns="0" rtlCol="0" anchor="ctr"/>
          <a:lstStyle/>
          <a:p>
            <a:pPr marL="0" indent="0">
              <a:buNone/>
            </a:pPr>
            <a:r>
              <a:rPr lang="en-US" sz="1100" b="1" dirty="0">
                <a:solidFill>
                  <a:srgbClr val="0A2559"/>
                </a:solidFill>
                <a:latin typeface="Calibri" pitchFamily="34" charset="0"/>
                <a:ea typeface="Calibri" pitchFamily="34" charset="-122"/>
                <a:cs typeface="Calibri" pitchFamily="34" charset="-120"/>
              </a:rPr>
              <a:t>Lo que la muestra no permite concluir</a:t>
            </a:r>
            <a:endParaRPr lang="en-US" sz="1100" dirty="0"/>
          </a:p>
        </p:txBody>
      </p:sp>
      <p:sp>
        <p:nvSpPr>
          <p:cNvPr id="38" name="Text 36"/>
          <p:cNvSpPr/>
          <p:nvPr/>
        </p:nvSpPr>
        <p:spPr>
          <a:xfrm>
            <a:off x="8247888" y="5486400"/>
            <a:ext cx="3108960" cy="512064"/>
          </a:xfrm>
          <a:prstGeom prst="rect">
            <a:avLst/>
          </a:prstGeom>
          <a:noFill/>
          <a:ln/>
        </p:spPr>
        <p:txBody>
          <a:bodyPr wrap="square" lIns="0" tIns="0" rIns="0" bIns="0" rtlCol="0" anchor="t"/>
          <a:lstStyle/>
          <a:p>
            <a:pPr marL="0" indent="0" algn="l">
              <a:lnSpc>
                <a:spcPct val="104000"/>
              </a:lnSpc>
              <a:buNone/>
            </a:pPr>
            <a:r>
              <a:rPr lang="en-US" sz="1050" dirty="0">
                <a:solidFill>
                  <a:srgbClr val="2C3A55"/>
                </a:solidFill>
                <a:latin typeface="Calibri" pitchFamily="34" charset="0"/>
                <a:ea typeface="Calibri" pitchFamily="34" charset="-122"/>
                <a:cs typeface="Calibri" pitchFamily="34" charset="-120"/>
              </a:rPr>
              <a:t>Es lo que distingue un análisis honesto.</a:t>
            </a:r>
            <a:endParaRPr lang="en-US" sz="1050" dirty="0"/>
          </a:p>
        </p:txBody>
      </p:sp>
      <p:sp>
        <p:nvSpPr>
          <p:cNvPr id="39" name="Text 37"/>
          <p:cNvSpPr/>
          <p:nvPr/>
        </p:nvSpPr>
        <p:spPr>
          <a:xfrm>
            <a:off x="548640" y="625449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El sexto punto es el que más cuesta escribir y el que más credibilidad da: decir qué no se puede concluir con los datos que hay.</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9383268" y="1842755"/>
            <a:ext cx="45720" cy="31765"/>
          </a:xfrm>
          <a:prstGeom prst="rect">
            <a:avLst/>
          </a:prstGeom>
          <a:solidFill>
            <a:srgbClr val="1E4380"/>
          </a:solidFill>
          <a:ln w="12700">
            <a:solidFill>
              <a:srgbClr val="333333"/>
            </a:solidFill>
            <a:prstDash val="solid"/>
          </a:ln>
        </p:spPr>
      </p:sp>
      <p:sp>
        <p:nvSpPr>
          <p:cNvPr id="3" name="Shape 1"/>
          <p:cNvSpPr/>
          <p:nvPr/>
        </p:nvSpPr>
        <p:spPr>
          <a:xfrm>
            <a:off x="9427464" y="1820274"/>
            <a:ext cx="45720" cy="54246"/>
          </a:xfrm>
          <a:prstGeom prst="rect">
            <a:avLst/>
          </a:prstGeom>
          <a:solidFill>
            <a:srgbClr val="1E4380"/>
          </a:solidFill>
          <a:ln w="12700">
            <a:solidFill>
              <a:srgbClr val="333333"/>
            </a:solidFill>
            <a:prstDash val="solid"/>
          </a:ln>
        </p:spPr>
      </p:sp>
      <p:sp>
        <p:nvSpPr>
          <p:cNvPr id="4" name="Shape 2"/>
          <p:cNvSpPr/>
          <p:nvPr/>
        </p:nvSpPr>
        <p:spPr>
          <a:xfrm>
            <a:off x="9471660" y="1785959"/>
            <a:ext cx="45720" cy="88561"/>
          </a:xfrm>
          <a:prstGeom prst="rect">
            <a:avLst/>
          </a:prstGeom>
          <a:solidFill>
            <a:srgbClr val="1E4380"/>
          </a:solidFill>
          <a:ln w="12700">
            <a:solidFill>
              <a:srgbClr val="333333"/>
            </a:solidFill>
            <a:prstDash val="solid"/>
          </a:ln>
        </p:spPr>
      </p:sp>
      <p:sp>
        <p:nvSpPr>
          <p:cNvPr id="5" name="Shape 3"/>
          <p:cNvSpPr/>
          <p:nvPr/>
        </p:nvSpPr>
        <p:spPr>
          <a:xfrm>
            <a:off x="9515856" y="1736300"/>
            <a:ext cx="45720" cy="138220"/>
          </a:xfrm>
          <a:prstGeom prst="rect">
            <a:avLst/>
          </a:prstGeom>
          <a:solidFill>
            <a:srgbClr val="1E4380"/>
          </a:solidFill>
          <a:ln w="12700">
            <a:solidFill>
              <a:srgbClr val="333333"/>
            </a:solidFill>
            <a:prstDash val="solid"/>
          </a:ln>
        </p:spPr>
      </p:sp>
      <p:sp>
        <p:nvSpPr>
          <p:cNvPr id="6" name="Shape 4"/>
          <p:cNvSpPr/>
          <p:nvPr/>
        </p:nvSpPr>
        <p:spPr>
          <a:xfrm>
            <a:off x="9560052" y="1668288"/>
            <a:ext cx="45720" cy="206232"/>
          </a:xfrm>
          <a:prstGeom prst="rect">
            <a:avLst/>
          </a:prstGeom>
          <a:solidFill>
            <a:srgbClr val="1E4380"/>
          </a:solidFill>
          <a:ln w="12700">
            <a:solidFill>
              <a:srgbClr val="333333"/>
            </a:solidFill>
            <a:prstDash val="solid"/>
          </a:ln>
        </p:spPr>
      </p:sp>
      <p:sp>
        <p:nvSpPr>
          <p:cNvPr id="7" name="Shape 5"/>
          <p:cNvSpPr/>
          <p:nvPr/>
        </p:nvSpPr>
        <p:spPr>
          <a:xfrm>
            <a:off x="9604248" y="1580351"/>
            <a:ext cx="45720" cy="294169"/>
          </a:xfrm>
          <a:prstGeom prst="rect">
            <a:avLst/>
          </a:prstGeom>
          <a:solidFill>
            <a:srgbClr val="1E4380"/>
          </a:solidFill>
          <a:ln w="12700">
            <a:solidFill>
              <a:srgbClr val="333333"/>
            </a:solidFill>
            <a:prstDash val="solid"/>
          </a:ln>
        </p:spPr>
      </p:sp>
      <p:sp>
        <p:nvSpPr>
          <p:cNvPr id="8" name="Shape 6"/>
          <p:cNvSpPr/>
          <p:nvPr/>
        </p:nvSpPr>
        <p:spPr>
          <a:xfrm>
            <a:off x="9648444" y="1473384"/>
            <a:ext cx="45720" cy="401136"/>
          </a:xfrm>
          <a:prstGeom prst="rect">
            <a:avLst/>
          </a:prstGeom>
          <a:solidFill>
            <a:srgbClr val="1E4380"/>
          </a:solidFill>
          <a:ln w="12700">
            <a:solidFill>
              <a:srgbClr val="333333"/>
            </a:solidFill>
            <a:prstDash val="solid"/>
          </a:ln>
        </p:spPr>
      </p:sp>
      <p:sp>
        <p:nvSpPr>
          <p:cNvPr id="9" name="Shape 7"/>
          <p:cNvSpPr/>
          <p:nvPr/>
        </p:nvSpPr>
        <p:spPr>
          <a:xfrm>
            <a:off x="9692640" y="1351591"/>
            <a:ext cx="45720" cy="522929"/>
          </a:xfrm>
          <a:prstGeom prst="rect">
            <a:avLst/>
          </a:prstGeom>
          <a:solidFill>
            <a:srgbClr val="1E4380"/>
          </a:solidFill>
          <a:ln w="12700">
            <a:solidFill>
              <a:srgbClr val="333333"/>
            </a:solidFill>
            <a:prstDash val="solid"/>
          </a:ln>
        </p:spPr>
      </p:sp>
      <p:sp>
        <p:nvSpPr>
          <p:cNvPr id="10" name="Shape 8"/>
          <p:cNvSpPr/>
          <p:nvPr/>
        </p:nvSpPr>
        <p:spPr>
          <a:xfrm>
            <a:off x="9736836" y="1222817"/>
            <a:ext cx="45720" cy="651703"/>
          </a:xfrm>
          <a:prstGeom prst="rect">
            <a:avLst/>
          </a:prstGeom>
          <a:solidFill>
            <a:srgbClr val="1E4380"/>
          </a:solidFill>
          <a:ln w="12700">
            <a:solidFill>
              <a:srgbClr val="333333"/>
            </a:solidFill>
            <a:prstDash val="solid"/>
          </a:ln>
        </p:spPr>
      </p:sp>
      <p:sp>
        <p:nvSpPr>
          <p:cNvPr id="11" name="Shape 9"/>
          <p:cNvSpPr/>
          <p:nvPr/>
        </p:nvSpPr>
        <p:spPr>
          <a:xfrm>
            <a:off x="9781032" y="1098074"/>
            <a:ext cx="45720" cy="776446"/>
          </a:xfrm>
          <a:prstGeom prst="rect">
            <a:avLst/>
          </a:prstGeom>
          <a:solidFill>
            <a:srgbClr val="1E4380"/>
          </a:solidFill>
          <a:ln w="12700">
            <a:solidFill>
              <a:srgbClr val="333333"/>
            </a:solidFill>
            <a:prstDash val="solid"/>
          </a:ln>
        </p:spPr>
      </p:sp>
      <p:sp>
        <p:nvSpPr>
          <p:cNvPr id="12" name="Shape 10"/>
          <p:cNvSpPr/>
          <p:nvPr/>
        </p:nvSpPr>
        <p:spPr>
          <a:xfrm>
            <a:off x="9825228" y="990161"/>
            <a:ext cx="45720" cy="884359"/>
          </a:xfrm>
          <a:prstGeom prst="rect">
            <a:avLst/>
          </a:prstGeom>
          <a:solidFill>
            <a:srgbClr val="1E4380"/>
          </a:solidFill>
          <a:ln w="12700">
            <a:solidFill>
              <a:srgbClr val="333333"/>
            </a:solidFill>
            <a:prstDash val="solid"/>
          </a:ln>
        </p:spPr>
      </p:sp>
      <p:sp>
        <p:nvSpPr>
          <p:cNvPr id="13" name="Shape 11"/>
          <p:cNvSpPr/>
          <p:nvPr/>
        </p:nvSpPr>
        <p:spPr>
          <a:xfrm>
            <a:off x="9869424" y="911575"/>
            <a:ext cx="45720" cy="962945"/>
          </a:xfrm>
          <a:prstGeom prst="rect">
            <a:avLst/>
          </a:prstGeom>
          <a:solidFill>
            <a:srgbClr val="1E4380"/>
          </a:solidFill>
          <a:ln w="12700">
            <a:solidFill>
              <a:srgbClr val="333333"/>
            </a:solidFill>
            <a:prstDash val="solid"/>
          </a:ln>
        </p:spPr>
      </p:sp>
      <p:sp>
        <p:nvSpPr>
          <p:cNvPr id="14" name="Shape 12"/>
          <p:cNvSpPr/>
          <p:nvPr/>
        </p:nvSpPr>
        <p:spPr>
          <a:xfrm>
            <a:off x="9913620" y="872147"/>
            <a:ext cx="45720" cy="1002373"/>
          </a:xfrm>
          <a:prstGeom prst="rect">
            <a:avLst/>
          </a:prstGeom>
          <a:solidFill>
            <a:srgbClr val="1E4380"/>
          </a:solidFill>
          <a:ln w="12700">
            <a:solidFill>
              <a:srgbClr val="333333"/>
            </a:solidFill>
            <a:prstDash val="solid"/>
          </a:ln>
        </p:spPr>
      </p:sp>
      <p:sp>
        <p:nvSpPr>
          <p:cNvPr id="15" name="Shape 13"/>
          <p:cNvSpPr/>
          <p:nvPr/>
        </p:nvSpPr>
        <p:spPr>
          <a:xfrm>
            <a:off x="9957816" y="877020"/>
            <a:ext cx="45720" cy="997500"/>
          </a:xfrm>
          <a:prstGeom prst="rect">
            <a:avLst/>
          </a:prstGeom>
          <a:solidFill>
            <a:srgbClr val="1E4380"/>
          </a:solidFill>
          <a:ln w="12700">
            <a:solidFill>
              <a:srgbClr val="333333"/>
            </a:solidFill>
            <a:prstDash val="solid"/>
          </a:ln>
        </p:spPr>
      </p:sp>
      <p:sp>
        <p:nvSpPr>
          <p:cNvPr id="16" name="Shape 14"/>
          <p:cNvSpPr/>
          <p:nvPr/>
        </p:nvSpPr>
        <p:spPr>
          <a:xfrm>
            <a:off x="10002012" y="925551"/>
            <a:ext cx="45720" cy="948969"/>
          </a:xfrm>
          <a:prstGeom prst="rect">
            <a:avLst/>
          </a:prstGeom>
          <a:solidFill>
            <a:srgbClr val="1E4380"/>
          </a:solidFill>
          <a:ln w="12700">
            <a:solidFill>
              <a:srgbClr val="333333"/>
            </a:solidFill>
            <a:prstDash val="solid"/>
          </a:ln>
        </p:spPr>
      </p:sp>
      <p:sp>
        <p:nvSpPr>
          <p:cNvPr id="17" name="Shape 15"/>
          <p:cNvSpPr/>
          <p:nvPr/>
        </p:nvSpPr>
        <p:spPr>
          <a:xfrm>
            <a:off x="10046208" y="1011449"/>
            <a:ext cx="45720" cy="863071"/>
          </a:xfrm>
          <a:prstGeom prst="rect">
            <a:avLst/>
          </a:prstGeom>
          <a:solidFill>
            <a:srgbClr val="1E4380"/>
          </a:solidFill>
          <a:ln w="12700">
            <a:solidFill>
              <a:srgbClr val="333333"/>
            </a:solidFill>
            <a:prstDash val="solid"/>
          </a:ln>
        </p:spPr>
      </p:sp>
      <p:sp>
        <p:nvSpPr>
          <p:cNvPr id="18" name="Shape 16"/>
          <p:cNvSpPr/>
          <p:nvPr/>
        </p:nvSpPr>
        <p:spPr>
          <a:xfrm>
            <a:off x="10090404" y="1124114"/>
            <a:ext cx="45720" cy="750406"/>
          </a:xfrm>
          <a:prstGeom prst="rect">
            <a:avLst/>
          </a:prstGeom>
          <a:solidFill>
            <a:srgbClr val="1E4380"/>
          </a:solidFill>
          <a:ln w="12700">
            <a:solidFill>
              <a:srgbClr val="333333"/>
            </a:solidFill>
            <a:prstDash val="solid"/>
          </a:ln>
        </p:spPr>
      </p:sp>
      <p:sp>
        <p:nvSpPr>
          <p:cNvPr id="19" name="Shape 17"/>
          <p:cNvSpPr/>
          <p:nvPr/>
        </p:nvSpPr>
        <p:spPr>
          <a:xfrm>
            <a:off x="10134600" y="1250783"/>
            <a:ext cx="45720" cy="623737"/>
          </a:xfrm>
          <a:prstGeom prst="rect">
            <a:avLst/>
          </a:prstGeom>
          <a:solidFill>
            <a:srgbClr val="1E4380"/>
          </a:solidFill>
          <a:ln w="12700">
            <a:solidFill>
              <a:srgbClr val="333333"/>
            </a:solidFill>
            <a:prstDash val="solid"/>
          </a:ln>
        </p:spPr>
      </p:sp>
      <p:sp>
        <p:nvSpPr>
          <p:cNvPr id="20" name="Shape 18"/>
          <p:cNvSpPr/>
          <p:nvPr/>
        </p:nvSpPr>
        <p:spPr>
          <a:xfrm>
            <a:off x="10178796" y="1378885"/>
            <a:ext cx="45720" cy="495635"/>
          </a:xfrm>
          <a:prstGeom prst="rect">
            <a:avLst/>
          </a:prstGeom>
          <a:solidFill>
            <a:srgbClr val="1E4380"/>
          </a:solidFill>
          <a:ln w="12700">
            <a:solidFill>
              <a:srgbClr val="333333"/>
            </a:solidFill>
            <a:prstDash val="solid"/>
          </a:ln>
        </p:spPr>
      </p:sp>
      <p:sp>
        <p:nvSpPr>
          <p:cNvPr id="21" name="Shape 19"/>
          <p:cNvSpPr/>
          <p:nvPr/>
        </p:nvSpPr>
        <p:spPr>
          <a:xfrm>
            <a:off x="10222992" y="1498008"/>
            <a:ext cx="45720" cy="376512"/>
          </a:xfrm>
          <a:prstGeom prst="rect">
            <a:avLst/>
          </a:prstGeom>
          <a:solidFill>
            <a:srgbClr val="1E4380"/>
          </a:solidFill>
          <a:ln w="12700">
            <a:solidFill>
              <a:srgbClr val="333333"/>
            </a:solidFill>
            <a:prstDash val="solid"/>
          </a:ln>
        </p:spPr>
      </p:sp>
      <p:sp>
        <p:nvSpPr>
          <p:cNvPr id="22" name="Shape 20"/>
          <p:cNvSpPr/>
          <p:nvPr/>
        </p:nvSpPr>
        <p:spPr>
          <a:xfrm>
            <a:off x="10267188" y="1601088"/>
            <a:ext cx="45720" cy="273432"/>
          </a:xfrm>
          <a:prstGeom prst="rect">
            <a:avLst/>
          </a:prstGeom>
          <a:solidFill>
            <a:srgbClr val="1E4380"/>
          </a:solidFill>
          <a:ln w="12700">
            <a:solidFill>
              <a:srgbClr val="333333"/>
            </a:solidFill>
            <a:prstDash val="solid"/>
          </a:ln>
        </p:spPr>
      </p:sp>
      <p:sp>
        <p:nvSpPr>
          <p:cNvPr id="23" name="Shape 21"/>
          <p:cNvSpPr/>
          <p:nvPr/>
        </p:nvSpPr>
        <p:spPr>
          <a:xfrm>
            <a:off x="10311384" y="1684685"/>
            <a:ext cx="45720" cy="189835"/>
          </a:xfrm>
          <a:prstGeom prst="rect">
            <a:avLst/>
          </a:prstGeom>
          <a:solidFill>
            <a:srgbClr val="1E4380"/>
          </a:solidFill>
          <a:ln w="12700">
            <a:solidFill>
              <a:srgbClr val="333333"/>
            </a:solidFill>
            <a:prstDash val="solid"/>
          </a:ln>
        </p:spPr>
      </p:sp>
      <p:sp>
        <p:nvSpPr>
          <p:cNvPr id="24" name="Shape 22"/>
          <p:cNvSpPr/>
          <p:nvPr/>
        </p:nvSpPr>
        <p:spPr>
          <a:xfrm>
            <a:off x="10355580" y="1748523"/>
            <a:ext cx="45720" cy="125997"/>
          </a:xfrm>
          <a:prstGeom prst="rect">
            <a:avLst/>
          </a:prstGeom>
          <a:solidFill>
            <a:srgbClr val="1E4380"/>
          </a:solidFill>
          <a:ln w="12700">
            <a:solidFill>
              <a:srgbClr val="333333"/>
            </a:solidFill>
            <a:prstDash val="solid"/>
          </a:ln>
        </p:spPr>
      </p:sp>
      <p:sp>
        <p:nvSpPr>
          <p:cNvPr id="25" name="Shape 23"/>
          <p:cNvSpPr/>
          <p:nvPr/>
        </p:nvSpPr>
        <p:spPr>
          <a:xfrm>
            <a:off x="10399776" y="1794574"/>
            <a:ext cx="45720" cy="79946"/>
          </a:xfrm>
          <a:prstGeom prst="rect">
            <a:avLst/>
          </a:prstGeom>
          <a:solidFill>
            <a:srgbClr val="1E4380"/>
          </a:solidFill>
          <a:ln w="12700">
            <a:solidFill>
              <a:srgbClr val="333333"/>
            </a:solidFill>
            <a:prstDash val="solid"/>
          </a:ln>
        </p:spPr>
      </p:sp>
      <p:sp>
        <p:nvSpPr>
          <p:cNvPr id="26" name="Shape 24"/>
          <p:cNvSpPr/>
          <p:nvPr/>
        </p:nvSpPr>
        <p:spPr>
          <a:xfrm>
            <a:off x="10443972" y="1826026"/>
            <a:ext cx="45720" cy="48494"/>
          </a:xfrm>
          <a:prstGeom prst="rect">
            <a:avLst/>
          </a:prstGeom>
          <a:solidFill>
            <a:srgbClr val="1E4380"/>
          </a:solidFill>
          <a:ln w="12700">
            <a:solidFill>
              <a:srgbClr val="333333"/>
            </a:solidFill>
            <a:prstDash val="solid"/>
          </a:ln>
        </p:spPr>
      </p:sp>
      <p:sp>
        <p:nvSpPr>
          <p:cNvPr id="27" name="Shape 25"/>
          <p:cNvSpPr/>
          <p:nvPr/>
        </p:nvSpPr>
        <p:spPr>
          <a:xfrm>
            <a:off x="9427464" y="1844262"/>
            <a:ext cx="45720" cy="30258"/>
          </a:xfrm>
          <a:prstGeom prst="rect">
            <a:avLst/>
          </a:prstGeom>
          <a:solidFill>
            <a:srgbClr val="1E7A5C"/>
          </a:solidFill>
          <a:ln w="12700">
            <a:solidFill>
              <a:srgbClr val="333333"/>
            </a:solidFill>
            <a:prstDash val="solid"/>
          </a:ln>
        </p:spPr>
      </p:sp>
      <p:sp>
        <p:nvSpPr>
          <p:cNvPr id="28" name="Shape 26"/>
          <p:cNvSpPr/>
          <p:nvPr/>
        </p:nvSpPr>
        <p:spPr>
          <a:xfrm>
            <a:off x="9471660" y="1823275"/>
            <a:ext cx="45720" cy="51245"/>
          </a:xfrm>
          <a:prstGeom prst="rect">
            <a:avLst/>
          </a:prstGeom>
          <a:solidFill>
            <a:srgbClr val="1E7A5C"/>
          </a:solidFill>
          <a:ln w="12700">
            <a:solidFill>
              <a:srgbClr val="333333"/>
            </a:solidFill>
            <a:prstDash val="solid"/>
          </a:ln>
        </p:spPr>
      </p:sp>
      <p:sp>
        <p:nvSpPr>
          <p:cNvPr id="29" name="Shape 27"/>
          <p:cNvSpPr/>
          <p:nvPr/>
        </p:nvSpPr>
        <p:spPr>
          <a:xfrm>
            <a:off x="9515856" y="1791376"/>
            <a:ext cx="45720" cy="83144"/>
          </a:xfrm>
          <a:prstGeom prst="rect">
            <a:avLst/>
          </a:prstGeom>
          <a:solidFill>
            <a:srgbClr val="1E7A5C"/>
          </a:solidFill>
          <a:ln w="12700">
            <a:solidFill>
              <a:srgbClr val="333333"/>
            </a:solidFill>
            <a:prstDash val="solid"/>
          </a:ln>
        </p:spPr>
      </p:sp>
      <p:sp>
        <p:nvSpPr>
          <p:cNvPr id="30" name="Shape 28"/>
          <p:cNvSpPr/>
          <p:nvPr/>
        </p:nvSpPr>
        <p:spPr>
          <a:xfrm>
            <a:off x="9560052" y="1745285"/>
            <a:ext cx="45720" cy="129235"/>
          </a:xfrm>
          <a:prstGeom prst="rect">
            <a:avLst/>
          </a:prstGeom>
          <a:solidFill>
            <a:srgbClr val="1E7A5C"/>
          </a:solidFill>
          <a:ln w="12700">
            <a:solidFill>
              <a:srgbClr val="333333"/>
            </a:solidFill>
            <a:prstDash val="solid"/>
          </a:ln>
        </p:spPr>
      </p:sp>
      <p:sp>
        <p:nvSpPr>
          <p:cNvPr id="31" name="Shape 29"/>
          <p:cNvSpPr/>
          <p:nvPr/>
        </p:nvSpPr>
        <p:spPr>
          <a:xfrm>
            <a:off x="9604248" y="1682080"/>
            <a:ext cx="45720" cy="192440"/>
          </a:xfrm>
          <a:prstGeom prst="rect">
            <a:avLst/>
          </a:prstGeom>
          <a:solidFill>
            <a:srgbClr val="1E7A5C"/>
          </a:solidFill>
          <a:ln w="12700">
            <a:solidFill>
              <a:srgbClr val="333333"/>
            </a:solidFill>
            <a:prstDash val="solid"/>
          </a:ln>
        </p:spPr>
      </p:sp>
      <p:sp>
        <p:nvSpPr>
          <p:cNvPr id="32" name="Shape 30"/>
          <p:cNvSpPr/>
          <p:nvPr/>
        </p:nvSpPr>
        <p:spPr>
          <a:xfrm>
            <a:off x="9648444" y="1599997"/>
            <a:ext cx="45720" cy="274523"/>
          </a:xfrm>
          <a:prstGeom prst="rect">
            <a:avLst/>
          </a:prstGeom>
          <a:solidFill>
            <a:srgbClr val="1E7A5C"/>
          </a:solidFill>
          <a:ln w="12700">
            <a:solidFill>
              <a:srgbClr val="333333"/>
            </a:solidFill>
            <a:prstDash val="solid"/>
          </a:ln>
        </p:spPr>
      </p:sp>
      <p:sp>
        <p:nvSpPr>
          <p:cNvPr id="33" name="Shape 31"/>
          <p:cNvSpPr/>
          <p:nvPr/>
        </p:nvSpPr>
        <p:spPr>
          <a:xfrm>
            <a:off x="9692640" y="1499349"/>
            <a:ext cx="45720" cy="375171"/>
          </a:xfrm>
          <a:prstGeom prst="rect">
            <a:avLst/>
          </a:prstGeom>
          <a:solidFill>
            <a:srgbClr val="1E7A5C"/>
          </a:solidFill>
          <a:ln w="12700">
            <a:solidFill>
              <a:srgbClr val="333333"/>
            </a:solidFill>
            <a:prstDash val="solid"/>
          </a:ln>
        </p:spPr>
      </p:sp>
      <p:sp>
        <p:nvSpPr>
          <p:cNvPr id="34" name="Shape 32"/>
          <p:cNvSpPr/>
          <p:nvPr/>
        </p:nvSpPr>
        <p:spPr>
          <a:xfrm>
            <a:off x="9736836" y="1383332"/>
            <a:ext cx="45720" cy="491188"/>
          </a:xfrm>
          <a:prstGeom prst="rect">
            <a:avLst/>
          </a:prstGeom>
          <a:solidFill>
            <a:srgbClr val="1E7A5C"/>
          </a:solidFill>
          <a:ln w="12700">
            <a:solidFill>
              <a:srgbClr val="333333"/>
            </a:solidFill>
            <a:prstDash val="solid"/>
          </a:ln>
        </p:spPr>
      </p:sp>
      <p:sp>
        <p:nvSpPr>
          <p:cNvPr id="35" name="Shape 33"/>
          <p:cNvSpPr/>
          <p:nvPr/>
        </p:nvSpPr>
        <p:spPr>
          <a:xfrm>
            <a:off x="9781032" y="1258444"/>
            <a:ext cx="45720" cy="616076"/>
          </a:xfrm>
          <a:prstGeom prst="rect">
            <a:avLst/>
          </a:prstGeom>
          <a:solidFill>
            <a:srgbClr val="1E7A5C"/>
          </a:solidFill>
          <a:ln w="12700">
            <a:solidFill>
              <a:srgbClr val="333333"/>
            </a:solidFill>
            <a:prstDash val="solid"/>
          </a:ln>
        </p:spPr>
      </p:sp>
      <p:sp>
        <p:nvSpPr>
          <p:cNvPr id="36" name="Shape 34"/>
          <p:cNvSpPr/>
          <p:nvPr/>
        </p:nvSpPr>
        <p:spPr>
          <a:xfrm>
            <a:off x="9825228" y="1134254"/>
            <a:ext cx="45720" cy="740266"/>
          </a:xfrm>
          <a:prstGeom prst="rect">
            <a:avLst/>
          </a:prstGeom>
          <a:solidFill>
            <a:srgbClr val="1E7A5C"/>
          </a:solidFill>
          <a:ln w="12700">
            <a:solidFill>
              <a:srgbClr val="333333"/>
            </a:solidFill>
            <a:prstDash val="solid"/>
          </a:ln>
        </p:spPr>
      </p:sp>
      <p:sp>
        <p:nvSpPr>
          <p:cNvPr id="37" name="Shape 35"/>
          <p:cNvSpPr/>
          <p:nvPr/>
        </p:nvSpPr>
        <p:spPr>
          <a:xfrm>
            <a:off x="9869424" y="1022383"/>
            <a:ext cx="45720" cy="852137"/>
          </a:xfrm>
          <a:prstGeom prst="rect">
            <a:avLst/>
          </a:prstGeom>
          <a:solidFill>
            <a:srgbClr val="1E7A5C"/>
          </a:solidFill>
          <a:ln w="12700">
            <a:solidFill>
              <a:srgbClr val="333333"/>
            </a:solidFill>
            <a:prstDash val="solid"/>
          </a:ln>
        </p:spPr>
      </p:sp>
      <p:sp>
        <p:nvSpPr>
          <p:cNvPr id="38" name="Shape 36"/>
          <p:cNvSpPr/>
          <p:nvPr/>
        </p:nvSpPr>
        <p:spPr>
          <a:xfrm>
            <a:off x="9913620" y="934800"/>
            <a:ext cx="45720" cy="939720"/>
          </a:xfrm>
          <a:prstGeom prst="rect">
            <a:avLst/>
          </a:prstGeom>
          <a:solidFill>
            <a:srgbClr val="1E7A5C"/>
          </a:solidFill>
          <a:ln w="12700">
            <a:solidFill>
              <a:srgbClr val="333333"/>
            </a:solidFill>
            <a:prstDash val="solid"/>
          </a:ln>
        </p:spPr>
      </p:sp>
      <p:sp>
        <p:nvSpPr>
          <p:cNvPr id="39" name="Shape 37"/>
          <p:cNvSpPr/>
          <p:nvPr/>
        </p:nvSpPr>
        <p:spPr>
          <a:xfrm>
            <a:off x="9957816" y="881735"/>
            <a:ext cx="45720" cy="992785"/>
          </a:xfrm>
          <a:prstGeom prst="rect">
            <a:avLst/>
          </a:prstGeom>
          <a:solidFill>
            <a:srgbClr val="1E7A5C"/>
          </a:solidFill>
          <a:ln w="12700">
            <a:solidFill>
              <a:srgbClr val="333333"/>
            </a:solidFill>
            <a:prstDash val="solid"/>
          </a:ln>
        </p:spPr>
      </p:sp>
      <p:sp>
        <p:nvSpPr>
          <p:cNvPr id="40" name="Shape 38"/>
          <p:cNvSpPr/>
          <p:nvPr/>
        </p:nvSpPr>
        <p:spPr>
          <a:xfrm>
            <a:off x="10002012" y="869720"/>
            <a:ext cx="45720" cy="1004800"/>
          </a:xfrm>
          <a:prstGeom prst="rect">
            <a:avLst/>
          </a:prstGeom>
          <a:solidFill>
            <a:srgbClr val="1E7A5C"/>
          </a:solidFill>
          <a:ln w="12700">
            <a:solidFill>
              <a:srgbClr val="333333"/>
            </a:solidFill>
            <a:prstDash val="solid"/>
          </a:ln>
        </p:spPr>
      </p:sp>
      <p:sp>
        <p:nvSpPr>
          <p:cNvPr id="41" name="Shape 39"/>
          <p:cNvSpPr/>
          <p:nvPr/>
        </p:nvSpPr>
        <p:spPr>
          <a:xfrm>
            <a:off x="10046208" y="900267"/>
            <a:ext cx="45720" cy="974253"/>
          </a:xfrm>
          <a:prstGeom prst="rect">
            <a:avLst/>
          </a:prstGeom>
          <a:solidFill>
            <a:srgbClr val="1E7A5C"/>
          </a:solidFill>
          <a:ln w="12700">
            <a:solidFill>
              <a:srgbClr val="333333"/>
            </a:solidFill>
            <a:prstDash val="solid"/>
          </a:ln>
        </p:spPr>
      </p:sp>
      <p:sp>
        <p:nvSpPr>
          <p:cNvPr id="42" name="Shape 40"/>
          <p:cNvSpPr/>
          <p:nvPr/>
        </p:nvSpPr>
        <p:spPr>
          <a:xfrm>
            <a:off x="10090404" y="969556"/>
            <a:ext cx="45720" cy="904964"/>
          </a:xfrm>
          <a:prstGeom prst="rect">
            <a:avLst/>
          </a:prstGeom>
          <a:solidFill>
            <a:srgbClr val="1E7A5C"/>
          </a:solidFill>
          <a:ln w="12700">
            <a:solidFill>
              <a:srgbClr val="333333"/>
            </a:solidFill>
            <a:prstDash val="solid"/>
          </a:ln>
        </p:spPr>
      </p:sp>
      <p:sp>
        <p:nvSpPr>
          <p:cNvPr id="43" name="Shape 41"/>
          <p:cNvSpPr/>
          <p:nvPr/>
        </p:nvSpPr>
        <p:spPr>
          <a:xfrm>
            <a:off x="10134600" y="1069219"/>
            <a:ext cx="45720" cy="805301"/>
          </a:xfrm>
          <a:prstGeom prst="rect">
            <a:avLst/>
          </a:prstGeom>
          <a:solidFill>
            <a:srgbClr val="1E7A5C"/>
          </a:solidFill>
          <a:ln w="12700">
            <a:solidFill>
              <a:srgbClr val="333333"/>
            </a:solidFill>
            <a:prstDash val="solid"/>
          </a:ln>
        </p:spPr>
      </p:sp>
      <p:sp>
        <p:nvSpPr>
          <p:cNvPr id="44" name="Shape 42"/>
          <p:cNvSpPr/>
          <p:nvPr/>
        </p:nvSpPr>
        <p:spPr>
          <a:xfrm>
            <a:off x="10178796" y="1188000"/>
            <a:ext cx="45720" cy="686520"/>
          </a:xfrm>
          <a:prstGeom prst="rect">
            <a:avLst/>
          </a:prstGeom>
          <a:solidFill>
            <a:srgbClr val="1E7A5C"/>
          </a:solidFill>
          <a:ln w="12700">
            <a:solidFill>
              <a:srgbClr val="333333"/>
            </a:solidFill>
            <a:prstDash val="solid"/>
          </a:ln>
        </p:spPr>
      </p:sp>
      <p:sp>
        <p:nvSpPr>
          <p:cNvPr id="45" name="Shape 43"/>
          <p:cNvSpPr/>
          <p:nvPr/>
        </p:nvSpPr>
        <p:spPr>
          <a:xfrm>
            <a:off x="10222992" y="1313839"/>
            <a:ext cx="45720" cy="560681"/>
          </a:xfrm>
          <a:prstGeom prst="rect">
            <a:avLst/>
          </a:prstGeom>
          <a:solidFill>
            <a:srgbClr val="1E7A5C"/>
          </a:solidFill>
          <a:ln w="12700">
            <a:solidFill>
              <a:srgbClr val="333333"/>
            </a:solidFill>
            <a:prstDash val="solid"/>
          </a:ln>
        </p:spPr>
      </p:sp>
      <p:sp>
        <p:nvSpPr>
          <p:cNvPr id="46" name="Shape 44"/>
          <p:cNvSpPr/>
          <p:nvPr/>
        </p:nvSpPr>
        <p:spPr>
          <a:xfrm>
            <a:off x="10267188" y="1435842"/>
            <a:ext cx="45720" cy="438678"/>
          </a:xfrm>
          <a:prstGeom prst="rect">
            <a:avLst/>
          </a:prstGeom>
          <a:solidFill>
            <a:srgbClr val="1E7A5C"/>
          </a:solidFill>
          <a:ln w="12700">
            <a:solidFill>
              <a:srgbClr val="333333"/>
            </a:solidFill>
            <a:prstDash val="solid"/>
          </a:ln>
        </p:spPr>
      </p:sp>
      <p:sp>
        <p:nvSpPr>
          <p:cNvPr id="47" name="Shape 45"/>
          <p:cNvSpPr/>
          <p:nvPr/>
        </p:nvSpPr>
        <p:spPr>
          <a:xfrm>
            <a:off x="10311384" y="1545711"/>
            <a:ext cx="45720" cy="328809"/>
          </a:xfrm>
          <a:prstGeom prst="rect">
            <a:avLst/>
          </a:prstGeom>
          <a:solidFill>
            <a:srgbClr val="1E7A5C"/>
          </a:solidFill>
          <a:ln w="12700">
            <a:solidFill>
              <a:srgbClr val="333333"/>
            </a:solidFill>
            <a:prstDash val="solid"/>
          </a:ln>
        </p:spPr>
      </p:sp>
      <p:sp>
        <p:nvSpPr>
          <p:cNvPr id="48" name="Shape 46"/>
          <p:cNvSpPr/>
          <p:nvPr/>
        </p:nvSpPr>
        <p:spPr>
          <a:xfrm>
            <a:off x="10355580" y="1638413"/>
            <a:ext cx="45720" cy="236107"/>
          </a:xfrm>
          <a:prstGeom prst="rect">
            <a:avLst/>
          </a:prstGeom>
          <a:solidFill>
            <a:srgbClr val="1E7A5C"/>
          </a:solidFill>
          <a:ln w="12700">
            <a:solidFill>
              <a:srgbClr val="333333"/>
            </a:solidFill>
            <a:prstDash val="solid"/>
          </a:ln>
        </p:spPr>
      </p:sp>
      <p:sp>
        <p:nvSpPr>
          <p:cNvPr id="49" name="Shape 47"/>
          <p:cNvSpPr/>
          <p:nvPr/>
        </p:nvSpPr>
        <p:spPr>
          <a:xfrm>
            <a:off x="10399776" y="1712099"/>
            <a:ext cx="45720" cy="162421"/>
          </a:xfrm>
          <a:prstGeom prst="rect">
            <a:avLst/>
          </a:prstGeom>
          <a:solidFill>
            <a:srgbClr val="1E7A5C"/>
          </a:solidFill>
          <a:ln w="12700">
            <a:solidFill>
              <a:srgbClr val="333333"/>
            </a:solidFill>
            <a:prstDash val="solid"/>
          </a:ln>
        </p:spPr>
      </p:sp>
      <p:sp>
        <p:nvSpPr>
          <p:cNvPr id="50" name="Shape 48"/>
          <p:cNvSpPr/>
          <p:nvPr/>
        </p:nvSpPr>
        <p:spPr>
          <a:xfrm>
            <a:off x="10443972" y="1767481"/>
            <a:ext cx="45720" cy="107039"/>
          </a:xfrm>
          <a:prstGeom prst="rect">
            <a:avLst/>
          </a:prstGeom>
          <a:solidFill>
            <a:srgbClr val="1E7A5C"/>
          </a:solidFill>
          <a:ln w="12700">
            <a:solidFill>
              <a:srgbClr val="333333"/>
            </a:solidFill>
            <a:prstDash val="solid"/>
          </a:ln>
        </p:spPr>
      </p:sp>
      <p:sp>
        <p:nvSpPr>
          <p:cNvPr id="51" name="Shape 49"/>
          <p:cNvSpPr/>
          <p:nvPr/>
        </p:nvSpPr>
        <p:spPr>
          <a:xfrm>
            <a:off x="10488168" y="1806941"/>
            <a:ext cx="45720" cy="67579"/>
          </a:xfrm>
          <a:prstGeom prst="rect">
            <a:avLst/>
          </a:prstGeom>
          <a:solidFill>
            <a:srgbClr val="1E7A5C"/>
          </a:solidFill>
          <a:ln w="12700">
            <a:solidFill>
              <a:srgbClr val="333333"/>
            </a:solidFill>
            <a:prstDash val="solid"/>
          </a:ln>
        </p:spPr>
      </p:sp>
      <p:sp>
        <p:nvSpPr>
          <p:cNvPr id="52" name="Shape 50"/>
          <p:cNvSpPr/>
          <p:nvPr/>
        </p:nvSpPr>
        <p:spPr>
          <a:xfrm>
            <a:off x="10532364" y="1833646"/>
            <a:ext cx="45720" cy="40874"/>
          </a:xfrm>
          <a:prstGeom prst="rect">
            <a:avLst/>
          </a:prstGeom>
          <a:solidFill>
            <a:srgbClr val="1E7A5C"/>
          </a:solidFill>
          <a:ln w="12700">
            <a:solidFill>
              <a:srgbClr val="333333"/>
            </a:solidFill>
            <a:prstDash val="solid"/>
          </a:ln>
        </p:spPr>
      </p:sp>
      <p:sp>
        <p:nvSpPr>
          <p:cNvPr id="53" name="Shape 51"/>
          <p:cNvSpPr/>
          <p:nvPr/>
        </p:nvSpPr>
        <p:spPr>
          <a:xfrm>
            <a:off x="9029700" y="1733002"/>
            <a:ext cx="45720" cy="141518"/>
          </a:xfrm>
          <a:prstGeom prst="rect">
            <a:avLst/>
          </a:prstGeom>
          <a:solidFill>
            <a:srgbClr val="E6115E"/>
          </a:solidFill>
          <a:ln w="12700">
            <a:solidFill>
              <a:srgbClr val="333333"/>
            </a:solidFill>
            <a:prstDash val="solid"/>
          </a:ln>
        </p:spPr>
      </p:sp>
      <p:sp>
        <p:nvSpPr>
          <p:cNvPr id="54" name="Shape 52"/>
          <p:cNvSpPr/>
          <p:nvPr/>
        </p:nvSpPr>
        <p:spPr>
          <a:xfrm>
            <a:off x="9073896" y="1716504"/>
            <a:ext cx="45720" cy="158016"/>
          </a:xfrm>
          <a:prstGeom prst="rect">
            <a:avLst/>
          </a:prstGeom>
          <a:solidFill>
            <a:srgbClr val="E6115E"/>
          </a:solidFill>
          <a:ln w="12700">
            <a:solidFill>
              <a:srgbClr val="333333"/>
            </a:solidFill>
            <a:prstDash val="solid"/>
          </a:ln>
        </p:spPr>
      </p:sp>
      <p:sp>
        <p:nvSpPr>
          <p:cNvPr id="55" name="Shape 53"/>
          <p:cNvSpPr/>
          <p:nvPr/>
        </p:nvSpPr>
        <p:spPr>
          <a:xfrm>
            <a:off x="9118092" y="1698774"/>
            <a:ext cx="45720" cy="175746"/>
          </a:xfrm>
          <a:prstGeom prst="rect">
            <a:avLst/>
          </a:prstGeom>
          <a:solidFill>
            <a:srgbClr val="E6115E"/>
          </a:solidFill>
          <a:ln w="12700">
            <a:solidFill>
              <a:srgbClr val="333333"/>
            </a:solidFill>
            <a:prstDash val="solid"/>
          </a:ln>
        </p:spPr>
      </p:sp>
      <p:sp>
        <p:nvSpPr>
          <p:cNvPr id="56" name="Shape 54"/>
          <p:cNvSpPr/>
          <p:nvPr/>
        </p:nvSpPr>
        <p:spPr>
          <a:xfrm>
            <a:off x="9162288" y="1679821"/>
            <a:ext cx="45720" cy="194699"/>
          </a:xfrm>
          <a:prstGeom prst="rect">
            <a:avLst/>
          </a:prstGeom>
          <a:solidFill>
            <a:srgbClr val="E6115E"/>
          </a:solidFill>
          <a:ln w="12700">
            <a:solidFill>
              <a:srgbClr val="333333"/>
            </a:solidFill>
            <a:prstDash val="solid"/>
          </a:ln>
        </p:spPr>
      </p:sp>
      <p:sp>
        <p:nvSpPr>
          <p:cNvPr id="57" name="Shape 55"/>
          <p:cNvSpPr/>
          <p:nvPr/>
        </p:nvSpPr>
        <p:spPr>
          <a:xfrm>
            <a:off x="9206484" y="1659668"/>
            <a:ext cx="45720" cy="214852"/>
          </a:xfrm>
          <a:prstGeom prst="rect">
            <a:avLst/>
          </a:prstGeom>
          <a:solidFill>
            <a:srgbClr val="E6115E"/>
          </a:solidFill>
          <a:ln w="12700">
            <a:solidFill>
              <a:srgbClr val="333333"/>
            </a:solidFill>
            <a:prstDash val="solid"/>
          </a:ln>
        </p:spPr>
      </p:sp>
      <p:sp>
        <p:nvSpPr>
          <p:cNvPr id="58" name="Shape 56"/>
          <p:cNvSpPr/>
          <p:nvPr/>
        </p:nvSpPr>
        <p:spPr>
          <a:xfrm>
            <a:off x="9250680" y="1638359"/>
            <a:ext cx="45720" cy="236161"/>
          </a:xfrm>
          <a:prstGeom prst="rect">
            <a:avLst/>
          </a:prstGeom>
          <a:solidFill>
            <a:srgbClr val="E6115E"/>
          </a:solidFill>
          <a:ln w="12700">
            <a:solidFill>
              <a:srgbClr val="333333"/>
            </a:solidFill>
            <a:prstDash val="solid"/>
          </a:ln>
        </p:spPr>
      </p:sp>
      <p:sp>
        <p:nvSpPr>
          <p:cNvPr id="59" name="Shape 57"/>
          <p:cNvSpPr/>
          <p:nvPr/>
        </p:nvSpPr>
        <p:spPr>
          <a:xfrm>
            <a:off x="9294876" y="1615953"/>
            <a:ext cx="45720" cy="258567"/>
          </a:xfrm>
          <a:prstGeom prst="rect">
            <a:avLst/>
          </a:prstGeom>
          <a:solidFill>
            <a:srgbClr val="E6115E"/>
          </a:solidFill>
          <a:ln w="12700">
            <a:solidFill>
              <a:srgbClr val="333333"/>
            </a:solidFill>
            <a:prstDash val="solid"/>
          </a:ln>
        </p:spPr>
      </p:sp>
      <p:sp>
        <p:nvSpPr>
          <p:cNvPr id="60" name="Shape 58"/>
          <p:cNvSpPr/>
          <p:nvPr/>
        </p:nvSpPr>
        <p:spPr>
          <a:xfrm>
            <a:off x="9339072" y="1592530"/>
            <a:ext cx="45720" cy="281990"/>
          </a:xfrm>
          <a:prstGeom prst="rect">
            <a:avLst/>
          </a:prstGeom>
          <a:solidFill>
            <a:srgbClr val="E6115E"/>
          </a:solidFill>
          <a:ln w="12700">
            <a:solidFill>
              <a:srgbClr val="333333"/>
            </a:solidFill>
            <a:prstDash val="solid"/>
          </a:ln>
        </p:spPr>
      </p:sp>
      <p:sp>
        <p:nvSpPr>
          <p:cNvPr id="61" name="Shape 59"/>
          <p:cNvSpPr/>
          <p:nvPr/>
        </p:nvSpPr>
        <p:spPr>
          <a:xfrm>
            <a:off x="9383268" y="1568189"/>
            <a:ext cx="45720" cy="306331"/>
          </a:xfrm>
          <a:prstGeom prst="rect">
            <a:avLst/>
          </a:prstGeom>
          <a:solidFill>
            <a:srgbClr val="E6115E"/>
          </a:solidFill>
          <a:ln w="12700">
            <a:solidFill>
              <a:srgbClr val="333333"/>
            </a:solidFill>
            <a:prstDash val="solid"/>
          </a:ln>
        </p:spPr>
      </p:sp>
      <p:sp>
        <p:nvSpPr>
          <p:cNvPr id="62" name="Shape 60"/>
          <p:cNvSpPr/>
          <p:nvPr/>
        </p:nvSpPr>
        <p:spPr>
          <a:xfrm>
            <a:off x="9427464" y="1543052"/>
            <a:ext cx="45720" cy="331468"/>
          </a:xfrm>
          <a:prstGeom prst="rect">
            <a:avLst/>
          </a:prstGeom>
          <a:solidFill>
            <a:srgbClr val="E6115E"/>
          </a:solidFill>
          <a:ln w="12700">
            <a:solidFill>
              <a:srgbClr val="333333"/>
            </a:solidFill>
            <a:prstDash val="solid"/>
          </a:ln>
        </p:spPr>
      </p:sp>
      <p:sp>
        <p:nvSpPr>
          <p:cNvPr id="63" name="Shape 61"/>
          <p:cNvSpPr/>
          <p:nvPr/>
        </p:nvSpPr>
        <p:spPr>
          <a:xfrm>
            <a:off x="9471660" y="1517257"/>
            <a:ext cx="45720" cy="357263"/>
          </a:xfrm>
          <a:prstGeom prst="rect">
            <a:avLst/>
          </a:prstGeom>
          <a:solidFill>
            <a:srgbClr val="E6115E"/>
          </a:solidFill>
          <a:ln w="12700">
            <a:solidFill>
              <a:srgbClr val="333333"/>
            </a:solidFill>
            <a:prstDash val="solid"/>
          </a:ln>
        </p:spPr>
      </p:sp>
      <p:sp>
        <p:nvSpPr>
          <p:cNvPr id="64" name="Shape 62"/>
          <p:cNvSpPr/>
          <p:nvPr/>
        </p:nvSpPr>
        <p:spPr>
          <a:xfrm>
            <a:off x="9515856" y="1490963"/>
            <a:ext cx="45720" cy="383557"/>
          </a:xfrm>
          <a:prstGeom prst="rect">
            <a:avLst/>
          </a:prstGeom>
          <a:solidFill>
            <a:srgbClr val="E6115E"/>
          </a:solidFill>
          <a:ln w="12700">
            <a:solidFill>
              <a:srgbClr val="333333"/>
            </a:solidFill>
            <a:prstDash val="solid"/>
          </a:ln>
        </p:spPr>
      </p:sp>
      <p:sp>
        <p:nvSpPr>
          <p:cNvPr id="65" name="Shape 63"/>
          <p:cNvSpPr/>
          <p:nvPr/>
        </p:nvSpPr>
        <p:spPr>
          <a:xfrm>
            <a:off x="9560052" y="1464347"/>
            <a:ext cx="45720" cy="410173"/>
          </a:xfrm>
          <a:prstGeom prst="rect">
            <a:avLst/>
          </a:prstGeom>
          <a:solidFill>
            <a:srgbClr val="E6115E"/>
          </a:solidFill>
          <a:ln w="12700">
            <a:solidFill>
              <a:srgbClr val="333333"/>
            </a:solidFill>
            <a:prstDash val="solid"/>
          </a:ln>
        </p:spPr>
      </p:sp>
      <p:sp>
        <p:nvSpPr>
          <p:cNvPr id="66" name="Shape 64"/>
          <p:cNvSpPr/>
          <p:nvPr/>
        </p:nvSpPr>
        <p:spPr>
          <a:xfrm>
            <a:off x="9604248" y="1437602"/>
            <a:ext cx="45720" cy="436918"/>
          </a:xfrm>
          <a:prstGeom prst="rect">
            <a:avLst/>
          </a:prstGeom>
          <a:solidFill>
            <a:srgbClr val="E6115E"/>
          </a:solidFill>
          <a:ln w="12700">
            <a:solidFill>
              <a:srgbClr val="333333"/>
            </a:solidFill>
            <a:prstDash val="solid"/>
          </a:ln>
        </p:spPr>
      </p:sp>
      <p:sp>
        <p:nvSpPr>
          <p:cNvPr id="67" name="Shape 65"/>
          <p:cNvSpPr/>
          <p:nvPr/>
        </p:nvSpPr>
        <p:spPr>
          <a:xfrm>
            <a:off x="9648444" y="1410936"/>
            <a:ext cx="45720" cy="463584"/>
          </a:xfrm>
          <a:prstGeom prst="rect">
            <a:avLst/>
          </a:prstGeom>
          <a:solidFill>
            <a:srgbClr val="E6115E"/>
          </a:solidFill>
          <a:ln w="12700">
            <a:solidFill>
              <a:srgbClr val="333333"/>
            </a:solidFill>
            <a:prstDash val="solid"/>
          </a:ln>
        </p:spPr>
      </p:sp>
      <p:sp>
        <p:nvSpPr>
          <p:cNvPr id="68" name="Shape 66"/>
          <p:cNvSpPr/>
          <p:nvPr/>
        </p:nvSpPr>
        <p:spPr>
          <a:xfrm>
            <a:off x="9692640" y="1384571"/>
            <a:ext cx="45720" cy="489949"/>
          </a:xfrm>
          <a:prstGeom prst="rect">
            <a:avLst/>
          </a:prstGeom>
          <a:solidFill>
            <a:srgbClr val="E6115E"/>
          </a:solidFill>
          <a:ln w="12700">
            <a:solidFill>
              <a:srgbClr val="333333"/>
            </a:solidFill>
            <a:prstDash val="solid"/>
          </a:ln>
        </p:spPr>
      </p:sp>
      <p:sp>
        <p:nvSpPr>
          <p:cNvPr id="69" name="Shape 67"/>
          <p:cNvSpPr/>
          <p:nvPr/>
        </p:nvSpPr>
        <p:spPr>
          <a:xfrm>
            <a:off x="9736836" y="1358734"/>
            <a:ext cx="45720" cy="515786"/>
          </a:xfrm>
          <a:prstGeom prst="rect">
            <a:avLst/>
          </a:prstGeom>
          <a:solidFill>
            <a:srgbClr val="E6115E"/>
          </a:solidFill>
          <a:ln w="12700">
            <a:solidFill>
              <a:srgbClr val="333333"/>
            </a:solidFill>
            <a:prstDash val="solid"/>
          </a:ln>
        </p:spPr>
      </p:sp>
      <p:sp>
        <p:nvSpPr>
          <p:cNvPr id="70" name="Shape 68"/>
          <p:cNvSpPr/>
          <p:nvPr/>
        </p:nvSpPr>
        <p:spPr>
          <a:xfrm>
            <a:off x="9781032" y="1333661"/>
            <a:ext cx="45720" cy="540859"/>
          </a:xfrm>
          <a:prstGeom prst="rect">
            <a:avLst/>
          </a:prstGeom>
          <a:solidFill>
            <a:srgbClr val="E6115E"/>
          </a:solidFill>
          <a:ln w="12700">
            <a:solidFill>
              <a:srgbClr val="333333"/>
            </a:solidFill>
            <a:prstDash val="solid"/>
          </a:ln>
        </p:spPr>
      </p:sp>
      <p:sp>
        <p:nvSpPr>
          <p:cNvPr id="71" name="Shape 69"/>
          <p:cNvSpPr/>
          <p:nvPr/>
        </p:nvSpPr>
        <p:spPr>
          <a:xfrm>
            <a:off x="9825228" y="1309592"/>
            <a:ext cx="45720" cy="564928"/>
          </a:xfrm>
          <a:prstGeom prst="rect">
            <a:avLst/>
          </a:prstGeom>
          <a:solidFill>
            <a:srgbClr val="E6115E"/>
          </a:solidFill>
          <a:ln w="12700">
            <a:solidFill>
              <a:srgbClr val="333333"/>
            </a:solidFill>
            <a:prstDash val="solid"/>
          </a:ln>
        </p:spPr>
      </p:sp>
      <p:sp>
        <p:nvSpPr>
          <p:cNvPr id="72" name="Shape 70"/>
          <p:cNvSpPr/>
          <p:nvPr/>
        </p:nvSpPr>
        <p:spPr>
          <a:xfrm>
            <a:off x="9869424" y="1286763"/>
            <a:ext cx="45720" cy="587757"/>
          </a:xfrm>
          <a:prstGeom prst="rect">
            <a:avLst/>
          </a:prstGeom>
          <a:solidFill>
            <a:srgbClr val="E6115E"/>
          </a:solidFill>
          <a:ln w="12700">
            <a:solidFill>
              <a:srgbClr val="333333"/>
            </a:solidFill>
            <a:prstDash val="solid"/>
          </a:ln>
        </p:spPr>
      </p:sp>
      <p:sp>
        <p:nvSpPr>
          <p:cNvPr id="73" name="Shape 71"/>
          <p:cNvSpPr/>
          <p:nvPr/>
        </p:nvSpPr>
        <p:spPr>
          <a:xfrm>
            <a:off x="9913620" y="1265408"/>
            <a:ext cx="45720" cy="609112"/>
          </a:xfrm>
          <a:prstGeom prst="rect">
            <a:avLst/>
          </a:prstGeom>
          <a:solidFill>
            <a:srgbClr val="E6115E"/>
          </a:solidFill>
          <a:ln w="12700">
            <a:solidFill>
              <a:srgbClr val="333333"/>
            </a:solidFill>
            <a:prstDash val="solid"/>
          </a:ln>
        </p:spPr>
      </p:sp>
      <p:sp>
        <p:nvSpPr>
          <p:cNvPr id="74" name="Shape 72"/>
          <p:cNvSpPr/>
          <p:nvPr/>
        </p:nvSpPr>
        <p:spPr>
          <a:xfrm>
            <a:off x="9957816" y="1245749"/>
            <a:ext cx="45720" cy="628771"/>
          </a:xfrm>
          <a:prstGeom prst="rect">
            <a:avLst/>
          </a:prstGeom>
          <a:solidFill>
            <a:srgbClr val="E6115E"/>
          </a:solidFill>
          <a:ln w="12700">
            <a:solidFill>
              <a:srgbClr val="333333"/>
            </a:solidFill>
            <a:prstDash val="solid"/>
          </a:ln>
        </p:spPr>
      </p:sp>
      <p:sp>
        <p:nvSpPr>
          <p:cNvPr id="75" name="Shape 73"/>
          <p:cNvSpPr/>
          <p:nvPr/>
        </p:nvSpPr>
        <p:spPr>
          <a:xfrm>
            <a:off x="10002012" y="1227998"/>
            <a:ext cx="45720" cy="646522"/>
          </a:xfrm>
          <a:prstGeom prst="rect">
            <a:avLst/>
          </a:prstGeom>
          <a:solidFill>
            <a:srgbClr val="E6115E"/>
          </a:solidFill>
          <a:ln w="12700">
            <a:solidFill>
              <a:srgbClr val="333333"/>
            </a:solidFill>
            <a:prstDash val="solid"/>
          </a:ln>
        </p:spPr>
      </p:sp>
      <p:sp>
        <p:nvSpPr>
          <p:cNvPr id="76" name="Shape 74"/>
          <p:cNvSpPr/>
          <p:nvPr/>
        </p:nvSpPr>
        <p:spPr>
          <a:xfrm>
            <a:off x="10046208" y="1212351"/>
            <a:ext cx="45720" cy="662169"/>
          </a:xfrm>
          <a:prstGeom prst="rect">
            <a:avLst/>
          </a:prstGeom>
          <a:solidFill>
            <a:srgbClr val="E6115E"/>
          </a:solidFill>
          <a:ln w="12700">
            <a:solidFill>
              <a:srgbClr val="333333"/>
            </a:solidFill>
            <a:prstDash val="solid"/>
          </a:ln>
        </p:spPr>
      </p:sp>
      <p:sp>
        <p:nvSpPr>
          <p:cNvPr id="77" name="Shape 75"/>
          <p:cNvSpPr/>
          <p:nvPr/>
        </p:nvSpPr>
        <p:spPr>
          <a:xfrm>
            <a:off x="10090404" y="1198982"/>
            <a:ext cx="45720" cy="675538"/>
          </a:xfrm>
          <a:prstGeom prst="rect">
            <a:avLst/>
          </a:prstGeom>
          <a:solidFill>
            <a:srgbClr val="E6115E"/>
          </a:solidFill>
          <a:ln w="12700">
            <a:solidFill>
              <a:srgbClr val="333333"/>
            </a:solidFill>
            <a:prstDash val="solid"/>
          </a:ln>
        </p:spPr>
      </p:sp>
      <p:sp>
        <p:nvSpPr>
          <p:cNvPr id="78" name="Shape 76"/>
          <p:cNvSpPr/>
          <p:nvPr/>
        </p:nvSpPr>
        <p:spPr>
          <a:xfrm>
            <a:off x="10134600" y="1188042"/>
            <a:ext cx="45720" cy="686478"/>
          </a:xfrm>
          <a:prstGeom prst="rect">
            <a:avLst/>
          </a:prstGeom>
          <a:solidFill>
            <a:srgbClr val="E6115E"/>
          </a:solidFill>
          <a:ln w="12700">
            <a:solidFill>
              <a:srgbClr val="333333"/>
            </a:solidFill>
            <a:prstDash val="solid"/>
          </a:ln>
        </p:spPr>
      </p:sp>
      <p:sp>
        <p:nvSpPr>
          <p:cNvPr id="79" name="Shape 77"/>
          <p:cNvSpPr/>
          <p:nvPr/>
        </p:nvSpPr>
        <p:spPr>
          <a:xfrm>
            <a:off x="10178796" y="1179659"/>
            <a:ext cx="45720" cy="694861"/>
          </a:xfrm>
          <a:prstGeom prst="rect">
            <a:avLst/>
          </a:prstGeom>
          <a:solidFill>
            <a:srgbClr val="E6115E"/>
          </a:solidFill>
          <a:ln w="12700">
            <a:solidFill>
              <a:srgbClr val="333333"/>
            </a:solidFill>
            <a:prstDash val="solid"/>
          </a:ln>
        </p:spPr>
      </p:sp>
      <p:sp>
        <p:nvSpPr>
          <p:cNvPr id="80" name="Shape 78"/>
          <p:cNvSpPr/>
          <p:nvPr/>
        </p:nvSpPr>
        <p:spPr>
          <a:xfrm>
            <a:off x="10222992" y="1173928"/>
            <a:ext cx="45720" cy="700592"/>
          </a:xfrm>
          <a:prstGeom prst="rect">
            <a:avLst/>
          </a:prstGeom>
          <a:solidFill>
            <a:srgbClr val="E6115E"/>
          </a:solidFill>
          <a:ln w="12700">
            <a:solidFill>
              <a:srgbClr val="333333"/>
            </a:solidFill>
            <a:prstDash val="solid"/>
          </a:ln>
        </p:spPr>
      </p:sp>
      <p:sp>
        <p:nvSpPr>
          <p:cNvPr id="81" name="Shape 79"/>
          <p:cNvSpPr/>
          <p:nvPr/>
        </p:nvSpPr>
        <p:spPr>
          <a:xfrm>
            <a:off x="10267188" y="1170917"/>
            <a:ext cx="45720" cy="703603"/>
          </a:xfrm>
          <a:prstGeom prst="rect">
            <a:avLst/>
          </a:prstGeom>
          <a:solidFill>
            <a:srgbClr val="E6115E"/>
          </a:solidFill>
          <a:ln w="12700">
            <a:solidFill>
              <a:srgbClr val="333333"/>
            </a:solidFill>
            <a:prstDash val="solid"/>
          </a:ln>
        </p:spPr>
      </p:sp>
      <p:sp>
        <p:nvSpPr>
          <p:cNvPr id="82" name="Shape 80"/>
          <p:cNvSpPr/>
          <p:nvPr/>
        </p:nvSpPr>
        <p:spPr>
          <a:xfrm>
            <a:off x="10311384" y="1170661"/>
            <a:ext cx="45720" cy="703859"/>
          </a:xfrm>
          <a:prstGeom prst="rect">
            <a:avLst/>
          </a:prstGeom>
          <a:solidFill>
            <a:srgbClr val="E6115E"/>
          </a:solidFill>
          <a:ln w="12700">
            <a:solidFill>
              <a:srgbClr val="333333"/>
            </a:solidFill>
            <a:prstDash val="solid"/>
          </a:ln>
        </p:spPr>
      </p:sp>
      <p:sp>
        <p:nvSpPr>
          <p:cNvPr id="83" name="Shape 81"/>
          <p:cNvSpPr/>
          <p:nvPr/>
        </p:nvSpPr>
        <p:spPr>
          <a:xfrm>
            <a:off x="10355580" y="1173164"/>
            <a:ext cx="45720" cy="701356"/>
          </a:xfrm>
          <a:prstGeom prst="rect">
            <a:avLst/>
          </a:prstGeom>
          <a:solidFill>
            <a:srgbClr val="E6115E"/>
          </a:solidFill>
          <a:ln w="12700">
            <a:solidFill>
              <a:srgbClr val="333333"/>
            </a:solidFill>
            <a:prstDash val="solid"/>
          </a:ln>
        </p:spPr>
      </p:sp>
      <p:sp>
        <p:nvSpPr>
          <p:cNvPr id="84" name="Shape 82"/>
          <p:cNvSpPr/>
          <p:nvPr/>
        </p:nvSpPr>
        <p:spPr>
          <a:xfrm>
            <a:off x="10399776" y="1178396"/>
            <a:ext cx="45720" cy="696124"/>
          </a:xfrm>
          <a:prstGeom prst="rect">
            <a:avLst/>
          </a:prstGeom>
          <a:solidFill>
            <a:srgbClr val="E6115E"/>
          </a:solidFill>
          <a:ln w="12700">
            <a:solidFill>
              <a:srgbClr val="333333"/>
            </a:solidFill>
            <a:prstDash val="solid"/>
          </a:ln>
        </p:spPr>
      </p:sp>
      <p:sp>
        <p:nvSpPr>
          <p:cNvPr id="85" name="Shape 83"/>
          <p:cNvSpPr/>
          <p:nvPr/>
        </p:nvSpPr>
        <p:spPr>
          <a:xfrm>
            <a:off x="10443972" y="1186295"/>
            <a:ext cx="45720" cy="688225"/>
          </a:xfrm>
          <a:prstGeom prst="rect">
            <a:avLst/>
          </a:prstGeom>
          <a:solidFill>
            <a:srgbClr val="E6115E"/>
          </a:solidFill>
          <a:ln w="12700">
            <a:solidFill>
              <a:srgbClr val="333333"/>
            </a:solidFill>
            <a:prstDash val="solid"/>
          </a:ln>
        </p:spPr>
      </p:sp>
      <p:sp>
        <p:nvSpPr>
          <p:cNvPr id="86" name="Shape 84"/>
          <p:cNvSpPr/>
          <p:nvPr/>
        </p:nvSpPr>
        <p:spPr>
          <a:xfrm>
            <a:off x="10488168" y="1196770"/>
            <a:ext cx="45720" cy="677750"/>
          </a:xfrm>
          <a:prstGeom prst="rect">
            <a:avLst/>
          </a:prstGeom>
          <a:solidFill>
            <a:srgbClr val="E6115E"/>
          </a:solidFill>
          <a:ln w="12700">
            <a:solidFill>
              <a:srgbClr val="333333"/>
            </a:solidFill>
            <a:prstDash val="solid"/>
          </a:ln>
        </p:spPr>
      </p:sp>
      <p:sp>
        <p:nvSpPr>
          <p:cNvPr id="87" name="Shape 85"/>
          <p:cNvSpPr/>
          <p:nvPr/>
        </p:nvSpPr>
        <p:spPr>
          <a:xfrm>
            <a:off x="10532364" y="1209700"/>
            <a:ext cx="45720" cy="664820"/>
          </a:xfrm>
          <a:prstGeom prst="rect">
            <a:avLst/>
          </a:prstGeom>
          <a:solidFill>
            <a:srgbClr val="E6115E"/>
          </a:solidFill>
          <a:ln w="12700">
            <a:solidFill>
              <a:srgbClr val="333333"/>
            </a:solidFill>
            <a:prstDash val="solid"/>
          </a:ln>
        </p:spPr>
      </p:sp>
      <p:sp>
        <p:nvSpPr>
          <p:cNvPr id="88" name="Shape 86"/>
          <p:cNvSpPr/>
          <p:nvPr/>
        </p:nvSpPr>
        <p:spPr>
          <a:xfrm>
            <a:off x="10576560" y="1224938"/>
            <a:ext cx="45720" cy="649582"/>
          </a:xfrm>
          <a:prstGeom prst="rect">
            <a:avLst/>
          </a:prstGeom>
          <a:solidFill>
            <a:srgbClr val="E6115E"/>
          </a:solidFill>
          <a:ln w="12700">
            <a:solidFill>
              <a:srgbClr val="333333"/>
            </a:solidFill>
            <a:prstDash val="solid"/>
          </a:ln>
        </p:spPr>
      </p:sp>
      <p:sp>
        <p:nvSpPr>
          <p:cNvPr id="89" name="Shape 87"/>
          <p:cNvSpPr/>
          <p:nvPr/>
        </p:nvSpPr>
        <p:spPr>
          <a:xfrm>
            <a:off x="10620756" y="1242314"/>
            <a:ext cx="45720" cy="632206"/>
          </a:xfrm>
          <a:prstGeom prst="rect">
            <a:avLst/>
          </a:prstGeom>
          <a:solidFill>
            <a:srgbClr val="E6115E"/>
          </a:solidFill>
          <a:ln w="12700">
            <a:solidFill>
              <a:srgbClr val="333333"/>
            </a:solidFill>
            <a:prstDash val="solid"/>
          </a:ln>
        </p:spPr>
      </p:sp>
      <p:sp>
        <p:nvSpPr>
          <p:cNvPr id="90" name="Shape 88"/>
          <p:cNvSpPr/>
          <p:nvPr/>
        </p:nvSpPr>
        <p:spPr>
          <a:xfrm>
            <a:off x="10664952" y="1261635"/>
            <a:ext cx="45720" cy="612885"/>
          </a:xfrm>
          <a:prstGeom prst="rect">
            <a:avLst/>
          </a:prstGeom>
          <a:solidFill>
            <a:srgbClr val="E6115E"/>
          </a:solidFill>
          <a:ln w="12700">
            <a:solidFill>
              <a:srgbClr val="333333"/>
            </a:solidFill>
            <a:prstDash val="solid"/>
          </a:ln>
        </p:spPr>
      </p:sp>
      <p:sp>
        <p:nvSpPr>
          <p:cNvPr id="91" name="Shape 89"/>
          <p:cNvSpPr/>
          <p:nvPr/>
        </p:nvSpPr>
        <p:spPr>
          <a:xfrm>
            <a:off x="10709148" y="1282693"/>
            <a:ext cx="45720" cy="591827"/>
          </a:xfrm>
          <a:prstGeom prst="rect">
            <a:avLst/>
          </a:prstGeom>
          <a:solidFill>
            <a:srgbClr val="E6115E"/>
          </a:solidFill>
          <a:ln w="12700">
            <a:solidFill>
              <a:srgbClr val="333333"/>
            </a:solidFill>
            <a:prstDash val="solid"/>
          </a:ln>
        </p:spPr>
      </p:sp>
      <p:sp>
        <p:nvSpPr>
          <p:cNvPr id="92" name="Shape 90"/>
          <p:cNvSpPr/>
          <p:nvPr/>
        </p:nvSpPr>
        <p:spPr>
          <a:xfrm>
            <a:off x="10753344" y="1305267"/>
            <a:ext cx="45720" cy="569253"/>
          </a:xfrm>
          <a:prstGeom prst="rect">
            <a:avLst/>
          </a:prstGeom>
          <a:solidFill>
            <a:srgbClr val="E6115E"/>
          </a:solidFill>
          <a:ln w="12700">
            <a:solidFill>
              <a:srgbClr val="333333"/>
            </a:solidFill>
            <a:prstDash val="solid"/>
          </a:ln>
        </p:spPr>
      </p:sp>
      <p:sp>
        <p:nvSpPr>
          <p:cNvPr id="93" name="Shape 91"/>
          <p:cNvSpPr/>
          <p:nvPr/>
        </p:nvSpPr>
        <p:spPr>
          <a:xfrm>
            <a:off x="10797540" y="1329124"/>
            <a:ext cx="45720" cy="545396"/>
          </a:xfrm>
          <a:prstGeom prst="rect">
            <a:avLst/>
          </a:prstGeom>
          <a:solidFill>
            <a:srgbClr val="E6115E"/>
          </a:solidFill>
          <a:ln w="12700">
            <a:solidFill>
              <a:srgbClr val="333333"/>
            </a:solidFill>
            <a:prstDash val="solid"/>
          </a:ln>
        </p:spPr>
      </p:sp>
      <p:sp>
        <p:nvSpPr>
          <p:cNvPr id="94" name="Shape 92"/>
          <p:cNvSpPr/>
          <p:nvPr/>
        </p:nvSpPr>
        <p:spPr>
          <a:xfrm>
            <a:off x="10841736" y="1354029"/>
            <a:ext cx="45720" cy="520491"/>
          </a:xfrm>
          <a:prstGeom prst="rect">
            <a:avLst/>
          </a:prstGeom>
          <a:solidFill>
            <a:srgbClr val="E6115E"/>
          </a:solidFill>
          <a:ln w="12700">
            <a:solidFill>
              <a:srgbClr val="333333"/>
            </a:solidFill>
            <a:prstDash val="solid"/>
          </a:ln>
        </p:spPr>
      </p:sp>
      <p:sp>
        <p:nvSpPr>
          <p:cNvPr id="95" name="Shape 93"/>
          <p:cNvSpPr/>
          <p:nvPr/>
        </p:nvSpPr>
        <p:spPr>
          <a:xfrm>
            <a:off x="10885932" y="1379742"/>
            <a:ext cx="45720" cy="494778"/>
          </a:xfrm>
          <a:prstGeom prst="rect">
            <a:avLst/>
          </a:prstGeom>
          <a:solidFill>
            <a:srgbClr val="E6115E"/>
          </a:solidFill>
          <a:ln w="12700">
            <a:solidFill>
              <a:srgbClr val="333333"/>
            </a:solidFill>
            <a:prstDash val="solid"/>
          </a:ln>
        </p:spPr>
      </p:sp>
      <p:sp>
        <p:nvSpPr>
          <p:cNvPr id="96" name="Shape 94"/>
          <p:cNvSpPr/>
          <p:nvPr/>
        </p:nvSpPr>
        <p:spPr>
          <a:xfrm>
            <a:off x="10930128" y="1406027"/>
            <a:ext cx="45720" cy="468493"/>
          </a:xfrm>
          <a:prstGeom prst="rect">
            <a:avLst/>
          </a:prstGeom>
          <a:solidFill>
            <a:srgbClr val="E6115E"/>
          </a:solidFill>
          <a:ln w="12700">
            <a:solidFill>
              <a:srgbClr val="333333"/>
            </a:solidFill>
            <a:prstDash val="solid"/>
          </a:ln>
        </p:spPr>
      </p:sp>
      <p:sp>
        <p:nvSpPr>
          <p:cNvPr id="97" name="Shape 95"/>
          <p:cNvSpPr/>
          <p:nvPr/>
        </p:nvSpPr>
        <p:spPr>
          <a:xfrm>
            <a:off x="10974324" y="1432654"/>
            <a:ext cx="45720" cy="441866"/>
          </a:xfrm>
          <a:prstGeom prst="rect">
            <a:avLst/>
          </a:prstGeom>
          <a:solidFill>
            <a:srgbClr val="E6115E"/>
          </a:solidFill>
          <a:ln w="12700">
            <a:solidFill>
              <a:srgbClr val="333333"/>
            </a:solidFill>
            <a:prstDash val="solid"/>
          </a:ln>
        </p:spPr>
      </p:sp>
      <p:sp>
        <p:nvSpPr>
          <p:cNvPr id="98" name="Shape 96"/>
          <p:cNvSpPr/>
          <p:nvPr/>
        </p:nvSpPr>
        <p:spPr>
          <a:xfrm>
            <a:off x="11018520" y="1459400"/>
            <a:ext cx="45720" cy="415120"/>
          </a:xfrm>
          <a:prstGeom prst="rect">
            <a:avLst/>
          </a:prstGeom>
          <a:solidFill>
            <a:srgbClr val="E6115E"/>
          </a:solidFill>
          <a:ln w="12700">
            <a:solidFill>
              <a:srgbClr val="333333"/>
            </a:solidFill>
            <a:prstDash val="solid"/>
          </a:ln>
        </p:spPr>
      </p:sp>
      <p:sp>
        <p:nvSpPr>
          <p:cNvPr id="99" name="Shape 97"/>
          <p:cNvSpPr/>
          <p:nvPr/>
        </p:nvSpPr>
        <p:spPr>
          <a:xfrm>
            <a:off x="11062716" y="1486055"/>
            <a:ext cx="45720" cy="388465"/>
          </a:xfrm>
          <a:prstGeom prst="rect">
            <a:avLst/>
          </a:prstGeom>
          <a:solidFill>
            <a:srgbClr val="E6115E"/>
          </a:solidFill>
          <a:ln w="12700">
            <a:solidFill>
              <a:srgbClr val="333333"/>
            </a:solidFill>
            <a:prstDash val="solid"/>
          </a:ln>
        </p:spPr>
      </p:sp>
      <p:sp>
        <p:nvSpPr>
          <p:cNvPr id="100" name="Shape 98"/>
          <p:cNvSpPr/>
          <p:nvPr/>
        </p:nvSpPr>
        <p:spPr>
          <a:xfrm>
            <a:off x="11106912" y="1512423"/>
            <a:ext cx="45720" cy="362097"/>
          </a:xfrm>
          <a:prstGeom prst="rect">
            <a:avLst/>
          </a:prstGeom>
          <a:solidFill>
            <a:srgbClr val="E6115E"/>
          </a:solidFill>
          <a:ln w="12700">
            <a:solidFill>
              <a:srgbClr val="333333"/>
            </a:solidFill>
            <a:prstDash val="solid"/>
          </a:ln>
        </p:spPr>
      </p:sp>
      <p:sp>
        <p:nvSpPr>
          <p:cNvPr id="101" name="Shape 99"/>
          <p:cNvSpPr/>
          <p:nvPr/>
        </p:nvSpPr>
        <p:spPr>
          <a:xfrm>
            <a:off x="11151108" y="1538323"/>
            <a:ext cx="45720" cy="336197"/>
          </a:xfrm>
          <a:prstGeom prst="rect">
            <a:avLst/>
          </a:prstGeom>
          <a:solidFill>
            <a:srgbClr val="E6115E"/>
          </a:solidFill>
          <a:ln w="12700">
            <a:solidFill>
              <a:srgbClr val="333333"/>
            </a:solidFill>
            <a:prstDash val="solid"/>
          </a:ln>
        </p:spPr>
      </p:sp>
      <p:sp>
        <p:nvSpPr>
          <p:cNvPr id="102" name="Shape 100"/>
          <p:cNvSpPr/>
          <p:nvPr/>
        </p:nvSpPr>
        <p:spPr>
          <a:xfrm>
            <a:off x="11195304" y="1563593"/>
            <a:ext cx="45720" cy="310927"/>
          </a:xfrm>
          <a:prstGeom prst="rect">
            <a:avLst/>
          </a:prstGeom>
          <a:solidFill>
            <a:srgbClr val="E6115E"/>
          </a:solidFill>
          <a:ln w="12700">
            <a:solidFill>
              <a:srgbClr val="333333"/>
            </a:solidFill>
            <a:prstDash val="solid"/>
          </a:ln>
        </p:spPr>
      </p:sp>
      <p:sp>
        <p:nvSpPr>
          <p:cNvPr id="103" name="Shape 101"/>
          <p:cNvSpPr/>
          <p:nvPr/>
        </p:nvSpPr>
        <p:spPr>
          <a:xfrm>
            <a:off x="11239500" y="1588091"/>
            <a:ext cx="45720" cy="286429"/>
          </a:xfrm>
          <a:prstGeom prst="rect">
            <a:avLst/>
          </a:prstGeom>
          <a:solidFill>
            <a:srgbClr val="E6115E"/>
          </a:solidFill>
          <a:ln w="12700">
            <a:solidFill>
              <a:srgbClr val="333333"/>
            </a:solidFill>
            <a:prstDash val="solid"/>
          </a:ln>
        </p:spPr>
      </p:sp>
      <p:sp>
        <p:nvSpPr>
          <p:cNvPr id="104" name="Shape 102"/>
          <p:cNvSpPr/>
          <p:nvPr/>
        </p:nvSpPr>
        <p:spPr>
          <a:xfrm>
            <a:off x="11283696" y="1611691"/>
            <a:ext cx="45720" cy="262829"/>
          </a:xfrm>
          <a:prstGeom prst="rect">
            <a:avLst/>
          </a:prstGeom>
          <a:solidFill>
            <a:srgbClr val="E6115E"/>
          </a:solidFill>
          <a:ln w="12700">
            <a:solidFill>
              <a:srgbClr val="333333"/>
            </a:solidFill>
            <a:prstDash val="solid"/>
          </a:ln>
        </p:spPr>
      </p:sp>
      <p:sp>
        <p:nvSpPr>
          <p:cNvPr id="105" name="Shape 103"/>
          <p:cNvSpPr/>
          <p:nvPr/>
        </p:nvSpPr>
        <p:spPr>
          <a:xfrm>
            <a:off x="11327892" y="1634293"/>
            <a:ext cx="45720" cy="240227"/>
          </a:xfrm>
          <a:prstGeom prst="rect">
            <a:avLst/>
          </a:prstGeom>
          <a:solidFill>
            <a:srgbClr val="E6115E"/>
          </a:solidFill>
          <a:ln w="12700">
            <a:solidFill>
              <a:srgbClr val="333333"/>
            </a:solidFill>
            <a:prstDash val="solid"/>
          </a:ln>
        </p:spPr>
      </p:sp>
      <p:sp>
        <p:nvSpPr>
          <p:cNvPr id="106" name="Shape 104"/>
          <p:cNvSpPr/>
          <p:nvPr/>
        </p:nvSpPr>
        <p:spPr>
          <a:xfrm>
            <a:off x="11372088" y="1655810"/>
            <a:ext cx="45720" cy="218710"/>
          </a:xfrm>
          <a:prstGeom prst="rect">
            <a:avLst/>
          </a:prstGeom>
          <a:solidFill>
            <a:srgbClr val="E6115E"/>
          </a:solidFill>
          <a:ln w="12700">
            <a:solidFill>
              <a:srgbClr val="333333"/>
            </a:solidFill>
            <a:prstDash val="solid"/>
          </a:ln>
        </p:spPr>
      </p:sp>
      <p:sp>
        <p:nvSpPr>
          <p:cNvPr id="107" name="Shape 105"/>
          <p:cNvSpPr/>
          <p:nvPr/>
        </p:nvSpPr>
        <p:spPr>
          <a:xfrm>
            <a:off x="11416284" y="1676181"/>
            <a:ext cx="45720" cy="198339"/>
          </a:xfrm>
          <a:prstGeom prst="rect">
            <a:avLst/>
          </a:prstGeom>
          <a:solidFill>
            <a:srgbClr val="E6115E"/>
          </a:solidFill>
          <a:ln w="12700">
            <a:solidFill>
              <a:srgbClr val="333333"/>
            </a:solidFill>
            <a:prstDash val="solid"/>
          </a:ln>
        </p:spPr>
      </p:sp>
      <p:sp>
        <p:nvSpPr>
          <p:cNvPr id="108" name="Shape 106"/>
          <p:cNvSpPr/>
          <p:nvPr/>
        </p:nvSpPr>
        <p:spPr>
          <a:xfrm>
            <a:off x="11460480" y="1695358"/>
            <a:ext cx="45720" cy="179162"/>
          </a:xfrm>
          <a:prstGeom prst="rect">
            <a:avLst/>
          </a:prstGeom>
          <a:solidFill>
            <a:srgbClr val="E6115E"/>
          </a:solidFill>
          <a:ln w="12700">
            <a:solidFill>
              <a:srgbClr val="333333"/>
            </a:solidFill>
            <a:prstDash val="solid"/>
          </a:ln>
        </p:spPr>
      </p:sp>
      <p:sp>
        <p:nvSpPr>
          <p:cNvPr id="109" name="Shape 107"/>
          <p:cNvSpPr/>
          <p:nvPr/>
        </p:nvSpPr>
        <p:spPr>
          <a:xfrm>
            <a:off x="11504676" y="1713316"/>
            <a:ext cx="45720" cy="161204"/>
          </a:xfrm>
          <a:prstGeom prst="rect">
            <a:avLst/>
          </a:prstGeom>
          <a:solidFill>
            <a:srgbClr val="E6115E"/>
          </a:solidFill>
          <a:ln w="12700">
            <a:solidFill>
              <a:srgbClr val="333333"/>
            </a:solidFill>
            <a:prstDash val="solid"/>
          </a:ln>
        </p:spPr>
      </p:sp>
      <p:sp>
        <p:nvSpPr>
          <p:cNvPr id="110" name="Shape 108"/>
          <p:cNvSpPr/>
          <p:nvPr/>
        </p:nvSpPr>
        <p:spPr>
          <a:xfrm>
            <a:off x="11548872" y="1730041"/>
            <a:ext cx="45720" cy="144479"/>
          </a:xfrm>
          <a:prstGeom prst="rect">
            <a:avLst/>
          </a:prstGeom>
          <a:solidFill>
            <a:srgbClr val="E6115E"/>
          </a:solidFill>
          <a:ln w="12700">
            <a:solidFill>
              <a:srgbClr val="333333"/>
            </a:solidFill>
            <a:prstDash val="solid"/>
          </a:ln>
        </p:spPr>
      </p:sp>
      <p:sp>
        <p:nvSpPr>
          <p:cNvPr id="111" name="Shape 109"/>
          <p:cNvSpPr/>
          <p:nvPr/>
        </p:nvSpPr>
        <p:spPr>
          <a:xfrm>
            <a:off x="11593068" y="1745539"/>
            <a:ext cx="45720" cy="128981"/>
          </a:xfrm>
          <a:prstGeom prst="rect">
            <a:avLst/>
          </a:prstGeom>
          <a:solidFill>
            <a:srgbClr val="E6115E"/>
          </a:solidFill>
          <a:ln w="12700">
            <a:solidFill>
              <a:srgbClr val="333333"/>
            </a:solidFill>
            <a:prstDash val="solid"/>
          </a:ln>
        </p:spPr>
      </p:sp>
      <p:sp>
        <p:nvSpPr>
          <p:cNvPr id="112" name="Shape 110"/>
          <p:cNvSpPr/>
          <p:nvPr/>
        </p:nvSpPr>
        <p:spPr>
          <a:xfrm>
            <a:off x="11637264" y="1759825"/>
            <a:ext cx="45720" cy="114695"/>
          </a:xfrm>
          <a:prstGeom prst="rect">
            <a:avLst/>
          </a:prstGeom>
          <a:solidFill>
            <a:srgbClr val="E6115E"/>
          </a:solidFill>
          <a:ln w="12700">
            <a:solidFill>
              <a:srgbClr val="333333"/>
            </a:solidFill>
            <a:prstDash val="solid"/>
          </a:ln>
        </p:spPr>
      </p:sp>
      <p:sp>
        <p:nvSpPr>
          <p:cNvPr id="113" name="Shape 111"/>
          <p:cNvSpPr/>
          <p:nvPr/>
        </p:nvSpPr>
        <p:spPr>
          <a:xfrm>
            <a:off x="11681460" y="1772929"/>
            <a:ext cx="45720" cy="101591"/>
          </a:xfrm>
          <a:prstGeom prst="rect">
            <a:avLst/>
          </a:prstGeom>
          <a:solidFill>
            <a:srgbClr val="E6115E"/>
          </a:solidFill>
          <a:ln w="12700">
            <a:solidFill>
              <a:srgbClr val="333333"/>
            </a:solidFill>
            <a:prstDash val="solid"/>
          </a:ln>
        </p:spPr>
      </p:sp>
      <p:sp>
        <p:nvSpPr>
          <p:cNvPr id="114" name="Shape 112"/>
          <p:cNvSpPr/>
          <p:nvPr/>
        </p:nvSpPr>
        <p:spPr>
          <a:xfrm>
            <a:off x="548640" y="457200"/>
            <a:ext cx="2194560" cy="347472"/>
          </a:xfrm>
          <a:prstGeom prst="roundRect">
            <a:avLst>
              <a:gd name="adj" fmla="val 50000"/>
            </a:avLst>
          </a:prstGeom>
          <a:solidFill>
            <a:srgbClr val="E6115E"/>
          </a:solidFill>
          <a:ln w="12700">
            <a:solidFill>
              <a:srgbClr val="E6115E"/>
            </a:solidFill>
            <a:prstDash val="solid"/>
          </a:ln>
        </p:spPr>
      </p:sp>
      <p:sp>
        <p:nvSpPr>
          <p:cNvPr id="115" name="Text 113"/>
          <p:cNvSpPr/>
          <p:nvPr/>
        </p:nvSpPr>
        <p:spPr>
          <a:xfrm>
            <a:off x="548640" y="457200"/>
            <a:ext cx="21945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CIERRE · 10 MIN</a:t>
            </a:r>
            <a:endParaRPr lang="en-US" sz="1150" dirty="0"/>
          </a:p>
        </p:txBody>
      </p:sp>
      <p:sp>
        <p:nvSpPr>
          <p:cNvPr id="116" name="Text 114"/>
          <p:cNvSpPr/>
          <p:nvPr/>
        </p:nvSpPr>
        <p:spPr>
          <a:xfrm>
            <a:off x="548640" y="914400"/>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Si te llevas una sola cosa</a:t>
            </a:r>
            <a:endParaRPr lang="en-US" sz="3400" dirty="0"/>
          </a:p>
        </p:txBody>
      </p:sp>
      <p:sp>
        <p:nvSpPr>
          <p:cNvPr id="117" name="Text 115"/>
          <p:cNvSpPr/>
          <p:nvPr/>
        </p:nvSpPr>
        <p:spPr>
          <a:xfrm>
            <a:off x="548640" y="1572768"/>
            <a:ext cx="8412480" cy="457200"/>
          </a:xfrm>
          <a:prstGeom prst="rect">
            <a:avLst/>
          </a:prstGeom>
          <a:noFill/>
          <a:ln/>
        </p:spPr>
        <p:txBody>
          <a:bodyPr wrap="square" lIns="0" tIns="0" rIns="0" bIns="0" rtlCol="0" anchor="t"/>
          <a:lstStyle/>
          <a:p>
            <a:pPr marL="0" indent="0" algn="l">
              <a:lnSpc>
                <a:spcPct val="108000"/>
              </a:lnSpc>
              <a:buNone/>
            </a:pPr>
            <a:r>
              <a:rPr lang="en-US" sz="1500" i="1" dirty="0">
                <a:solidFill>
                  <a:srgbClr val="C9D6F2"/>
                </a:solidFill>
                <a:latin typeface="Calibri" pitchFamily="34" charset="0"/>
                <a:ea typeface="Calibri" pitchFamily="34" charset="-122"/>
                <a:cs typeface="Calibri" pitchFamily="34" charset="-120"/>
              </a:rPr>
              <a:t>La prueba la decide el diseño de los datos y los supuestos que se cumplen. Nunca la costumbre, y nunca el p-valor que sale más bonito.</a:t>
            </a:r>
            <a:endParaRPr lang="en-US" sz="1500" dirty="0"/>
          </a:p>
        </p:txBody>
      </p:sp>
      <p:sp>
        <p:nvSpPr>
          <p:cNvPr id="118" name="Shape 116"/>
          <p:cNvSpPr/>
          <p:nvPr/>
        </p:nvSpPr>
        <p:spPr>
          <a:xfrm>
            <a:off x="548640" y="2212848"/>
            <a:ext cx="5468112" cy="2487168"/>
          </a:xfrm>
          <a:prstGeom prst="roundRect">
            <a:avLst>
              <a:gd name="adj" fmla="val 2206"/>
            </a:avLst>
          </a:prstGeom>
          <a:solidFill>
            <a:srgbClr val="061834"/>
          </a:solidFill>
          <a:ln w="12700">
            <a:solidFill>
              <a:srgbClr val="1A3B72"/>
            </a:solidFill>
            <a:prstDash val="solid"/>
          </a:ln>
        </p:spPr>
      </p:sp>
      <p:sp>
        <p:nvSpPr>
          <p:cNvPr id="119" name="Shape 117"/>
          <p:cNvSpPr/>
          <p:nvPr/>
        </p:nvSpPr>
        <p:spPr>
          <a:xfrm>
            <a:off x="804672" y="2496312"/>
            <a:ext cx="118872" cy="118872"/>
          </a:xfrm>
          <a:prstGeom prst="roundRect">
            <a:avLst>
              <a:gd name="adj" fmla="val 30769"/>
            </a:avLst>
          </a:prstGeom>
          <a:solidFill>
            <a:srgbClr val="E6115E"/>
          </a:solidFill>
          <a:ln w="12700">
            <a:solidFill>
              <a:srgbClr val="E6115E"/>
            </a:solidFill>
            <a:prstDash val="solid"/>
          </a:ln>
        </p:spPr>
      </p:sp>
      <p:sp>
        <p:nvSpPr>
          <p:cNvPr id="120" name="Text 118"/>
          <p:cNvSpPr/>
          <p:nvPr/>
        </p:nvSpPr>
        <p:spPr>
          <a:xfrm>
            <a:off x="1042416" y="2395728"/>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Checklist de salida</a:t>
            </a:r>
            <a:endParaRPr lang="en-US" sz="1500" dirty="0"/>
          </a:p>
        </p:txBody>
      </p:sp>
      <p:sp>
        <p:nvSpPr>
          <p:cNvPr id="121" name="Text 119"/>
          <p:cNvSpPr/>
          <p:nvPr/>
        </p:nvSpPr>
        <p:spPr>
          <a:xfrm>
            <a:off x="804672" y="2798064"/>
            <a:ext cx="4983480" cy="1783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Identifico si el diseño es emparejado o independiente.</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Uso equal_var=False y sé explicar por qué.</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Sé que un ANOVA significativo no identifica nada.</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Hago post-hoc corrigiendo por múltiples.</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Reporto d o η² además del p-valor.</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Sé decir qué no permite concluir mi muestra.</a:t>
            </a:r>
            <a:endParaRPr lang="en-US" sz="1150" dirty="0"/>
          </a:p>
        </p:txBody>
      </p:sp>
      <p:sp>
        <p:nvSpPr>
          <p:cNvPr id="122" name="Shape 120"/>
          <p:cNvSpPr/>
          <p:nvPr/>
        </p:nvSpPr>
        <p:spPr>
          <a:xfrm>
            <a:off x="6172200" y="2212848"/>
            <a:ext cx="5468112" cy="2487168"/>
          </a:xfrm>
          <a:prstGeom prst="roundRect">
            <a:avLst>
              <a:gd name="adj" fmla="val 2206"/>
            </a:avLst>
          </a:prstGeom>
          <a:solidFill>
            <a:srgbClr val="061834"/>
          </a:solidFill>
          <a:ln w="12700">
            <a:solidFill>
              <a:srgbClr val="1A3B72"/>
            </a:solidFill>
            <a:prstDash val="solid"/>
          </a:ln>
        </p:spPr>
      </p:sp>
      <p:sp>
        <p:nvSpPr>
          <p:cNvPr id="123" name="Shape 121"/>
          <p:cNvSpPr/>
          <p:nvPr/>
        </p:nvSpPr>
        <p:spPr>
          <a:xfrm>
            <a:off x="6419088" y="2496312"/>
            <a:ext cx="118872" cy="118872"/>
          </a:xfrm>
          <a:prstGeom prst="roundRect">
            <a:avLst>
              <a:gd name="adj" fmla="val 30769"/>
            </a:avLst>
          </a:prstGeom>
          <a:solidFill>
            <a:srgbClr val="E6115E"/>
          </a:solidFill>
          <a:ln w="12700">
            <a:solidFill>
              <a:srgbClr val="E6115E"/>
            </a:solidFill>
            <a:prstDash val="solid"/>
          </a:ln>
        </p:spPr>
      </p:sp>
      <p:sp>
        <p:nvSpPr>
          <p:cNvPr id="124" name="Text 122"/>
          <p:cNvSpPr/>
          <p:nvPr/>
        </p:nvSpPr>
        <p:spPr>
          <a:xfrm>
            <a:off x="6656832" y="2395728"/>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Reto para la próxima clase</a:t>
            </a:r>
            <a:endParaRPr lang="en-US" sz="1500" dirty="0"/>
          </a:p>
        </p:txBody>
      </p:sp>
      <p:sp>
        <p:nvSpPr>
          <p:cNvPr id="125" name="Text 123"/>
          <p:cNvSpPr/>
          <p:nvPr/>
        </p:nvSpPr>
        <p:spPr>
          <a:xfrm>
            <a:off x="6419088" y="2798064"/>
            <a:ext cx="4983480" cy="1783080"/>
          </a:xfrm>
          <a:prstGeom prst="rect">
            <a:avLst/>
          </a:prstGeom>
          <a:noFill/>
          <a:ln/>
        </p:spPr>
        <p:txBody>
          <a:bodyPr wrap="square" lIns="0" tIns="0" rIns="0" bIns="0" rtlCol="0" anchor="t"/>
          <a:lstStyle/>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Busca una comparación de grupos que exista en tu trabajo: canales, sucursales, segmentos, cohortes, antes y después de un cambio.</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Responde tres cosas: ¿el diseño es emparejado o independiente? ¿las dispersiones de los grupos se parecen? ¿cuántas comparaciones hay en total?</a:t>
            </a:r>
            <a:endParaRPr lang="en-US" sz="1150" dirty="0"/>
          </a:p>
          <a:p>
            <a:pPr marL="0" indent="0" algn="l">
              <a:lnSpc>
                <a:spcPct val="110000"/>
              </a:lnSpc>
              <a:buNone/>
            </a:pPr>
            <a:endParaRPr lang="en-US" sz="1150" dirty="0"/>
          </a:p>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Y una cuarta, la incómoda: ¿qué prueba se usó, y quién decidió que fuera esa?</a:t>
            </a:r>
            <a:endParaRPr lang="en-US" sz="1150" dirty="0"/>
          </a:p>
        </p:txBody>
      </p:sp>
      <p:sp>
        <p:nvSpPr>
          <p:cNvPr id="126" name="Shape 124"/>
          <p:cNvSpPr/>
          <p:nvPr/>
        </p:nvSpPr>
        <p:spPr>
          <a:xfrm>
            <a:off x="548640" y="4892040"/>
            <a:ext cx="11091672" cy="1234440"/>
          </a:xfrm>
          <a:prstGeom prst="roundRect">
            <a:avLst>
              <a:gd name="adj" fmla="val 4444"/>
            </a:avLst>
          </a:prstGeom>
          <a:solidFill>
            <a:srgbClr val="061834"/>
          </a:solidFill>
          <a:ln w="12700">
            <a:solidFill>
              <a:srgbClr val="1A3B72"/>
            </a:solidFill>
            <a:prstDash val="solid"/>
          </a:ln>
        </p:spPr>
      </p:sp>
      <p:sp>
        <p:nvSpPr>
          <p:cNvPr id="127" name="Shape 125"/>
          <p:cNvSpPr/>
          <p:nvPr/>
        </p:nvSpPr>
        <p:spPr>
          <a:xfrm>
            <a:off x="804672" y="5157216"/>
            <a:ext cx="118872" cy="118872"/>
          </a:xfrm>
          <a:prstGeom prst="roundRect">
            <a:avLst>
              <a:gd name="adj" fmla="val 30769"/>
            </a:avLst>
          </a:prstGeom>
          <a:solidFill>
            <a:srgbClr val="E6115E"/>
          </a:solidFill>
          <a:ln w="12700">
            <a:solidFill>
              <a:srgbClr val="E6115E"/>
            </a:solidFill>
            <a:prstDash val="solid"/>
          </a:ln>
        </p:spPr>
      </p:sp>
      <p:sp>
        <p:nvSpPr>
          <p:cNvPr id="128" name="Text 126"/>
          <p:cNvSpPr/>
          <p:nvPr/>
        </p:nvSpPr>
        <p:spPr>
          <a:xfrm>
            <a:off x="1042416" y="5056632"/>
            <a:ext cx="52486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Clase 7</a:t>
            </a:r>
            <a:endParaRPr lang="en-US" sz="1500" dirty="0"/>
          </a:p>
        </p:txBody>
      </p:sp>
      <p:sp>
        <p:nvSpPr>
          <p:cNvPr id="129" name="Text 127"/>
          <p:cNvSpPr/>
          <p:nvPr/>
        </p:nvSpPr>
        <p:spPr>
          <a:xfrm>
            <a:off x="804672" y="5422392"/>
            <a:ext cx="10607040" cy="640080"/>
          </a:xfrm>
          <a:prstGeom prst="rect">
            <a:avLst/>
          </a:prstGeom>
          <a:noFill/>
          <a:ln/>
        </p:spPr>
        <p:txBody>
          <a:bodyPr wrap="square" lIns="0" tIns="0" rIns="0" bIns="0" rtlCol="0" anchor="t"/>
          <a:lstStyle/>
          <a:p>
            <a:pPr marL="0" indent="0" algn="l">
              <a:lnSpc>
                <a:spcPct val="110000"/>
              </a:lnSpc>
              <a:buNone/>
            </a:pPr>
            <a:r>
              <a:rPr lang="en-US" sz="1250" dirty="0">
                <a:solidFill>
                  <a:srgbClr val="C9D6F2"/>
                </a:solidFill>
                <a:latin typeface="Calibri" pitchFamily="34" charset="0"/>
                <a:ea typeface="Calibri" pitchFamily="34" charset="-122"/>
                <a:cs typeface="Calibri" pitchFamily="34" charset="-120"/>
              </a:rPr>
              <a:t>Variables categóricas: la prueba χ² de independencia, las tablas de contingencia y las medidas de asociación. Pasamos de comparar promedios a comparar proporciones y frecuencias — que es la mitad de lo que se mide en riesgo y fraude: aprobado o rechazado, alerta o no alerta, incumple o no incumple.</a:t>
            </a:r>
            <a:endParaRPr lang="en-US" sz="1250" dirty="0"/>
          </a:p>
        </p:txBody>
      </p:sp>
      <p:sp>
        <p:nvSpPr>
          <p:cNvPr id="130" name="Text 128"/>
          <p:cNvSpPr/>
          <p:nvPr/>
        </p:nvSpPr>
        <p:spPr>
          <a:xfrm>
            <a:off x="548640" y="6263640"/>
            <a:ext cx="8229600" cy="320040"/>
          </a:xfrm>
          <a:prstGeom prst="rect">
            <a:avLst/>
          </a:prstGeom>
          <a:noFill/>
          <a:ln/>
        </p:spPr>
        <p:txBody>
          <a:bodyPr wrap="square" lIns="0" tIns="0" rIns="0" bIns="0" rtlCol="0" anchor="ctr"/>
          <a:lstStyle/>
          <a:p>
            <a:pPr marL="0" indent="0">
              <a:buNone/>
            </a:pPr>
            <a:r>
              <a:rPr lang="en-US" sz="1050" i="1" dirty="0">
                <a:solidFill>
                  <a:srgbClr val="7C93C4"/>
                </a:solidFill>
                <a:latin typeface="Calibri" pitchFamily="34" charset="0"/>
                <a:ea typeface="Calibri" pitchFamily="34" charset="-122"/>
                <a:cs typeface="Calibri" pitchFamily="34" charset="-120"/>
              </a:rPr>
              <a:t>Estadística Descriptiva e Inferencial · Módulo 2 · Clase 6 · SEED = 42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4043</TotalTime>
  <Words>7032</Words>
  <Application>Microsoft Macintosh PowerPoint</Application>
  <PresentationFormat>Widescreen</PresentationFormat>
  <Paragraphs>614</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6 — Comparación de grupos</dc:title>
  <dc:subject>PptxGenJS Presentation</dc:subject>
  <dc:creator>Rodrigo</dc:creator>
  <cp:lastModifiedBy>Josef Rodriguez</cp:lastModifiedBy>
  <cp:revision>3</cp:revision>
  <dcterms:created xsi:type="dcterms:W3CDTF">2026-08-12T22:21:20Z</dcterms:created>
  <dcterms:modified xsi:type="dcterms:W3CDTF">2026-08-17T20:08:41Z</dcterms:modified>
</cp:coreProperties>
</file>