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21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el caso: 'tienen 10 analistas. De cada uno saben cuántos meses lleva y cuánto tarda en resolver un caso. ¿La experiencia ayuda? ¿Y cuánto?'. Ese 'cuánto' es lo nuevo de hoy: hasta ahora respondíamos sí o no, y desde hoy respondemos con un número en unidades del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va rápido. El punto de la sesión está en la tarjeta de la derecha: hasta ahora el curso producía veredictos (hay o no hay diferencia). Hoy produce una cantidad accionable. Esa es la diferencia entre un análisis y una recomendación.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el bloque 2 desde la agenda para crear expectativa. Y aclara el formato: la correlación se calcula a mano con los diez datos; es tedioso pero se hace una sola vez en la vida y después entienden lo que hace la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 el scatter en la pizarra con los diez puntos: cuesta un minuto y es lo que fija la intuición. Pregunta: '¿ven relación?'. Van a decir que sí, que baja. Perfecto: hoy le ponemos un número a esa impresión, y después vemos por qué el número solo no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hace entender qué es una correlación, en lugar de memorizar la fórmula. Dibuja las dos líneas punteadas en la pizarra sobre el scatter y marca los cuadrantes. Guion: 'si los puntos caen sobre todo en estos dos cuadrantes, los productos son negativos y la suma sale negativa. Si cayeran en los otros dos, saldría positiva. Si estuvieran repartidos, se cancelarían y daría cerca de cero.' Con eso ya entendieron el signo de r sin haber visto la fórmula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tercer punto de la última tarjeta es el puente hacia la regresión y conviene decirlo con un ejemplo: 'r = −0.92 les dice que la relación es fuerte, pero no les dice si cada mes ahorra medio día o tres días. Y eso último es lo que su jefe va a preguntar.'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primero SOLO la tabla de números (que están en la slide siguiente) y pregunta si son datos parecidos. Dirán que sí, que son idénticos. Y entonces muestras esta slide. El conjunto II (la curva) es el más importante: la relación existe y es perfecta, pero r no la describe porque r solo mide líneas rectas. El III y el IV son el mismo mensaje sobre valores atípicos: un solo punto puede inventar o destruir una correlación.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el remate del bloque. La tabla de números idénticos, después de haber visto los gráficos, es lo que fija la lección. Sobre causalidad: da un ejemplo del propio caso. 'Puede que la experiencia haga más rápido al analista. O puede que los analistas rápidos duren más en el puesto y por eso acumulen experiencia. O que los buenos sean ascendidos y además sean rápidos. La correlación no distingue entre las tres.'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están diseñados para que salgan redondos: −165 dividido 330 da exactamente −0.5, y el intercepto exactamente 20. Haz las dos cuentas en la pizarra. Lo que hay que subrayar es la tarjeta final: la pendiente es la traducción del análisis al idioma del negocio. 'Medio día por mes' es algo que se puede convertir en un plan de capacitación; 'r = −0.92'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con la recta cruzando el cero es el argumento visual. Guion: 'la recta dice que a los 45 meses el analista resuelve casos en menos dos días y medio. Antes de que llegue el caso, ya está resuelto.' Suele haber risas, y la lección queda. El punto serio: la recta solo está comprobada entre 2 y 20 meses. Fuera de ahí es una suposición, no un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que hay que señalar es el 16.2 % que NO explica: es el mismo razonamiento del η² de la Clase 6, y lleva a la misma pregunta de negocio — ¿qué explica el resto? La tarjeta de la derecha es la advertencia clave y conecta con Anscombe: R² mide qué tan cerca están los puntos de LA RECTA, no si la recta es la forma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de residuos es el diagnóstico estándar y casi nadie lo hace. Cuesta dos líneas. Insiste en que es el equivalente de Anscombe aplicado al propio modelo: detecta problemas que ningún número resumen muestra. La propiedad de que suman cero es útil como control aritmético cuando calculan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van rápido porque ya se explicaron. Esta slide es el recordatorio antes de pasar al Colab. Si tienes que quedarte con uno, el primero: mirar el gráfico es gratis y evita la mayoría de los desastres.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segundos. El paso 1 va marcado en magenta a propósito: es el que más se salta y el que más problemas evita.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1 es tedioso a propósito: calcular diez productos a mano se hace una vez en la vida, y después se entiende la función. El bloque 2 es el que vale la sesión. Recorre el aula durante el bloque 3: ahí es donde confunden pendiente con correlación.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números del día y pide pulgares en el checklist. El anuncio de la Clase 11 conviene hacerlo con la conexión explícita a Simpson: '¿se acuerdan de que la app ganaba en cada segmento pero perdía en el total? La regresión múltiple es la herramienta que resuelve eso.'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148840"/>
            <a:ext cx="4114800" cy="2286000"/>
          </a:xfrm>
          <a:prstGeom prst="rect">
            <a:avLst/>
          </a:prstGeom>
          <a:solidFill>
            <a:srgbClr val="0E2E5E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2417781"/>
            <a:ext cx="4114800" cy="1479176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48709" y="2340057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2781" y="287794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96854" y="2608998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70927" y="301241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5000" y="287794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9072" y="3281351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3145" y="301241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67218" y="355029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1291" y="341582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5363" y="381923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analistas · experiencia y tiempo de resolución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12344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17830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cosa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mueve con la otra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13232" y="36118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y regresión lineal simple: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«¿se relacionan?» a «¿cuánto cambia una por cada unidad de la otra?».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caben en la pizarra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recta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sirve para predecir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variables numéricas, y una pregunta nueva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respondíamos «sí o no». Desde hoy respondemos «cuánto».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514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 8 y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10 — hoy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variables 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categorías: canal,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números: meses, días, soles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«¿tienen que ver?»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«¿cuánto se mueven juntas?»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herramienta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χ², Cramér's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correlación y regresión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p-valor y una fuerza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recta que sirve para PREDECIR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5468112" cy="1298448"/>
          </a:xfrm>
          <a:prstGeom prst="roundRect">
            <a:avLst>
              <a:gd name="adj" fmla="val 422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0566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herramientas, dos preguntas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54223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(r):  ¿se mueven juntas, y qué tan fuerte?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Regresión:  ¿cuánto cambia una por cada unidad de la otra?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892040"/>
            <a:ext cx="5468112" cy="1298448"/>
          </a:xfrm>
          <a:prstGeom prst="roundRect">
            <a:avLst>
              <a:gd name="adj" fmla="val 422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50566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segunda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19088" y="54223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relación» no se puede llevar a una reunión. «Cada mes de experiencia ahorra medio día» sí: eso se puede convertir en un plan de capacitación.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formato: se mira, se calcula a mano, y después se comprueba con código.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307238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datos y el diagrama de dispersión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correlación r, paso a paso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r NO dice: el cuarteto de Anscombe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recta: pendiente e intercepto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R², residuos y los límites de predecir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2011680"/>
          </a:xfrm>
          <a:prstGeom prst="roundRect">
            <a:avLst>
              <a:gd name="adj" fmla="val 272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interpretar una correlación.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recta y usarla.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la recta miente.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206240"/>
            <a:ext cx="3639312" cy="1984248"/>
          </a:xfrm>
          <a:prstGeom prst="roundRect">
            <a:avLst>
              <a:gd name="adj" fmla="val 276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37083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2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73659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ver cuatro conjuntos de datos con la MISMA correlación y la MISMA recta, que no se parecen en nada.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equivalente de Simpson para variables numéricas.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analistas, dos números de cada uno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siempre: primero se mira el gráfico, después se calcula.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88466"/>
              </p:ext>
            </p:extLst>
          </p:nvPr>
        </p:nvGraphicFramePr>
        <p:xfrm>
          <a:off x="548640" y="2011680"/>
          <a:ext cx="11091672" cy="1152144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de experiencia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 resolución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05840" y="3429000"/>
            <a:ext cx="4937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576072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56509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05840" y="517779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06806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05840" y="459486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44851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005840" y="401193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90220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5840" y="342900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3192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381575" y="364731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30463" y="42302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79350" y="393877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28237" y="4375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77124" y="42302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26012" y="4667441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74899" y="4375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3786" y="495890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72673" y="481317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21561" y="525037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853738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975956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098175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220393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50976" y="599617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02336" y="443826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0" y="3429000"/>
            <a:ext cx="523951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47688" y="36941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85432" y="359359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ve a simple vista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647688" y="394106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bajan de izquierda a derecha: más experiencia, menos días.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están en una línea perfecta: hay dispersión.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ningún punto raro alejado del resto.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400800" y="480060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47688" y="50383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85432" y="493776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dos promedios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647688" y="5266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la experiencia = 11 meses          media del tiempo = 14.5 días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LA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Centrar los datos y ver hacia dónde caen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cada valor le restas su media, el gráfico se parte en cuatro zonas. Ahí está toda la idea.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7830" y="231483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0092" y="327144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12353" y="27931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4615" y="351059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6877" y="327144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9139" y="398889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1401" y="351059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BB4E8"/>
          </a:solidFill>
          <a:ln w="12700">
            <a:solidFill>
              <a:srgbClr val="9BB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3663" y="44671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5924" y="4228045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8186" y="4945497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5055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75709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56364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37018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2148840"/>
            <a:ext cx="0" cy="310896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3703320"/>
            <a:ext cx="475488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30168" y="2194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11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80160" y="3447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14.5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240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AFC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98448" y="49560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AFC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148840"/>
            <a:ext cx="5239512" cy="1572768"/>
          </a:xfrm>
          <a:prstGeom prst="roundRect">
            <a:avLst>
              <a:gd name="adj" fmla="val 34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8" y="2414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31343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en una frase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47688" y="267919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puntos caen arriba a la izquierda (experiencia baja, días altos) o abajo a la derecha (experiencia alta, días bajos).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uno está por encima de su media, el otro está por debajo. Eso es una relación negativa.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84048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7688" y="40782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397764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convierte en un número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47688" y="42976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Multiplicas los dos valores centrados de cada analista. Los puntos MAGENTA dan producto negativo; los grises, positivo. Después sumas los diez.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937760"/>
            <a:ext cx="52395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47688" y="51755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507492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nuestros datos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47688" y="54132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los diez productos da  Sxy = -165.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Negativa, y grande. Ya sabemos la dirección antes de terminar la fórmula.</a:t>
            </a:r>
            <a:endParaRPr lang="en-US" sz="12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EB57C992-1EC3-FA2E-8911-DC53745A7E80}"/>
              </a:ext>
            </a:extLst>
          </p:cNvPr>
          <p:cNvSpPr/>
          <p:nvPr/>
        </p:nvSpPr>
        <p:spPr>
          <a:xfrm>
            <a:off x="502920" y="35844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fórmula, y qué significa cada valor de 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entre las desviaciones es lo que fuerza el resultado a quedar entre −1 y 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Sxy  /  [ (n − 1) × sx × sy ]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29400" y="1938528"/>
            <a:ext cx="50109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938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−18.33 / (6.06 × 3.31) = −0.915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de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387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38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3502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perfecta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959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95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 a −1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fuerte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959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 nuestra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4531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9A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53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 a −0.7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44165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moderada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9103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5B6B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10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4873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relación lineal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3675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9A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a +0.7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5330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moderada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424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8247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824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a +1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5788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fuerte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3108960"/>
            <a:ext cx="5010912" cy="1417320"/>
          </a:xfrm>
          <a:prstGeom prst="roundRect">
            <a:avLst>
              <a:gd name="adj" fmla="val 38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6288" y="3374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27355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interpretación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76288" y="362102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−0.92  →  correlación NEGATIVA FUERTE.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Negativa: más experiencia se asocia con menos días.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Fuerte: los puntos siguen bastante bien una línea.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4663440"/>
            <a:ext cx="501091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76288" y="49286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482803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 que r NO cambia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51755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tiene unidades: da igual si mides en días o en horas.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cambia si intercambias x e y.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te dice </a:t>
            </a:r>
            <a:r>
              <a:rPr lang="en-US" sz="11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cambia una por cada unidad de la otra</a:t>
            </a: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tercera es la que resuelve la regresión, en el bloque 3.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LO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conjuntos con la misma r… y nada en común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nota si los miras. Es el equivalente de la paradoja de Simpson para números.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42900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3776" y="282001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9136" y="296951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5736" y="28831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6456" y="2714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11096" y="27802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3056" y="25566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4496" y="292973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856" y="33384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8416" y="24359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1816" y="326166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176" y="314370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2743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lineal normal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057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42900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8776" y="266913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4136" y="280629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20736" y="272399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1456" y="27198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6526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8056" y="28117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9496" y="308198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4856" y="34975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3416" y="267050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36816" y="292699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2176" y="327263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2743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CURVA, no una recta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3977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534924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63776" y="481980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9136" y="491444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05736" y="409559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16456" y="48678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11096" y="47717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3056" y="463052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4496" y="50090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856" y="51037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8416" y="47251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1816" y="496244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7176" y="505708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III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42900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429000" y="46634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raro tuerce todo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355080" y="3977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534924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84136" y="49405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84136" y="50529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84136" y="47855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84136" y="463052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84136" y="4681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84136" y="487741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84136" y="512292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4656" y="41285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84136" y="508040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84136" y="47580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84136" y="48979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IV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14400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9144000" y="46634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inventa la relación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48640" y="5742432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57424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tienen la misma media de x, la misma media de y, la misma r y la misma recta. Y son cuatro realidades distintas.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números no muestran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tabla es de los cuatro conjuntos de la slide anterior.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de 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de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¿Sirve la recta?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la relación es curva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un punto la tuerce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un punto la inventa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700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1042416" y="45994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sale de aquí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9469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reportes una correlación sin haber mirado el gráfico de dispersión.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no puede describir la forma de una relación.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43484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700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5994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otra advertencia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9469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es causalidad. Que dos cosas se muevan juntas puede deberse a que una cause la otra, a lo contrario, o a una tercera variable que causa las dos.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77900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7790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el problema de la variable de confusión de la Clase 9, ahora con variables numéricas.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F. J. Anscombe, «Graphs in Statistical Analysis», The American Statistician 27(1), 1973.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«se relacionan» a «cuánto cambia»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describe. La recta permite cuantificar y predecir.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" y="194767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a  +  b · x            b = Sxy / Sxx            a = ȳ − b · x̄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22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-165 / 330 = −0.5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cambia y por cada unidad que sube 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422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intercepto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14.5 − (−0.5 × 11) = 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y cuando x vale 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RECTA:    días  =  20  −  0.5 × meses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7881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68756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así se lee en la reunión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«Por cada mes adicional de experiencia, el tiempo de resolución baja medio día en promedio. Un analista nuevo tarda unos 20 días.»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con la recta, y hasta dónde se puede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no sabe nada del mundo real: seguirá dando números aunque dejen de tener sentido.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6035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349240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2395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4610686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50095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3872132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624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3133578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2385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97280" y="2395025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285297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97280" y="2395025"/>
            <a:ext cx="6035040" cy="2831123"/>
          </a:xfrm>
          <a:prstGeom prst="line">
            <a:avLst/>
          </a:prstGeom>
          <a:noFill/>
          <a:ln w="25400">
            <a:solidFill>
              <a:srgbClr val="1A5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5665" y="233101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8058" y="282338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0451" y="257720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2844" y="294647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5237" y="282338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7630" y="319266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0023" y="294647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2416" y="34388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4809" y="33157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202" y="36850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34925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46890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8856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70821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59673" y="2148840"/>
            <a:ext cx="2361537" cy="3200400"/>
          </a:xfrm>
          <a:prstGeom prst="rect">
            <a:avLst/>
          </a:prstGeom>
          <a:solidFill>
            <a:srgbClr val="E3ECFB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9673" y="2212848"/>
            <a:ext cx="23615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tienes datos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21210" y="2212848"/>
            <a:ext cx="32799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estás inventando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97280" y="4856871"/>
            <a:ext cx="6035040" cy="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188720" y="461912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días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55961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228600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meses  →  12.5 días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99248" y="2743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rango: fiable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52360" y="333756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meses  →  5.0 días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99248" y="3794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extrapolación: dudoso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452360" y="438912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meses  →  −2.5 días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99248" y="4846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absurdo: tiempo negativo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52360" y="5468112"/>
            <a:ext cx="418795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54681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no sabe que un tiempo negativo es imposible. Esa comprobación te toca a ti.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qué parte de la variación explica la recta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literalmente r al cuadrado, y se lee igual que el η² de la Clase 6.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83.8 %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variación en los tiempos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 la experiencia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670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explica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del caso, carga 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trabajo, día, suerte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21031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−0.915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50392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es simplemente 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al cuadrado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546811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86791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un R² de 0.84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alto. La experiencia da cuenta de la mayor parte de la diferencia entre analistas.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queda un 16 % que no explica, y ahí están las otras variables que no medimos.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468112" cy="1280160"/>
          </a:xfrm>
          <a:prstGeom prst="roundRect">
            <a:avLst>
              <a:gd name="adj" fmla="val 428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86791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R² alto no significa modelo correcto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21538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II de Anscombe tiene R² = 0.67 con una relación curva perfecta. Un R² decente puede convivir con un modelo equivocado.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reportar, completo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5614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«Existe una relación negativa fuerte entre experiencia y tiempo de resolución (r = −0.92, p &lt; 0.001). Por cada mes adicional el tiempo baja 0.5 días en promedio. El modelo explica el 84 % de la variación. Los datos cubren de 2 a 20 meses; no se recomienda extrapolar fuera de ese rango.»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de residuos: dos líneas de código, mucho diagnóstico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son la distancia vertical de cada punto a la recta. Igual que en la Clase 9, pero con números.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572000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4622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4096512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98678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3621024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5112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3145536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358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97280" y="2670048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603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97280" y="2194560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0848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2262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5900" y="42656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918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246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1574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902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23637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3558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886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8214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7640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9016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7280" y="3383280"/>
            <a:ext cx="5120640" cy="0"/>
          </a:xfrm>
          <a:prstGeom prst="line">
            <a:avLst/>
          </a:prstGeom>
          <a:noFill/>
          <a:ln w="25400">
            <a:solidFill>
              <a:srgbClr val="E6115E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97280" y="48280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predichos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2011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2194560"/>
            <a:ext cx="5102352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2432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2331720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quieres ver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2679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nube sin forma, repartida arriba y abajo del cero. Eso significa que la recta es un modelo razonable.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84848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quieres ver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0" y="3877056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40599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3968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CURVA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503920" y="3968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es lineal (Anscombe II)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37960" y="4443984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4626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45354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EMBUDO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03920" y="4535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dispersión crece; el error está subestimado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37960" y="5010912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519379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5102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LEJANO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03920" y="5102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raro que tuerce toda la recta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16636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" y="54041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" y="530352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propiedad que sirve de control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04672" y="56327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siempre suman cero: la recta pasa por el centro de los puntos. Si no te da cero, hay un error de cálculo.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 cometen con el cálculo perfectamente correcto.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r sin mirar el gráfico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768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cuarteto de Anscombe existe justamente por esto: cuatro realidades distintas con el mismo número. Un gráfico de dispersión cuesta una línea de código.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correlación con causalidad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484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dos cosas se muevan juntas no dice cuál causa cuál, ni descarta que una tercera variable cause las dos. Es el problema de la Clase 9 con números.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Extrapolar fuera del rango de los datos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50200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seguirá dando resultados aunque dejen de tener sentido. En nuestro caso predice tiempos negativos a los 45 meses.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21792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pasos,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94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39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los datos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1762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dispersión, siempre primero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1762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82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0723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1089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mueven juntas y qué tan fuerte?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1089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stats.pearsonr(x, 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cambia y por cada unidad de x?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0416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stats.linregress(x, 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09744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047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497433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el gráfico de residuos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9743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plt.scatter(pred, resid)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preguntas que van antes de reportar:  ¿el gráfico se parece al conjunto I de Anscombe?   ¿estoy prediciendo dentro del rango de mis datos?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45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genera dentro del notebook: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a mano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2677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Centras, multiplicas y sumas los diez productos. Después compruebas con scipy que da lo mismo.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10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cuarteto de Anscombe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227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Dibujas los cuatro conjuntos y ves por qué el número solo no basta.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160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y las predicciones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pendiente e intercepto, predices a 15 meses, y ves qué pasa al extrapolar.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30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residuos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5120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51480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 qué tan buena es la recta y haces el gráfico de diagnóstico.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están diseñados para que salgan redondos: la pendiente es exactamente −0.5 y el intercepto exactamente 20.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868680"/>
            <a:ext cx="2468880" cy="1280160"/>
          </a:xfrm>
          <a:prstGeom prst="rect">
            <a:avLst/>
          </a:prstGeom>
          <a:solidFill>
            <a:srgbClr val="0E2E5E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019287"/>
            <a:ext cx="2468880" cy="828339"/>
          </a:xfrm>
          <a:prstGeom prst="line">
            <a:avLst/>
          </a:prstGeom>
          <a:noFill/>
          <a:ln w="254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8152" y="9689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42595" y="127020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7039" y="111960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1483" y="13455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5926" y="127020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40370" y="14961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4813" y="13455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9257" y="16467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13701" y="157142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144" y="179733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7 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resumen nunca contiene toda la información de los datos. Mira el gráfico antes de reportar, y después de modelar.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2798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Sxy / Sxx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2798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-165 / 330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3099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días por mes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días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1752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−0.915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1752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306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1752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 en los cuatro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dos variables numéricas de tu trabajo que sospeches relacionadas: antigüedad y monto, tiempo de respuesta y volumen, score y mora.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tres cosas: el gráfico de dispersión, la correlación y la recta.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contesta: ¿la pendiente tiene sentido en unidades de tu negocio? ¿el gráfico se parece al conjunto I de Anscombe, o a alguno de los otros tres?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" y="496519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UNA sola variable para explicar otra. Pero el tiempo de resolución depende de la experiencia, y de la complejidad del caso, y del canal. La regresión múltiple permite meter varias a la vez — y de paso resuelve el problema que la paradoja de Simpson dejó abierto en la Clase 9.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3384</Words>
  <Application>Microsoft Macintosh PowerPoint</Application>
  <PresentationFormat>Widescreen</PresentationFormat>
  <Paragraphs>440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— Correlación y regresión</dc:title>
  <dc:subject>PptxGenJS Presentation</dc:subject>
  <dc:creator>Rodrigo</dc:creator>
  <cp:lastModifiedBy>Josef Rodriguez</cp:lastModifiedBy>
  <cp:revision>4</cp:revision>
  <dcterms:created xsi:type="dcterms:W3CDTF">2026-08-25T00:00:53Z</dcterms:created>
  <dcterms:modified xsi:type="dcterms:W3CDTF">2026-08-25T02:30:57Z</dcterms:modified>
</cp:coreProperties>
</file>