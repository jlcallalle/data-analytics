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00" d="100"/>
          <a:sy n="300" d="100"/>
        </p:scale>
        <p:origin x="-2502" y="-21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Caso Propuesto/README.md, secciones 1–7, y Modelo Físico/scrip_creacion_db_tablas.sql. La problemática describe limitaciones observables del esquema, no hechos operativos no comprobados. El proyecto entrega una adaptación a SQL Server; no acredita una migración de la aplicación.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Fuente: Modelo Físico/scrip_creacion_db_tablas.sql. Las nueve tablas usan el esquema dbo. users es una referencia local, no un sistema de autenticación. google_reviews no tiene claves foráneas.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visual: Modelo Entidad Relacion/Diagrama ER - Centro-TerapiaFisica.png, conservado como imagen original. Fuente de contraste: Modelo Físico/scrip_creacion_db_tablas.sql. El diagrama omite sessions.created_by y muestra Rol, que no existe en users. Las referencias created_by y payments.appointment_id son opcionales. La cardinalidad máxima 1:N no expresa obligatoriedad.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 visual: Modelo Lógico/modelo-logico-centro-terapia.png. Fuente explicativa: Caso Propuesto/README.md, secciones 4, 6 y 9. El diagrama conserva uuid, text y timestamptz; el DDL los adapta a uniqueidentifier, nvarchar y datetimeoffset(6). Los detalles del esquema se consultan ampliando la imagen. El SQL es la referencia para nulabilidad y restricciones.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Fuentes: Modelo Físico/modelo-fisico.png y Modelo Físico/scrip_creacion_db_tablas.sql. El DDL declara 9 tablas, 12 FK y 17 CREATE INDEX, además de índices asociados a PK y UNIQUE. La FK compuesta de session_files(session_id, patient_id) referencia sessions(id, patient_id). Todas las FK usan ON DELETE NO ACTION. El script de instalación no carga datos ni actualiza estructuras existentes.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A320EAC-A651-46A0-B741-41E6B8313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10EAD96-B437-4FAA-8236-79F1279BD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F82B50E2-4F4C-4DB8-9702-152521A3D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F145E02-7647-42A9-BBAB-6042BDF9AE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5964559-6C5D-4849-B629-371F9FD85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A1E20890-6A00-49B5-AAB9-E186EC519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0F2409F-0B55-41AE-81E1-D6CF20E081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EA777F5-9854-4299-B58D-D04E5039199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AD62A9A-7032-4CAC-94CC-DE4F4C8CC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7293C656-396B-4195-BD3E-EA9CD513A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0464D662-72BE-4EA2-9F5A-89E8C3E12A40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3D52"/>
                </a:solidFill>
                <a:latin typeface="Arial"/>
                <a:ea typeface="Arial"/>
                <a:cs typeface="Arial"/>
              </a:rPr>
              <a:t>Sistema de gestión de centro de salud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BE435A4-415B-49FB-B58D-75A03999CA65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61758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6175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584"/>
                </a:solidFill>
                <a:latin typeface="Arial"/>
                <a:ea typeface="Arial"/>
                <a:cs typeface="Arial"/>
              </a:rPr>
              <a:t>TherapyFlex    /    Proyecto de modelamiento de datos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C8787B5-20C5-4583-8E47-B29AEC7EDDBD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3BC94D4-49C8-496D-840D-87D2389DE7F9}"/>
              </a:ext>
            </a:extLst>
          </p:cNvPr>
          <p:cNvSpPr>
            <a:spLocks noGrp="1"/>
          </p:cNvSpPr>
          <p:nvPr/>
        </p:nvSpPr>
        <p:spPr>
          <a:xfrm>
            <a:off x="476250" y="1066800"/>
            <a:ext cx="10953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650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PROYECTO MODELAMIENTO DE DATOS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3F773BF-EC1D-46AD-9A17-CC3F98966520}"/>
              </a:ext>
            </a:extLst>
          </p:cNvPr>
          <p:cNvSpPr>
            <a:spLocks noGrp="1"/>
          </p:cNvSpPr>
          <p:nvPr/>
        </p:nvSpPr>
        <p:spPr>
          <a:xfrm>
            <a:off x="476250" y="1552575"/>
            <a:ext cx="1095375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3D52"/>
                </a:solidFill>
                <a:latin typeface="Arial"/>
                <a:ea typeface="Arial"/>
                <a:cs typeface="Arial"/>
              </a:rPr>
              <a:t>TherapyFlex: gestión de pacientes y atención de fisioterapia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03D785C-6F4B-4E6A-897C-D2C28BCC5076}"/>
              </a:ext>
            </a:extLst>
          </p:cNvPr>
          <p:cNvSpPr>
            <a:spLocks noGrp="1"/>
          </p:cNvSpPr>
          <p:nvPr/>
        </p:nvSpPr>
        <p:spPr>
          <a:xfrm>
            <a:off x="476250" y="2695575"/>
            <a:ext cx="3476625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Introducción y solución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EA533CE-0F3B-4EBE-96EE-6F18F3EC7207}"/>
              </a:ext>
            </a:extLst>
          </p:cNvPr>
          <p:cNvSpPr>
            <a:spLocks noGrp="1"/>
          </p:cNvSpPr>
          <p:nvPr/>
        </p:nvSpPr>
        <p:spPr>
          <a:xfrm>
            <a:off x="476250" y="3209925"/>
            <a:ext cx="3381375" cy="2286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Un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modelo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relacional</a:t>
            </a:r>
            <a:r>
              <a:rPr lang="es-MX"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que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organiza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los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registros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del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centro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y vincula a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cada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paciente con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su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atención</a:t>
            </a:r>
            <a:r>
              <a:rPr lang="es-MX" sz="1875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, historial clínico 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y sus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registros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</a:t>
            </a:r>
            <a:r>
              <a:rPr lang="es-MX"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de pagos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AD5C619-04C0-46CD-9271-E8D6DE1895E3}"/>
              </a:ext>
            </a:extLst>
          </p:cNvPr>
          <p:cNvSpPr>
            <a:spLocks noGrp="1"/>
          </p:cNvSpPr>
          <p:nvPr/>
        </p:nvSpPr>
        <p:spPr>
          <a:xfrm>
            <a:off x="4352925" y="2695575"/>
            <a:ext cx="3476625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Problemática actual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A19D8E0-C504-4109-849E-FE0EA27896DC}"/>
              </a:ext>
            </a:extLst>
          </p:cNvPr>
          <p:cNvSpPr>
            <a:spLocks noGrp="1"/>
          </p:cNvSpPr>
          <p:nvPr/>
        </p:nvSpPr>
        <p:spPr>
          <a:xfrm>
            <a:off x="4352925" y="3209925"/>
            <a:ext cx="3381375" cy="2476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lang="es-MX"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El flujo operacional del centro no se encuentra digitalizado.</a:t>
            </a:r>
          </a:p>
          <a:p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endParaRPr lang="es-MX" sz="1875" b="0" dirty="0">
              <a:solidFill>
                <a:srgbClr val="2437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El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esquema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no vincula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pagos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con facturas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ni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sesiones con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citas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.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Requiere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reglas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claras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para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interpretar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los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importes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y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mantener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la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coherencia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de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los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datos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85184AA-7616-4DB5-82D6-E0F3304D2928}"/>
              </a:ext>
            </a:extLst>
          </p:cNvPr>
          <p:cNvSpPr>
            <a:spLocks noGrp="1"/>
          </p:cNvSpPr>
          <p:nvPr/>
        </p:nvSpPr>
        <p:spPr>
          <a:xfrm>
            <a:off x="8229600" y="2695575"/>
            <a:ext cx="3476625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Objetivos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5BEB28F-0040-412C-A3EC-F630FD94D8C6}"/>
              </a:ext>
            </a:extLst>
          </p:cNvPr>
          <p:cNvSpPr>
            <a:spLocks noGrp="1"/>
          </p:cNvSpPr>
          <p:nvPr/>
        </p:nvSpPr>
        <p:spPr>
          <a:xfrm>
            <a:off x="8229600" y="3209925"/>
            <a:ext cx="3381375" cy="2667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Organizar las entidades y sus relaciones.</a:t>
            </a:r>
          </a:p>
          <a:p>
            <a:endParaRPr sz="1875" b="0">
              <a:solidFill>
                <a:srgbClr val="2437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Proteger la integridad de los registros.</a:t>
            </a:r>
          </a:p>
          <a:p>
            <a:endParaRPr sz="1875" b="0">
              <a:solidFill>
                <a:srgbClr val="2437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Facilitar consultas de atención y facturación.</a:t>
            </a:r>
          </a:p>
        </p:txBody>
      </p:sp>
    </p:spTree>
    <p:extLst>
      <p:ext uri="{BB962C8B-B14F-4D97-AF65-F5344CB8AC3E}">
        <p14:creationId xmlns:p14="http://schemas.microsoft.com/office/powerpoint/2010/main" val="4666091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255402D2-4071-4D58-AB1E-3C71EB1BED95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3D52"/>
                </a:solidFill>
                <a:latin typeface="Arial"/>
                <a:ea typeface="Arial"/>
                <a:cs typeface="Arial"/>
              </a:rPr>
              <a:t>Listado de tablas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E4B5A5C-4FEA-4DD2-9A7E-9B1997E01007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61758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6175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584"/>
                </a:solidFill>
                <a:latin typeface="Arial"/>
                <a:ea typeface="Arial"/>
                <a:cs typeface="Arial"/>
              </a:rPr>
              <a:t>TherapyFlex    /    Proyecto de modelamiento de datos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2FD9FA4-4759-40DC-BCCC-2E4928959FF4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C32C4AF-FE76-42CD-9296-514F712A2853}"/>
              </a:ext>
            </a:extLst>
          </p:cNvPr>
          <p:cNvSpPr>
            <a:spLocks noGrp="1"/>
          </p:cNvSpPr>
          <p:nvPr/>
        </p:nvSpPr>
        <p:spPr>
          <a:xfrm>
            <a:off x="476250" y="10001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7C87"/>
                </a:solidFill>
                <a:latin typeface="Arial"/>
                <a:ea typeface="Arial"/>
                <a:cs typeface="Arial"/>
              </a:rPr>
              <a:t>9 tablas en la base therapyflex_crm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C4D68A9-4CE6-46F5-80E9-A0960982B4C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1851651"/>
              </p:ext>
            </p:extLst>
          </p:nvPr>
        </p:nvGraphicFramePr>
        <p:xfrm>
          <a:off x="476250" y="1581150"/>
          <a:ext cx="11239500" cy="4476750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1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Tabla</a:t>
                      </a:r>
                    </a:p>
                  </a:txBody>
                  <a:tcPr>
                    <a:solidFill>
                      <a:srgbClr val="103D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Entidad</a:t>
                      </a:r>
                    </a:p>
                  </a:txBody>
                  <a:tcPr>
                    <a:solidFill>
                      <a:srgbClr val="103D5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Información principal</a:t>
                      </a:r>
                    </a:p>
                  </a:txBody>
                  <a:tcPr>
                    <a:solidFill>
                      <a:srgbClr val="103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users</a:t>
                      </a:r>
                    </a:p>
                  </a:txBody>
                  <a:tcPr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Usuarios</a:t>
                      </a:r>
                    </a:p>
                  </a:txBody>
                  <a:tcPr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Referencia del usuario que registra datos</a:t>
                      </a:r>
                    </a:p>
                  </a:txBody>
                  <a:tcPr>
                    <a:solidFill>
                      <a:srgbClr val="EF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patients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Pacientes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Datos personales y clínicos generales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appointments</a:t>
                      </a:r>
                    </a:p>
                  </a:txBody>
                  <a:tcPr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Citas</a:t>
                      </a:r>
                    </a:p>
                  </a:txBody>
                  <a:tcPr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Agenda y agrupación de citas en paquetes</a:t>
                      </a:r>
                    </a:p>
                  </a:txBody>
                  <a:tcPr>
                    <a:solidFill>
                      <a:srgbClr val="EF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sessions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Sesiones clínicas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Tratamiento, evolución y escala de dolor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session_files</a:t>
                      </a:r>
                    </a:p>
                  </a:txBody>
                  <a:tcPr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Archivos clínicos</a:t>
                      </a:r>
                    </a:p>
                  </a:txBody>
                  <a:tcPr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Metadatos y rutas de archivos de sesiones</a:t>
                      </a:r>
                    </a:p>
                  </a:txBody>
                  <a:tcPr>
                    <a:solidFill>
                      <a:srgbClr val="EF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payments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Pagos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Importes y asociación opcional con una cita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invoices</a:t>
                      </a:r>
                    </a:p>
                  </a:txBody>
                  <a:tcPr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Facturas</a:t>
                      </a:r>
                    </a:p>
                  </a:txBody>
                  <a:tcPr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MX" sz="1650" b="0" dirty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E</a:t>
                      </a:r>
                      <a:r>
                        <a:rPr sz="1650" b="0" dirty="0" err="1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stado</a:t>
                      </a:r>
                      <a:r>
                        <a:rPr sz="1650" b="0" dirty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 e </a:t>
                      </a:r>
                      <a:r>
                        <a:rPr sz="1650" b="0" dirty="0" err="1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importes</a:t>
                      </a:r>
                      <a:r>
                        <a:rPr sz="1650" b="0" dirty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 de </a:t>
                      </a:r>
                      <a:r>
                        <a:rPr sz="1650" b="0" dirty="0" err="1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facturación</a:t>
                      </a:r>
                      <a:endParaRPr sz="1650" b="0" dirty="0">
                        <a:solidFill>
                          <a:srgbClr val="24374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EF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invoice_items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Detalles de factura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Conceptos, cantidades y precios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google_reviews</a:t>
                      </a:r>
                    </a:p>
                  </a:txBody>
                  <a:tcPr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Reseñas de Google</a:t>
                      </a:r>
                    </a:p>
                  </a:txBody>
                  <a:tcPr>
                    <a:solidFill>
                      <a:srgbClr val="EF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 dirty="0" err="1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Puntuaciones</a:t>
                      </a:r>
                      <a:r>
                        <a:rPr sz="1650" b="0" dirty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1650" b="0" dirty="0" err="1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comentarios</a:t>
                      </a:r>
                      <a:r>
                        <a:rPr sz="1650" b="0" dirty="0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 y </a:t>
                      </a:r>
                      <a:r>
                        <a:rPr sz="1650" b="0" dirty="0" err="1">
                          <a:solidFill>
                            <a:srgbClr val="24374A"/>
                          </a:solidFill>
                          <a:latin typeface="Arial"/>
                          <a:ea typeface="Arial"/>
                          <a:cs typeface="Arial"/>
                        </a:rPr>
                        <a:t>respuestas</a:t>
                      </a:r>
                      <a:endParaRPr sz="1650" b="0" dirty="0">
                        <a:solidFill>
                          <a:srgbClr val="24374A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>
                    <a:solidFill>
                      <a:srgbClr val="EF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9772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FE778987-4286-4BFA-AEEE-3758E220E6C7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3D52"/>
                </a:solidFill>
                <a:latin typeface="Arial"/>
                <a:ea typeface="Arial"/>
                <a:cs typeface="Arial"/>
              </a:rPr>
              <a:t>Diagrama entidad–relación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C74DBBF-C319-4033-8C90-B2801F4B0295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61758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6175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584"/>
                </a:solidFill>
                <a:latin typeface="Arial"/>
                <a:ea typeface="Arial"/>
                <a:cs typeface="Arial"/>
              </a:rPr>
              <a:t>TherapyFlex    /    Proyecto de modelamiento de datos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900A801-A967-4F59-B1FF-599CC8EB2B33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42A901F-8822-49FE-98C8-5D0A7670A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6040" y="1057275"/>
            <a:ext cx="6161321" cy="509587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169FAFA2-13AD-4075-BDB3-5EBBDEFC7C7A}"/>
              </a:ext>
            </a:extLst>
          </p:cNvPr>
          <p:cNvSpPr>
            <a:spLocks noGrp="1"/>
          </p:cNvSpPr>
          <p:nvPr/>
        </p:nvSpPr>
        <p:spPr>
          <a:xfrm>
            <a:off x="8105775" y="1152525"/>
            <a:ext cx="3609975" cy="8286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El paciente como entidad central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9E607CA-83BE-486B-A4C2-9FA4E09F9186}"/>
              </a:ext>
            </a:extLst>
          </p:cNvPr>
          <p:cNvSpPr>
            <a:spLocks noGrp="1"/>
          </p:cNvSpPr>
          <p:nvPr/>
        </p:nvSpPr>
        <p:spPr>
          <a:xfrm>
            <a:off x="8105775" y="2143125"/>
            <a:ext cx="3514725" cy="1009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Relaciones 1:N con citas, sesiones, archivos, pagos y facturas.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3DC725E-81FE-4D0E-BA5E-C78706BD5824}"/>
              </a:ext>
            </a:extLst>
          </p:cNvPr>
          <p:cNvSpPr>
            <a:spLocks noGrp="1"/>
          </p:cNvSpPr>
          <p:nvPr/>
        </p:nvSpPr>
        <p:spPr>
          <a:xfrm>
            <a:off x="8105775" y="3295650"/>
            <a:ext cx="3514725" cy="7905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A"/>
                </a:solidFill>
                <a:latin typeface="Arial"/>
                <a:ea typeface="Arial"/>
                <a:cs typeface="Arial"/>
              </a:rPr>
              <a:t>Reseñas de Google como entidad independiente.</a:t>
            </a:r>
          </a:p>
        </p:txBody>
      </p:sp>
    </p:spTree>
    <p:extLst>
      <p:ext uri="{BB962C8B-B14F-4D97-AF65-F5344CB8AC3E}">
        <p14:creationId xmlns:p14="http://schemas.microsoft.com/office/powerpoint/2010/main" val="48689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8A890886-7FFE-4C0C-8A1E-30B2EA810E0A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3D52"/>
                </a:solidFill>
                <a:latin typeface="Arial"/>
                <a:ea typeface="Arial"/>
                <a:cs typeface="Arial"/>
              </a:rPr>
              <a:t>Modelo lógico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1824294-E19C-440D-80FD-04275FB45519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61758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6175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584"/>
                </a:solidFill>
                <a:latin typeface="Arial"/>
                <a:ea typeface="Arial"/>
                <a:cs typeface="Arial"/>
              </a:rPr>
              <a:t>TherapyFlex    /    Proyecto de modelamiento de datos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7570CF6-730B-47A8-924E-214FC579B92F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5C7786B-E58A-4E3D-ABCA-79450E78F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90593" y="948303"/>
            <a:ext cx="5611457" cy="523875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D458A61E-5531-45FB-8146-27CA3D0B4421}"/>
              </a:ext>
            </a:extLst>
          </p:cNvPr>
          <p:cNvSpPr>
            <a:spLocks noGrp="1"/>
          </p:cNvSpPr>
          <p:nvPr/>
        </p:nvSpPr>
        <p:spPr>
          <a:xfrm>
            <a:off x="8172450" y="1200150"/>
            <a:ext cx="352425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Tablas, atributos y claves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AE0DD688-CB5C-4BAE-BE76-8A9148BF7F93}"/>
              </a:ext>
            </a:extLst>
          </p:cNvPr>
          <p:cNvSpPr>
            <a:spLocks noGrp="1"/>
          </p:cNvSpPr>
          <p:nvPr/>
        </p:nvSpPr>
        <p:spPr>
          <a:xfrm>
            <a:off x="8172450" y="2238375"/>
            <a:ext cx="3476625" cy="2143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PK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identifica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cada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registro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.</a:t>
            </a:r>
          </a:p>
          <a:p>
            <a:endParaRPr sz="1875" b="0" dirty="0">
              <a:solidFill>
                <a:srgbClr val="2437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FK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conecta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tablas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relacionadas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8833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30CAB244-C9CC-4642-BC3E-2A1AE9CED7F5}"/>
              </a:ext>
            </a:extLst>
          </p:cNvPr>
          <p:cNvSpPr>
            <a:spLocks noGrp="1"/>
          </p:cNvSpPr>
          <p:nvPr/>
        </p:nvSpPr>
        <p:spPr>
          <a:xfrm>
            <a:off x="457200" y="266700"/>
            <a:ext cx="110490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150" b="1">
                <a:solidFill>
                  <a:srgbClr val="103D52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3D52"/>
                </a:solidFill>
                <a:latin typeface="Arial"/>
                <a:ea typeface="Arial"/>
                <a:cs typeface="Arial"/>
              </a:rPr>
              <a:t>Modelo físico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7B9DAEA-D7D5-45D2-BB7F-2A591E3FC2F7}"/>
              </a:ext>
            </a:extLst>
          </p:cNvPr>
          <p:cNvSpPr>
            <a:spLocks noGrp="1"/>
          </p:cNvSpPr>
          <p:nvPr/>
        </p:nvSpPr>
        <p:spPr>
          <a:xfrm>
            <a:off x="457200" y="6496050"/>
            <a:ext cx="1047750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61758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617584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17584"/>
                </a:solidFill>
                <a:latin typeface="Arial"/>
                <a:ea typeface="Arial"/>
                <a:cs typeface="Arial"/>
              </a:rPr>
              <a:t>TherapyFlex    /    Proyecto de modelamiento de datos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3CFF3D3-A23E-4812-B32D-D98A40C831A3}"/>
              </a:ext>
            </a:extLst>
          </p:cNvPr>
          <p:cNvSpPr>
            <a:spLocks noGrp="1"/>
          </p:cNvSpPr>
          <p:nvPr/>
        </p:nvSpPr>
        <p:spPr>
          <a:xfrm>
            <a:off x="11334750" y="6477000"/>
            <a:ext cx="428625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2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A8D9F4C-265C-4914-AF2C-F81524BB6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846707" y="1074352"/>
            <a:ext cx="4799357" cy="5339898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12E418A-38A3-4EB9-BC7F-199D93B8422B}"/>
              </a:ext>
            </a:extLst>
          </p:cNvPr>
          <p:cNvSpPr>
            <a:spLocks noGrp="1"/>
          </p:cNvSpPr>
          <p:nvPr/>
        </p:nvSpPr>
        <p:spPr>
          <a:xfrm>
            <a:off x="8096250" y="1152525"/>
            <a:ext cx="3619500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1">
                <a:solidFill>
                  <a:srgbClr val="117C87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17C87"/>
                </a:solidFill>
                <a:latin typeface="Arial"/>
                <a:ea typeface="Arial"/>
                <a:cs typeface="Arial"/>
              </a:rPr>
              <a:t>Implementación en SQL Server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BC940CC-B6C9-406E-A777-2DA734461065}"/>
              </a:ext>
            </a:extLst>
          </p:cNvPr>
          <p:cNvSpPr>
            <a:spLocks noGrp="1"/>
          </p:cNvSpPr>
          <p:nvPr/>
        </p:nvSpPr>
        <p:spPr>
          <a:xfrm>
            <a:off x="8096250" y="2200275"/>
            <a:ext cx="3571875" cy="14001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Base: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therapyflex_crm</a:t>
            </a:r>
            <a:endParaRPr sz="1875" b="0" dirty="0">
              <a:solidFill>
                <a:srgbClr val="24374A"/>
              </a:solidFill>
              <a:latin typeface="Arial"/>
              <a:ea typeface="Arial"/>
              <a:cs typeface="Arial"/>
            </a:endParaRPr>
          </a:p>
          <a:p>
            <a:pPr>
              <a:defRPr sz="1875" b="0">
                <a:solidFill>
                  <a:srgbClr val="24374A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9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tablas</a:t>
            </a:r>
            <a:r>
              <a:rPr sz="1875" b="0" dirty="0">
                <a:solidFill>
                  <a:srgbClr val="24374A"/>
                </a:solidFill>
                <a:latin typeface="Arial"/>
                <a:ea typeface="Arial"/>
                <a:cs typeface="Arial"/>
              </a:rPr>
              <a:t> y 12 claves </a:t>
            </a:r>
            <a:r>
              <a:rPr sz="1875" b="0" dirty="0" err="1">
                <a:solidFill>
                  <a:srgbClr val="24374A"/>
                </a:solidFill>
                <a:latin typeface="Arial"/>
                <a:ea typeface="Arial"/>
                <a:cs typeface="Arial"/>
              </a:rPr>
              <a:t>foráneas</a:t>
            </a:r>
            <a:endParaRPr sz="1875" b="0" dirty="0">
              <a:solidFill>
                <a:srgbClr val="24374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3644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</Words>
  <Application>Microsoft Office PowerPoint</Application>
  <DocSecurity>0</DocSecurity>
  <PresentationFormat>Panorámica</PresentationFormat>
  <Paragraphs>75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Aptos</vt:lpstr>
      <vt:lpstr>Arial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Jorge Luis Callalle Torres</cp:lastModifiedBy>
  <cp:revision>1</cp:revision>
  <dcterms:created xsi:type="dcterms:W3CDTF">2026-10-08T01:31:49Z</dcterms:created>
  <dcterms:modified xsi:type="dcterms:W3CDTF">2026-10-08T15:07:58Z</dcterms:modified>
</cp:coreProperties>
</file>