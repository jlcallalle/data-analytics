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11bb9d2e71444b" /><Relationship Type="http://schemas.openxmlformats.org/officeDocument/2006/relationships/extended-properties" Target="/docProps/app.xml" Id="Rc67bb9e312be4f2d" /><Relationship Type="http://schemas.openxmlformats.org/officeDocument/2006/relationships/officeDocument" Target="/ppt/presentation.xml" Id="Rb6e081d91dc84c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165e9e5b2b4f71"/>
  </p:sldMasterIdLst>
  <p:notesMasterIdLst>
    <p:notesMasterId xmlns:r="http://schemas.openxmlformats.org/officeDocument/2006/relationships" r:id="R98e76775363543b0"/>
  </p:notesMasterIdLst>
  <p:sldIdLst>
    <p:sldId xmlns:r="http://schemas.openxmlformats.org/officeDocument/2006/relationships" id="256" r:id="Rb5031db91646464c"/>
    <p:sldId xmlns:r="http://schemas.openxmlformats.org/officeDocument/2006/relationships" id="257" r:id="Ree97e1d941d248d8"/>
    <p:sldId xmlns:r="http://schemas.openxmlformats.org/officeDocument/2006/relationships" id="258" r:id="Ra5eb97eee49148f9"/>
    <p:sldId xmlns:r="http://schemas.openxmlformats.org/officeDocument/2006/relationships" id="259" r:id="R909b496234644c4d"/>
    <p:sldId xmlns:r="http://schemas.openxmlformats.org/officeDocument/2006/relationships" id="260" r:id="R247b1f94083f41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65f104677446f6" /><Relationship Type="http://schemas.openxmlformats.org/officeDocument/2006/relationships/slideMaster" Target="/ppt/slideMasters/slideMaster1.xml" Id="R3d165e9e5b2b4f71" /><Relationship Type="http://schemas.openxmlformats.org/officeDocument/2006/relationships/notesMaster" Target="/ppt/notesMasters/notesMaster1.xml" Id="R98e76775363543b0" /><Relationship Type="http://schemas.openxmlformats.org/officeDocument/2006/relationships/presProps" Target="/ppt/presProps.xml" Id="R833f8b1f205f49b4" /><Relationship Type="http://schemas.openxmlformats.org/officeDocument/2006/relationships/tableStyles" Target="/ppt/tableStyles.xml" Id="Ra25adb8596fb4b10" /><Relationship Type="http://schemas.openxmlformats.org/officeDocument/2006/relationships/slide" Target="/ppt/slides/slide1.xml" Id="Rb5031db91646464c" /><Relationship Type="http://schemas.openxmlformats.org/officeDocument/2006/relationships/slide" Target="/ppt/slides/slide2.xml" Id="Ree97e1d941d248d8" /><Relationship Type="http://schemas.openxmlformats.org/officeDocument/2006/relationships/slide" Target="/ppt/slides/slide3.xml" Id="Ra5eb97eee49148f9" /><Relationship Type="http://schemas.openxmlformats.org/officeDocument/2006/relationships/slide" Target="/ppt/slides/slide4.xml" Id="R909b496234644c4d" /><Relationship Type="http://schemas.openxmlformats.org/officeDocument/2006/relationships/slide" Target="/ppt/slides/slide5.xml" Id="R247b1f94083f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13b52748b943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986ca01e64459" /><Relationship Type="http://schemas.openxmlformats.org/officeDocument/2006/relationships/notesMaster" Target="/ppt/notesMasters/notesMaster1.xml" Id="R9ae18ee173f6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a1eef9b0404cbe" /><Relationship Type="http://schemas.openxmlformats.org/officeDocument/2006/relationships/notesMaster" Target="/ppt/notesMasters/notesMaster1.xml" Id="R1d7a0824c2b04f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0cfa1d82d24580" /><Relationship Type="http://schemas.openxmlformats.org/officeDocument/2006/relationships/notesMaster" Target="/ppt/notesMasters/notesMaster1.xml" Id="R8b2343cc74964a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cfeffe12bb4eb4" /><Relationship Type="http://schemas.openxmlformats.org/officeDocument/2006/relationships/notesMaster" Target="/ppt/notesMasters/notesMaster1.xml" Id="Rc2a0475870074b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ab0879e29c473d" /><Relationship Type="http://schemas.openxmlformats.org/officeDocument/2006/relationships/notesMaster" Target="/ppt/notesMasters/notesMaster1.xml" Id="Rbde77b921d974e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Caso Propuesto/README.md, secciones 1–7, y Modelo Físico/scrip_creacion_db_tablas.sql. La problemática describe limitaciones observables del esquema, no hechos operativos no comprobados. El proyecto entrega una adaptación a SQL Server; no acredita una migración de la aplicación.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Modelo Físico/scrip_creacion_db_tablas.sql. Las nueve tablas usan el esquema dbo. users es una referencia local, no un sistema de autenticación. google_reviews no tiene claves foráneas.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Modelo Entidad Relacion/Diagrama ER - Centro-TerapiaFisica.png, conservado como imagen original. Fuente de contraste: Modelo Físico/scrip_creacion_db_tablas.sql. El diagrama omite sessions.created_by y muestra Rol, que no existe en users. Las referencias created_by y payments.appointment_id son opcionales. La cardinalidad máxima 1:N no expresa obligatoriedad.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Modelo Lógico/modelo-logico-centro-terapia.png. Fuente explicativa: Caso Propuesto/README.md, secciones 4, 6 y 9. El diagrama conserva uuid, text y timestamptz; el DDL los adapta a uniqueidentifier, nvarchar y datetimeoffset(6). Los detalles del esquema se consultan ampliando la imagen. El SQL es la referencia para nulabilidad y restricciones.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Modelo Físico/modelo-fisico.png y Modelo Físico/scrip_creacion_db_tablas.sql. El DDL declara 9 tablas, 12 FK y 17 CREATE INDEX, además de índices asociados a PK y UNIQUE. La FK compuesta de session_files(session_id, patient_id) referencia sessions(id, patient_id). Todas las FK usan ON DELETE NO ACTION. El script de instalación no carga datos ni actualiza estructuras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405b466264e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8ead6cebd4e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49252333649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5345f129e4c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898e348104c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25a356b7e45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320EAC-A651-46A0-B741-41E6B8313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0EAD96-B437-4FAA-8236-79F1279BD3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2B50E2-4F4C-4DB8-9702-152521A3D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145E02-7647-42A9-BBAB-6042BDF9A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964559-6C5D-4849-B629-371F9FD857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E20890-6A00-49B5-AAB9-E186EC519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F2409F-0B55-41AE-81E1-D6CF20E081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A777F5-9854-4299-B58D-D04E503919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D62A9A-7032-4CAC-94CC-DE4F4C8CC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93C656-396B-4195-BD3E-EA9CD513A8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fdde7651804d6d" /><Relationship Type="http://schemas.openxmlformats.org/officeDocument/2006/relationships/slideLayout" Target="/ppt/slideLayouts/slideLayout1.xml" Id="Ra4f28ded97684f67" /><Relationship Type="http://schemas.openxmlformats.org/officeDocument/2006/relationships/slideLayout" Target="/ppt/slideLayouts/slideLayout2.xml" Id="Rcb2d8e5ba63a4d0c" /><Relationship Type="http://schemas.openxmlformats.org/officeDocument/2006/relationships/slideLayout" Target="/ppt/slideLayouts/slideLayout3.xml" Id="R6968d69c96bf403f" /><Relationship Type="http://schemas.openxmlformats.org/officeDocument/2006/relationships/slideLayout" Target="/ppt/slideLayouts/slideLayout4.xml" Id="R62a5903f829a4f7f" /><Relationship Type="http://schemas.openxmlformats.org/officeDocument/2006/relationships/slideLayout" Target="/ppt/slideLayouts/slideLayout5.xml" Id="R52a3fbfed4434097" /><Relationship Type="http://schemas.openxmlformats.org/officeDocument/2006/relationships/slideLayout" Target="/ppt/slideLayouts/slideLayout6.xml" Id="R263e0e1e6d2248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28ded97684f67"/>
    <p:sldLayoutId xmlns:r="http://schemas.openxmlformats.org/officeDocument/2006/relationships" id="2147483650" r:id="Rcb2d8e5ba63a4d0c"/>
    <p:sldLayoutId xmlns:r="http://schemas.openxmlformats.org/officeDocument/2006/relationships" id="2147483651" r:id="R6968d69c96bf403f"/>
    <p:sldLayoutId xmlns:r="http://schemas.openxmlformats.org/officeDocument/2006/relationships" id="2147483652" r:id="R62a5903f829a4f7f"/>
    <p:sldLayoutId xmlns:r="http://schemas.openxmlformats.org/officeDocument/2006/relationships" id="2147483653" r:id="R52a3fbfed4434097"/>
    <p:sldLayoutId xmlns:r="http://schemas.openxmlformats.org/officeDocument/2006/relationships" id="2147483654" r:id="R263e0e1e6d2248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a746bbb0c484e" /><Relationship Type="http://schemas.openxmlformats.org/officeDocument/2006/relationships/notesSlide" Target="/ppt/notesSlides/notesSlide1.xml" Id="Rba5236fb852942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36a5b1481464a" /><Relationship Type="http://schemas.openxmlformats.org/officeDocument/2006/relationships/notesSlide" Target="/ppt/notesSlides/notesSlide2.xml" Id="R736090c6bf014f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261f38b424db0" /><Relationship Type="http://schemas.openxmlformats.org/officeDocument/2006/relationships/image" Target="/ppt/media/image.png" Id="Rc5203c950cef472a" /><Relationship Type="http://schemas.openxmlformats.org/officeDocument/2006/relationships/notesSlide" Target="/ppt/notesSlides/notesSlide3.xml" Id="Rcbf2389948c840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2b66fe6974433" /><Relationship Type="http://schemas.openxmlformats.org/officeDocument/2006/relationships/image" Target="/ppt/media/image2.png" Id="R4be6a0e4db304526" /><Relationship Type="http://schemas.openxmlformats.org/officeDocument/2006/relationships/notesSlide" Target="/ppt/notesSlides/notesSlide4.xml" Id="Rc826327c381c45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786fecf614da6" /><Relationship Type="http://schemas.openxmlformats.org/officeDocument/2006/relationships/image" Target="/ppt/media/image3.png" Id="Rf350700a287744b2" /><Relationship Type="http://schemas.openxmlformats.org/officeDocument/2006/relationships/notesSlide" Target="/ppt/notesSlides/notesSlide5.xml" Id="Ra7a28b40929a4e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4D662-72BE-4EA2-9F5A-89E8C3E1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Sistema de gestión de centro de salud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435A4-415B-49FB-B58D-75A03999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787B5-20C5-4583-8E47-B29AEC7E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94D4-49C8-496D-840D-87D2389D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PROYECTO MODELAMIENTO DE DATOS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773BF-EC1D-46AD-9A17-CC3F9896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525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TherapyFlex: gestión de pacientes y atención de fisioterapia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D785C-6F4B-4E6A-897C-D2C28BCC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955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Introducción y solución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533CE-0F3B-4EBE-96EE-6F18F3E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3381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Un modelo relacional organiza los registros del centro y vincula a cada paciente con su atención y sus registros económicos.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5C619-04C0-46CD-9271-E8D6DE18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955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Problemática 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9D8E0-C504-4109-849E-FE0EA27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09925"/>
            <a:ext cx="3381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El esquema no vincula pagos con facturas ni sesiones con citas. Requiere reglas claras para interpretar los importes y mantener la coherencia de los 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184AA-7616-4DB5-82D6-E0F3304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55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EB28F-0040-412C-A3EC-F630FD94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9925"/>
            <a:ext cx="33813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Organizar las entidades y sus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Proteger la integridad de los registros.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Facilitar consultas de atención y facturación.</a:t>
            </a:r>
          </a:p>
        </p:txBody>
      </p:sp>
    </p:spTree>
    <p:extLst>
      <p:ext uri="{BB962C8B-B14F-4D97-AF65-F5344CB8AC3E}">
        <p14:creationId xmlns:p14="http://schemas.microsoft.com/office/powerpoint/2010/main" val="466609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402D2-4071-4D58-AB1E-3C71EB1B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Listado de tablas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B5A5C-4FEA-4DD2-9A7E-9B1997E0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D9FA4-4759-40DC-BCCC-2E492895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2C4AF-FE76-42CD-9296-514F712A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0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7C87"/>
                </a:solidFill>
                <a:latin typeface="Arial"/>
                <a:ea typeface="Arial"/>
                <a:cs typeface="Arial"/>
              </a:rPr>
              <a:t>9 tablas en la base therapyflex_crm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D68A9-4CE6-46F5-80E9-A0960982B4CF}"/>
              </a:ext>
            </a:extLst>
          </p:cNvPr>
          <p:cNvGraphicFramePr/>
          <p:nvPr/>
        </p:nvGraphicFramePr>
        <p:xfrm>
          <a:off xmlns:a="http://schemas.openxmlformats.org/drawingml/2006/main" x="476250" y="1581150"/>
          <a:ext xmlns:a="http://schemas.openxmlformats.org/drawingml/2006/main" cx="112395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476500"/>
                <a:gridCol w="6381750"/>
              </a:tblGrid>
              <a:tr h="447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Tabla</a:t>
                      </a:r>
                    </a:p>
                  </a:txBody>
                  <a:tcPr marL="91440" marR="91440" marT="45720" marB="45720">
                    <a:solidFill>
                      <a:srgbClr val="103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91440" marR="91440" marT="45720" marB="45720">
                    <a:solidFill>
                      <a:srgbClr val="103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Información principal</a:t>
                      </a:r>
                    </a:p>
                  </a:txBody>
                  <a:tcPr marL="91440" marR="91440" marT="45720" marB="45720">
                    <a:solidFill>
                      <a:srgbClr val="103D52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users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Usuarios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Referencia del usuario que registra datos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patients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Pacientes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Datos personales y clínicos generales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appointments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Citas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Agenda y agrupación de citas en paquetes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sessions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Sesiones clínicas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Tratamiento, evolución y escala de dolor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session_files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Archivos clínicos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Metadatos y rutas de archivos de sesiones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Pagos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Importes y asociación opcional con una cita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invoices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Facturas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Cabecera, estado e importes de facturación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invoice_items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Detalles de factura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Conceptos, cantidades y precios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google_reviews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Reseñas de Google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Puntuaciones, comentarios y respuestas</a:t>
                      </a:r>
                    </a:p>
                  </a:txBody>
                  <a:tcPr marL="91440" marR="91440" marT="45720" marB="45720"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77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78987-4286-4BFA-AEEE-3758E220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Diagrama entidad–relación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4DBBF-C319-4033-8C90-B2801F4B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0A801-A967-4F59-B1FF-599CC8EB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A901F-8822-49FE-98C8-5D0A7670AA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03c950cef472a"/>
          <a:stretch xmlns:a="http://schemas.openxmlformats.org/drawingml/2006/main"/>
        </p:blipFill>
        <p:spPr>
          <a:xfrm xmlns:a="http://schemas.openxmlformats.org/drawingml/2006/main">
            <a:off x="996040" y="1057275"/>
            <a:ext cx="6161321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FAFA2-13AD-4075-BDB3-5EBBDEFC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152525"/>
            <a:ext cx="3609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El paciente como entidad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607CA-83BE-486B-A4C2-9FA4E09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43125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Relaciones 1:N con citas, sesiones, archivos, pagos y facturas.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C725E-81FE-4D0E-BA5E-C78706BD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35147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Reseñas de Google como entidad independiente.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88879-5707-4A8A-BE90-6502C14D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62450"/>
            <a:ext cx="3514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Ajustes pendientes del 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190FD-3437-4E5C-A437-291F2062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857750"/>
            <a:ext cx="35147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Agregar Usuario–Sesión.</a:t>
            </a:r>
          </a:p>
          <a:p xmlns:a="http://schemas.openxmlformats.org/drawingml/2006/main">
            <a:pPr>
              <a:defRPr sz="1650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Retirar Rol para coincidir con el SQL.</a:t>
            </a:r>
          </a:p>
          <a:p xmlns:a="http://schemas.openxmlformats.org/drawingml/2006/main">
            <a:pPr>
              <a:defRPr sz="1650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Precisar relaciones opcionales.</a:t>
            </a:r>
          </a:p>
        </p:txBody>
      </p:sp>
    </p:spTree>
    <p:extLst>
      <p:ext uri="{BB962C8B-B14F-4D97-AF65-F5344CB8AC3E}">
        <p14:creationId xmlns:p14="http://schemas.microsoft.com/office/powerpoint/2010/main" val="48689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90886-7FFE-4C0C-8A1E-30B2EA81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Modelo lógico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24294-E19C-440D-80FD-04275FB4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70CF6-730B-47A8-924E-214FC579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7786B-E58A-4E3D-ABCA-79450E78FA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6a0e4db304526"/>
          <a:stretch xmlns:a="http://schemas.openxmlformats.org/drawingml/2006/main"/>
        </p:blipFill>
        <p:spPr>
          <a:xfrm xmlns:a="http://schemas.openxmlformats.org/drawingml/2006/main">
            <a:off x="1328121" y="1019175"/>
            <a:ext cx="5611457" cy="523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8A61E-5531-45FB-8146-27CA3D0B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Tablas, atributos y claves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DD688-CB5C-4BAE-BE76-8A9148BF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34766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PK identifica cada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FK conecta tablas relacionadas.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UK restringe valores duplicados.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7BB3C-6570-4DB0-A62E-A688B344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57725"/>
            <a:ext cx="3495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Correspondencia con SQL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CA1DE-B873-4055-87A4-48A06FF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81625"/>
            <a:ext cx="3495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auth.users se adapta a dbo.users.</a:t>
            </a:r>
          </a:p>
          <a:p xmlns:a="http://schemas.openxmlformats.org/drawingml/2006/main">
            <a:pPr>
              <a:defRPr sz="1650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Los tipos del diagrama provienen de PostgreSQL.</a:t>
            </a:r>
          </a:p>
        </p:txBody>
      </p:sp>
    </p:spTree>
    <p:extLst>
      <p:ext uri="{BB962C8B-B14F-4D97-AF65-F5344CB8AC3E}">
        <p14:creationId xmlns:p14="http://schemas.microsoft.com/office/powerpoint/2010/main" val="2788331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AB244-C9CC-4642-BC3E-2A1AE9CE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Modelo físico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9DAEA-D7D5-45D2-BB7F-2A591E3F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FF3D3-A23E-4812-B32D-D98A40C8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D9F4C-265C-4914-AF2C-F81524BB6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0700a287744b2"/>
          <a:stretch xmlns:a="http://schemas.openxmlformats.org/drawingml/2006/main"/>
        </p:blipFill>
        <p:spPr>
          <a:xfrm xmlns:a="http://schemas.openxmlformats.org/drawingml/2006/main">
            <a:off x="1732966" y="1000125"/>
            <a:ext cx="4725569" cy="5257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E418A-38A3-4EB9-BC7F-199D93B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5252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Implementación en SQL 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940CC-B6C9-406E-A777-2DA73446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0275"/>
            <a:ext cx="35718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Base: therapyflex_crm</a:t>
            </a:r>
          </a:p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9 tablas y 12 claves foráneas</a:t>
            </a:r>
          </a:p>
          <a:p xmlns:a="http://schemas.openxmlformats.org/drawingml/2006/main"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17 índices explícitos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101BF-0AF2-4092-9038-481D0B7C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57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Integridad de los registros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9C0AC-BCB2-4159-871C-64250263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91075"/>
            <a:ext cx="3571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El archivo y su sesión deben pertenecer al mismo paciente.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NO ACTION impide borrar registros con dependientes.</a:t>
            </a:r>
          </a:p>
        </p:txBody>
      </p:sp>
    </p:spTree>
    <p:extLst>
      <p:ext uri="{BB962C8B-B14F-4D97-AF65-F5344CB8AC3E}">
        <p14:creationId xmlns:p14="http://schemas.microsoft.com/office/powerpoint/2010/main" val="155364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2026-10-08T01:31:49.1940000Z</dcterms:created>
  <dcterms:modified xsi:type="dcterms:W3CDTF">2026-10-08T01:31:49.1950000Z</dcterms:modified>
</coreProperties>
</file>